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8" r:id="rId3"/>
  </p:sldMasterIdLst>
  <p:notesMasterIdLst>
    <p:notesMasterId r:id="rId40"/>
  </p:notesMasterIdLst>
  <p:sldIdLst>
    <p:sldId id="256" r:id="rId4"/>
    <p:sldId id="257" r:id="rId5"/>
    <p:sldId id="259" r:id="rId6"/>
    <p:sldId id="258" r:id="rId7"/>
    <p:sldId id="306" r:id="rId8"/>
    <p:sldId id="307" r:id="rId9"/>
    <p:sldId id="308" r:id="rId10"/>
    <p:sldId id="261" r:id="rId11"/>
    <p:sldId id="260" r:id="rId12"/>
    <p:sldId id="288" r:id="rId13"/>
    <p:sldId id="271" r:id="rId14"/>
    <p:sldId id="289" r:id="rId15"/>
    <p:sldId id="273" r:id="rId16"/>
    <p:sldId id="291" r:id="rId17"/>
    <p:sldId id="275" r:id="rId18"/>
    <p:sldId id="293" r:id="rId19"/>
    <p:sldId id="276" r:id="rId20"/>
    <p:sldId id="294" r:id="rId21"/>
    <p:sldId id="277" r:id="rId22"/>
    <p:sldId id="295" r:id="rId23"/>
    <p:sldId id="278" r:id="rId24"/>
    <p:sldId id="296" r:id="rId25"/>
    <p:sldId id="279" r:id="rId26"/>
    <p:sldId id="297" r:id="rId27"/>
    <p:sldId id="283" r:id="rId28"/>
    <p:sldId id="301" r:id="rId29"/>
    <p:sldId id="284" r:id="rId30"/>
    <p:sldId id="302" r:id="rId31"/>
    <p:sldId id="285" r:id="rId32"/>
    <p:sldId id="303" r:id="rId33"/>
    <p:sldId id="286" r:id="rId34"/>
    <p:sldId id="304" r:id="rId35"/>
    <p:sldId id="287" r:id="rId36"/>
    <p:sldId id="305" r:id="rId37"/>
    <p:sldId id="309" r:id="rId38"/>
    <p:sldId id="263" r:id="rId39"/>
  </p:sldIdLst>
  <p:sldSz cx="12192000" cy="6858000"/>
  <p:notesSz cx="6858000" cy="9144000"/>
  <p:embeddedFontLst>
    <p:embeddedFont>
      <p:font typeface="Helvetica Neue" panose="020B0604020202020204" charset="0"/>
      <p:regular r:id="rId41"/>
      <p:bold r:id="rId42"/>
      <p:italic r:id="rId43"/>
      <p:boldItalic r:id="rId44"/>
    </p:embeddedFont>
    <p:embeddedFont>
      <p:font typeface="Helvetica Neue Light" panose="020B060402020202020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N7cSBap5BsT8Brzfr75Q0akqwU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thena Studies"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commentAuthors" Target="commentAuthor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4.fntdata"/><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6.fntdata"/><Relationship Id="rId20" Type="http://schemas.openxmlformats.org/officeDocument/2006/relationships/slide" Target="slides/slide17.xml"/><Relationship Id="rId41" Type="http://schemas.openxmlformats.org/officeDocument/2006/relationships/font" Target="fonts/font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BF913F52-197A-FA6B-FED0-A1CA7C8BEEAE}"/>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769E4F3B-C0FB-0163-397A-424BD53EE7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94B6CEA1-5A60-3D84-8ECF-F30654B276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259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DF51D1DD-48C2-95F0-8CB6-D730CF4C9BA0}"/>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CAFD22DC-5F4C-0D9E-B552-073A427127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86260327-BF4F-B8BD-176A-7149DA7C5D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5733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61F0511F-70EB-D0F0-AC90-8E7C8D3A973B}"/>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B8C139D9-6001-0E08-9A0B-5CF77162D5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6:notes">
            <a:extLst>
              <a:ext uri="{FF2B5EF4-FFF2-40B4-BE49-F238E27FC236}">
                <a16:creationId xmlns:a16="http://schemas.microsoft.com/office/drawing/2014/main" id="{2465E29D-7650-CBDD-B7CF-A0E74459CC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0933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A767A658-03B5-ECE5-E4AF-863D62870B71}"/>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6EF8C6FF-A1FD-FEBD-388A-1376D030AD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342D100B-1BC5-6529-DE06-03F9DA2165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1588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C24C3D88-7F1C-3069-C24E-50C0765CD194}"/>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10103F1A-5EBF-197F-F411-5F0837DD62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F7D5FFDD-ADD4-EA4A-6E46-D3244ACB3D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8894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533391CB-94E2-0846-AA2D-9877B1A2732E}"/>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B7D40C55-02B7-6FE9-0781-9E3FBF05F7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A904BD68-5B40-D507-F841-17FEB9FF0E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3295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B08D191C-56ED-FAD0-954C-EC83A18F2CD6}"/>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3594707F-76CF-D458-64C1-94BD98BDC0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538DDBE3-7E0B-4083-06A5-8B7A13B985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316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7494CC61-7B7E-4AD6-E7D5-4DFA0F72372A}"/>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37BD24AB-716D-FFA0-96EA-5CD7E45C71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C0E33B0F-7EFC-E6BA-91F3-F7F93AC604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9529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0B765900-A6E6-CF16-4C79-0B9985233B69}"/>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16CFC263-A017-C34E-F8BF-41F531C916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BA3893C5-3BB2-254B-6E72-E824137BFC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446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2BA4A304-FEA0-E420-5093-B9FA20D1357A}"/>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91992CDB-B6D4-D127-2193-BD30ABB129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23E3CEA9-3D76-41CB-CB8D-3FB1ABAB50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3522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21314FF6-4446-1EC8-CC35-50BA80150C84}"/>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9CE5BB45-750A-A95F-22A9-0702309C99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4A8E34BD-6AD3-AC70-64D2-AB92E42119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2608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53B4DA47-0FD7-6488-DC80-FE93ECC352D0}"/>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D7FE704F-1AA7-8CA3-E544-95F9BDC844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B19BF3C8-C098-D1A5-77C6-23AD1E1FE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8580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CA6D1D2D-C707-ADF6-8B70-8A776A3893B4}"/>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CDA99386-519B-3776-A164-FD71BED31D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3218AD4A-600C-C9D9-8FA3-B01DBBBBDF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80926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49CACFFB-A7E1-CCB8-F784-1334D73B7D78}"/>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A481B59A-2E42-F8E3-1D77-C4F1CB399D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37A6A4BC-8A6B-084E-78C4-AB39991B6E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79735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F01E70AE-DC1F-254E-374B-A90297847C19}"/>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EBAE1EDD-C161-4890-AA11-717C2C4C20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D12E1870-E85B-E930-F096-8A89411FCD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3600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10DC9217-1A89-B1AB-CF51-771A9B8F9C3C}"/>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424868B0-FA98-96B4-397B-2EFDB73DB6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A0DDFEF6-7505-D88B-6672-F974B5380B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0018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155BC65D-6171-52DB-A4B9-38F095EF2598}"/>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6550F91F-F615-4DA7-0E67-981DF1F543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0B48F83D-49FB-067B-250B-36BD41AE26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7397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CA721873-56A2-35BB-86C3-6DD8BD1D1A00}"/>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C68B032C-8F15-34C4-6E8C-70C3AD052E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6677168B-52AF-FD3D-D8E2-08624611AD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1674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483863AB-02E4-3315-744B-7E6C040CD254}"/>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CA7DD8C8-DDC4-8D10-EF40-CCE15C102F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D8D08764-E0A1-0AFC-E511-C72293AB7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60847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DDE95E22-7E2B-7009-A6AA-15FF4E3DCEAE}"/>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76857F74-96A5-2FCA-1402-74A9FCDF4D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8792865C-9AE2-9317-3E1E-E52B5AA1CD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324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7AE3B0A5-E0D6-1F3F-B8DD-9292CC8A6005}"/>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DFCCD686-12C6-ACDF-E27B-C36FA3D196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20FFAC75-DEE3-2FE6-BAB3-F30D6B923D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03975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3280C130-B774-24D1-D8DB-533336FD8F86}"/>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5594BF07-5AA4-790D-4A73-AADE15FA57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316A81C0-1024-04D6-F738-DC78A2313C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35725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F14321DA-47A1-7D9B-F97C-FF71CD91C9C0}"/>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F1C6DBF5-313C-0DC2-FB9A-48E4EA44EE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39E5F67A-93C5-6F82-DBF0-0BA580FD43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22184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59FF799A-0933-62D7-2FE7-E7FFCA78D134}"/>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BA2E4193-FF90-2717-6520-BE5C17370E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CDDE305B-AB02-7F11-533E-56E56472F3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05743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6BE9F211-27B2-459A-0F16-D0B9B75B4B3C}"/>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8C8EAC8E-06AA-A908-6C3D-2CE6BC9C03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7145B19E-6F0A-103E-2326-71E4967D37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31362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A16F0931-C081-E115-87DB-408C92F0EDA5}"/>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DA1DEFC0-FFFB-EC8F-C74F-95E62C18B8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89BC4710-6D68-AFED-45F5-60297B2BEC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35219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6F0D91F9-87AD-8852-8B7C-EEBEB6FC06DF}"/>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56D9CB00-2192-B8D1-2271-2A640B6B84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6D9A3EA0-5310-E816-2E70-A4A78D9BFA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99629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8712B869-98CF-CE29-5514-6E089ADE35C3}"/>
            </a:ext>
          </a:extLst>
        </p:cNvPr>
        <p:cNvGrpSpPr/>
        <p:nvPr/>
      </p:nvGrpSpPr>
      <p:grpSpPr>
        <a:xfrm>
          <a:off x="0" y="0"/>
          <a:ext cx="0" cy="0"/>
          <a:chOff x="0" y="0"/>
          <a:chExt cx="0" cy="0"/>
        </a:xfrm>
      </p:grpSpPr>
      <p:sp>
        <p:nvSpPr>
          <p:cNvPr id="117" name="Google Shape;117;p5:notes">
            <a:extLst>
              <a:ext uri="{FF2B5EF4-FFF2-40B4-BE49-F238E27FC236}">
                <a16:creationId xmlns:a16="http://schemas.microsoft.com/office/drawing/2014/main" id="{90DE48A3-9D45-AF84-B84C-B8D8645954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a:extLst>
              <a:ext uri="{FF2B5EF4-FFF2-40B4-BE49-F238E27FC236}">
                <a16:creationId xmlns:a16="http://schemas.microsoft.com/office/drawing/2014/main" id="{D1840FDC-552F-A716-8DAB-60FCB6CE72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31702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64070BCA-5CA2-AB0B-C364-85E2B4D83067}"/>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3E373346-AA5D-7676-15C2-2B4AA9AF3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6:notes">
            <a:extLst>
              <a:ext uri="{FF2B5EF4-FFF2-40B4-BE49-F238E27FC236}">
                <a16:creationId xmlns:a16="http://schemas.microsoft.com/office/drawing/2014/main" id="{E07DCFAB-3383-717E-7276-2E6530B472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1249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Voorpagina" type="title">
  <p:cSld name="TITLE">
    <p:spTree>
      <p:nvGrpSpPr>
        <p:cNvPr id="1" name="Shape 12"/>
        <p:cNvGrpSpPr/>
        <p:nvPr/>
      </p:nvGrpSpPr>
      <p:grpSpPr>
        <a:xfrm>
          <a:off x="0" y="0"/>
          <a:ext cx="0" cy="0"/>
          <a:chOff x="0" y="0"/>
          <a:chExt cx="0" cy="0"/>
        </a:xfrm>
      </p:grpSpPr>
      <p:sp>
        <p:nvSpPr>
          <p:cNvPr id="13" name="Google Shape;13;p17"/>
          <p:cNvSpPr txBox="1">
            <a:spLocks noGrp="1"/>
          </p:cNvSpPr>
          <p:nvPr>
            <p:ph type="ctrTitle"/>
          </p:nvPr>
        </p:nvSpPr>
        <p:spPr>
          <a:xfrm>
            <a:off x="1524000" y="1394217"/>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5400"/>
              <a:buFont typeface="Helvetica Neue Light"/>
              <a:buNone/>
              <a:defRPr sz="54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7"/>
          <p:cNvSpPr txBox="1">
            <a:spLocks noGrp="1"/>
          </p:cNvSpPr>
          <p:nvPr>
            <p:ph type="subTitle" idx="1"/>
          </p:nvPr>
        </p:nvSpPr>
        <p:spPr>
          <a:xfrm>
            <a:off x="1524000" y="3873892"/>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2400"/>
              <a:buNone/>
              <a:defRPr sz="2400" b="0" i="0">
                <a:solidFill>
                  <a:schemeClr val="lt1"/>
                </a:solidFill>
                <a:latin typeface="Helvetica Neue"/>
                <a:ea typeface="Helvetica Neue"/>
                <a:cs typeface="Helvetica Neue"/>
                <a:sym typeface="Helvetica Neue"/>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 name="Google Shape;1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Wie ben ik">
  <p:cSld name="Wie ben ik">
    <p:spTree>
      <p:nvGrpSpPr>
        <p:cNvPr id="1" name="Shape 25"/>
        <p:cNvGrpSpPr/>
        <p:nvPr/>
      </p:nvGrpSpPr>
      <p:grpSpPr>
        <a:xfrm>
          <a:off x="0" y="0"/>
          <a:ext cx="0" cy="0"/>
          <a:chOff x="0" y="0"/>
          <a:chExt cx="0" cy="0"/>
        </a:xfrm>
      </p:grpSpPr>
      <p:sp>
        <p:nvSpPr>
          <p:cNvPr id="26" name="Google Shape;26;p19"/>
          <p:cNvSpPr txBox="1">
            <a:spLocks noGrp="1"/>
          </p:cNvSpPr>
          <p:nvPr>
            <p:ph type="body" idx="1"/>
          </p:nvPr>
        </p:nvSpPr>
        <p:spPr>
          <a:xfrm>
            <a:off x="5625202" y="3370817"/>
            <a:ext cx="5208449" cy="3476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300"/>
              <a:buNone/>
              <a:defRPr sz="23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19"/>
          <p:cNvSpPr txBox="1">
            <a:spLocks noGrp="1"/>
          </p:cNvSpPr>
          <p:nvPr>
            <p:ph type="body" idx="2"/>
          </p:nvPr>
        </p:nvSpPr>
        <p:spPr>
          <a:xfrm>
            <a:off x="719197" y="5622157"/>
            <a:ext cx="3350246" cy="3683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7030A0"/>
              </a:buClr>
              <a:buSzPts val="2400"/>
              <a:buNone/>
              <a:defRPr sz="2400" b="0" i="0">
                <a:solidFill>
                  <a:srgbClr val="7030A0"/>
                </a:solidFill>
                <a:latin typeface="Helvetica Neue"/>
                <a:ea typeface="Helvetica Neue"/>
                <a:cs typeface="Helvetica Neue"/>
                <a:sym typeface="Helvetica Neu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9"/>
          <p:cNvSpPr txBox="1">
            <a:spLocks noGrp="1"/>
          </p:cNvSpPr>
          <p:nvPr>
            <p:ph type="body" idx="3"/>
          </p:nvPr>
        </p:nvSpPr>
        <p:spPr>
          <a:xfrm>
            <a:off x="5625203" y="3886135"/>
            <a:ext cx="5208448" cy="3476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300"/>
              <a:buNone/>
              <a:defRPr sz="23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9"/>
          <p:cNvSpPr txBox="1">
            <a:spLocks noGrp="1"/>
          </p:cNvSpPr>
          <p:nvPr>
            <p:ph type="body" idx="4"/>
          </p:nvPr>
        </p:nvSpPr>
        <p:spPr>
          <a:xfrm>
            <a:off x="5625203" y="4401453"/>
            <a:ext cx="5208448" cy="3476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300"/>
              <a:buNone/>
              <a:defRPr sz="23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19"/>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1" name="Google Shape;31;p19" descr="Graphical user interface, text&#10;&#10;Description automatically generated"/>
          <p:cNvPicPr preferRelativeResize="0"/>
          <p:nvPr/>
        </p:nvPicPr>
        <p:blipFill rotWithShape="1">
          <a:blip r:embed="rId2">
            <a:alphaModFix/>
          </a:blip>
          <a:srcRect/>
          <a:stretch/>
        </p:blipFill>
        <p:spPr>
          <a:xfrm>
            <a:off x="1061848" y="1968023"/>
            <a:ext cx="10081159" cy="347356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tructuur">
  <p:cSld name="Structuur">
    <p:spTree>
      <p:nvGrpSpPr>
        <p:cNvPr id="1" name="Shape 35"/>
        <p:cNvGrpSpPr/>
        <p:nvPr/>
      </p:nvGrpSpPr>
      <p:grpSpPr>
        <a:xfrm>
          <a:off x="0" y="0"/>
          <a:ext cx="0" cy="0"/>
          <a:chOff x="0" y="0"/>
          <a:chExt cx="0" cy="0"/>
        </a:xfrm>
      </p:grpSpPr>
      <p:sp>
        <p:nvSpPr>
          <p:cNvPr id="36" name="Google Shape;36;p21"/>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21" descr="Diagram&#10;&#10;Description automatically generated"/>
          <p:cNvPicPr preferRelativeResize="0"/>
          <p:nvPr/>
        </p:nvPicPr>
        <p:blipFill rotWithShape="1">
          <a:blip r:embed="rId2">
            <a:alphaModFix/>
          </a:blip>
          <a:srcRect/>
          <a:stretch/>
        </p:blipFill>
        <p:spPr>
          <a:xfrm>
            <a:off x="2286000" y="1362318"/>
            <a:ext cx="7620000" cy="2451100"/>
          </a:xfrm>
          <a:prstGeom prst="rect">
            <a:avLst/>
          </a:prstGeom>
          <a:noFill/>
          <a:ln>
            <a:noFill/>
          </a:ln>
        </p:spPr>
      </p:pic>
      <p:pic>
        <p:nvPicPr>
          <p:cNvPr id="38" name="Google Shape;38;p21" descr="Graphical user interface, text&#10;&#10;Description automatically generated"/>
          <p:cNvPicPr preferRelativeResize="0"/>
          <p:nvPr/>
        </p:nvPicPr>
        <p:blipFill rotWithShape="1">
          <a:blip r:embed="rId3">
            <a:alphaModFix/>
          </a:blip>
          <a:srcRect/>
          <a:stretch/>
        </p:blipFill>
        <p:spPr>
          <a:xfrm>
            <a:off x="1607531" y="4380526"/>
            <a:ext cx="8976938" cy="195438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39"/>
        <p:cNvGrpSpPr/>
        <p:nvPr/>
      </p:nvGrpSpPr>
      <p:grpSpPr>
        <a:xfrm>
          <a:off x="0" y="0"/>
          <a:ext cx="0" cy="0"/>
          <a:chOff x="0" y="0"/>
          <a:chExt cx="0" cy="0"/>
        </a:xfrm>
      </p:grpSpPr>
      <p:sp>
        <p:nvSpPr>
          <p:cNvPr id="40" name="Google Shape;40;p22"/>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2"/>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200"/>
              <a:buNone/>
              <a:defRPr sz="12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ussenslide">
  <p:cSld name="Tussenslide">
    <p:spTree>
      <p:nvGrpSpPr>
        <p:cNvPr id="1" name="Shape 42"/>
        <p:cNvGrpSpPr/>
        <p:nvPr/>
      </p:nvGrpSpPr>
      <p:grpSpPr>
        <a:xfrm>
          <a:off x="0" y="0"/>
          <a:ext cx="0" cy="0"/>
          <a:chOff x="0" y="0"/>
          <a:chExt cx="0" cy="0"/>
        </a:xfrm>
      </p:grpSpPr>
      <p:pic>
        <p:nvPicPr>
          <p:cNvPr id="43" name="Google Shape;43;p23" descr="A picture containing logo&#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4" name="Google Shape;44;p23"/>
          <p:cNvSpPr txBox="1">
            <a:spLocks noGrp="1"/>
          </p:cNvSpPr>
          <p:nvPr>
            <p:ph type="body" idx="1"/>
          </p:nvPr>
        </p:nvSpPr>
        <p:spPr>
          <a:xfrm>
            <a:off x="1652066" y="3117908"/>
            <a:ext cx="8887868" cy="62218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6000"/>
              <a:buNone/>
              <a:defRPr sz="60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ratis vs volledig">
  <p:cSld name="Gratis vs volledig">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1" name="Google Shape;51;p25" descr="Graphical user interface, text, application&#10;&#10;Description automatically generated"/>
          <p:cNvPicPr preferRelativeResize="0"/>
          <p:nvPr/>
        </p:nvPicPr>
        <p:blipFill rotWithShape="1">
          <a:blip r:embed="rId2">
            <a:alphaModFix/>
          </a:blip>
          <a:srcRect/>
          <a:stretch/>
        </p:blipFill>
        <p:spPr>
          <a:xfrm>
            <a:off x="796732" y="1904194"/>
            <a:ext cx="10598537" cy="400886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e ben ik">
  <p:cSld name="Wie ben ik">
    <p:spTree>
      <p:nvGrpSpPr>
        <p:cNvPr id="1" name="Shape 25"/>
        <p:cNvGrpSpPr/>
        <p:nvPr/>
      </p:nvGrpSpPr>
      <p:grpSpPr>
        <a:xfrm>
          <a:off x="0" y="0"/>
          <a:ext cx="0" cy="0"/>
          <a:chOff x="0" y="0"/>
          <a:chExt cx="0" cy="0"/>
        </a:xfrm>
      </p:grpSpPr>
      <p:sp>
        <p:nvSpPr>
          <p:cNvPr id="26" name="Google Shape;26;p19"/>
          <p:cNvSpPr txBox="1">
            <a:spLocks noGrp="1"/>
          </p:cNvSpPr>
          <p:nvPr>
            <p:ph type="body" idx="1"/>
          </p:nvPr>
        </p:nvSpPr>
        <p:spPr>
          <a:xfrm>
            <a:off x="5625202" y="3370817"/>
            <a:ext cx="5208449" cy="3476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300"/>
              <a:buNone/>
              <a:defRPr sz="23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19"/>
          <p:cNvSpPr txBox="1">
            <a:spLocks noGrp="1"/>
          </p:cNvSpPr>
          <p:nvPr>
            <p:ph type="body" idx="2"/>
          </p:nvPr>
        </p:nvSpPr>
        <p:spPr>
          <a:xfrm>
            <a:off x="719197" y="5622157"/>
            <a:ext cx="3350246" cy="36830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7030A0"/>
              </a:buClr>
              <a:buSzPts val="2400"/>
              <a:buNone/>
              <a:defRPr sz="2400" b="0" i="0">
                <a:solidFill>
                  <a:srgbClr val="7030A0"/>
                </a:solidFill>
                <a:latin typeface="Helvetica Neue"/>
                <a:ea typeface="Helvetica Neue"/>
                <a:cs typeface="Helvetica Neue"/>
                <a:sym typeface="Helvetica Neu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9"/>
          <p:cNvSpPr txBox="1">
            <a:spLocks noGrp="1"/>
          </p:cNvSpPr>
          <p:nvPr>
            <p:ph type="body" idx="3"/>
          </p:nvPr>
        </p:nvSpPr>
        <p:spPr>
          <a:xfrm>
            <a:off x="5625203" y="3886135"/>
            <a:ext cx="5208448" cy="3476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300"/>
              <a:buNone/>
              <a:defRPr sz="23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9"/>
          <p:cNvSpPr txBox="1">
            <a:spLocks noGrp="1"/>
          </p:cNvSpPr>
          <p:nvPr>
            <p:ph type="body" idx="4"/>
          </p:nvPr>
        </p:nvSpPr>
        <p:spPr>
          <a:xfrm>
            <a:off x="5625203" y="4401453"/>
            <a:ext cx="5208448" cy="3476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300"/>
              <a:buNone/>
              <a:defRPr sz="23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19"/>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1" name="Google Shape;31;p19" descr="Graphical user interface, text&#10;&#10;Description automatically generated"/>
          <p:cNvPicPr preferRelativeResize="0"/>
          <p:nvPr/>
        </p:nvPicPr>
        <p:blipFill rotWithShape="1">
          <a:blip r:embed="rId2">
            <a:alphaModFix/>
          </a:blip>
          <a:srcRect/>
          <a:stretch/>
        </p:blipFill>
        <p:spPr>
          <a:xfrm>
            <a:off x="1061848" y="1968023"/>
            <a:ext cx="10081159" cy="3473560"/>
          </a:xfrm>
          <a:prstGeom prst="rect">
            <a:avLst/>
          </a:prstGeom>
          <a:noFill/>
          <a:ln>
            <a:noFill/>
          </a:ln>
        </p:spPr>
      </p:pic>
    </p:spTree>
    <p:extLst>
      <p:ext uri="{BB962C8B-B14F-4D97-AF65-F5344CB8AC3E}">
        <p14:creationId xmlns:p14="http://schemas.microsoft.com/office/powerpoint/2010/main" val="1292283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hatsApp">
  <p:cSld name="WhatsApp">
    <p:spTree>
      <p:nvGrpSpPr>
        <p:cNvPr id="1" name="Shape 32"/>
        <p:cNvGrpSpPr/>
        <p:nvPr/>
      </p:nvGrpSpPr>
      <p:grpSpPr>
        <a:xfrm>
          <a:off x="0" y="0"/>
          <a:ext cx="0" cy="0"/>
          <a:chOff x="0" y="0"/>
          <a:chExt cx="0" cy="0"/>
        </a:xfrm>
      </p:grpSpPr>
      <p:sp>
        <p:nvSpPr>
          <p:cNvPr id="33" name="Google Shape;33;p20"/>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4" name="Google Shape;34;p20" descr="Graphical user interface, application&#10;&#10;Description automatically generated"/>
          <p:cNvPicPr preferRelativeResize="0"/>
          <p:nvPr/>
        </p:nvPicPr>
        <p:blipFill rotWithShape="1">
          <a:blip r:embed="rId2">
            <a:alphaModFix/>
          </a:blip>
          <a:srcRect t="5289" b="3513"/>
          <a:stretch/>
        </p:blipFill>
        <p:spPr>
          <a:xfrm>
            <a:off x="1335867" y="909860"/>
            <a:ext cx="9611706" cy="5822556"/>
          </a:xfrm>
          <a:prstGeom prst="rect">
            <a:avLst/>
          </a:prstGeom>
          <a:noFill/>
          <a:ln>
            <a:noFill/>
          </a:ln>
        </p:spPr>
      </p:pic>
    </p:spTree>
    <p:extLst>
      <p:ext uri="{BB962C8B-B14F-4D97-AF65-F5344CB8AC3E}">
        <p14:creationId xmlns:p14="http://schemas.microsoft.com/office/powerpoint/2010/main" val="3128266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tructuur">
  <p:cSld name="Structuur">
    <p:spTree>
      <p:nvGrpSpPr>
        <p:cNvPr id="1" name="Shape 35"/>
        <p:cNvGrpSpPr/>
        <p:nvPr/>
      </p:nvGrpSpPr>
      <p:grpSpPr>
        <a:xfrm>
          <a:off x="0" y="0"/>
          <a:ext cx="0" cy="0"/>
          <a:chOff x="0" y="0"/>
          <a:chExt cx="0" cy="0"/>
        </a:xfrm>
      </p:grpSpPr>
      <p:sp>
        <p:nvSpPr>
          <p:cNvPr id="36" name="Google Shape;36;p21"/>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21" descr="Diagram&#10;&#10;Description automatically generated"/>
          <p:cNvPicPr preferRelativeResize="0"/>
          <p:nvPr/>
        </p:nvPicPr>
        <p:blipFill rotWithShape="1">
          <a:blip r:embed="rId2">
            <a:alphaModFix/>
          </a:blip>
          <a:srcRect/>
          <a:stretch/>
        </p:blipFill>
        <p:spPr>
          <a:xfrm>
            <a:off x="2286000" y="1362318"/>
            <a:ext cx="7620000" cy="2451100"/>
          </a:xfrm>
          <a:prstGeom prst="rect">
            <a:avLst/>
          </a:prstGeom>
          <a:noFill/>
          <a:ln>
            <a:noFill/>
          </a:ln>
        </p:spPr>
      </p:pic>
      <p:pic>
        <p:nvPicPr>
          <p:cNvPr id="38" name="Google Shape;38;p21" descr="Graphical user interface, text&#10;&#10;Description automatically generated"/>
          <p:cNvPicPr preferRelativeResize="0"/>
          <p:nvPr/>
        </p:nvPicPr>
        <p:blipFill rotWithShape="1">
          <a:blip r:embed="rId3">
            <a:alphaModFix/>
          </a:blip>
          <a:srcRect/>
          <a:stretch/>
        </p:blipFill>
        <p:spPr>
          <a:xfrm>
            <a:off x="1607531" y="4380526"/>
            <a:ext cx="8976938" cy="1954389"/>
          </a:xfrm>
          <a:prstGeom prst="rect">
            <a:avLst/>
          </a:prstGeom>
          <a:noFill/>
          <a:ln>
            <a:noFill/>
          </a:ln>
        </p:spPr>
      </p:pic>
    </p:spTree>
    <p:extLst>
      <p:ext uri="{BB962C8B-B14F-4D97-AF65-F5344CB8AC3E}">
        <p14:creationId xmlns:p14="http://schemas.microsoft.com/office/powerpoint/2010/main" val="1711622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39"/>
        <p:cNvGrpSpPr/>
        <p:nvPr/>
      </p:nvGrpSpPr>
      <p:grpSpPr>
        <a:xfrm>
          <a:off x="0" y="0"/>
          <a:ext cx="0" cy="0"/>
          <a:chOff x="0" y="0"/>
          <a:chExt cx="0" cy="0"/>
        </a:xfrm>
      </p:grpSpPr>
      <p:sp>
        <p:nvSpPr>
          <p:cNvPr id="40" name="Google Shape;40;p22"/>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2"/>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200"/>
              <a:buNone/>
              <a:defRPr sz="12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2937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ussenslide">
  <p:cSld name="Tussenslide">
    <p:spTree>
      <p:nvGrpSpPr>
        <p:cNvPr id="1" name="Shape 42"/>
        <p:cNvGrpSpPr/>
        <p:nvPr/>
      </p:nvGrpSpPr>
      <p:grpSpPr>
        <a:xfrm>
          <a:off x="0" y="0"/>
          <a:ext cx="0" cy="0"/>
          <a:chOff x="0" y="0"/>
          <a:chExt cx="0" cy="0"/>
        </a:xfrm>
      </p:grpSpPr>
      <p:pic>
        <p:nvPicPr>
          <p:cNvPr id="43" name="Google Shape;43;p23" descr="A picture containing logo&#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4" name="Google Shape;44;p23"/>
          <p:cNvSpPr txBox="1">
            <a:spLocks noGrp="1"/>
          </p:cNvSpPr>
          <p:nvPr>
            <p:ph type="body" idx="1"/>
          </p:nvPr>
        </p:nvSpPr>
        <p:spPr>
          <a:xfrm>
            <a:off x="1652066" y="3117908"/>
            <a:ext cx="8887868" cy="622185"/>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chemeClr val="dk1"/>
              </a:buClr>
              <a:buSzPts val="6000"/>
              <a:buNone/>
              <a:defRPr sz="60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16363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valuatie">
  <p:cSld name="Evaluatie">
    <p:spTree>
      <p:nvGrpSpPr>
        <p:cNvPr id="1" name="Shape 45"/>
        <p:cNvGrpSpPr/>
        <p:nvPr/>
      </p:nvGrpSpPr>
      <p:grpSpPr>
        <a:xfrm>
          <a:off x="0" y="0"/>
          <a:ext cx="0" cy="0"/>
          <a:chOff x="0" y="0"/>
          <a:chExt cx="0" cy="0"/>
        </a:xfrm>
      </p:grpSpPr>
      <p:pic>
        <p:nvPicPr>
          <p:cNvPr id="46" name="Google Shape;46;p24" descr="Qr code&#10;&#10;Description automatically generated"/>
          <p:cNvPicPr preferRelativeResize="0"/>
          <p:nvPr/>
        </p:nvPicPr>
        <p:blipFill rotWithShape="1">
          <a:blip r:embed="rId2">
            <a:alphaModFix/>
          </a:blip>
          <a:srcRect/>
          <a:stretch/>
        </p:blipFill>
        <p:spPr>
          <a:xfrm>
            <a:off x="3844231" y="3100388"/>
            <a:ext cx="4503539" cy="3677308"/>
          </a:xfrm>
          <a:prstGeom prst="rect">
            <a:avLst/>
          </a:prstGeom>
          <a:noFill/>
          <a:ln>
            <a:noFill/>
          </a:ln>
        </p:spPr>
      </p:pic>
      <p:sp>
        <p:nvSpPr>
          <p:cNvPr id="47" name="Google Shape;47;p24"/>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8" name="Google Shape;48;p24" descr="A close-up of a logo&#10;&#10;Description automatically generated with medium confidence"/>
          <p:cNvPicPr preferRelativeResize="0"/>
          <p:nvPr/>
        </p:nvPicPr>
        <p:blipFill rotWithShape="1">
          <a:blip r:embed="rId3">
            <a:alphaModFix/>
          </a:blip>
          <a:srcRect/>
          <a:stretch/>
        </p:blipFill>
        <p:spPr>
          <a:xfrm>
            <a:off x="2286000" y="1103582"/>
            <a:ext cx="7620000" cy="2400300"/>
          </a:xfrm>
          <a:prstGeom prst="rect">
            <a:avLst/>
          </a:prstGeom>
          <a:noFill/>
          <a:ln>
            <a:noFill/>
          </a:ln>
        </p:spPr>
      </p:pic>
    </p:spTree>
    <p:extLst>
      <p:ext uri="{BB962C8B-B14F-4D97-AF65-F5344CB8AC3E}">
        <p14:creationId xmlns:p14="http://schemas.microsoft.com/office/powerpoint/2010/main" val="1981521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Gratis vs volledig">
  <p:cSld name="Gratis vs volledig">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1" name="Google Shape;51;p25" descr="Graphical user interface, text, application&#10;&#10;Description automatically generated"/>
          <p:cNvPicPr preferRelativeResize="0"/>
          <p:nvPr/>
        </p:nvPicPr>
        <p:blipFill rotWithShape="1">
          <a:blip r:embed="rId2">
            <a:alphaModFix/>
          </a:blip>
          <a:srcRect/>
          <a:stretch/>
        </p:blipFill>
        <p:spPr>
          <a:xfrm>
            <a:off x="796732" y="1904194"/>
            <a:ext cx="10598537" cy="4008862"/>
          </a:xfrm>
          <a:prstGeom prst="rect">
            <a:avLst/>
          </a:prstGeom>
          <a:noFill/>
          <a:ln>
            <a:noFill/>
          </a:ln>
        </p:spPr>
      </p:pic>
    </p:spTree>
    <p:extLst>
      <p:ext uri="{BB962C8B-B14F-4D97-AF65-F5344CB8AC3E}">
        <p14:creationId xmlns:p14="http://schemas.microsoft.com/office/powerpoint/2010/main" val="429111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uitjes">
  <p:cSld name="Ruitjes">
    <p:spTree>
      <p:nvGrpSpPr>
        <p:cNvPr id="1" name="Shape 52"/>
        <p:cNvGrpSpPr/>
        <p:nvPr/>
      </p:nvGrpSpPr>
      <p:grpSpPr>
        <a:xfrm>
          <a:off x="0" y="0"/>
          <a:ext cx="0" cy="0"/>
          <a:chOff x="0" y="0"/>
          <a:chExt cx="0" cy="0"/>
        </a:xfrm>
      </p:grpSpPr>
      <p:pic>
        <p:nvPicPr>
          <p:cNvPr id="53" name="Google Shape;53;p26" descr="Background pattern&#10;&#10;Description automatically generated"/>
          <p:cNvPicPr preferRelativeResize="0"/>
          <p:nvPr/>
        </p:nvPicPr>
        <p:blipFill rotWithShape="1">
          <a:blip r:embed="rId2">
            <a:alphaModFix/>
          </a:blip>
          <a:srcRect/>
          <a:stretch/>
        </p:blipFill>
        <p:spPr>
          <a:xfrm>
            <a:off x="-30237" y="873457"/>
            <a:ext cx="12252474" cy="5877571"/>
          </a:xfrm>
          <a:prstGeom prst="rect">
            <a:avLst/>
          </a:prstGeom>
          <a:noFill/>
          <a:ln>
            <a:noFill/>
          </a:ln>
        </p:spPr>
      </p:pic>
      <p:sp>
        <p:nvSpPr>
          <p:cNvPr id="54" name="Google Shape;54;p26"/>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9296688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alf ruitjes">
  <p:cSld name="Half ruitjes">
    <p:spTree>
      <p:nvGrpSpPr>
        <p:cNvPr id="1" name="Shape 55"/>
        <p:cNvGrpSpPr/>
        <p:nvPr/>
      </p:nvGrpSpPr>
      <p:grpSpPr>
        <a:xfrm>
          <a:off x="0" y="0"/>
          <a:ext cx="0" cy="0"/>
          <a:chOff x="0" y="0"/>
          <a:chExt cx="0" cy="0"/>
        </a:xfrm>
      </p:grpSpPr>
      <p:pic>
        <p:nvPicPr>
          <p:cNvPr id="56" name="Google Shape;56;p27"/>
          <p:cNvPicPr preferRelativeResize="0"/>
          <p:nvPr/>
        </p:nvPicPr>
        <p:blipFill rotWithShape="1">
          <a:blip r:embed="rId2">
            <a:alphaModFix/>
          </a:blip>
          <a:srcRect/>
          <a:stretch/>
        </p:blipFill>
        <p:spPr>
          <a:xfrm>
            <a:off x="0" y="893339"/>
            <a:ext cx="12192000" cy="5848561"/>
          </a:xfrm>
          <a:prstGeom prst="rect">
            <a:avLst/>
          </a:prstGeom>
          <a:noFill/>
          <a:ln>
            <a:noFill/>
          </a:ln>
        </p:spPr>
      </p:pic>
      <p:sp>
        <p:nvSpPr>
          <p:cNvPr id="57" name="Google Shape;57;p27"/>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7"/>
          <p:cNvSpPr txBox="1">
            <a:spLocks noGrp="1"/>
          </p:cNvSpPr>
          <p:nvPr>
            <p:ph type="body" idx="1"/>
          </p:nvPr>
        </p:nvSpPr>
        <p:spPr>
          <a:xfrm>
            <a:off x="261258" y="1222310"/>
            <a:ext cx="5393094" cy="445070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100"/>
              <a:buNone/>
              <a:defRPr sz="1100" b="0" i="0">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248621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lanning 1/5">
  <p:cSld name="Planning 1/5">
    <p:spTree>
      <p:nvGrpSpPr>
        <p:cNvPr id="1" name="Shape 59"/>
        <p:cNvGrpSpPr/>
        <p:nvPr/>
      </p:nvGrpSpPr>
      <p:grpSpPr>
        <a:xfrm>
          <a:off x="0" y="0"/>
          <a:ext cx="0" cy="0"/>
          <a:chOff x="0" y="0"/>
          <a:chExt cx="0" cy="0"/>
        </a:xfrm>
      </p:grpSpPr>
      <p:pic>
        <p:nvPicPr>
          <p:cNvPr id="60" name="Google Shape;60;p28"/>
          <p:cNvPicPr preferRelativeResize="0"/>
          <p:nvPr/>
        </p:nvPicPr>
        <p:blipFill rotWithShape="1">
          <a:blip r:embed="rId2">
            <a:alphaModFix/>
          </a:blip>
          <a:srcRect/>
          <a:stretch/>
        </p:blipFill>
        <p:spPr>
          <a:xfrm>
            <a:off x="2953093" y="1238764"/>
            <a:ext cx="6285814" cy="4983055"/>
          </a:xfrm>
          <a:prstGeom prst="rect">
            <a:avLst/>
          </a:prstGeom>
          <a:noFill/>
          <a:ln>
            <a:noFill/>
          </a:ln>
        </p:spPr>
      </p:pic>
      <p:sp>
        <p:nvSpPr>
          <p:cNvPr id="61" name="Google Shape;61;p28"/>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28"/>
          <p:cNvSpPr txBox="1">
            <a:spLocks noGrp="1"/>
          </p:cNvSpPr>
          <p:nvPr>
            <p:ph type="body" idx="1"/>
          </p:nvPr>
        </p:nvSpPr>
        <p:spPr>
          <a:xfrm>
            <a:off x="4596922" y="1455576"/>
            <a:ext cx="2998156" cy="328774"/>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7946490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lanning 2/5">
  <p:cSld name="Planning 2/5">
    <p:spTree>
      <p:nvGrpSpPr>
        <p:cNvPr id="1" name="Shape 63"/>
        <p:cNvGrpSpPr/>
        <p:nvPr/>
      </p:nvGrpSpPr>
      <p:grpSpPr>
        <a:xfrm>
          <a:off x="0" y="0"/>
          <a:ext cx="0" cy="0"/>
          <a:chOff x="0" y="0"/>
          <a:chExt cx="0" cy="0"/>
        </a:xfrm>
      </p:grpSpPr>
      <p:pic>
        <p:nvPicPr>
          <p:cNvPr id="64" name="Google Shape;64;p29"/>
          <p:cNvPicPr preferRelativeResize="0"/>
          <p:nvPr/>
        </p:nvPicPr>
        <p:blipFill rotWithShape="1">
          <a:blip r:embed="rId2">
            <a:alphaModFix/>
          </a:blip>
          <a:srcRect/>
          <a:stretch/>
        </p:blipFill>
        <p:spPr>
          <a:xfrm>
            <a:off x="1282902" y="1226410"/>
            <a:ext cx="9626195" cy="5149678"/>
          </a:xfrm>
          <a:prstGeom prst="rect">
            <a:avLst/>
          </a:prstGeom>
          <a:noFill/>
          <a:ln>
            <a:noFill/>
          </a:ln>
        </p:spPr>
      </p:pic>
      <p:sp>
        <p:nvSpPr>
          <p:cNvPr id="65" name="Google Shape;65;p29"/>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9"/>
          <p:cNvSpPr txBox="1">
            <a:spLocks noGrp="1"/>
          </p:cNvSpPr>
          <p:nvPr>
            <p:ph type="body" idx="1"/>
          </p:nvPr>
        </p:nvSpPr>
        <p:spPr>
          <a:xfrm>
            <a:off x="1480457" y="1452318"/>
            <a:ext cx="4005943" cy="325862"/>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9"/>
          <p:cNvSpPr txBox="1">
            <a:spLocks noGrp="1"/>
          </p:cNvSpPr>
          <p:nvPr>
            <p:ph type="body" idx="2"/>
          </p:nvPr>
        </p:nvSpPr>
        <p:spPr>
          <a:xfrm>
            <a:off x="6705598" y="1452318"/>
            <a:ext cx="4005943" cy="336744"/>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263397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lanning 3/5">
  <p:cSld name="Planning 3/5">
    <p:spTree>
      <p:nvGrpSpPr>
        <p:cNvPr id="1" name="Shape 68"/>
        <p:cNvGrpSpPr/>
        <p:nvPr/>
      </p:nvGrpSpPr>
      <p:grpSpPr>
        <a:xfrm>
          <a:off x="0" y="0"/>
          <a:ext cx="0" cy="0"/>
          <a:chOff x="0" y="0"/>
          <a:chExt cx="0" cy="0"/>
        </a:xfrm>
      </p:grpSpPr>
      <p:pic>
        <p:nvPicPr>
          <p:cNvPr id="69" name="Google Shape;69;p30"/>
          <p:cNvPicPr preferRelativeResize="0"/>
          <p:nvPr/>
        </p:nvPicPr>
        <p:blipFill rotWithShape="1">
          <a:blip r:embed="rId2">
            <a:alphaModFix/>
          </a:blip>
          <a:srcRect/>
          <a:stretch/>
        </p:blipFill>
        <p:spPr>
          <a:xfrm>
            <a:off x="386809" y="1226410"/>
            <a:ext cx="11418379" cy="5115701"/>
          </a:xfrm>
          <a:prstGeom prst="rect">
            <a:avLst/>
          </a:prstGeom>
          <a:noFill/>
          <a:ln>
            <a:noFill/>
          </a:ln>
        </p:spPr>
      </p:pic>
      <p:sp>
        <p:nvSpPr>
          <p:cNvPr id="70" name="Google Shape;70;p30"/>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30"/>
          <p:cNvSpPr txBox="1">
            <a:spLocks noGrp="1"/>
          </p:cNvSpPr>
          <p:nvPr>
            <p:ph type="body" idx="1"/>
          </p:nvPr>
        </p:nvSpPr>
        <p:spPr>
          <a:xfrm>
            <a:off x="584616" y="1469035"/>
            <a:ext cx="3417758" cy="299803"/>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30"/>
          <p:cNvSpPr txBox="1">
            <a:spLocks noGrp="1"/>
          </p:cNvSpPr>
          <p:nvPr>
            <p:ph type="body" idx="2"/>
          </p:nvPr>
        </p:nvSpPr>
        <p:spPr>
          <a:xfrm>
            <a:off x="4387119" y="1469035"/>
            <a:ext cx="3417758" cy="299803"/>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30"/>
          <p:cNvSpPr txBox="1">
            <a:spLocks noGrp="1"/>
          </p:cNvSpPr>
          <p:nvPr>
            <p:ph type="body" idx="3"/>
          </p:nvPr>
        </p:nvSpPr>
        <p:spPr>
          <a:xfrm>
            <a:off x="8189626" y="1469035"/>
            <a:ext cx="3417758" cy="299803"/>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5287944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lanning 4/5">
  <p:cSld name="Planning 4/5">
    <p:spTree>
      <p:nvGrpSpPr>
        <p:cNvPr id="1" name="Shape 74"/>
        <p:cNvGrpSpPr/>
        <p:nvPr/>
      </p:nvGrpSpPr>
      <p:grpSpPr>
        <a:xfrm>
          <a:off x="0" y="0"/>
          <a:ext cx="0" cy="0"/>
          <a:chOff x="0" y="0"/>
          <a:chExt cx="0" cy="0"/>
        </a:xfrm>
      </p:grpSpPr>
      <p:pic>
        <p:nvPicPr>
          <p:cNvPr id="75" name="Google Shape;75;p31"/>
          <p:cNvPicPr preferRelativeResize="0"/>
          <p:nvPr/>
        </p:nvPicPr>
        <p:blipFill rotWithShape="1">
          <a:blip r:embed="rId2">
            <a:alphaModFix/>
          </a:blip>
          <a:srcRect/>
          <a:stretch/>
        </p:blipFill>
        <p:spPr>
          <a:xfrm>
            <a:off x="344426" y="1672801"/>
            <a:ext cx="11503144" cy="4049924"/>
          </a:xfrm>
          <a:prstGeom prst="rect">
            <a:avLst/>
          </a:prstGeom>
          <a:noFill/>
          <a:ln>
            <a:noFill/>
          </a:ln>
        </p:spPr>
      </p:pic>
      <p:sp>
        <p:nvSpPr>
          <p:cNvPr id="76" name="Google Shape;76;p31"/>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1"/>
          <p:cNvSpPr txBox="1">
            <a:spLocks noGrp="1"/>
          </p:cNvSpPr>
          <p:nvPr>
            <p:ph type="body" idx="1"/>
          </p:nvPr>
        </p:nvSpPr>
        <p:spPr>
          <a:xfrm>
            <a:off x="503725" y="1828800"/>
            <a:ext cx="2711189"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800"/>
              <a:buNone/>
              <a:defRPr sz="18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1"/>
          <p:cNvSpPr txBox="1">
            <a:spLocks noGrp="1"/>
          </p:cNvSpPr>
          <p:nvPr>
            <p:ph type="body" idx="2"/>
          </p:nvPr>
        </p:nvSpPr>
        <p:spPr>
          <a:xfrm>
            <a:off x="3326745" y="1828803"/>
            <a:ext cx="2711189"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800"/>
              <a:buNone/>
              <a:defRPr sz="18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31"/>
          <p:cNvSpPr txBox="1">
            <a:spLocks noGrp="1"/>
          </p:cNvSpPr>
          <p:nvPr>
            <p:ph type="body" idx="3"/>
          </p:nvPr>
        </p:nvSpPr>
        <p:spPr>
          <a:xfrm>
            <a:off x="6151768" y="1828806"/>
            <a:ext cx="2711189"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800"/>
              <a:buNone/>
              <a:defRPr sz="18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31"/>
          <p:cNvSpPr txBox="1">
            <a:spLocks noGrp="1"/>
          </p:cNvSpPr>
          <p:nvPr>
            <p:ph type="body" idx="4"/>
          </p:nvPr>
        </p:nvSpPr>
        <p:spPr>
          <a:xfrm>
            <a:off x="8975353" y="1826226"/>
            <a:ext cx="2711189"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800"/>
              <a:buNone/>
              <a:defRPr sz="18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7260942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lanning 5/5">
  <p:cSld name="Planning 5/5">
    <p:spTree>
      <p:nvGrpSpPr>
        <p:cNvPr id="1" name="Shape 81"/>
        <p:cNvGrpSpPr/>
        <p:nvPr/>
      </p:nvGrpSpPr>
      <p:grpSpPr>
        <a:xfrm>
          <a:off x="0" y="0"/>
          <a:ext cx="0" cy="0"/>
          <a:chOff x="0" y="0"/>
          <a:chExt cx="0" cy="0"/>
        </a:xfrm>
      </p:grpSpPr>
      <p:pic>
        <p:nvPicPr>
          <p:cNvPr id="82" name="Google Shape;82;p32"/>
          <p:cNvPicPr preferRelativeResize="0"/>
          <p:nvPr/>
        </p:nvPicPr>
        <p:blipFill rotWithShape="1">
          <a:blip r:embed="rId2">
            <a:alphaModFix/>
          </a:blip>
          <a:srcRect/>
          <a:stretch/>
        </p:blipFill>
        <p:spPr>
          <a:xfrm>
            <a:off x="223707" y="1681892"/>
            <a:ext cx="11744586" cy="4076357"/>
          </a:xfrm>
          <a:prstGeom prst="rect">
            <a:avLst/>
          </a:prstGeom>
          <a:noFill/>
          <a:ln>
            <a:noFill/>
          </a:ln>
        </p:spPr>
      </p:pic>
      <p:sp>
        <p:nvSpPr>
          <p:cNvPr id="83" name="Google Shape;83;p32"/>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4000"/>
              <a:buFont typeface="Helvetica Neue Light"/>
              <a:buNone/>
              <a:defRPr sz="4000" b="0" i="0">
                <a:solidFill>
                  <a:schemeClr val="lt1"/>
                </a:solidFill>
                <a:latin typeface="Helvetica Neue Light"/>
                <a:ea typeface="Helvetica Neue Light"/>
                <a:cs typeface="Helvetica Neue Light"/>
                <a:sym typeface="Helvetica Neue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2"/>
          <p:cNvSpPr txBox="1">
            <a:spLocks noGrp="1"/>
          </p:cNvSpPr>
          <p:nvPr>
            <p:ph type="body" idx="1"/>
          </p:nvPr>
        </p:nvSpPr>
        <p:spPr>
          <a:xfrm>
            <a:off x="378405" y="1830840"/>
            <a:ext cx="2212396"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600"/>
              <a:buNone/>
              <a:defRPr sz="16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2"/>
          <p:cNvSpPr txBox="1">
            <a:spLocks noGrp="1"/>
          </p:cNvSpPr>
          <p:nvPr>
            <p:ph type="body" idx="2"/>
          </p:nvPr>
        </p:nvSpPr>
        <p:spPr>
          <a:xfrm>
            <a:off x="2685436" y="1830840"/>
            <a:ext cx="2212396"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600"/>
              <a:buNone/>
              <a:defRPr sz="16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32"/>
          <p:cNvSpPr txBox="1">
            <a:spLocks noGrp="1"/>
          </p:cNvSpPr>
          <p:nvPr>
            <p:ph type="body" idx="3"/>
          </p:nvPr>
        </p:nvSpPr>
        <p:spPr>
          <a:xfrm>
            <a:off x="4987207" y="1830839"/>
            <a:ext cx="2212396"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600"/>
              <a:buNone/>
              <a:defRPr sz="16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2"/>
          <p:cNvSpPr txBox="1">
            <a:spLocks noGrp="1"/>
          </p:cNvSpPr>
          <p:nvPr>
            <p:ph type="body" idx="4"/>
          </p:nvPr>
        </p:nvSpPr>
        <p:spPr>
          <a:xfrm>
            <a:off x="7294079" y="1826664"/>
            <a:ext cx="2212396"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600"/>
              <a:buNone/>
              <a:defRPr sz="16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32"/>
          <p:cNvSpPr txBox="1">
            <a:spLocks noGrp="1"/>
          </p:cNvSpPr>
          <p:nvPr>
            <p:ph type="body" idx="5"/>
          </p:nvPr>
        </p:nvSpPr>
        <p:spPr>
          <a:xfrm>
            <a:off x="9600951" y="1822489"/>
            <a:ext cx="2212396" cy="290286"/>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lt1"/>
              </a:buClr>
              <a:buSzPts val="1600"/>
              <a:buNone/>
              <a:defRPr sz="1600" b="0" i="0">
                <a:solidFill>
                  <a:schemeClr val="lt1"/>
                </a:solidFill>
                <a:latin typeface="Helvetica Neue Light"/>
                <a:ea typeface="Helvetica Neue Light"/>
                <a:cs typeface="Helvetica Neue Light"/>
                <a:sym typeface="Helvetica Neue Light"/>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557070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2.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6" Type="http://schemas.openxmlformats.org/officeDocument/2006/relationships/image" Target="../media/image2.jp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3.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NL"/>
              <a:t>‹#›</a:t>
            </a:fld>
            <a:endParaRPr/>
          </a:p>
        </p:txBody>
      </p:sp>
      <p:pic>
        <p:nvPicPr>
          <p:cNvPr id="11" name="Google Shape;11;p16" descr="Graphical user interface&#10;&#10;Description automatically generated with medium confidence"/>
          <p:cNvPicPr preferRelativeResize="0"/>
          <p:nvPr/>
        </p:nvPicPr>
        <p:blipFill rotWithShape="1">
          <a:blip r:embed="rId3">
            <a:alphaModFix/>
          </a:blip>
          <a:srcRect/>
          <a:stretch/>
        </p:blipFill>
        <p:spPr>
          <a:xfrm>
            <a:off x="0" y="2822"/>
            <a:ext cx="12192000" cy="68523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
        <p:cNvGrpSpPr/>
        <p:nvPr/>
      </p:nvGrpSpPr>
      <p:grpSpPr>
        <a:xfrm>
          <a:off x="0" y="0"/>
          <a:ext cx="0" cy="0"/>
          <a:chOff x="0" y="0"/>
          <a:chExt cx="0" cy="0"/>
        </a:xfrm>
      </p:grpSpPr>
      <p:sp>
        <p:nvSpPr>
          <p:cNvPr id="19" name="Google Shape;1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 name="Google Shape;2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NL"/>
              <a:t>‹#›</a:t>
            </a:fld>
            <a:endParaRPr/>
          </a:p>
        </p:txBody>
      </p:sp>
      <p:pic>
        <p:nvPicPr>
          <p:cNvPr id="24" name="Google Shape;24;p18" descr="Shape, rectangle&#10;&#10;Description automatically generated"/>
          <p:cNvPicPr preferRelativeResize="0"/>
          <p:nvPr/>
        </p:nvPicPr>
        <p:blipFill rotWithShape="1">
          <a:blip r:embed="rId7">
            <a:alphaModFix/>
          </a:blip>
          <a:srcRect/>
          <a:stretch/>
        </p:blipFill>
        <p:spPr>
          <a:xfrm>
            <a:off x="0" y="2822"/>
            <a:ext cx="12192000" cy="68523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
        <p:cNvGrpSpPr/>
        <p:nvPr/>
      </p:nvGrpSpPr>
      <p:grpSpPr>
        <a:xfrm>
          <a:off x="0" y="0"/>
          <a:ext cx="0" cy="0"/>
          <a:chOff x="0" y="0"/>
          <a:chExt cx="0" cy="0"/>
        </a:xfrm>
      </p:grpSpPr>
      <p:sp>
        <p:nvSpPr>
          <p:cNvPr id="19" name="Google Shape;1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 name="Google Shape;2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NL"/>
              <a:t>‹#›</a:t>
            </a:fld>
            <a:endParaRPr/>
          </a:p>
        </p:txBody>
      </p:sp>
      <p:pic>
        <p:nvPicPr>
          <p:cNvPr id="24" name="Google Shape;24;p18" descr="Shape, rectangle&#10;&#10;Description automatically generated"/>
          <p:cNvPicPr preferRelativeResize="0"/>
          <p:nvPr/>
        </p:nvPicPr>
        <p:blipFill rotWithShape="1">
          <a:blip r:embed="rId16">
            <a:alphaModFix/>
          </a:blip>
          <a:srcRect/>
          <a:stretch/>
        </p:blipFill>
        <p:spPr>
          <a:xfrm>
            <a:off x="0" y="2822"/>
            <a:ext cx="12192000" cy="6852356"/>
          </a:xfrm>
          <a:prstGeom prst="rect">
            <a:avLst/>
          </a:prstGeom>
          <a:noFill/>
          <a:ln>
            <a:noFill/>
          </a:ln>
        </p:spPr>
      </p:pic>
    </p:spTree>
    <p:extLst>
      <p:ext uri="{BB962C8B-B14F-4D97-AF65-F5344CB8AC3E}">
        <p14:creationId xmlns:p14="http://schemas.microsoft.com/office/powerpoint/2010/main" val="1717890606"/>
      </p:ext>
    </p:extLst>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txBox="1">
            <a:spLocks noGrp="1"/>
          </p:cNvSpPr>
          <p:nvPr>
            <p:ph type="ctrTitle"/>
          </p:nvPr>
        </p:nvSpPr>
        <p:spPr>
          <a:xfrm>
            <a:off x="1524000" y="1971160"/>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5400"/>
              <a:buFont typeface="Helvetica Neue Light"/>
              <a:buNone/>
            </a:pPr>
            <a:r>
              <a:rPr lang="en-GB" dirty="0"/>
              <a:t>Intro to Psychology – Q&amp;A and practice exam</a:t>
            </a:r>
            <a:endParaRPr dirty="0"/>
          </a:p>
        </p:txBody>
      </p:sp>
      <p:sp>
        <p:nvSpPr>
          <p:cNvPr id="94" name="Google Shape;94;p1"/>
          <p:cNvSpPr txBox="1">
            <a:spLocks noGrp="1"/>
          </p:cNvSpPr>
          <p:nvPr>
            <p:ph type="subTitle" idx="1"/>
          </p:nvPr>
        </p:nvSpPr>
        <p:spPr>
          <a:xfrm>
            <a:off x="1524000" y="4539342"/>
            <a:ext cx="9144000" cy="990311"/>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2400"/>
              <a:buNone/>
            </a:pPr>
            <a:r>
              <a:rPr lang="en-GB" dirty="0"/>
              <a:t>Introduction to Psychology – Lucia Rugeroni</a:t>
            </a:r>
            <a:br>
              <a:rPr lang="en-GB" dirty="0"/>
            </a:br>
            <a:r>
              <a:rPr lang="en-GB" dirty="0"/>
              <a:t>Artificial Intelligence First Year Programme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body" idx="1"/>
          </p:nvPr>
        </p:nvSpPr>
        <p:spPr>
          <a:xfrm>
            <a:off x="5625202" y="3429000"/>
            <a:ext cx="5208449" cy="3476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2300"/>
              <a:buNone/>
            </a:pPr>
            <a:r>
              <a:rPr lang="en-GB" dirty="0"/>
              <a:t>AI Second Year</a:t>
            </a:r>
            <a:endParaRPr dirty="0"/>
          </a:p>
        </p:txBody>
      </p:sp>
      <p:sp>
        <p:nvSpPr>
          <p:cNvPr id="100" name="Google Shape;100;p2"/>
          <p:cNvSpPr txBox="1">
            <a:spLocks noGrp="1"/>
          </p:cNvSpPr>
          <p:nvPr>
            <p:ph type="body" idx="2"/>
          </p:nvPr>
        </p:nvSpPr>
        <p:spPr>
          <a:xfrm>
            <a:off x="719197" y="5622157"/>
            <a:ext cx="3350246" cy="368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7030A0"/>
              </a:buClr>
              <a:buSzPts val="2400"/>
              <a:buNone/>
            </a:pPr>
            <a:r>
              <a:rPr lang="en-GB" dirty="0"/>
              <a:t>Lucia Rugeroni</a:t>
            </a:r>
            <a:endParaRPr dirty="0"/>
          </a:p>
        </p:txBody>
      </p:sp>
      <p:sp>
        <p:nvSpPr>
          <p:cNvPr id="101" name="Google Shape;101;p2"/>
          <p:cNvSpPr txBox="1">
            <a:spLocks noGrp="1"/>
          </p:cNvSpPr>
          <p:nvPr>
            <p:ph type="body" idx="3"/>
          </p:nvPr>
        </p:nvSpPr>
        <p:spPr>
          <a:xfrm>
            <a:off x="5625202" y="3963519"/>
            <a:ext cx="5208448" cy="347663"/>
          </a:xfrm>
          <a:prstGeom prst="rect">
            <a:avLst/>
          </a:prstGeom>
          <a:noFill/>
          <a:ln>
            <a:noFill/>
          </a:ln>
        </p:spPr>
        <p:txBody>
          <a:bodyPr spcFirstLastPara="1" wrap="square" lIns="91425" tIns="45700" rIns="91425" bIns="45700" anchor="ctr"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GB" dirty="0"/>
              <a:t>Argentinian</a:t>
            </a:r>
            <a:endParaRPr dirty="0"/>
          </a:p>
        </p:txBody>
      </p:sp>
      <p:sp>
        <p:nvSpPr>
          <p:cNvPr id="102" name="Google Shape;102;p2"/>
          <p:cNvSpPr txBox="1">
            <a:spLocks noGrp="1"/>
          </p:cNvSpPr>
          <p:nvPr>
            <p:ph type="body" idx="4"/>
          </p:nvPr>
        </p:nvSpPr>
        <p:spPr>
          <a:xfrm>
            <a:off x="5625202" y="4477719"/>
            <a:ext cx="5208448" cy="347663"/>
          </a:xfrm>
          <a:prstGeom prst="rect">
            <a:avLst/>
          </a:prstGeom>
          <a:noFill/>
          <a:ln>
            <a:noFill/>
          </a:ln>
        </p:spPr>
        <p:txBody>
          <a:bodyPr spcFirstLastPara="1" wrap="square" lIns="91425" tIns="45700" rIns="91425" bIns="45700" anchor="ctr" anchorCtr="0">
            <a:normAutofit fontScale="77500" lnSpcReduction="20000"/>
          </a:bodyPr>
          <a:lstStyle/>
          <a:p>
            <a:pPr marL="0" lvl="0" indent="0" algn="l" rtl="0">
              <a:lnSpc>
                <a:spcPct val="90000"/>
              </a:lnSpc>
              <a:spcBef>
                <a:spcPts val="0"/>
              </a:spcBef>
              <a:spcAft>
                <a:spcPts val="0"/>
              </a:spcAft>
              <a:buClr>
                <a:schemeClr val="dk1"/>
              </a:buClr>
              <a:buSzPct val="100000"/>
              <a:buNone/>
            </a:pPr>
            <a:r>
              <a:rPr lang="en-GB" dirty="0"/>
              <a:t>Lived in 4 different countries in the last 6 years</a:t>
            </a:r>
            <a:endParaRPr dirty="0"/>
          </a:p>
        </p:txBody>
      </p:sp>
      <p:sp>
        <p:nvSpPr>
          <p:cNvPr id="103" name="Google Shape;103;p2"/>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Helvetica Neue Light"/>
              <a:buNone/>
            </a:pPr>
            <a:r>
              <a:rPr lang="en-NL"/>
              <a:t>Welcome!</a:t>
            </a:r>
            <a:endParaRPr/>
          </a:p>
        </p:txBody>
      </p:sp>
      <p:pic>
        <p:nvPicPr>
          <p:cNvPr id="104" name="Google Shape;104;p2"/>
          <p:cNvPicPr preferRelativeResize="0"/>
          <p:nvPr/>
        </p:nvPicPr>
        <p:blipFill>
          <a:blip r:embed="rId3"/>
          <a:srcRect t="10386" b="10386"/>
          <a:stretch/>
        </p:blipFill>
        <p:spPr>
          <a:xfrm>
            <a:off x="954819" y="1765816"/>
            <a:ext cx="2879001" cy="2885735"/>
          </a:xfrm>
          <a:prstGeom prst="flowChartConnector">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Helvetica Neue Light"/>
              <a:buNone/>
            </a:pPr>
            <a:r>
              <a:rPr lang="en-NL"/>
              <a:t>Structure</a:t>
            </a:r>
            <a:endParaRPr/>
          </a:p>
        </p:txBody>
      </p:sp>
      <p:sp>
        <p:nvSpPr>
          <p:cNvPr id="3" name="Multiplication Sign 2">
            <a:extLst>
              <a:ext uri="{FF2B5EF4-FFF2-40B4-BE49-F238E27FC236}">
                <a16:creationId xmlns:a16="http://schemas.microsoft.com/office/drawing/2014/main" id="{47E8BC7E-16ED-2651-C233-62E60C2BA4AA}"/>
              </a:ext>
            </a:extLst>
          </p:cNvPr>
          <p:cNvSpPr/>
          <p:nvPr/>
        </p:nvSpPr>
        <p:spPr>
          <a:xfrm>
            <a:off x="5012871" y="1632857"/>
            <a:ext cx="2166257" cy="2035629"/>
          </a:xfrm>
          <a:prstGeom prst="mathMultiply">
            <a:avLst/>
          </a:prstGeom>
          <a:solidFill>
            <a:srgbClr val="C00000">
              <a:alpha val="5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Multiplication Sign 3">
            <a:extLst>
              <a:ext uri="{FF2B5EF4-FFF2-40B4-BE49-F238E27FC236}">
                <a16:creationId xmlns:a16="http://schemas.microsoft.com/office/drawing/2014/main" id="{C3ED9BDC-3062-9187-CB66-2BCA8FF8FD0B}"/>
              </a:ext>
            </a:extLst>
          </p:cNvPr>
          <p:cNvSpPr/>
          <p:nvPr/>
        </p:nvSpPr>
        <p:spPr>
          <a:xfrm>
            <a:off x="2465614" y="1632856"/>
            <a:ext cx="2166257" cy="2035629"/>
          </a:xfrm>
          <a:prstGeom prst="mathMultiply">
            <a:avLst/>
          </a:prstGeom>
          <a:solidFill>
            <a:srgbClr val="C00000">
              <a:alpha val="5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Helvetica Neue Light"/>
              <a:buNone/>
            </a:pPr>
            <a:r>
              <a:rPr lang="en-NL"/>
              <a:t>WhatsApp</a:t>
            </a:r>
            <a:endParaRPr/>
          </a:p>
        </p:txBody>
      </p:sp>
      <p:pic>
        <p:nvPicPr>
          <p:cNvPr id="110" name="Google Shape;110;p3"/>
          <p:cNvPicPr preferRelativeResize="0"/>
          <p:nvPr/>
        </p:nvPicPr>
        <p:blipFill rotWithShape="1">
          <a:blip r:embed="rId3">
            <a:alphaModFix/>
          </a:blip>
          <a:srcRect l="116" r="116"/>
          <a:stretch/>
        </p:blipFill>
        <p:spPr>
          <a:xfrm>
            <a:off x="5451336" y="2782828"/>
            <a:ext cx="1289328" cy="1292344"/>
          </a:xfrm>
          <a:prstGeom prst="flowChartConnector">
            <a:avLst/>
          </a:prstGeom>
          <a:noFill/>
          <a:ln>
            <a:noFill/>
          </a:ln>
        </p:spPr>
      </p:pic>
      <p:pic>
        <p:nvPicPr>
          <p:cNvPr id="3" name="Picture 2">
            <a:extLst>
              <a:ext uri="{FF2B5EF4-FFF2-40B4-BE49-F238E27FC236}">
                <a16:creationId xmlns:a16="http://schemas.microsoft.com/office/drawing/2014/main" id="{BBF93E77-1E11-5A62-A2C4-773299AE7F7F}"/>
              </a:ext>
            </a:extLst>
          </p:cNvPr>
          <p:cNvPicPr>
            <a:picLocks noChangeAspect="1"/>
          </p:cNvPicPr>
          <p:nvPr/>
        </p:nvPicPr>
        <p:blipFill>
          <a:blip r:embed="rId4"/>
          <a:stretch>
            <a:fillRect/>
          </a:stretch>
        </p:blipFill>
        <p:spPr>
          <a:xfrm>
            <a:off x="5359888" y="2695787"/>
            <a:ext cx="1472223" cy="14664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3AC77626-6EB5-5433-A406-74C08B56A063}"/>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7519517F-A147-FD45-0277-F3CF4458C3E2}"/>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How is the exam going to be</a:t>
            </a:r>
            <a:endParaRPr dirty="0"/>
          </a:p>
        </p:txBody>
      </p:sp>
      <p:sp>
        <p:nvSpPr>
          <p:cNvPr id="121" name="Google Shape;121;p5">
            <a:extLst>
              <a:ext uri="{FF2B5EF4-FFF2-40B4-BE49-F238E27FC236}">
                <a16:creationId xmlns:a16="http://schemas.microsoft.com/office/drawing/2014/main" id="{9EA04943-C5D3-F415-30B9-51BE0054FA30}"/>
              </a:ext>
            </a:extLst>
          </p:cNvPr>
          <p:cNvSpPr txBox="1">
            <a:spLocks noGrp="1"/>
          </p:cNvSpPr>
          <p:nvPr>
            <p:ph type="body" idx="1"/>
          </p:nvPr>
        </p:nvSpPr>
        <p:spPr>
          <a:xfrm>
            <a:off x="860715" y="1521312"/>
            <a:ext cx="9414165"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3200" dirty="0"/>
              <a:t>56 multiple choice questions</a:t>
            </a:r>
          </a:p>
          <a:p>
            <a:pPr marL="0" lvl="0" indent="0">
              <a:spcBef>
                <a:spcPts val="0"/>
              </a:spcBef>
            </a:pPr>
            <a:r>
              <a:rPr lang="en-GB" sz="3200" dirty="0"/>
              <a:t>Need a 5.5 to pass </a:t>
            </a:r>
            <a:r>
              <a:rPr lang="en-GB" sz="3200" dirty="0">
                <a:sym typeface="Wingdings" panose="05000000000000000000" pitchFamily="2" charset="2"/>
              </a:rPr>
              <a:t> You need 35/56 correct</a:t>
            </a:r>
            <a:endParaRPr lang="en-GB" sz="3200" dirty="0"/>
          </a:p>
        </p:txBody>
      </p:sp>
    </p:spTree>
    <p:extLst>
      <p:ext uri="{BB962C8B-B14F-4D97-AF65-F5344CB8AC3E}">
        <p14:creationId xmlns:p14="http://schemas.microsoft.com/office/powerpoint/2010/main" val="761276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1594B85C-AE1A-275E-FA39-387B235530A9}"/>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E816E8AB-B3E3-1DE1-9E89-58F3A9796BAF}"/>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What am I going to do today</a:t>
            </a:r>
            <a:endParaRPr dirty="0"/>
          </a:p>
        </p:txBody>
      </p:sp>
      <p:sp>
        <p:nvSpPr>
          <p:cNvPr id="121" name="Google Shape;121;p5">
            <a:extLst>
              <a:ext uri="{FF2B5EF4-FFF2-40B4-BE49-F238E27FC236}">
                <a16:creationId xmlns:a16="http://schemas.microsoft.com/office/drawing/2014/main" id="{07EF3BEE-13FE-D042-DDA1-C1F3C0AD5E23}"/>
              </a:ext>
            </a:extLst>
          </p:cNvPr>
          <p:cNvSpPr txBox="1">
            <a:spLocks noGrp="1"/>
          </p:cNvSpPr>
          <p:nvPr>
            <p:ph type="body" idx="1"/>
          </p:nvPr>
        </p:nvSpPr>
        <p:spPr>
          <a:xfrm>
            <a:off x="860715" y="1521312"/>
            <a:ext cx="10438656" cy="3050688"/>
          </a:xfrm>
          <a:prstGeom prst="rect">
            <a:avLst/>
          </a:prstGeom>
          <a:noFill/>
          <a:ln>
            <a:noFill/>
          </a:ln>
        </p:spPr>
        <p:txBody>
          <a:bodyPr spcFirstLastPara="1" wrap="square" lIns="91425" tIns="45700" rIns="91425" bIns="45700" anchor="t" anchorCtr="0">
            <a:normAutofit/>
          </a:bodyPr>
          <a:lstStyle/>
          <a:p>
            <a:pPr lvl="0" indent="-457200">
              <a:spcBef>
                <a:spcPts val="0"/>
              </a:spcBef>
              <a:buFont typeface="Arial" panose="020B0604020202020204" pitchFamily="34" charset="0"/>
              <a:buChar char="•"/>
            </a:pPr>
            <a:r>
              <a:rPr lang="en-GB" sz="2800" dirty="0"/>
              <a:t>Q&amp;A</a:t>
            </a:r>
          </a:p>
          <a:p>
            <a:pPr lvl="0" indent="-457200">
              <a:spcBef>
                <a:spcPts val="0"/>
              </a:spcBef>
              <a:buFont typeface="Arial" panose="020B0604020202020204" pitchFamily="34" charset="0"/>
              <a:buChar char="•"/>
            </a:pPr>
            <a:r>
              <a:rPr lang="en-GB" sz="2800" dirty="0"/>
              <a:t>13 questions from the mock exam (available on canvas)</a:t>
            </a:r>
          </a:p>
          <a:p>
            <a:pPr lvl="0" indent="-457200">
              <a:spcBef>
                <a:spcPts val="0"/>
              </a:spcBef>
              <a:buFont typeface="Arial" panose="020B0604020202020204" pitchFamily="34" charset="0"/>
              <a:buChar char="•"/>
            </a:pPr>
            <a:r>
              <a:rPr lang="en-GB" sz="2800" dirty="0"/>
              <a:t>8 questions for psychology</a:t>
            </a:r>
          </a:p>
          <a:p>
            <a:pPr lvl="0" indent="-457200">
              <a:spcBef>
                <a:spcPts val="0"/>
              </a:spcBef>
              <a:buFont typeface="Arial" panose="020B0604020202020204" pitchFamily="34" charset="0"/>
              <a:buChar char="•"/>
            </a:pPr>
            <a:r>
              <a:rPr lang="en-GB" sz="2800" dirty="0"/>
              <a:t>5 questions for methods</a:t>
            </a:r>
          </a:p>
        </p:txBody>
      </p:sp>
    </p:spTree>
    <p:extLst>
      <p:ext uri="{BB962C8B-B14F-4D97-AF65-F5344CB8AC3E}">
        <p14:creationId xmlns:p14="http://schemas.microsoft.com/office/powerpoint/2010/main" val="2143908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4C6045D0-67B7-AADC-CDA6-88E1FC3C2BC1}"/>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58D0AEDC-496E-4556-F201-CD9EF7EE4B17}"/>
              </a:ext>
            </a:extLst>
          </p:cNvPr>
          <p:cNvSpPr txBox="1">
            <a:spLocks noGrp="1"/>
          </p:cNvSpPr>
          <p:nvPr>
            <p:ph type="body" idx="1"/>
          </p:nvPr>
        </p:nvSpPr>
        <p:spPr>
          <a:xfrm>
            <a:off x="1652066" y="3117908"/>
            <a:ext cx="8887868" cy="62218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None/>
            </a:pPr>
            <a:r>
              <a:rPr lang="en-GB" sz="8000" dirty="0"/>
              <a:t>Any Questions?</a:t>
            </a:r>
            <a:endParaRPr sz="8000" dirty="0"/>
          </a:p>
        </p:txBody>
      </p:sp>
    </p:spTree>
    <p:extLst>
      <p:ext uri="{BB962C8B-B14F-4D97-AF65-F5344CB8AC3E}">
        <p14:creationId xmlns:p14="http://schemas.microsoft.com/office/powerpoint/2010/main" val="920739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body" idx="1"/>
          </p:nvPr>
        </p:nvSpPr>
        <p:spPr>
          <a:xfrm>
            <a:off x="1652066" y="3117908"/>
            <a:ext cx="8887868" cy="62218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None/>
            </a:pPr>
            <a:r>
              <a:rPr lang="en-GB" sz="8000" dirty="0"/>
              <a:t>Practice Exam</a:t>
            </a:r>
          </a:p>
          <a:p>
            <a:pPr marL="0" lvl="0" indent="0" algn="ctr" rtl="0">
              <a:lnSpc>
                <a:spcPct val="90000"/>
              </a:lnSpc>
              <a:spcBef>
                <a:spcPts val="0"/>
              </a:spcBef>
              <a:spcAft>
                <a:spcPts val="0"/>
              </a:spcAft>
              <a:buClr>
                <a:schemeClr val="dk1"/>
              </a:buClr>
              <a:buSzPct val="100000"/>
              <a:buNone/>
            </a:pPr>
            <a:r>
              <a:rPr lang="en-GB" sz="8000" dirty="0"/>
              <a:t>Questions</a:t>
            </a:r>
            <a:endParaRPr sz="8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Helvetica Neue Light"/>
              <a:buNone/>
            </a:pPr>
            <a:r>
              <a:rPr lang="en-GB" dirty="0"/>
              <a:t>Question</a:t>
            </a:r>
            <a:endParaRPr dirty="0"/>
          </a:p>
        </p:txBody>
      </p:sp>
      <p:sp>
        <p:nvSpPr>
          <p:cNvPr id="121" name="Google Shape;121;p5"/>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2000" dirty="0"/>
              <a:t>1. Variability within one species is a(n) ...... evolutionary change. </a:t>
            </a:r>
          </a:p>
          <a:p>
            <a:pPr marL="0" lvl="0" indent="0">
              <a:spcBef>
                <a:spcPts val="0"/>
              </a:spcBef>
            </a:pPr>
            <a:r>
              <a:rPr lang="en-GB" sz="2000" dirty="0"/>
              <a:t>	A. unwanted byproduct of </a:t>
            </a:r>
          </a:p>
          <a:p>
            <a:pPr marL="0" lvl="0" indent="0">
              <a:spcBef>
                <a:spcPts val="0"/>
              </a:spcBef>
            </a:pPr>
            <a:r>
              <a:rPr lang="en-GB" sz="2000" dirty="0"/>
              <a:t>	B. essential condition for </a:t>
            </a:r>
          </a:p>
          <a:p>
            <a:pPr marL="0" lvl="0" indent="0">
              <a:spcBef>
                <a:spcPts val="0"/>
              </a:spcBef>
            </a:pPr>
            <a:r>
              <a:rPr lang="en-GB" sz="2000" dirty="0"/>
              <a:t>	C. barrier to </a:t>
            </a:r>
          </a:p>
          <a:p>
            <a:pPr marL="0" lvl="0" indent="0">
              <a:spcBef>
                <a:spcPts val="0"/>
              </a:spcBef>
            </a:pPr>
            <a:r>
              <a:rPr lang="en-GB" sz="2000" dirty="0"/>
              <a:t>	D. precursor of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8FAF88B7-B292-303E-1D0A-352B9527373D}"/>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DC10E2B2-A292-E6CD-384C-AD619912D715}"/>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Helvetica Neue Light"/>
              <a:buNone/>
            </a:pPr>
            <a:r>
              <a:rPr lang="en-GB" dirty="0"/>
              <a:t>Answer</a:t>
            </a:r>
            <a:endParaRPr dirty="0"/>
          </a:p>
        </p:txBody>
      </p:sp>
      <p:sp>
        <p:nvSpPr>
          <p:cNvPr id="121" name="Google Shape;121;p5">
            <a:extLst>
              <a:ext uri="{FF2B5EF4-FFF2-40B4-BE49-F238E27FC236}">
                <a16:creationId xmlns:a16="http://schemas.microsoft.com/office/drawing/2014/main" id="{26A22E56-544C-44C5-6332-0A65DF3DF853}"/>
              </a:ext>
            </a:extLst>
          </p:cNvPr>
          <p:cNvSpPr txBox="1">
            <a:spLocks noGrp="1"/>
          </p:cNvSpPr>
          <p:nvPr>
            <p:ph type="body" idx="1"/>
          </p:nvPr>
        </p:nvSpPr>
        <p:spPr>
          <a:xfrm>
            <a:off x="860715" y="1521312"/>
            <a:ext cx="10470571" cy="18314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2000" dirty="0"/>
              <a:t>1. Variability within one species is a(n) ...... evolutionary change. </a:t>
            </a:r>
          </a:p>
          <a:p>
            <a:pPr marL="0" lvl="0" indent="0">
              <a:spcBef>
                <a:spcPts val="0"/>
              </a:spcBef>
            </a:pPr>
            <a:r>
              <a:rPr lang="en-GB" sz="2000" dirty="0"/>
              <a:t>	A. unwanted byproduct of </a:t>
            </a:r>
          </a:p>
          <a:p>
            <a:pPr marL="0" lvl="0" indent="0">
              <a:spcBef>
                <a:spcPts val="0"/>
              </a:spcBef>
            </a:pPr>
            <a:r>
              <a:rPr lang="en-GB" sz="2000" dirty="0"/>
              <a:t>	</a:t>
            </a:r>
            <a:r>
              <a:rPr lang="en-GB" sz="2000" u="sng" dirty="0">
                <a:solidFill>
                  <a:schemeClr val="accent6">
                    <a:lumMod val="50000"/>
                  </a:schemeClr>
                </a:solidFill>
              </a:rPr>
              <a:t>B. essential condition for </a:t>
            </a:r>
          </a:p>
          <a:p>
            <a:pPr marL="0" lvl="0" indent="0">
              <a:spcBef>
                <a:spcPts val="0"/>
              </a:spcBef>
            </a:pPr>
            <a:r>
              <a:rPr lang="en-GB" sz="2000" dirty="0"/>
              <a:t>	C. barrier to </a:t>
            </a:r>
          </a:p>
          <a:p>
            <a:pPr marL="0" lvl="0" indent="0">
              <a:spcBef>
                <a:spcPts val="0"/>
              </a:spcBef>
            </a:pPr>
            <a:r>
              <a:rPr lang="en-GB" sz="2000" dirty="0"/>
              <a:t>	D. precursor of</a:t>
            </a:r>
          </a:p>
        </p:txBody>
      </p:sp>
      <p:sp>
        <p:nvSpPr>
          <p:cNvPr id="2" name="Google Shape;121;p5">
            <a:extLst>
              <a:ext uri="{FF2B5EF4-FFF2-40B4-BE49-F238E27FC236}">
                <a16:creationId xmlns:a16="http://schemas.microsoft.com/office/drawing/2014/main" id="{D9AB07DC-3AC4-E4B9-B0C0-E4873438B469}"/>
              </a:ext>
            </a:extLst>
          </p:cNvPr>
          <p:cNvSpPr txBox="1">
            <a:spLocks/>
          </p:cNvSpPr>
          <p:nvPr/>
        </p:nvSpPr>
        <p:spPr>
          <a:xfrm>
            <a:off x="860714" y="3505200"/>
            <a:ext cx="10470571" cy="18314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2000" dirty="0"/>
              <a:t>Variability is one of the three conditions for evolution, those are:</a:t>
            </a:r>
          </a:p>
          <a:p>
            <a:pPr marL="0" indent="0">
              <a:spcBef>
                <a:spcPts val="0"/>
              </a:spcBef>
            </a:pPr>
            <a:r>
              <a:rPr lang="en-GB" sz="2000" dirty="0"/>
              <a:t>	- There is variation among individuals of a population</a:t>
            </a:r>
          </a:p>
          <a:p>
            <a:pPr marL="0" indent="0">
              <a:spcBef>
                <a:spcPts val="0"/>
              </a:spcBef>
            </a:pPr>
            <a:r>
              <a:rPr lang="en-GB" sz="2000" dirty="0"/>
              <a:t>	- Individuals with a certain trait survive and reproduce at higher rates than others </a:t>
            </a:r>
          </a:p>
          <a:p>
            <a:pPr marL="0" indent="0">
              <a:spcBef>
                <a:spcPts val="0"/>
              </a:spcBef>
            </a:pPr>
            <a:r>
              <a:rPr lang="en-GB" sz="2000" dirty="0"/>
              <a:t>	- The trait associated with this advantage is passed from parents to offspring</a:t>
            </a:r>
          </a:p>
          <a:p>
            <a:pPr marL="0" indent="0">
              <a:spcBef>
                <a:spcPts val="0"/>
              </a:spcBef>
            </a:pPr>
            <a:endParaRPr lang="en-GB" sz="2000" dirty="0"/>
          </a:p>
        </p:txBody>
      </p:sp>
    </p:spTree>
    <p:extLst>
      <p:ext uri="{BB962C8B-B14F-4D97-AF65-F5344CB8AC3E}">
        <p14:creationId xmlns:p14="http://schemas.microsoft.com/office/powerpoint/2010/main" val="2195772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021DFC6D-A92A-33D6-2844-AE61854D3380}"/>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709A42CA-281B-1AB5-CEEB-3531C5841ABC}"/>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14EF8005-FAC1-11FD-3380-EA59B36C5710}"/>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2. When a property is recessively inherited, then </a:t>
            </a:r>
          </a:p>
          <a:p>
            <a:pPr marL="0" lvl="0" indent="0">
              <a:spcBef>
                <a:spcPts val="0"/>
              </a:spcBef>
            </a:pPr>
            <a:r>
              <a:rPr lang="en-GB" sz="1800" dirty="0"/>
              <a:t>	A. it is a detrimental feature.</a:t>
            </a:r>
          </a:p>
          <a:p>
            <a:pPr marL="0" lvl="0" indent="0">
              <a:spcBef>
                <a:spcPts val="0"/>
              </a:spcBef>
            </a:pPr>
            <a:r>
              <a:rPr lang="en-GB" sz="1800" dirty="0"/>
              <a:t>	B. this property is determined by sex-linked chromosomes. </a:t>
            </a:r>
          </a:p>
          <a:p>
            <a:pPr marL="0" lvl="0" indent="0">
              <a:spcBef>
                <a:spcPts val="0"/>
              </a:spcBef>
            </a:pPr>
            <a:r>
              <a:rPr lang="en-GB" sz="1800" dirty="0"/>
              <a:t>	C. the property must be passed by both parents to express itself in the phenotype. </a:t>
            </a:r>
          </a:p>
          <a:p>
            <a:pPr marL="0" lvl="0" indent="0">
              <a:spcBef>
                <a:spcPts val="0"/>
              </a:spcBef>
            </a:pPr>
            <a:r>
              <a:rPr lang="en-GB" sz="1800" dirty="0"/>
              <a:t>	D. only parents who have this feature can pass it to their children. </a:t>
            </a:r>
          </a:p>
        </p:txBody>
      </p:sp>
    </p:spTree>
    <p:extLst>
      <p:ext uri="{BB962C8B-B14F-4D97-AF65-F5344CB8AC3E}">
        <p14:creationId xmlns:p14="http://schemas.microsoft.com/office/powerpoint/2010/main" val="326771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4F5546DF-2BAD-7FD4-0A42-C8EC4D8AA80E}"/>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FCDD9FAB-5A80-9600-17D9-61DF5A5F0A59}"/>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E3E16EA3-8F02-DD6E-DAE1-8217D5E5C8BD}"/>
              </a:ext>
            </a:extLst>
          </p:cNvPr>
          <p:cNvSpPr txBox="1">
            <a:spLocks noGrp="1"/>
          </p:cNvSpPr>
          <p:nvPr>
            <p:ph type="body" idx="1"/>
          </p:nvPr>
        </p:nvSpPr>
        <p:spPr>
          <a:xfrm>
            <a:off x="860715" y="1521312"/>
            <a:ext cx="10470571" cy="15647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2. When a property is recessively inherited, then </a:t>
            </a:r>
          </a:p>
          <a:p>
            <a:pPr marL="0" lvl="0" indent="0">
              <a:spcBef>
                <a:spcPts val="0"/>
              </a:spcBef>
            </a:pPr>
            <a:r>
              <a:rPr lang="en-GB" sz="1800" dirty="0"/>
              <a:t>	A. it is a detrimental feature.</a:t>
            </a:r>
          </a:p>
          <a:p>
            <a:pPr marL="0" lvl="0" indent="0">
              <a:spcBef>
                <a:spcPts val="0"/>
              </a:spcBef>
            </a:pPr>
            <a:r>
              <a:rPr lang="en-GB" sz="1800" dirty="0"/>
              <a:t>	B. this property is determined by sex-linked chromosomes. </a:t>
            </a:r>
          </a:p>
          <a:p>
            <a:pPr marL="0" lvl="0" indent="0">
              <a:spcBef>
                <a:spcPts val="0"/>
              </a:spcBef>
            </a:pPr>
            <a:r>
              <a:rPr lang="en-GB" sz="1800" dirty="0">
                <a:solidFill>
                  <a:schemeClr val="accent6">
                    <a:lumMod val="50000"/>
                  </a:schemeClr>
                </a:solidFill>
              </a:rPr>
              <a:t>	</a:t>
            </a:r>
            <a:r>
              <a:rPr lang="en-GB" sz="1800" u="sng" dirty="0">
                <a:solidFill>
                  <a:schemeClr val="accent6">
                    <a:lumMod val="50000"/>
                  </a:schemeClr>
                </a:solidFill>
              </a:rPr>
              <a:t>C. the property must be passed by both parents to express itself in the phenotype. </a:t>
            </a:r>
          </a:p>
          <a:p>
            <a:pPr marL="0" lvl="0" indent="0">
              <a:spcBef>
                <a:spcPts val="0"/>
              </a:spcBef>
            </a:pPr>
            <a:r>
              <a:rPr lang="en-GB" sz="1800" dirty="0"/>
              <a:t>	D. only parents who have this feature can pass it to their children. </a:t>
            </a:r>
          </a:p>
        </p:txBody>
      </p:sp>
      <p:sp>
        <p:nvSpPr>
          <p:cNvPr id="2" name="Google Shape;121;p5">
            <a:extLst>
              <a:ext uri="{FF2B5EF4-FFF2-40B4-BE49-F238E27FC236}">
                <a16:creationId xmlns:a16="http://schemas.microsoft.com/office/drawing/2014/main" id="{AE1ED341-CA00-C9F9-BDF2-C87B008845FE}"/>
              </a:ext>
            </a:extLst>
          </p:cNvPr>
          <p:cNvSpPr txBox="1">
            <a:spLocks/>
          </p:cNvSpPr>
          <p:nvPr/>
        </p:nvSpPr>
        <p:spPr>
          <a:xfrm>
            <a:off x="860714" y="3771900"/>
            <a:ext cx="10470571" cy="15647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For a property that’s recessively inherited to show, there must be no dominant allele that can stop that property from showing, since, even if there’s only one dominant allele, it will always take priority, therefore, it would be necessary to have two recessive alleles for the property to show.</a:t>
            </a:r>
          </a:p>
        </p:txBody>
      </p:sp>
    </p:spTree>
    <p:extLst>
      <p:ext uri="{BB962C8B-B14F-4D97-AF65-F5344CB8AC3E}">
        <p14:creationId xmlns:p14="http://schemas.microsoft.com/office/powerpoint/2010/main" val="1489455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2C651AC2-3041-CA94-4AA2-0D409CDBB387}"/>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FB34E07B-76D5-B371-D1AA-5BB4B7390429}"/>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A514649B-D285-990E-1AA2-85EC6563D6C2}"/>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3. The two parts of the peripheral nervous system are </a:t>
            </a:r>
          </a:p>
          <a:p>
            <a:pPr marL="0" lvl="0" indent="0">
              <a:spcBef>
                <a:spcPts val="0"/>
              </a:spcBef>
            </a:pPr>
            <a:r>
              <a:rPr lang="en-GB" sz="1800" dirty="0"/>
              <a:t>	A. the brain and spinal cord. </a:t>
            </a:r>
          </a:p>
          <a:p>
            <a:pPr marL="0" lvl="0" indent="0">
              <a:spcBef>
                <a:spcPts val="0"/>
              </a:spcBef>
            </a:pPr>
            <a:r>
              <a:rPr lang="en-GB" sz="1800" dirty="0"/>
              <a:t>	B. the somatic and the autonomous nervous system. </a:t>
            </a:r>
          </a:p>
          <a:p>
            <a:pPr marL="0" lvl="0" indent="0">
              <a:spcBef>
                <a:spcPts val="0"/>
              </a:spcBef>
            </a:pPr>
            <a:r>
              <a:rPr lang="en-GB" sz="1800" dirty="0"/>
              <a:t>	C. the sympathetic and the parasympathetic nervous system. </a:t>
            </a:r>
          </a:p>
          <a:p>
            <a:pPr marL="0" lvl="0" indent="0">
              <a:spcBef>
                <a:spcPts val="0"/>
              </a:spcBef>
            </a:pPr>
            <a:r>
              <a:rPr lang="en-GB" sz="1800" dirty="0"/>
              <a:t>	D. the autonomous and sympathetic nervous system. </a:t>
            </a:r>
          </a:p>
        </p:txBody>
      </p:sp>
    </p:spTree>
    <p:extLst>
      <p:ext uri="{BB962C8B-B14F-4D97-AF65-F5344CB8AC3E}">
        <p14:creationId xmlns:p14="http://schemas.microsoft.com/office/powerpoint/2010/main" val="177454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613A4515-FCE0-AFE8-B997-822C1238E536}"/>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9FC2C516-2E8E-0DAA-09B7-90CEA472EDE8}"/>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D07D49F1-F806-33C9-D335-0B2F67B94071}"/>
              </a:ext>
            </a:extLst>
          </p:cNvPr>
          <p:cNvSpPr txBox="1">
            <a:spLocks noGrp="1"/>
          </p:cNvSpPr>
          <p:nvPr>
            <p:ph type="body" idx="1"/>
          </p:nvPr>
        </p:nvSpPr>
        <p:spPr>
          <a:xfrm>
            <a:off x="860715" y="1521312"/>
            <a:ext cx="10470571" cy="1525344"/>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3. The two parts of the peripheral nervous system are </a:t>
            </a:r>
          </a:p>
          <a:p>
            <a:pPr marL="0" lvl="0" indent="0">
              <a:spcBef>
                <a:spcPts val="0"/>
              </a:spcBef>
            </a:pPr>
            <a:r>
              <a:rPr lang="en-GB" sz="1800" dirty="0"/>
              <a:t>	A. the brain and spinal cord. </a:t>
            </a:r>
          </a:p>
          <a:p>
            <a:pPr marL="0" lvl="0" indent="0">
              <a:spcBef>
                <a:spcPts val="0"/>
              </a:spcBef>
            </a:pPr>
            <a:r>
              <a:rPr lang="en-GB" sz="1800" dirty="0"/>
              <a:t>	</a:t>
            </a:r>
            <a:r>
              <a:rPr lang="en-GB" sz="1800" u="sng" dirty="0">
                <a:solidFill>
                  <a:schemeClr val="accent6">
                    <a:lumMod val="50000"/>
                  </a:schemeClr>
                </a:solidFill>
              </a:rPr>
              <a:t>B. the somatic and the autonomous nervous system. </a:t>
            </a:r>
          </a:p>
          <a:p>
            <a:pPr marL="0" lvl="0" indent="0">
              <a:spcBef>
                <a:spcPts val="0"/>
              </a:spcBef>
            </a:pPr>
            <a:r>
              <a:rPr lang="en-GB" sz="1800" dirty="0"/>
              <a:t>	C. the sympathetic and the parasympathetic nervous system. </a:t>
            </a:r>
          </a:p>
          <a:p>
            <a:pPr marL="0" lvl="0" indent="0">
              <a:spcBef>
                <a:spcPts val="0"/>
              </a:spcBef>
            </a:pPr>
            <a:r>
              <a:rPr lang="en-GB" sz="1800" dirty="0"/>
              <a:t>	D. the autonomous and sympathetic nervous system. </a:t>
            </a:r>
          </a:p>
        </p:txBody>
      </p:sp>
      <p:pic>
        <p:nvPicPr>
          <p:cNvPr id="3" name="Picture 2">
            <a:extLst>
              <a:ext uri="{FF2B5EF4-FFF2-40B4-BE49-F238E27FC236}">
                <a16:creationId xmlns:a16="http://schemas.microsoft.com/office/drawing/2014/main" id="{91D47A41-BFB9-1846-7DDE-6F67BA66746D}"/>
              </a:ext>
            </a:extLst>
          </p:cNvPr>
          <p:cNvPicPr>
            <a:picLocks noChangeAspect="1"/>
          </p:cNvPicPr>
          <p:nvPr/>
        </p:nvPicPr>
        <p:blipFill>
          <a:blip r:embed="rId3"/>
          <a:stretch>
            <a:fillRect/>
          </a:stretch>
        </p:blipFill>
        <p:spPr>
          <a:xfrm>
            <a:off x="3100935" y="3046656"/>
            <a:ext cx="5372850" cy="3629532"/>
          </a:xfrm>
          <a:prstGeom prst="rect">
            <a:avLst/>
          </a:prstGeom>
        </p:spPr>
      </p:pic>
    </p:spTree>
    <p:extLst>
      <p:ext uri="{BB962C8B-B14F-4D97-AF65-F5344CB8AC3E}">
        <p14:creationId xmlns:p14="http://schemas.microsoft.com/office/powerpoint/2010/main" val="2799889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DFBB73EC-5F53-85FC-1A05-CAB98BD86CB8}"/>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3D78838D-7885-680F-116C-C4FAFDFC58BE}"/>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15C03BB8-FCBC-CB78-0583-9AA994F1974B}"/>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4. During a brain operation, a part of the primary motor projection area is stimulated in a patient. As a result of this stimulation, the left leg of the patient moves. The most likely place of stimulation was the part of the ... lobe. </a:t>
            </a:r>
          </a:p>
          <a:p>
            <a:pPr marL="0" lvl="0" indent="0">
              <a:spcBef>
                <a:spcPts val="0"/>
              </a:spcBef>
            </a:pPr>
            <a:r>
              <a:rPr lang="en-GB" sz="1800" dirty="0"/>
              <a:t>	A. left Frontal </a:t>
            </a:r>
          </a:p>
          <a:p>
            <a:pPr marL="0" lvl="0" indent="0">
              <a:spcBef>
                <a:spcPts val="0"/>
              </a:spcBef>
            </a:pPr>
            <a:r>
              <a:rPr lang="en-GB" sz="1800" dirty="0"/>
              <a:t>	B. right Frontal </a:t>
            </a:r>
          </a:p>
          <a:p>
            <a:pPr marL="0" lvl="0" indent="0">
              <a:spcBef>
                <a:spcPts val="0"/>
              </a:spcBef>
            </a:pPr>
            <a:r>
              <a:rPr lang="en-GB" sz="1800" dirty="0"/>
              <a:t>	C. left Parietal </a:t>
            </a:r>
          </a:p>
          <a:p>
            <a:pPr marL="0" lvl="0" indent="0">
              <a:spcBef>
                <a:spcPts val="0"/>
              </a:spcBef>
            </a:pPr>
            <a:r>
              <a:rPr lang="en-GB" sz="1800" dirty="0"/>
              <a:t>	D. right Parietal </a:t>
            </a:r>
          </a:p>
        </p:txBody>
      </p:sp>
    </p:spTree>
    <p:extLst>
      <p:ext uri="{BB962C8B-B14F-4D97-AF65-F5344CB8AC3E}">
        <p14:creationId xmlns:p14="http://schemas.microsoft.com/office/powerpoint/2010/main" val="794993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B2CD916D-5806-9BAA-0F23-3AEF957F6AEB}"/>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C0F71679-C39A-E361-792C-1D0C560DC808}"/>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567D4E9D-EF80-EE1C-8BBA-DF864EF380C5}"/>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4. During a brain operation, a part of the primary motor projection area is stimulated in a patient. As a result of this stimulation, the left leg of the patient moves. The most likely place of stimulation was the part of the ... lobe. </a:t>
            </a:r>
          </a:p>
          <a:p>
            <a:pPr marL="0" lvl="0" indent="0">
              <a:spcBef>
                <a:spcPts val="0"/>
              </a:spcBef>
            </a:pPr>
            <a:r>
              <a:rPr lang="en-GB" sz="1800" dirty="0"/>
              <a:t>	A. left Frontal </a:t>
            </a:r>
          </a:p>
          <a:p>
            <a:pPr marL="0" lvl="0" indent="0">
              <a:spcBef>
                <a:spcPts val="0"/>
              </a:spcBef>
            </a:pPr>
            <a:r>
              <a:rPr lang="en-GB" sz="1800" dirty="0"/>
              <a:t>	</a:t>
            </a:r>
            <a:r>
              <a:rPr lang="en-GB" sz="1800" u="sng" dirty="0">
                <a:solidFill>
                  <a:schemeClr val="accent6">
                    <a:lumMod val="50000"/>
                  </a:schemeClr>
                </a:solidFill>
              </a:rPr>
              <a:t>B. right Frontal </a:t>
            </a:r>
          </a:p>
          <a:p>
            <a:pPr marL="0" lvl="0" indent="0">
              <a:spcBef>
                <a:spcPts val="0"/>
              </a:spcBef>
            </a:pPr>
            <a:r>
              <a:rPr lang="en-GB" sz="1800" dirty="0"/>
              <a:t>	C. left Parietal </a:t>
            </a:r>
          </a:p>
          <a:p>
            <a:pPr marL="0" lvl="0" indent="0">
              <a:spcBef>
                <a:spcPts val="0"/>
              </a:spcBef>
            </a:pPr>
            <a:r>
              <a:rPr lang="en-GB" sz="1800" dirty="0"/>
              <a:t>	D. right Parietal </a:t>
            </a:r>
          </a:p>
        </p:txBody>
      </p:sp>
      <p:pic>
        <p:nvPicPr>
          <p:cNvPr id="3" name="Picture 2">
            <a:extLst>
              <a:ext uri="{FF2B5EF4-FFF2-40B4-BE49-F238E27FC236}">
                <a16:creationId xmlns:a16="http://schemas.microsoft.com/office/drawing/2014/main" id="{A14DE79E-BB88-A392-3D1E-22A99B4AFE10}"/>
              </a:ext>
            </a:extLst>
          </p:cNvPr>
          <p:cNvPicPr>
            <a:picLocks noChangeAspect="1"/>
          </p:cNvPicPr>
          <p:nvPr/>
        </p:nvPicPr>
        <p:blipFill>
          <a:blip r:embed="rId3"/>
          <a:stretch>
            <a:fillRect/>
          </a:stretch>
        </p:blipFill>
        <p:spPr>
          <a:xfrm>
            <a:off x="6955227" y="2140192"/>
            <a:ext cx="4376058" cy="4017899"/>
          </a:xfrm>
          <a:prstGeom prst="rect">
            <a:avLst/>
          </a:prstGeom>
        </p:spPr>
      </p:pic>
      <p:sp>
        <p:nvSpPr>
          <p:cNvPr id="6" name="Google Shape;121;p5">
            <a:extLst>
              <a:ext uri="{FF2B5EF4-FFF2-40B4-BE49-F238E27FC236}">
                <a16:creationId xmlns:a16="http://schemas.microsoft.com/office/drawing/2014/main" id="{20EA9CE9-2B2D-9D0B-F415-6F080B3EC1D5}"/>
              </a:ext>
            </a:extLst>
          </p:cNvPr>
          <p:cNvSpPr txBox="1">
            <a:spLocks/>
          </p:cNvSpPr>
          <p:nvPr/>
        </p:nvSpPr>
        <p:spPr>
          <a:xfrm>
            <a:off x="686545" y="3886199"/>
            <a:ext cx="4376059" cy="245472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The Frontal lobe is in charge of movement, and the right side of the brain controls the left side of the body. So, with the leg moving, the Frontal lobe is stimulated, and by it being the left leg, we know that it is the right side of the Frontal lobe.</a:t>
            </a:r>
          </a:p>
        </p:txBody>
      </p:sp>
      <p:pic>
        <p:nvPicPr>
          <p:cNvPr id="1026" name="Picture 2" descr="Brain Injury Rehabilitation: From Injury to Recovery">
            <a:extLst>
              <a:ext uri="{FF2B5EF4-FFF2-40B4-BE49-F238E27FC236}">
                <a16:creationId xmlns:a16="http://schemas.microsoft.com/office/drawing/2014/main" id="{01F0F01B-8977-080F-3EB9-4B428670357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104" r="17107"/>
          <a:stretch/>
        </p:blipFill>
        <p:spPr bwMode="auto">
          <a:xfrm>
            <a:off x="5062604" y="3058886"/>
            <a:ext cx="2212073" cy="3282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29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8A6F5FA0-7497-11B6-4FB9-39ABC3B1A6B9}"/>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5258BD79-49C0-2D8F-A899-E6640C54ED7E}"/>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13F324F4-8886-43DB-BCDD-0D5DA00E632F}"/>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5. Which of the following statements is true? </a:t>
            </a:r>
          </a:p>
          <a:p>
            <a:pPr marL="0" lvl="0" indent="0">
              <a:spcBef>
                <a:spcPts val="0"/>
              </a:spcBef>
            </a:pPr>
            <a:r>
              <a:rPr lang="en-GB" sz="1800" dirty="0"/>
              <a:t>	A. The density of cones and rods in the retina increases from the fovea to the periphery. </a:t>
            </a:r>
          </a:p>
          <a:p>
            <a:pPr marL="0" lvl="0" indent="0">
              <a:spcBef>
                <a:spcPts val="0"/>
              </a:spcBef>
            </a:pPr>
            <a:r>
              <a:rPr lang="en-GB" sz="1800" dirty="0"/>
              <a:t>	B. In the fovea there are mainly rods, while the cones are mostly in the periphery. </a:t>
            </a:r>
          </a:p>
          <a:p>
            <a:pPr marL="0" lvl="0" indent="0">
              <a:spcBef>
                <a:spcPts val="0"/>
              </a:spcBef>
            </a:pPr>
            <a:r>
              <a:rPr lang="en-GB" sz="1800" dirty="0"/>
              <a:t>	C. In the retina there are no cones and rods where the optic nerve exits the eye. </a:t>
            </a:r>
          </a:p>
          <a:p>
            <a:pPr marL="0" lvl="0" indent="0">
              <a:spcBef>
                <a:spcPts val="0"/>
              </a:spcBef>
            </a:pPr>
            <a:r>
              <a:rPr lang="en-GB" sz="1800" dirty="0"/>
              <a:t>	D. All of the above options are correct.</a:t>
            </a:r>
          </a:p>
        </p:txBody>
      </p:sp>
    </p:spTree>
    <p:extLst>
      <p:ext uri="{BB962C8B-B14F-4D97-AF65-F5344CB8AC3E}">
        <p14:creationId xmlns:p14="http://schemas.microsoft.com/office/powerpoint/2010/main" val="2942378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BB5BC12B-66A1-2066-B33F-B8BB0A9B84E3}"/>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462DEADE-D25F-C1E4-7CB3-A56A1008602A}"/>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BF453057-2765-1B5C-85E6-00F685D38FCB}"/>
              </a:ext>
            </a:extLst>
          </p:cNvPr>
          <p:cNvSpPr txBox="1">
            <a:spLocks noGrp="1"/>
          </p:cNvSpPr>
          <p:nvPr>
            <p:ph type="body" idx="1"/>
          </p:nvPr>
        </p:nvSpPr>
        <p:spPr>
          <a:xfrm>
            <a:off x="860715" y="1521312"/>
            <a:ext cx="10470571" cy="1613774"/>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5. Which of the following statements is true? </a:t>
            </a:r>
          </a:p>
          <a:p>
            <a:pPr marL="0" lvl="0" indent="0">
              <a:spcBef>
                <a:spcPts val="0"/>
              </a:spcBef>
            </a:pPr>
            <a:r>
              <a:rPr lang="en-GB" sz="1800" dirty="0"/>
              <a:t>	A. The density of cones and rods in the retina increases from the fovea to the periphery. </a:t>
            </a:r>
          </a:p>
          <a:p>
            <a:pPr marL="0" lvl="0" indent="0">
              <a:spcBef>
                <a:spcPts val="0"/>
              </a:spcBef>
            </a:pPr>
            <a:r>
              <a:rPr lang="en-GB" sz="1800" dirty="0"/>
              <a:t>	B. In the fovea there are mainly rods, while the cones are mostly in the periphery. </a:t>
            </a:r>
          </a:p>
          <a:p>
            <a:pPr marL="0" lvl="0" indent="0">
              <a:spcBef>
                <a:spcPts val="0"/>
              </a:spcBef>
            </a:pPr>
            <a:r>
              <a:rPr lang="en-GB" sz="1800" dirty="0"/>
              <a:t>	</a:t>
            </a:r>
            <a:r>
              <a:rPr lang="en-GB" sz="1800" u="sng" dirty="0">
                <a:solidFill>
                  <a:schemeClr val="accent6">
                    <a:lumMod val="50000"/>
                  </a:schemeClr>
                </a:solidFill>
              </a:rPr>
              <a:t>C. In the retina there are no cones and rods where the optic nerve exits the eye</a:t>
            </a:r>
            <a:r>
              <a:rPr lang="en-GB" sz="1800" dirty="0"/>
              <a:t>. </a:t>
            </a:r>
          </a:p>
          <a:p>
            <a:pPr marL="0" lvl="0" indent="0">
              <a:spcBef>
                <a:spcPts val="0"/>
              </a:spcBef>
            </a:pPr>
            <a:r>
              <a:rPr lang="en-GB" sz="1800" dirty="0"/>
              <a:t>	D. All of the above options are correct.</a:t>
            </a:r>
          </a:p>
        </p:txBody>
      </p:sp>
      <p:sp>
        <p:nvSpPr>
          <p:cNvPr id="4" name="Google Shape;121;p5">
            <a:extLst>
              <a:ext uri="{FF2B5EF4-FFF2-40B4-BE49-F238E27FC236}">
                <a16:creationId xmlns:a16="http://schemas.microsoft.com/office/drawing/2014/main" id="{C999EC23-6F11-6861-E1DA-9258B3E81D46}"/>
              </a:ext>
            </a:extLst>
          </p:cNvPr>
          <p:cNvSpPr txBox="1">
            <a:spLocks/>
          </p:cNvSpPr>
          <p:nvPr/>
        </p:nvSpPr>
        <p:spPr>
          <a:xfrm>
            <a:off x="727209" y="3282043"/>
            <a:ext cx="3047258" cy="28575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Rods </a:t>
            </a:r>
            <a:r>
              <a:rPr lang="en-GB" sz="1800" dirty="0">
                <a:sym typeface="Wingdings" panose="05000000000000000000" pitchFamily="2" charset="2"/>
              </a:rPr>
              <a:t> Sensitive to light and motion</a:t>
            </a:r>
          </a:p>
          <a:p>
            <a:pPr marL="0" indent="0">
              <a:spcBef>
                <a:spcPts val="0"/>
              </a:spcBef>
            </a:pPr>
            <a:r>
              <a:rPr lang="en-GB" sz="1800" dirty="0">
                <a:sym typeface="Wingdings" panose="05000000000000000000" pitchFamily="2" charset="2"/>
              </a:rPr>
              <a:t>Cones  Sensitive to colour and detail</a:t>
            </a:r>
          </a:p>
          <a:p>
            <a:pPr marL="0" indent="0">
              <a:spcBef>
                <a:spcPts val="0"/>
              </a:spcBef>
            </a:pPr>
            <a:r>
              <a:rPr lang="en-GB" sz="1800" dirty="0">
                <a:sym typeface="Wingdings" panose="05000000000000000000" pitchFamily="2" charset="2"/>
              </a:rPr>
              <a:t>Optic nerve  </a:t>
            </a:r>
            <a:r>
              <a:rPr lang="en-GB" sz="1800" dirty="0"/>
              <a:t>The spot where the optic nerve leaves the eye has no photoreceptors (rods or cones), creating a blind spot</a:t>
            </a:r>
          </a:p>
        </p:txBody>
      </p:sp>
      <p:pic>
        <p:nvPicPr>
          <p:cNvPr id="8" name="Picture 7">
            <a:extLst>
              <a:ext uri="{FF2B5EF4-FFF2-40B4-BE49-F238E27FC236}">
                <a16:creationId xmlns:a16="http://schemas.microsoft.com/office/drawing/2014/main" id="{2F664F15-6362-8CF3-7608-81CC476E05A0}"/>
              </a:ext>
            </a:extLst>
          </p:cNvPr>
          <p:cNvPicPr>
            <a:picLocks noChangeAspect="1"/>
          </p:cNvPicPr>
          <p:nvPr/>
        </p:nvPicPr>
        <p:blipFill>
          <a:blip r:embed="rId3"/>
          <a:stretch>
            <a:fillRect/>
          </a:stretch>
        </p:blipFill>
        <p:spPr>
          <a:xfrm>
            <a:off x="4150468" y="3135086"/>
            <a:ext cx="8041532" cy="3344617"/>
          </a:xfrm>
          <a:prstGeom prst="rect">
            <a:avLst/>
          </a:prstGeom>
        </p:spPr>
      </p:pic>
    </p:spTree>
    <p:extLst>
      <p:ext uri="{BB962C8B-B14F-4D97-AF65-F5344CB8AC3E}">
        <p14:creationId xmlns:p14="http://schemas.microsoft.com/office/powerpoint/2010/main" val="3630996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3C6A09EB-55EF-B49B-E215-BD7BF263120C}"/>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3E4911F3-386E-D035-7F6C-403E88F0F903}"/>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FEC2DB4A-AB3F-114B-32B7-B7D62774746F}"/>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6. Suppose the distance between the eyes can be increased. This would have the following effect: </a:t>
            </a:r>
          </a:p>
          <a:p>
            <a:pPr marL="0" lvl="0" indent="0">
              <a:spcBef>
                <a:spcPts val="0"/>
              </a:spcBef>
            </a:pPr>
            <a:r>
              <a:rPr lang="en-GB" sz="1800" dirty="0"/>
              <a:t>	A. an increase in binocular disparity.</a:t>
            </a:r>
          </a:p>
          <a:p>
            <a:pPr marL="0" lvl="0" indent="0">
              <a:spcBef>
                <a:spcPts val="0"/>
              </a:spcBef>
            </a:pPr>
            <a:r>
              <a:rPr lang="en-GB" sz="1800" dirty="0"/>
              <a:t>	B. a decrease in binocular disparity. </a:t>
            </a:r>
          </a:p>
          <a:p>
            <a:pPr marL="0" lvl="0" indent="0">
              <a:spcBef>
                <a:spcPts val="0"/>
              </a:spcBef>
            </a:pPr>
            <a:r>
              <a:rPr lang="en-GB" sz="1800" dirty="0"/>
              <a:t>	C. an increase in the effect of motion parallax. </a:t>
            </a:r>
          </a:p>
          <a:p>
            <a:pPr marL="0" lvl="0" indent="0">
              <a:spcBef>
                <a:spcPts val="0"/>
              </a:spcBef>
            </a:pPr>
            <a:r>
              <a:rPr lang="en-GB" sz="1800" dirty="0"/>
              <a:t>	D. a reduction in the effect of motion parallax. </a:t>
            </a:r>
          </a:p>
        </p:txBody>
      </p:sp>
    </p:spTree>
    <p:extLst>
      <p:ext uri="{BB962C8B-B14F-4D97-AF65-F5344CB8AC3E}">
        <p14:creationId xmlns:p14="http://schemas.microsoft.com/office/powerpoint/2010/main" val="2402478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1B9F0DA5-5A60-D912-7443-605586E1E76A}"/>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24B4F5BA-3BBC-3D8E-C33D-D6B885C6691B}"/>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109F73DD-A5C5-C46C-6AF0-A7F66F34FA4C}"/>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6. Suppose the distance between the eyes can be increased. This would have the following effect: </a:t>
            </a:r>
          </a:p>
          <a:p>
            <a:pPr marL="0" lvl="0" indent="0">
              <a:spcBef>
                <a:spcPts val="0"/>
              </a:spcBef>
            </a:pPr>
            <a:r>
              <a:rPr lang="en-GB" sz="1800" dirty="0"/>
              <a:t>	</a:t>
            </a:r>
            <a:r>
              <a:rPr lang="en-GB" sz="1800" u="sng" dirty="0">
                <a:solidFill>
                  <a:schemeClr val="accent6">
                    <a:lumMod val="50000"/>
                  </a:schemeClr>
                </a:solidFill>
              </a:rPr>
              <a:t>A. an increase in binocular disparity</a:t>
            </a:r>
            <a:r>
              <a:rPr lang="en-GB" sz="1800" dirty="0"/>
              <a:t>.</a:t>
            </a:r>
          </a:p>
          <a:p>
            <a:pPr marL="0" lvl="0" indent="0">
              <a:spcBef>
                <a:spcPts val="0"/>
              </a:spcBef>
            </a:pPr>
            <a:r>
              <a:rPr lang="en-GB" sz="1800" dirty="0"/>
              <a:t>	B. a decrease in binocular disparity. </a:t>
            </a:r>
          </a:p>
          <a:p>
            <a:pPr marL="0" lvl="0" indent="0">
              <a:spcBef>
                <a:spcPts val="0"/>
              </a:spcBef>
            </a:pPr>
            <a:r>
              <a:rPr lang="en-GB" sz="1800" dirty="0"/>
              <a:t>	C. an increase in the effect of motion parallax. </a:t>
            </a:r>
          </a:p>
          <a:p>
            <a:pPr marL="0" lvl="0" indent="0">
              <a:spcBef>
                <a:spcPts val="0"/>
              </a:spcBef>
            </a:pPr>
            <a:r>
              <a:rPr lang="en-GB" sz="1800" dirty="0"/>
              <a:t>	D. a reduction in the effect of motion parallax. </a:t>
            </a:r>
          </a:p>
        </p:txBody>
      </p:sp>
      <p:pic>
        <p:nvPicPr>
          <p:cNvPr id="3" name="Picture 2">
            <a:extLst>
              <a:ext uri="{FF2B5EF4-FFF2-40B4-BE49-F238E27FC236}">
                <a16:creationId xmlns:a16="http://schemas.microsoft.com/office/drawing/2014/main" id="{B8A44B58-F2D4-F91B-3189-102FA2151F84}"/>
              </a:ext>
            </a:extLst>
          </p:cNvPr>
          <p:cNvPicPr>
            <a:picLocks noChangeAspect="1"/>
          </p:cNvPicPr>
          <p:nvPr/>
        </p:nvPicPr>
        <p:blipFill>
          <a:blip r:embed="rId3"/>
          <a:stretch>
            <a:fillRect/>
          </a:stretch>
        </p:blipFill>
        <p:spPr>
          <a:xfrm>
            <a:off x="7132321" y="2400300"/>
            <a:ext cx="4613048" cy="3808938"/>
          </a:xfrm>
          <a:prstGeom prst="rect">
            <a:avLst/>
          </a:prstGeom>
        </p:spPr>
      </p:pic>
      <p:pic>
        <p:nvPicPr>
          <p:cNvPr id="5" name="Picture 4">
            <a:extLst>
              <a:ext uri="{FF2B5EF4-FFF2-40B4-BE49-F238E27FC236}">
                <a16:creationId xmlns:a16="http://schemas.microsoft.com/office/drawing/2014/main" id="{DA059839-FE04-D91F-D049-5310C184C02F}"/>
              </a:ext>
            </a:extLst>
          </p:cNvPr>
          <p:cNvPicPr>
            <a:picLocks noChangeAspect="1"/>
          </p:cNvPicPr>
          <p:nvPr/>
        </p:nvPicPr>
        <p:blipFill>
          <a:blip r:embed="rId4"/>
          <a:stretch>
            <a:fillRect/>
          </a:stretch>
        </p:blipFill>
        <p:spPr>
          <a:xfrm>
            <a:off x="1288540" y="3046656"/>
            <a:ext cx="5114438" cy="3198721"/>
          </a:xfrm>
          <a:prstGeom prst="rect">
            <a:avLst/>
          </a:prstGeom>
        </p:spPr>
      </p:pic>
    </p:spTree>
    <p:extLst>
      <p:ext uri="{BB962C8B-B14F-4D97-AF65-F5344CB8AC3E}">
        <p14:creationId xmlns:p14="http://schemas.microsoft.com/office/powerpoint/2010/main" val="1962357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217BF9D3-0B30-6FC1-C337-CF9DE0597555}"/>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E42F5373-5E4C-DD8F-E6AE-03AD0517B156}"/>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90010947-EE47-9905-A71E-2A210341A261}"/>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7. In classical conditioning an animal learns the relation between ... .; In instrumental conditioning, an animal learns the relationship between .... </a:t>
            </a:r>
          </a:p>
          <a:p>
            <a:pPr marL="0" lvl="0" indent="0">
              <a:spcBef>
                <a:spcPts val="0"/>
              </a:spcBef>
            </a:pPr>
            <a:r>
              <a:rPr lang="en-GB" sz="1800" dirty="0"/>
              <a:t>	A. CR and US; Stimulus and response </a:t>
            </a:r>
          </a:p>
          <a:p>
            <a:pPr marL="0" lvl="0" indent="0">
              <a:spcBef>
                <a:spcPts val="0"/>
              </a:spcBef>
            </a:pPr>
            <a:r>
              <a:rPr lang="en-GB" sz="1800" dirty="0"/>
              <a:t>	B. CS and UR; Stimulus and response </a:t>
            </a:r>
          </a:p>
          <a:p>
            <a:pPr marL="0" lvl="0" indent="0">
              <a:spcBef>
                <a:spcPts val="0"/>
              </a:spcBef>
            </a:pPr>
            <a:r>
              <a:rPr lang="en-GB" sz="1800" dirty="0"/>
              <a:t>	C. CR and UR; Response and reward </a:t>
            </a:r>
          </a:p>
          <a:p>
            <a:pPr marL="0" lvl="0" indent="0">
              <a:spcBef>
                <a:spcPts val="0"/>
              </a:spcBef>
            </a:pPr>
            <a:r>
              <a:rPr lang="en-GB" sz="1800" dirty="0"/>
              <a:t>	D. CS and US; Response and reward </a:t>
            </a:r>
          </a:p>
        </p:txBody>
      </p:sp>
    </p:spTree>
    <p:extLst>
      <p:ext uri="{BB962C8B-B14F-4D97-AF65-F5344CB8AC3E}">
        <p14:creationId xmlns:p14="http://schemas.microsoft.com/office/powerpoint/2010/main" val="684152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A1E0B69F-91BE-F40A-F61F-56FD5718B845}"/>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918E1648-CDEC-AA7C-0D30-4FABD7F08921}"/>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1104DD40-B87D-4426-CB48-F45005C4D3BD}"/>
              </a:ext>
            </a:extLst>
          </p:cNvPr>
          <p:cNvSpPr txBox="1">
            <a:spLocks noGrp="1"/>
          </p:cNvSpPr>
          <p:nvPr>
            <p:ph type="body" idx="1"/>
          </p:nvPr>
        </p:nvSpPr>
        <p:spPr>
          <a:xfrm>
            <a:off x="860715" y="1521312"/>
            <a:ext cx="10470571" cy="1744402"/>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7. In classical conditioning an animal learns the relation between ... .; In instrumental conditioning, an animal learns the relationship between .... </a:t>
            </a:r>
          </a:p>
          <a:p>
            <a:pPr marL="0" lvl="0" indent="0">
              <a:spcBef>
                <a:spcPts val="0"/>
              </a:spcBef>
            </a:pPr>
            <a:r>
              <a:rPr lang="en-GB" sz="1800" dirty="0"/>
              <a:t>	A. CR and US; Stimulus and response </a:t>
            </a:r>
          </a:p>
          <a:p>
            <a:pPr marL="0" lvl="0" indent="0">
              <a:spcBef>
                <a:spcPts val="0"/>
              </a:spcBef>
            </a:pPr>
            <a:r>
              <a:rPr lang="en-GB" sz="1800" dirty="0"/>
              <a:t>	B. CS and UR; Stimulus and response </a:t>
            </a:r>
          </a:p>
          <a:p>
            <a:pPr marL="0" lvl="0" indent="0">
              <a:spcBef>
                <a:spcPts val="0"/>
              </a:spcBef>
            </a:pPr>
            <a:r>
              <a:rPr lang="en-GB" sz="1800" dirty="0"/>
              <a:t>	C. CR and UR; Response and reward </a:t>
            </a:r>
          </a:p>
          <a:p>
            <a:pPr marL="0" lvl="0" indent="0">
              <a:spcBef>
                <a:spcPts val="0"/>
              </a:spcBef>
            </a:pPr>
            <a:r>
              <a:rPr lang="en-GB" sz="1800" dirty="0"/>
              <a:t>	</a:t>
            </a:r>
            <a:r>
              <a:rPr lang="en-GB" sz="1800" u="sng" dirty="0">
                <a:solidFill>
                  <a:schemeClr val="accent6">
                    <a:lumMod val="50000"/>
                  </a:schemeClr>
                </a:solidFill>
              </a:rPr>
              <a:t>D. CS and US; Response and reward </a:t>
            </a:r>
          </a:p>
        </p:txBody>
      </p:sp>
      <p:sp>
        <p:nvSpPr>
          <p:cNvPr id="2" name="Google Shape;121;p5">
            <a:extLst>
              <a:ext uri="{FF2B5EF4-FFF2-40B4-BE49-F238E27FC236}">
                <a16:creationId xmlns:a16="http://schemas.microsoft.com/office/drawing/2014/main" id="{A7A753C5-4BA7-AB28-8B3E-D6F0D84993CF}"/>
              </a:ext>
            </a:extLst>
          </p:cNvPr>
          <p:cNvSpPr txBox="1">
            <a:spLocks/>
          </p:cNvSpPr>
          <p:nvPr/>
        </p:nvSpPr>
        <p:spPr>
          <a:xfrm>
            <a:off x="860714" y="3467099"/>
            <a:ext cx="10470571" cy="247650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Let’s use Pavlov’s dog as an </a:t>
            </a:r>
            <a:r>
              <a:rPr lang="en-GB" sz="1800" dirty="0">
                <a:solidFill>
                  <a:schemeClr val="tx1"/>
                </a:solidFill>
              </a:rPr>
              <a:t>example:</a:t>
            </a:r>
          </a:p>
          <a:p>
            <a:pPr marL="0" indent="0">
              <a:spcBef>
                <a:spcPts val="0"/>
              </a:spcBef>
            </a:pPr>
            <a:r>
              <a:rPr lang="en-GB" sz="1800" dirty="0">
                <a:solidFill>
                  <a:schemeClr val="tx1"/>
                </a:solidFill>
              </a:rPr>
              <a:t>CS = Conditioned stimulus (here it would be the bell)</a:t>
            </a:r>
          </a:p>
          <a:p>
            <a:pPr marL="0" indent="0">
              <a:spcBef>
                <a:spcPts val="0"/>
              </a:spcBef>
            </a:pPr>
            <a:r>
              <a:rPr lang="en-GB" sz="1800" dirty="0">
                <a:solidFill>
                  <a:schemeClr val="tx1"/>
                </a:solidFill>
              </a:rPr>
              <a:t>US = Unconditioned Stimulus (here it is the food)</a:t>
            </a:r>
          </a:p>
          <a:p>
            <a:pPr marL="0" indent="0">
              <a:spcBef>
                <a:spcPts val="0"/>
              </a:spcBef>
            </a:pPr>
            <a:r>
              <a:rPr lang="en-GB" sz="1800" dirty="0">
                <a:solidFill>
                  <a:schemeClr val="tx1"/>
                </a:solidFill>
              </a:rPr>
              <a:t>The dog learns the relation between the conditioned stimulus (bell) and unconditioned stimulus (the food) </a:t>
            </a:r>
            <a:r>
              <a:rPr lang="en-GB" sz="1800" dirty="0">
                <a:solidFill>
                  <a:schemeClr val="tx1"/>
                </a:solidFill>
                <a:sym typeface="Wingdings" panose="05000000000000000000" pitchFamily="2" charset="2"/>
              </a:rPr>
              <a:t> Every time Pavlov rings the bell, the dog gets food, he therefore associates the sound of the bell with getting food</a:t>
            </a:r>
            <a:br>
              <a:rPr lang="en-GB" sz="1800" dirty="0">
                <a:solidFill>
                  <a:schemeClr val="tx1"/>
                </a:solidFill>
                <a:sym typeface="Wingdings" panose="05000000000000000000" pitchFamily="2" charset="2"/>
              </a:rPr>
            </a:br>
            <a:r>
              <a:rPr lang="en-GB" sz="1800" dirty="0">
                <a:solidFill>
                  <a:schemeClr val="tx1"/>
                </a:solidFill>
                <a:sym typeface="Wingdings" panose="05000000000000000000" pitchFamily="2" charset="2"/>
              </a:rPr>
              <a:t>In Instrumental conditioning (let’s use the pigeons as an example):</a:t>
            </a:r>
          </a:p>
          <a:p>
            <a:pPr marL="0" indent="0">
              <a:spcBef>
                <a:spcPts val="0"/>
              </a:spcBef>
            </a:pPr>
            <a:r>
              <a:rPr lang="en-GB" sz="1800" dirty="0">
                <a:solidFill>
                  <a:schemeClr val="tx1"/>
                </a:solidFill>
              </a:rPr>
              <a:t>The pigeons learn the relationship between their response (pressing a button) and the reward (getting food) </a:t>
            </a:r>
            <a:r>
              <a:rPr lang="en-GB" sz="1800" dirty="0">
                <a:solidFill>
                  <a:schemeClr val="tx1"/>
                </a:solidFill>
                <a:sym typeface="Wingdings" panose="05000000000000000000" pitchFamily="2" charset="2"/>
              </a:rPr>
              <a:t> The pigeons now think that every time they press the button, they will get the food.</a:t>
            </a:r>
            <a:endParaRPr lang="en-GB" sz="1800" dirty="0">
              <a:solidFill>
                <a:schemeClr val="tx1"/>
              </a:solidFill>
            </a:endParaRPr>
          </a:p>
        </p:txBody>
      </p:sp>
    </p:spTree>
    <p:extLst>
      <p:ext uri="{BB962C8B-B14F-4D97-AF65-F5344CB8AC3E}">
        <p14:creationId xmlns:p14="http://schemas.microsoft.com/office/powerpoint/2010/main" val="3173309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C9C05AC9-851C-8647-CBD1-824BF116DA6C}"/>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DC92EE8E-8931-CF2E-040B-1638F1552B21}"/>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5B0B55A4-F588-758E-0F55-6846EEFE0634}"/>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600" dirty="0"/>
              <a:t>8. Xena the Warrior Princess was taking a nap after a big lunch. Her companion Gabrielle was attacked nearby. Xena immediately rose up and threw her weapon at the attacker, saving Gabrielle. Which of Xena’s nervous system were activated during this time? </a:t>
            </a:r>
          </a:p>
          <a:p>
            <a:pPr marL="0" lvl="0" indent="0">
              <a:spcBef>
                <a:spcPts val="0"/>
              </a:spcBef>
            </a:pPr>
            <a:r>
              <a:rPr lang="en-GB" sz="1600" dirty="0"/>
              <a:t>	A. Parasympathetic nervous system during the nap; Sympathetic nervous system during the attack </a:t>
            </a:r>
          </a:p>
          <a:p>
            <a:pPr marL="0" lvl="0" indent="0">
              <a:spcBef>
                <a:spcPts val="0"/>
              </a:spcBef>
            </a:pPr>
            <a:r>
              <a:rPr lang="en-GB" sz="1600" dirty="0"/>
              <a:t>	B. Sympathetic nervous system during the nap; Parasympathetic nervous system during the attack </a:t>
            </a:r>
          </a:p>
          <a:p>
            <a:pPr marL="0" lvl="0" indent="0">
              <a:spcBef>
                <a:spcPts val="0"/>
              </a:spcBef>
            </a:pPr>
            <a:r>
              <a:rPr lang="en-GB" sz="1600" dirty="0"/>
              <a:t>	C. Somatic nervous system during the nap; Autonomic nervous system during the attack </a:t>
            </a:r>
          </a:p>
          <a:p>
            <a:pPr marL="0" lvl="0" indent="0">
              <a:spcBef>
                <a:spcPts val="0"/>
              </a:spcBef>
            </a:pPr>
            <a:r>
              <a:rPr lang="en-GB" sz="1600" dirty="0"/>
              <a:t>	D. Autonomic nervous system during the nap; Somatic nervous system during the attack</a:t>
            </a:r>
          </a:p>
        </p:txBody>
      </p:sp>
    </p:spTree>
    <p:extLst>
      <p:ext uri="{BB962C8B-B14F-4D97-AF65-F5344CB8AC3E}">
        <p14:creationId xmlns:p14="http://schemas.microsoft.com/office/powerpoint/2010/main" val="569379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ACD55AEC-3F6C-AA05-68B6-A0805CE0AFD4}"/>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F6796C7C-EC0F-83A1-0708-722727A3AE6D}"/>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4A69D429-6860-480E-A964-DF0E260C9DFC}"/>
              </a:ext>
            </a:extLst>
          </p:cNvPr>
          <p:cNvSpPr txBox="1">
            <a:spLocks noGrp="1"/>
          </p:cNvSpPr>
          <p:nvPr>
            <p:ph type="body" idx="1"/>
          </p:nvPr>
        </p:nvSpPr>
        <p:spPr>
          <a:xfrm>
            <a:off x="860715" y="1521312"/>
            <a:ext cx="10470571" cy="1907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600" dirty="0"/>
              <a:t>8. Xena the Warrior Princess was taking a nap after a big lunch. Her companion Gabrielle was attacked nearby. Xena immediately rose up and threw her weapon at the attacker, saving Gabrielle. Which of Xena’s nervous system were activated during this time? </a:t>
            </a:r>
          </a:p>
          <a:p>
            <a:pPr marL="0" lvl="0" indent="0">
              <a:spcBef>
                <a:spcPts val="0"/>
              </a:spcBef>
            </a:pPr>
            <a:r>
              <a:rPr lang="en-GB" sz="1600" dirty="0"/>
              <a:t>	</a:t>
            </a:r>
            <a:r>
              <a:rPr lang="en-GB" sz="1600" u="sng" dirty="0">
                <a:solidFill>
                  <a:schemeClr val="accent6">
                    <a:lumMod val="50000"/>
                  </a:schemeClr>
                </a:solidFill>
              </a:rPr>
              <a:t>A. Parasympathetic nervous system during the nap; Sympathetic nervous system during the attack </a:t>
            </a:r>
          </a:p>
          <a:p>
            <a:pPr marL="0" lvl="0" indent="0">
              <a:spcBef>
                <a:spcPts val="0"/>
              </a:spcBef>
            </a:pPr>
            <a:r>
              <a:rPr lang="en-GB" sz="1600" dirty="0"/>
              <a:t>	B. Sympathetic nervous system during the nap; Parasympathetic nervous system during the attack </a:t>
            </a:r>
          </a:p>
          <a:p>
            <a:pPr marL="0" lvl="0" indent="0">
              <a:spcBef>
                <a:spcPts val="0"/>
              </a:spcBef>
            </a:pPr>
            <a:r>
              <a:rPr lang="en-GB" sz="1600" dirty="0"/>
              <a:t>	C. Somatic nervous system during the nap; Autonomic nervous system during the attack </a:t>
            </a:r>
          </a:p>
          <a:p>
            <a:pPr marL="0" lvl="0" indent="0">
              <a:spcBef>
                <a:spcPts val="0"/>
              </a:spcBef>
            </a:pPr>
            <a:r>
              <a:rPr lang="en-GB" sz="1600" dirty="0"/>
              <a:t>	D. Autonomic nervous system during the nap; Somatic nervous system during the attack</a:t>
            </a:r>
          </a:p>
        </p:txBody>
      </p:sp>
      <p:sp>
        <p:nvSpPr>
          <p:cNvPr id="2" name="Google Shape;121;p5">
            <a:extLst>
              <a:ext uri="{FF2B5EF4-FFF2-40B4-BE49-F238E27FC236}">
                <a16:creationId xmlns:a16="http://schemas.microsoft.com/office/drawing/2014/main" id="{9BA1B9C5-C170-6A94-9F1B-301CA43C61F6}"/>
              </a:ext>
            </a:extLst>
          </p:cNvPr>
          <p:cNvSpPr txBox="1">
            <a:spLocks/>
          </p:cNvSpPr>
          <p:nvPr/>
        </p:nvSpPr>
        <p:spPr>
          <a:xfrm>
            <a:off x="860714" y="3501101"/>
            <a:ext cx="10470571" cy="89128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eaLnBrk="0" fontAlgn="base" hangingPunct="0">
              <a:lnSpc>
                <a:spcPct val="100000"/>
              </a:lnSpc>
              <a:spcBef>
                <a:spcPct val="0"/>
              </a:spcBef>
              <a:spcAft>
                <a:spcPct val="0"/>
              </a:spcAft>
              <a:buClrTx/>
              <a:buSzTx/>
            </a:pPr>
            <a:r>
              <a:rPr lang="en-NL" altLang="en-NL" sz="1600" dirty="0"/>
              <a:t>Sympathetic</a:t>
            </a:r>
            <a:r>
              <a:rPr lang="en-GB" altLang="en-NL" sz="1600" dirty="0"/>
              <a:t> nervous system</a:t>
            </a:r>
            <a:r>
              <a:rPr lang="en-NL" altLang="en-NL" sz="1600" dirty="0"/>
              <a:t> → “fight or flight”</a:t>
            </a:r>
          </a:p>
          <a:p>
            <a:pPr marL="0" lvl="0" indent="0" eaLnBrk="0" fontAlgn="base" hangingPunct="0">
              <a:lnSpc>
                <a:spcPct val="100000"/>
              </a:lnSpc>
              <a:spcBef>
                <a:spcPct val="0"/>
              </a:spcBef>
              <a:spcAft>
                <a:spcPct val="0"/>
              </a:spcAft>
              <a:buClrTx/>
              <a:buSzTx/>
            </a:pPr>
            <a:r>
              <a:rPr lang="en-NL" altLang="en-NL" sz="1600" dirty="0"/>
              <a:t>Parasympathetic</a:t>
            </a:r>
            <a:r>
              <a:rPr lang="en-GB" altLang="en-NL" sz="1600" dirty="0"/>
              <a:t> nervous system</a:t>
            </a:r>
            <a:r>
              <a:rPr lang="en-NL" altLang="en-NL" sz="1600" dirty="0"/>
              <a:t> → “rest and digest</a:t>
            </a:r>
            <a:r>
              <a:rPr lang="en-GB" altLang="en-NL" sz="1600" dirty="0"/>
              <a:t>”</a:t>
            </a:r>
            <a:endParaRPr lang="en-GB" sz="1600" dirty="0"/>
          </a:p>
        </p:txBody>
      </p:sp>
    </p:spTree>
    <p:extLst>
      <p:ext uri="{BB962C8B-B14F-4D97-AF65-F5344CB8AC3E}">
        <p14:creationId xmlns:p14="http://schemas.microsoft.com/office/powerpoint/2010/main" val="3940434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553C0537-C27E-F3C1-D7D0-22C059BF3958}"/>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08C94657-11F9-7C8F-47B4-F9D19BD00F04}"/>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9698D1D8-0876-7C4C-B4BD-54C05CE20359}"/>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9. The variable that is manipulated in an experiment is the </a:t>
            </a:r>
          </a:p>
          <a:p>
            <a:pPr marL="0" lvl="0" indent="0">
              <a:spcBef>
                <a:spcPts val="0"/>
              </a:spcBef>
            </a:pPr>
            <a:r>
              <a:rPr lang="en-GB" sz="1800" dirty="0"/>
              <a:t>	A. dependent variable. </a:t>
            </a:r>
          </a:p>
          <a:p>
            <a:pPr marL="0" lvl="0" indent="0">
              <a:spcBef>
                <a:spcPts val="0"/>
              </a:spcBef>
            </a:pPr>
            <a:r>
              <a:rPr lang="en-GB" sz="1800" dirty="0"/>
              <a:t>	B. independent variable. </a:t>
            </a:r>
          </a:p>
          <a:p>
            <a:pPr marL="0" lvl="0" indent="0">
              <a:spcBef>
                <a:spcPts val="0"/>
              </a:spcBef>
            </a:pPr>
            <a:r>
              <a:rPr lang="en-GB" sz="1800" dirty="0"/>
              <a:t>	C. confounding variable. </a:t>
            </a:r>
          </a:p>
          <a:p>
            <a:pPr marL="0" lvl="0" indent="0">
              <a:spcBef>
                <a:spcPts val="0"/>
              </a:spcBef>
            </a:pPr>
            <a:r>
              <a:rPr lang="en-GB" sz="1800" dirty="0"/>
              <a:t>	D. control variable. </a:t>
            </a:r>
          </a:p>
        </p:txBody>
      </p:sp>
    </p:spTree>
    <p:extLst>
      <p:ext uri="{BB962C8B-B14F-4D97-AF65-F5344CB8AC3E}">
        <p14:creationId xmlns:p14="http://schemas.microsoft.com/office/powerpoint/2010/main" val="3110332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F2090837-7292-85B7-A241-4ADB88054F97}"/>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E9230915-CF81-8C8E-E585-4FF5A8B2177A}"/>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22BE8FD7-CD27-2C50-FB29-8D9A40852406}"/>
              </a:ext>
            </a:extLst>
          </p:cNvPr>
          <p:cNvSpPr txBox="1">
            <a:spLocks noGrp="1"/>
          </p:cNvSpPr>
          <p:nvPr>
            <p:ph type="body" idx="1"/>
          </p:nvPr>
        </p:nvSpPr>
        <p:spPr>
          <a:xfrm>
            <a:off x="860715" y="1521312"/>
            <a:ext cx="10470571" cy="16790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9. The variable that is manipulated in an experiment is the </a:t>
            </a:r>
          </a:p>
          <a:p>
            <a:pPr marL="0" lvl="0" indent="0">
              <a:spcBef>
                <a:spcPts val="0"/>
              </a:spcBef>
            </a:pPr>
            <a:r>
              <a:rPr lang="en-GB" sz="1800" dirty="0"/>
              <a:t>	A. dependent variable. </a:t>
            </a:r>
          </a:p>
          <a:p>
            <a:pPr marL="0" lvl="0" indent="0">
              <a:spcBef>
                <a:spcPts val="0"/>
              </a:spcBef>
            </a:pPr>
            <a:r>
              <a:rPr lang="en-GB" sz="1800" dirty="0"/>
              <a:t>	</a:t>
            </a:r>
            <a:r>
              <a:rPr lang="en-GB" sz="1800" u="sng" dirty="0">
                <a:solidFill>
                  <a:schemeClr val="accent6">
                    <a:lumMod val="50000"/>
                  </a:schemeClr>
                </a:solidFill>
              </a:rPr>
              <a:t>B. independent variable</a:t>
            </a:r>
            <a:r>
              <a:rPr lang="en-GB" sz="1800" dirty="0"/>
              <a:t>. </a:t>
            </a:r>
          </a:p>
          <a:p>
            <a:pPr marL="0" lvl="0" indent="0">
              <a:spcBef>
                <a:spcPts val="0"/>
              </a:spcBef>
            </a:pPr>
            <a:r>
              <a:rPr lang="en-GB" sz="1800" dirty="0"/>
              <a:t>	C. confounding variable. </a:t>
            </a:r>
          </a:p>
          <a:p>
            <a:pPr marL="0" lvl="0" indent="0">
              <a:spcBef>
                <a:spcPts val="0"/>
              </a:spcBef>
            </a:pPr>
            <a:r>
              <a:rPr lang="en-GB" sz="1800" dirty="0"/>
              <a:t>	D. control variable. </a:t>
            </a:r>
          </a:p>
        </p:txBody>
      </p:sp>
      <p:sp>
        <p:nvSpPr>
          <p:cNvPr id="2" name="Google Shape;121;p5">
            <a:extLst>
              <a:ext uri="{FF2B5EF4-FFF2-40B4-BE49-F238E27FC236}">
                <a16:creationId xmlns:a16="http://schemas.microsoft.com/office/drawing/2014/main" id="{A733A02C-4927-41C2-81DB-98CCBCFFFF00}"/>
              </a:ext>
            </a:extLst>
          </p:cNvPr>
          <p:cNvSpPr txBox="1">
            <a:spLocks/>
          </p:cNvSpPr>
          <p:nvPr/>
        </p:nvSpPr>
        <p:spPr>
          <a:xfrm>
            <a:off x="860714" y="3429000"/>
            <a:ext cx="10470571" cy="167908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Independent variables do not depend on anything else (time of day, mood of participant, weather), these variables are the ones that, in an experiment, are chosen and manipulated. The independent variables depend only on what the researcher decides to do with it, however, dependent variables are the ones that depend on what the researcher did with the Independent variable.  </a:t>
            </a:r>
          </a:p>
        </p:txBody>
      </p:sp>
    </p:spTree>
    <p:extLst>
      <p:ext uri="{BB962C8B-B14F-4D97-AF65-F5344CB8AC3E}">
        <p14:creationId xmlns:p14="http://schemas.microsoft.com/office/powerpoint/2010/main" val="25135162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F8419B58-D6F6-A1E2-2BD3-4160A49CCE0E}"/>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35FE94C2-9A3B-37A2-424A-77AD266227A2}"/>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45F9AFAE-D3F2-51A8-8BFF-9EF7FE4C25D7}"/>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10. A researcher wants to know what the effects are of typeface on the reading speed of people. He performs an experiment with the ... typeface and the ... reading speed. All test subjects are given the task to first reading a paragraph in "Courier" font and then read a paragraph in "CG Times" font. In this experiment, font order is a .... </a:t>
            </a:r>
          </a:p>
          <a:p>
            <a:pPr marL="0" lvl="0" indent="0">
              <a:spcBef>
                <a:spcPts val="0"/>
              </a:spcBef>
            </a:pPr>
            <a:r>
              <a:rPr lang="en-GB" sz="1800" dirty="0"/>
              <a:t>	A. dependent variable; independent variable; confounding variable </a:t>
            </a:r>
          </a:p>
          <a:p>
            <a:pPr marL="0" lvl="0" indent="0">
              <a:spcBef>
                <a:spcPts val="0"/>
              </a:spcBef>
            </a:pPr>
            <a:r>
              <a:rPr lang="en-GB" sz="1800" dirty="0"/>
              <a:t>	B. independent variable; dependent variable; confounding variable 	</a:t>
            </a:r>
          </a:p>
          <a:p>
            <a:pPr marL="0" lvl="0" indent="0">
              <a:spcBef>
                <a:spcPts val="0"/>
              </a:spcBef>
            </a:pPr>
            <a:r>
              <a:rPr lang="en-GB" sz="1800" dirty="0"/>
              <a:t>	C. dependent variable; independent variable; control variable </a:t>
            </a:r>
          </a:p>
          <a:p>
            <a:pPr marL="0" lvl="0" indent="0">
              <a:spcBef>
                <a:spcPts val="0"/>
              </a:spcBef>
            </a:pPr>
            <a:r>
              <a:rPr lang="en-GB" sz="1800" dirty="0"/>
              <a:t>	D. independent variable; dependent variable; control variable </a:t>
            </a:r>
          </a:p>
        </p:txBody>
      </p:sp>
    </p:spTree>
    <p:extLst>
      <p:ext uri="{BB962C8B-B14F-4D97-AF65-F5344CB8AC3E}">
        <p14:creationId xmlns:p14="http://schemas.microsoft.com/office/powerpoint/2010/main" val="4186636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CEF10908-D774-E679-5B4A-8F5A1D06A2BF}"/>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7EF81C57-CE4D-521E-E227-08276EF39850}"/>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DC0762C4-6572-0AF8-E1FF-7563153C4444}"/>
              </a:ext>
            </a:extLst>
          </p:cNvPr>
          <p:cNvSpPr txBox="1">
            <a:spLocks noGrp="1"/>
          </p:cNvSpPr>
          <p:nvPr>
            <p:ph type="body" idx="1"/>
          </p:nvPr>
        </p:nvSpPr>
        <p:spPr>
          <a:xfrm>
            <a:off x="860715" y="1521312"/>
            <a:ext cx="10470571" cy="2201602"/>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10. A researcher wants to know what the effects are of typeface on the reading speed of people. He performs an experiment with the ... typeface and the ... reading speed. All test subjects are given the task to first reading a paragraph in "Courier" font and then read a paragraph in "CG Times" font. In this experiment, font order is a .... </a:t>
            </a:r>
          </a:p>
          <a:p>
            <a:pPr marL="0" lvl="0" indent="0">
              <a:spcBef>
                <a:spcPts val="0"/>
              </a:spcBef>
            </a:pPr>
            <a:r>
              <a:rPr lang="en-GB" sz="1800" dirty="0"/>
              <a:t>	A. dependent variable; independent variable; confounding variable </a:t>
            </a:r>
          </a:p>
          <a:p>
            <a:pPr marL="0" lvl="0" indent="0">
              <a:spcBef>
                <a:spcPts val="0"/>
              </a:spcBef>
            </a:pPr>
            <a:r>
              <a:rPr lang="en-GB" sz="1800" dirty="0"/>
              <a:t>	</a:t>
            </a:r>
            <a:r>
              <a:rPr lang="en-GB" sz="1800" u="sng" dirty="0">
                <a:solidFill>
                  <a:schemeClr val="accent6">
                    <a:lumMod val="50000"/>
                  </a:schemeClr>
                </a:solidFill>
              </a:rPr>
              <a:t>B. independent variable; dependent variable; confounding variable </a:t>
            </a:r>
            <a:r>
              <a:rPr lang="en-GB" sz="1800" dirty="0"/>
              <a:t>	</a:t>
            </a:r>
          </a:p>
          <a:p>
            <a:pPr marL="0" lvl="0" indent="0">
              <a:spcBef>
                <a:spcPts val="0"/>
              </a:spcBef>
            </a:pPr>
            <a:r>
              <a:rPr lang="en-GB" sz="1800" dirty="0"/>
              <a:t>	C. dependent variable; independent variable; control variable </a:t>
            </a:r>
          </a:p>
          <a:p>
            <a:pPr marL="0" lvl="0" indent="0">
              <a:spcBef>
                <a:spcPts val="0"/>
              </a:spcBef>
            </a:pPr>
            <a:r>
              <a:rPr lang="en-GB" sz="1800" dirty="0"/>
              <a:t>	D. independent variable; dependent variable; control variable </a:t>
            </a:r>
          </a:p>
        </p:txBody>
      </p:sp>
      <p:sp>
        <p:nvSpPr>
          <p:cNvPr id="2" name="Google Shape;121;p5">
            <a:extLst>
              <a:ext uri="{FF2B5EF4-FFF2-40B4-BE49-F238E27FC236}">
                <a16:creationId xmlns:a16="http://schemas.microsoft.com/office/drawing/2014/main" id="{5A911099-DAC3-4302-715A-0D21A4492CD5}"/>
              </a:ext>
            </a:extLst>
          </p:cNvPr>
          <p:cNvSpPr txBox="1">
            <a:spLocks/>
          </p:cNvSpPr>
          <p:nvPr/>
        </p:nvSpPr>
        <p:spPr>
          <a:xfrm>
            <a:off x="860714" y="3894398"/>
            <a:ext cx="10470571" cy="2201602"/>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Typeface is the independent variable since the researcher wants to know the effects it has on the reading speed. They control which font the test subjects use.</a:t>
            </a:r>
          </a:p>
          <a:p>
            <a:pPr marL="0" indent="0">
              <a:spcBef>
                <a:spcPts val="0"/>
              </a:spcBef>
            </a:pPr>
            <a:r>
              <a:rPr lang="en-GB" sz="1800" dirty="0"/>
              <a:t>Reading speed is the dependent variable, since we are testing how it changes depending on the typeface. This variable is therefore dependent on which font the researcher chooses to show the test subjects.</a:t>
            </a:r>
          </a:p>
          <a:p>
            <a:pPr marL="0" indent="0">
              <a:spcBef>
                <a:spcPts val="0"/>
              </a:spcBef>
            </a:pPr>
            <a:r>
              <a:rPr lang="en-GB" sz="1800" dirty="0"/>
              <a:t>Font order is a confounding variable, since it could influence the results regardless of the typeface or the reading speed (for ex: it could cause habituation of the text and increase the reading speed the second time the subjects read it, no matter which font they’re using, making the second font always faster)</a:t>
            </a:r>
          </a:p>
        </p:txBody>
      </p:sp>
    </p:spTree>
    <p:extLst>
      <p:ext uri="{BB962C8B-B14F-4D97-AF65-F5344CB8AC3E}">
        <p14:creationId xmlns:p14="http://schemas.microsoft.com/office/powerpoint/2010/main" val="3967639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3A21373A-1E76-515F-F4CA-481C0989B852}"/>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9B9FA1DD-E86A-F926-6CC4-113234593C84}"/>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933DEC8D-C8CB-C36E-048F-7CD016B26BEB}"/>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11. A researcher is interested in whether Sorbitol causes cancer in humans. He carries out a well-controlled laboratory experiment in which he uses two identical groups of rats. The experimental group receives a large amount of Sorbitol every day, while the control group receives a placebo every day. The results show that there are significantly more cases of cancer in the experimental group than in the control group. The researcher's conclusion is that intake of Sorbitol causes cancer. This study has a </a:t>
            </a:r>
          </a:p>
          <a:p>
            <a:pPr marL="0" lvl="0" indent="0">
              <a:spcBef>
                <a:spcPts val="0"/>
              </a:spcBef>
            </a:pPr>
            <a:r>
              <a:rPr lang="en-GB" sz="1800" dirty="0"/>
              <a:t>	A. high internal validity and high external validity. </a:t>
            </a:r>
          </a:p>
          <a:p>
            <a:pPr marL="0" lvl="0" indent="0">
              <a:spcBef>
                <a:spcPts val="0"/>
              </a:spcBef>
            </a:pPr>
            <a:r>
              <a:rPr lang="en-GB" sz="1800" dirty="0"/>
              <a:t>	B. high internal validity and low external validity. </a:t>
            </a:r>
          </a:p>
          <a:p>
            <a:pPr marL="0" lvl="0" indent="0">
              <a:spcBef>
                <a:spcPts val="0"/>
              </a:spcBef>
            </a:pPr>
            <a:r>
              <a:rPr lang="en-GB" sz="1800" dirty="0"/>
              <a:t>	C. low internal validity and high external validity. </a:t>
            </a:r>
          </a:p>
          <a:p>
            <a:pPr marL="0" lvl="0" indent="0">
              <a:spcBef>
                <a:spcPts val="0"/>
              </a:spcBef>
            </a:pPr>
            <a:r>
              <a:rPr lang="en-GB" sz="1800" dirty="0"/>
              <a:t>	D. low internal validity and low external validity.</a:t>
            </a:r>
          </a:p>
        </p:txBody>
      </p:sp>
    </p:spTree>
    <p:extLst>
      <p:ext uri="{BB962C8B-B14F-4D97-AF65-F5344CB8AC3E}">
        <p14:creationId xmlns:p14="http://schemas.microsoft.com/office/powerpoint/2010/main" val="3394107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4708B1B5-6633-94FB-FC7E-EA35A58947B3}"/>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F761ED4D-23E3-62D9-C03D-946B6AA9E8DC}"/>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183B2A5E-6F46-02A0-CD23-DAD090031E63}"/>
              </a:ext>
            </a:extLst>
          </p:cNvPr>
          <p:cNvSpPr txBox="1">
            <a:spLocks noGrp="1"/>
          </p:cNvSpPr>
          <p:nvPr>
            <p:ph type="body" idx="1"/>
          </p:nvPr>
        </p:nvSpPr>
        <p:spPr>
          <a:xfrm>
            <a:off x="860715" y="1521312"/>
            <a:ext cx="10470571" cy="2609817"/>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11. A researcher is interested in whether Sorbitol causes cancer in humans. He carries out a well-controlled laboratory experiment in which he uses two identical groups of rats. The experimental group receives a large amount of Sorbitol every day, while the control group receives a placebo every day. The results show that there are significantly more cases of cancer in the experimental group than in the control group. The researcher's conclusion is that intake of Sorbitol causes cancer. This study has a </a:t>
            </a:r>
          </a:p>
          <a:p>
            <a:pPr marL="0" lvl="0" indent="0">
              <a:spcBef>
                <a:spcPts val="0"/>
              </a:spcBef>
            </a:pPr>
            <a:r>
              <a:rPr lang="en-GB" sz="1800" dirty="0"/>
              <a:t>	A. high internal validity and high external validity. </a:t>
            </a:r>
          </a:p>
          <a:p>
            <a:pPr marL="0" lvl="0" indent="0">
              <a:spcBef>
                <a:spcPts val="0"/>
              </a:spcBef>
            </a:pPr>
            <a:r>
              <a:rPr lang="en-GB" sz="1800" dirty="0"/>
              <a:t>	</a:t>
            </a:r>
            <a:r>
              <a:rPr lang="en-GB" sz="1800" u="sng" dirty="0">
                <a:solidFill>
                  <a:schemeClr val="accent6">
                    <a:lumMod val="50000"/>
                  </a:schemeClr>
                </a:solidFill>
              </a:rPr>
              <a:t>B. high internal validity and low external validity</a:t>
            </a:r>
            <a:r>
              <a:rPr lang="en-GB" sz="1800" dirty="0"/>
              <a:t>. </a:t>
            </a:r>
          </a:p>
          <a:p>
            <a:pPr marL="0" lvl="0" indent="0">
              <a:spcBef>
                <a:spcPts val="0"/>
              </a:spcBef>
            </a:pPr>
            <a:r>
              <a:rPr lang="en-GB" sz="1800" dirty="0"/>
              <a:t>	C. low internal validity and high external validity. </a:t>
            </a:r>
          </a:p>
          <a:p>
            <a:pPr marL="0" lvl="0" indent="0">
              <a:spcBef>
                <a:spcPts val="0"/>
              </a:spcBef>
            </a:pPr>
            <a:r>
              <a:rPr lang="en-GB" sz="1800" dirty="0"/>
              <a:t>	D. low internal validity and low external validity.</a:t>
            </a:r>
          </a:p>
        </p:txBody>
      </p:sp>
      <p:sp>
        <p:nvSpPr>
          <p:cNvPr id="2" name="Google Shape;121;p5">
            <a:extLst>
              <a:ext uri="{FF2B5EF4-FFF2-40B4-BE49-F238E27FC236}">
                <a16:creationId xmlns:a16="http://schemas.microsoft.com/office/drawing/2014/main" id="{7037E963-A3ED-D2F1-DE88-F5488EA74657}"/>
              </a:ext>
            </a:extLst>
          </p:cNvPr>
          <p:cNvSpPr txBox="1">
            <a:spLocks/>
          </p:cNvSpPr>
          <p:nvPr/>
        </p:nvSpPr>
        <p:spPr>
          <a:xfrm>
            <a:off x="860715" y="4307988"/>
            <a:ext cx="10470571" cy="201116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Internal validity </a:t>
            </a:r>
            <a:r>
              <a:rPr lang="en-GB" sz="1800" dirty="0">
                <a:sym typeface="Wingdings" panose="05000000000000000000" pitchFamily="2" charset="2"/>
              </a:rPr>
              <a:t> How significant the results are for the experiment. Here, the results show how, in these rats, Sorbitol caused cancer cells.</a:t>
            </a:r>
          </a:p>
          <a:p>
            <a:pPr marL="0" indent="0">
              <a:spcBef>
                <a:spcPts val="0"/>
              </a:spcBef>
            </a:pPr>
            <a:r>
              <a:rPr lang="en-GB" sz="1800" dirty="0">
                <a:sym typeface="Wingdings" panose="05000000000000000000" pitchFamily="2" charset="2"/>
              </a:rPr>
              <a:t>External validity  How well the experiment translates to environments outside of the experiment. Here, it worked with the rats, but we don’t know if it works for humans, other animals, or if it works with rats in a different setting, etc.</a:t>
            </a:r>
          </a:p>
          <a:p>
            <a:pPr marL="0" indent="0">
              <a:spcBef>
                <a:spcPts val="0"/>
              </a:spcBef>
            </a:pPr>
            <a:r>
              <a:rPr lang="en-GB" sz="1800" dirty="0">
                <a:sym typeface="Wingdings" panose="05000000000000000000" pitchFamily="2" charset="2"/>
              </a:rPr>
              <a:t>This experiment has high internal validity, since it works well within the controlled environment, but low external validity, since we don’t know how well it will translate to an outside environment</a:t>
            </a:r>
            <a:endParaRPr lang="en-GB" sz="1800" dirty="0"/>
          </a:p>
        </p:txBody>
      </p:sp>
    </p:spTree>
    <p:extLst>
      <p:ext uri="{BB962C8B-B14F-4D97-AF65-F5344CB8AC3E}">
        <p14:creationId xmlns:p14="http://schemas.microsoft.com/office/powerpoint/2010/main" val="3050381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76C8F5D0-5AD9-94A8-BA12-46737BB1CE19}"/>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CF1D8DB5-D867-DB49-7865-D75EEF22C7EB}"/>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8614DA39-2016-83CB-C5F0-17BA0217F417}"/>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12. A teacher was interested in the development of problem solving. He conducted an experiment with 100 five-year-olds and 100 seven-year-olds. Each participant had to solve a puzzle problem. Each participant was allowed to take as much time as necessary. 99% of the seven-year-olds and 98% of the five-year-olds were able to solve the puzzle. Since the difference between the two groups was not statistically significant, the teacher concluded that there is no difference between five and seven year olds in the ability to solve puzzle problems. The above results are probably caused by a </a:t>
            </a:r>
          </a:p>
          <a:p>
            <a:pPr marL="0" lvl="0" indent="0">
              <a:spcBef>
                <a:spcPts val="0"/>
              </a:spcBef>
            </a:pPr>
            <a:r>
              <a:rPr lang="en-GB" sz="1800" dirty="0"/>
              <a:t>	A. regression-to-average effect. </a:t>
            </a:r>
          </a:p>
          <a:p>
            <a:pPr marL="0" lvl="0" indent="0">
              <a:spcBef>
                <a:spcPts val="0"/>
              </a:spcBef>
            </a:pPr>
            <a:r>
              <a:rPr lang="en-GB" sz="1800" dirty="0"/>
              <a:t>	B. ceiling effect. </a:t>
            </a:r>
          </a:p>
          <a:p>
            <a:pPr marL="0" lvl="0" indent="0">
              <a:spcBef>
                <a:spcPts val="0"/>
              </a:spcBef>
            </a:pPr>
            <a:r>
              <a:rPr lang="en-GB" sz="1800" dirty="0"/>
              <a:t>	C. floor effect. </a:t>
            </a:r>
          </a:p>
          <a:p>
            <a:pPr marL="0" lvl="0" indent="0">
              <a:spcBef>
                <a:spcPts val="0"/>
              </a:spcBef>
            </a:pPr>
            <a:r>
              <a:rPr lang="en-GB" sz="1800" dirty="0"/>
              <a:t>	D. confounding variable.</a:t>
            </a:r>
          </a:p>
        </p:txBody>
      </p:sp>
    </p:spTree>
    <p:extLst>
      <p:ext uri="{BB962C8B-B14F-4D97-AF65-F5344CB8AC3E}">
        <p14:creationId xmlns:p14="http://schemas.microsoft.com/office/powerpoint/2010/main" val="1755096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1CB832AC-0216-AD4A-0705-00187F4F6BAC}"/>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DE22188B-33B8-4D6D-0686-283C0B533BBF}"/>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82CEE8D9-0879-BC78-459C-7B1D2DA955CD}"/>
              </a:ext>
            </a:extLst>
          </p:cNvPr>
          <p:cNvSpPr txBox="1">
            <a:spLocks noGrp="1"/>
          </p:cNvSpPr>
          <p:nvPr>
            <p:ph type="body" idx="1"/>
          </p:nvPr>
        </p:nvSpPr>
        <p:spPr>
          <a:xfrm>
            <a:off x="860715" y="1521312"/>
            <a:ext cx="10470571" cy="2658802"/>
          </a:xfrm>
          <a:prstGeom prst="rect">
            <a:avLst/>
          </a:prstGeom>
          <a:noFill/>
          <a:ln>
            <a:noFill/>
          </a:ln>
        </p:spPr>
        <p:txBody>
          <a:bodyPr spcFirstLastPara="1" wrap="square" lIns="91425" tIns="45700" rIns="91425" bIns="45700" anchor="t" anchorCtr="0">
            <a:normAutofit lnSpcReduction="10000"/>
          </a:bodyPr>
          <a:lstStyle/>
          <a:p>
            <a:pPr marL="0" lvl="0" indent="0">
              <a:spcBef>
                <a:spcPts val="0"/>
              </a:spcBef>
            </a:pPr>
            <a:r>
              <a:rPr lang="en-GB" sz="1800" dirty="0"/>
              <a:t>12. A teacher was interested in the development of problem solving. He conducted an experiment with 100 five-year-olds and 100 seven-year-olds. Each participant had to solve a puzzle problem. Each participant was allowed to take as much time as necessary. 99% of the seven-year-olds and 98% of the five-year-olds were able to solve the puzzle. Since the difference between the two groups was not statistically significant, the teacher concluded that there is no difference between five and seven year olds in the ability to solve puzzle problems. The above results are probably caused by a </a:t>
            </a:r>
          </a:p>
          <a:p>
            <a:pPr marL="0" lvl="0" indent="0">
              <a:spcBef>
                <a:spcPts val="0"/>
              </a:spcBef>
            </a:pPr>
            <a:r>
              <a:rPr lang="en-GB" sz="1800" dirty="0"/>
              <a:t>	A. regression-to-average effect. </a:t>
            </a:r>
          </a:p>
          <a:p>
            <a:pPr marL="0" lvl="0" indent="0">
              <a:spcBef>
                <a:spcPts val="0"/>
              </a:spcBef>
            </a:pPr>
            <a:r>
              <a:rPr lang="en-GB" sz="1800" dirty="0"/>
              <a:t>	</a:t>
            </a:r>
            <a:r>
              <a:rPr lang="en-GB" sz="1800" u="sng" dirty="0">
                <a:solidFill>
                  <a:schemeClr val="accent6">
                    <a:lumMod val="50000"/>
                  </a:schemeClr>
                </a:solidFill>
              </a:rPr>
              <a:t>B. ceiling effect. </a:t>
            </a:r>
          </a:p>
          <a:p>
            <a:pPr marL="0" lvl="0" indent="0">
              <a:spcBef>
                <a:spcPts val="0"/>
              </a:spcBef>
            </a:pPr>
            <a:r>
              <a:rPr lang="en-GB" sz="1800" dirty="0"/>
              <a:t>	C. floor effect. </a:t>
            </a:r>
          </a:p>
          <a:p>
            <a:pPr marL="0" lvl="0" indent="0">
              <a:spcBef>
                <a:spcPts val="0"/>
              </a:spcBef>
            </a:pPr>
            <a:r>
              <a:rPr lang="en-GB" sz="1800" dirty="0"/>
              <a:t>	D. confounding variable.</a:t>
            </a:r>
          </a:p>
        </p:txBody>
      </p:sp>
      <p:sp>
        <p:nvSpPr>
          <p:cNvPr id="2" name="Google Shape;121;p5">
            <a:extLst>
              <a:ext uri="{FF2B5EF4-FFF2-40B4-BE49-F238E27FC236}">
                <a16:creationId xmlns:a16="http://schemas.microsoft.com/office/drawing/2014/main" id="{87578781-627F-B06F-B6FE-2A7770A9D941}"/>
              </a:ext>
            </a:extLst>
          </p:cNvPr>
          <p:cNvSpPr txBox="1">
            <a:spLocks/>
          </p:cNvSpPr>
          <p:nvPr/>
        </p:nvSpPr>
        <p:spPr>
          <a:xfrm>
            <a:off x="637558" y="4343400"/>
            <a:ext cx="10470571" cy="173083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The ceiling effect happens when the test or measurement is too easy, so everyone scores very high.</a:t>
            </a:r>
            <a:br>
              <a:rPr lang="en-GB" sz="1800" dirty="0"/>
            </a:br>
            <a:r>
              <a:rPr lang="en-GB" sz="1800" dirty="0"/>
              <a:t>Here, both the seven year olds and the five year olds have very similar scores (98% and 99%), these scores are so high that it suggests that the puzzle might be too easy, making the differences between their ability to solve puzzles not show.</a:t>
            </a:r>
          </a:p>
        </p:txBody>
      </p:sp>
    </p:spTree>
    <p:extLst>
      <p:ext uri="{BB962C8B-B14F-4D97-AF65-F5344CB8AC3E}">
        <p14:creationId xmlns:p14="http://schemas.microsoft.com/office/powerpoint/2010/main" val="2759551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2A79780E-FA8A-0D2F-E0B6-4C74DED33881}"/>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8D4579D7-6427-B5B6-B54F-6585BD74116D}"/>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Question</a:t>
            </a:r>
            <a:endParaRPr dirty="0"/>
          </a:p>
        </p:txBody>
      </p:sp>
      <p:sp>
        <p:nvSpPr>
          <p:cNvPr id="121" name="Google Shape;121;p5">
            <a:extLst>
              <a:ext uri="{FF2B5EF4-FFF2-40B4-BE49-F238E27FC236}">
                <a16:creationId xmlns:a16="http://schemas.microsoft.com/office/drawing/2014/main" id="{BAD43C86-0DCB-D9C7-BEAE-6829AA5DE779}"/>
              </a:ext>
            </a:extLst>
          </p:cNvPr>
          <p:cNvSpPr txBox="1">
            <a:spLocks noGrp="1"/>
          </p:cNvSpPr>
          <p:nvPr>
            <p:ph type="body" idx="1"/>
          </p:nvPr>
        </p:nvSpPr>
        <p:spPr>
          <a:xfrm>
            <a:off x="860715" y="1521312"/>
            <a:ext cx="10470571" cy="3050688"/>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13. When using a non-equivalent control group, it is important to </a:t>
            </a:r>
          </a:p>
          <a:p>
            <a:pPr marL="0" lvl="0" indent="0">
              <a:spcBef>
                <a:spcPts val="0"/>
              </a:spcBef>
            </a:pPr>
            <a:r>
              <a:rPr lang="en-GB" sz="1800" dirty="0"/>
              <a:t>	A. draw both groups randomly from the population. </a:t>
            </a:r>
          </a:p>
          <a:p>
            <a:pPr marL="0" lvl="0" indent="0">
              <a:spcBef>
                <a:spcPts val="0"/>
              </a:spcBef>
            </a:pPr>
            <a:r>
              <a:rPr lang="en-GB" sz="1800" dirty="0"/>
              <a:t>	B. match both groups with respect to possible contaminating variables. </a:t>
            </a:r>
          </a:p>
          <a:p>
            <a:pPr marL="0" lvl="0" indent="0">
              <a:spcBef>
                <a:spcPts val="0"/>
              </a:spcBef>
            </a:pPr>
            <a:r>
              <a:rPr lang="en-GB" sz="1800" dirty="0"/>
              <a:t>	C. assign the subjects randomly to the groups. </a:t>
            </a:r>
          </a:p>
          <a:p>
            <a:pPr marL="0" lvl="0" indent="0">
              <a:spcBef>
                <a:spcPts val="0"/>
              </a:spcBef>
            </a:pPr>
            <a:r>
              <a:rPr lang="en-GB" sz="1800" dirty="0"/>
              <a:t>	D. All options are correct.</a:t>
            </a:r>
          </a:p>
        </p:txBody>
      </p:sp>
    </p:spTree>
    <p:extLst>
      <p:ext uri="{BB962C8B-B14F-4D97-AF65-F5344CB8AC3E}">
        <p14:creationId xmlns:p14="http://schemas.microsoft.com/office/powerpoint/2010/main" val="42444138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1090F043-DBCC-4E9B-69C7-01299657091C}"/>
            </a:ext>
          </a:extLst>
        </p:cNvPr>
        <p:cNvGrpSpPr/>
        <p:nvPr/>
      </p:nvGrpSpPr>
      <p:grpSpPr>
        <a:xfrm>
          <a:off x="0" y="0"/>
          <a:ext cx="0" cy="0"/>
          <a:chOff x="0" y="0"/>
          <a:chExt cx="0" cy="0"/>
        </a:xfrm>
      </p:grpSpPr>
      <p:sp>
        <p:nvSpPr>
          <p:cNvPr id="120" name="Google Shape;120;p5">
            <a:extLst>
              <a:ext uri="{FF2B5EF4-FFF2-40B4-BE49-F238E27FC236}">
                <a16:creationId xmlns:a16="http://schemas.microsoft.com/office/drawing/2014/main" id="{0B681203-B8FA-F3A0-2600-F7D81A7EDE56}"/>
              </a:ext>
            </a:extLst>
          </p:cNvPr>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lvl="0"/>
            <a:r>
              <a:rPr lang="en-GB" dirty="0"/>
              <a:t>Answer</a:t>
            </a:r>
            <a:endParaRPr dirty="0"/>
          </a:p>
        </p:txBody>
      </p:sp>
      <p:sp>
        <p:nvSpPr>
          <p:cNvPr id="121" name="Google Shape;121;p5">
            <a:extLst>
              <a:ext uri="{FF2B5EF4-FFF2-40B4-BE49-F238E27FC236}">
                <a16:creationId xmlns:a16="http://schemas.microsoft.com/office/drawing/2014/main" id="{8AE9491F-50CB-1252-F862-029B03F74CEE}"/>
              </a:ext>
            </a:extLst>
          </p:cNvPr>
          <p:cNvSpPr txBox="1">
            <a:spLocks noGrp="1"/>
          </p:cNvSpPr>
          <p:nvPr>
            <p:ph type="body" idx="1"/>
          </p:nvPr>
        </p:nvSpPr>
        <p:spPr>
          <a:xfrm>
            <a:off x="860715" y="1521312"/>
            <a:ext cx="10470571" cy="1744402"/>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GB" sz="1800" dirty="0"/>
              <a:t>13. When using a non-equivalent control group, it is important to </a:t>
            </a:r>
          </a:p>
          <a:p>
            <a:pPr marL="0" lvl="0" indent="0">
              <a:spcBef>
                <a:spcPts val="0"/>
              </a:spcBef>
            </a:pPr>
            <a:r>
              <a:rPr lang="en-GB" sz="1800" dirty="0"/>
              <a:t>	A. draw both groups randomly from the population. </a:t>
            </a:r>
          </a:p>
          <a:p>
            <a:pPr marL="0" lvl="0" indent="0">
              <a:spcBef>
                <a:spcPts val="0"/>
              </a:spcBef>
            </a:pPr>
            <a:r>
              <a:rPr lang="en-GB" sz="1800" dirty="0"/>
              <a:t>	</a:t>
            </a:r>
            <a:r>
              <a:rPr lang="en-GB" sz="1800" u="sng" dirty="0">
                <a:solidFill>
                  <a:schemeClr val="accent6">
                    <a:lumMod val="50000"/>
                  </a:schemeClr>
                </a:solidFill>
              </a:rPr>
              <a:t>B. match both groups with respect to possible contaminating variables. </a:t>
            </a:r>
          </a:p>
          <a:p>
            <a:pPr marL="0" lvl="0" indent="0">
              <a:spcBef>
                <a:spcPts val="0"/>
              </a:spcBef>
            </a:pPr>
            <a:r>
              <a:rPr lang="en-GB" sz="1800" dirty="0"/>
              <a:t>	C. assign the subjects randomly to the groups. </a:t>
            </a:r>
          </a:p>
          <a:p>
            <a:pPr marL="0" lvl="0" indent="0">
              <a:spcBef>
                <a:spcPts val="0"/>
              </a:spcBef>
            </a:pPr>
            <a:r>
              <a:rPr lang="en-GB" sz="1800" dirty="0"/>
              <a:t>	D. All options are correct.</a:t>
            </a:r>
          </a:p>
        </p:txBody>
      </p:sp>
      <p:sp>
        <p:nvSpPr>
          <p:cNvPr id="2" name="Google Shape;121;p5">
            <a:extLst>
              <a:ext uri="{FF2B5EF4-FFF2-40B4-BE49-F238E27FC236}">
                <a16:creationId xmlns:a16="http://schemas.microsoft.com/office/drawing/2014/main" id="{118C3235-21BF-CED5-B6C5-D6F42E599E0C}"/>
              </a:ext>
            </a:extLst>
          </p:cNvPr>
          <p:cNvSpPr txBox="1">
            <a:spLocks/>
          </p:cNvSpPr>
          <p:nvPr/>
        </p:nvSpPr>
        <p:spPr>
          <a:xfrm>
            <a:off x="670215" y="3592287"/>
            <a:ext cx="7216485" cy="174440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Helvetica Neue Light"/>
                <a:ea typeface="Helvetica Neue Light"/>
                <a:cs typeface="Helvetica Neue Light"/>
                <a:sym typeface="Helvetica Neue Light"/>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pPr>
            <a:r>
              <a:rPr lang="en-GB" sz="1800" dirty="0"/>
              <a:t>We aim for both groups to be balanced, since the control group is not equivalent, it is best to match the groups based on these variables that could affect the experiment.</a:t>
            </a:r>
          </a:p>
        </p:txBody>
      </p:sp>
      <p:pic>
        <p:nvPicPr>
          <p:cNvPr id="4" name="Picture 3">
            <a:extLst>
              <a:ext uri="{FF2B5EF4-FFF2-40B4-BE49-F238E27FC236}">
                <a16:creationId xmlns:a16="http://schemas.microsoft.com/office/drawing/2014/main" id="{432B5823-BB4C-CC79-F933-82A761BBC7E8}"/>
              </a:ext>
            </a:extLst>
          </p:cNvPr>
          <p:cNvPicPr>
            <a:picLocks noChangeAspect="1"/>
          </p:cNvPicPr>
          <p:nvPr/>
        </p:nvPicPr>
        <p:blipFill>
          <a:blip r:embed="rId3"/>
          <a:stretch>
            <a:fillRect/>
          </a:stretch>
        </p:blipFill>
        <p:spPr>
          <a:xfrm>
            <a:off x="7886700" y="2431863"/>
            <a:ext cx="3712538" cy="4213866"/>
          </a:xfrm>
          <a:prstGeom prst="rect">
            <a:avLst/>
          </a:prstGeom>
        </p:spPr>
      </p:pic>
    </p:spTree>
    <p:extLst>
      <p:ext uri="{BB962C8B-B14F-4D97-AF65-F5344CB8AC3E}">
        <p14:creationId xmlns:p14="http://schemas.microsoft.com/office/powerpoint/2010/main" val="488804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AF79B747-1D32-DA13-1C62-1B01F2D7EFD1}"/>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49D7796A-E9D7-3B3B-3357-B67533EE8C77}"/>
              </a:ext>
            </a:extLst>
          </p:cNvPr>
          <p:cNvSpPr txBox="1">
            <a:spLocks noGrp="1"/>
          </p:cNvSpPr>
          <p:nvPr>
            <p:ph type="body" idx="1"/>
          </p:nvPr>
        </p:nvSpPr>
        <p:spPr>
          <a:xfrm>
            <a:off x="1652066" y="3117908"/>
            <a:ext cx="8887868" cy="62218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None/>
            </a:pPr>
            <a:r>
              <a:rPr lang="en-GB" sz="8000" dirty="0"/>
              <a:t>Any Questions?</a:t>
            </a:r>
            <a:endParaRPr sz="8000" dirty="0"/>
          </a:p>
        </p:txBody>
      </p:sp>
    </p:spTree>
    <p:extLst>
      <p:ext uri="{BB962C8B-B14F-4D97-AF65-F5344CB8AC3E}">
        <p14:creationId xmlns:p14="http://schemas.microsoft.com/office/powerpoint/2010/main" val="3472417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8"/>
          <p:cNvSpPr txBox="1">
            <a:spLocks noGrp="1"/>
          </p:cNvSpPr>
          <p:nvPr>
            <p:ph type="title"/>
          </p:nvPr>
        </p:nvSpPr>
        <p:spPr>
          <a:xfrm>
            <a:off x="1388918" y="85297"/>
            <a:ext cx="9414164" cy="7099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000"/>
              <a:buFont typeface="Helvetica Neue Light"/>
              <a:buNone/>
            </a:pPr>
            <a:r>
              <a:rPr lang="en-NL" b="1"/>
              <a:t>Free </a:t>
            </a:r>
            <a:r>
              <a:rPr lang="en-NL">
                <a:latin typeface="Helvetica Neue Light"/>
                <a:ea typeface="Helvetica Neue Light"/>
                <a:cs typeface="Helvetica Neue Light"/>
                <a:sym typeface="Helvetica Neue Light"/>
              </a:rPr>
              <a:t>vs</a:t>
            </a:r>
            <a:r>
              <a:rPr lang="en-NL" b="1"/>
              <a:t> full</a:t>
            </a:r>
            <a:endParaRPr/>
          </a:p>
        </p:txBody>
      </p:sp>
    </p:spTree>
  </p:cSld>
  <p:clrMapOvr>
    <a:masterClrMapping/>
  </p:clrMapOvr>
</p:sld>
</file>

<file path=ppt/theme/theme1.xml><?xml version="1.0" encoding="utf-8"?>
<a:theme xmlns:a="http://schemas.openxmlformats.org/drawingml/2006/main" name="Voorpagin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2910</Words>
  <Application>Microsoft Office PowerPoint</Application>
  <PresentationFormat>Widescreen</PresentationFormat>
  <Paragraphs>203</Paragraphs>
  <Slides>36</Slides>
  <Notes>36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36</vt:i4>
      </vt:variant>
    </vt:vector>
  </HeadingPairs>
  <TitlesOfParts>
    <vt:vector size="44" baseType="lpstr">
      <vt:lpstr>Helvetica Neue</vt:lpstr>
      <vt:lpstr>Calibri</vt:lpstr>
      <vt:lpstr>Wingdings</vt:lpstr>
      <vt:lpstr>Helvetica Neue Light</vt:lpstr>
      <vt:lpstr>Arial</vt:lpstr>
      <vt:lpstr>Voorpagina</vt:lpstr>
      <vt:lpstr>Custom Design</vt:lpstr>
      <vt:lpstr>1_Custom Design</vt:lpstr>
      <vt:lpstr>Intro to Psychology – Q&amp;A and practice exam</vt:lpstr>
      <vt:lpstr>Welcome!</vt:lpstr>
      <vt:lpstr>Structure</vt:lpstr>
      <vt:lpstr>WhatsApp</vt:lpstr>
      <vt:lpstr>How is the exam going to be</vt:lpstr>
      <vt:lpstr>What am I going to do today</vt:lpstr>
      <vt:lpstr>PowerPoint Presentation</vt:lpstr>
      <vt:lpstr>PowerPoint Presentation</vt:lpstr>
      <vt:lpstr>Question</vt:lpstr>
      <vt:lpstr>Answer</vt:lpstr>
      <vt:lpstr>Question</vt:lpstr>
      <vt:lpstr>Answer</vt:lpstr>
      <vt:lpstr>Question</vt:lpstr>
      <vt:lpstr>Answer</vt:lpstr>
      <vt:lpstr>Question</vt:lpstr>
      <vt:lpstr>Answer</vt:lpstr>
      <vt:lpstr>Question</vt:lpstr>
      <vt:lpstr>Answer</vt:lpstr>
      <vt:lpstr>Question</vt:lpstr>
      <vt:lpstr>Answer</vt:lpstr>
      <vt:lpstr>Question</vt:lpstr>
      <vt:lpstr>Answer</vt:lpstr>
      <vt:lpstr>Question</vt:lpstr>
      <vt:lpstr>Answer</vt:lpstr>
      <vt:lpstr>Question</vt:lpstr>
      <vt:lpstr>Answer</vt:lpstr>
      <vt:lpstr>Question</vt:lpstr>
      <vt:lpstr>Answer</vt:lpstr>
      <vt:lpstr>Question</vt:lpstr>
      <vt:lpstr>Answer</vt:lpstr>
      <vt:lpstr>Question</vt:lpstr>
      <vt:lpstr>Answer</vt:lpstr>
      <vt:lpstr>Question</vt:lpstr>
      <vt:lpstr>Answer</vt:lpstr>
      <vt:lpstr>PowerPoint Presentation</vt:lpstr>
      <vt:lpstr>Free vs full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Athena Studies</dc:creator>
  <cp:lastModifiedBy>Rugeroni, L. (Lucia)</cp:lastModifiedBy>
  <cp:revision>6</cp:revision>
  <dcterms:created xsi:type="dcterms:W3CDTF">2021-06-21T11:50:45Z</dcterms:created>
  <dcterms:modified xsi:type="dcterms:W3CDTF">2025-10-20T08:46:27Z</dcterms:modified>
</cp:coreProperties>
</file>