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handoutMasterIdLst>
    <p:handoutMasterId r:id="rId27"/>
  </p:handoutMasterIdLst>
  <p:sldIdLst>
    <p:sldId id="256" r:id="rId2"/>
    <p:sldId id="260" r:id="rId3"/>
    <p:sldId id="258" r:id="rId4"/>
    <p:sldId id="302" r:id="rId5"/>
    <p:sldId id="270" r:id="rId6"/>
    <p:sldId id="268" r:id="rId7"/>
    <p:sldId id="271" r:id="rId8"/>
    <p:sldId id="257" r:id="rId9"/>
    <p:sldId id="269" r:id="rId10"/>
    <p:sldId id="282" r:id="rId11"/>
    <p:sldId id="272" r:id="rId12"/>
    <p:sldId id="276" r:id="rId13"/>
    <p:sldId id="280" r:id="rId14"/>
    <p:sldId id="277" r:id="rId15"/>
    <p:sldId id="281" r:id="rId16"/>
    <p:sldId id="278" r:id="rId17"/>
    <p:sldId id="259" r:id="rId18"/>
    <p:sldId id="297" r:id="rId19"/>
    <p:sldId id="298" r:id="rId20"/>
    <p:sldId id="264" r:id="rId21"/>
    <p:sldId id="299" r:id="rId22"/>
    <p:sldId id="284" r:id="rId23"/>
    <p:sldId id="301" r:id="rId24"/>
    <p:sldId id="295"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72" autoAdjust="0"/>
    <p:restoredTop sz="80769" autoAdjust="0"/>
  </p:normalViewPr>
  <p:slideViewPr>
    <p:cSldViewPr>
      <p:cViewPr varScale="1">
        <p:scale>
          <a:sx n="62" d="100"/>
          <a:sy n="62" d="100"/>
        </p:scale>
        <p:origin x="1424" y="192"/>
      </p:cViewPr>
      <p:guideLst>
        <p:guide orient="horz" pos="2160"/>
        <p:guide pos="2880"/>
      </p:guideLst>
    </p:cSldViewPr>
  </p:slideViewPr>
  <p:outlineViewPr>
    <p:cViewPr>
      <p:scale>
        <a:sx n="33" d="100"/>
        <a:sy n="33" d="100"/>
      </p:scale>
      <p:origin x="0" y="-564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544753454360251"/>
          <c:y val="5.2483370970151218E-2"/>
          <c:w val="0.55888328263151787"/>
          <c:h val="0.84441928000913824"/>
        </c:manualLayout>
      </c:layout>
      <c:lineChart>
        <c:grouping val="standard"/>
        <c:varyColors val="0"/>
        <c:ser>
          <c:idx val="0"/>
          <c:order val="0"/>
          <c:tx>
            <c:strRef>
              <c:f>Blad1!$B$1</c:f>
              <c:strCache>
                <c:ptCount val="1"/>
                <c:pt idx="0">
                  <c:v>Control</c:v>
                </c:pt>
              </c:strCache>
            </c:strRef>
          </c:tx>
          <c:marker>
            <c:symbol val="none"/>
          </c:marker>
          <c:cat>
            <c:strRef>
              <c:f>Blad1!$A$2:$A$3</c:f>
              <c:strCache>
                <c:ptCount val="2"/>
                <c:pt idx="0">
                  <c:v>voor meting</c:v>
                </c:pt>
                <c:pt idx="1">
                  <c:v>na meting</c:v>
                </c:pt>
              </c:strCache>
            </c:strRef>
          </c:cat>
          <c:val>
            <c:numRef>
              <c:f>Blad1!$B$2:$B$3</c:f>
              <c:numCache>
                <c:formatCode>General</c:formatCode>
                <c:ptCount val="2"/>
                <c:pt idx="0">
                  <c:v>101</c:v>
                </c:pt>
                <c:pt idx="1">
                  <c:v>100</c:v>
                </c:pt>
              </c:numCache>
            </c:numRef>
          </c:val>
          <c:smooth val="0"/>
          <c:extLst>
            <c:ext xmlns:c16="http://schemas.microsoft.com/office/drawing/2014/chart" uri="{C3380CC4-5D6E-409C-BE32-E72D297353CC}">
              <c16:uniqueId val="{00000000-673A-744E-98E1-D54C9CA5B289}"/>
            </c:ext>
          </c:extLst>
        </c:ser>
        <c:ser>
          <c:idx val="1"/>
          <c:order val="1"/>
          <c:tx>
            <c:strRef>
              <c:f>Blad1!$C$1</c:f>
              <c:strCache>
                <c:ptCount val="1"/>
                <c:pt idx="0">
                  <c:v>Experimental</c:v>
                </c:pt>
              </c:strCache>
            </c:strRef>
          </c:tx>
          <c:marker>
            <c:symbol val="none"/>
          </c:marker>
          <c:cat>
            <c:strRef>
              <c:f>Blad1!$A$2:$A$3</c:f>
              <c:strCache>
                <c:ptCount val="2"/>
                <c:pt idx="0">
                  <c:v>voor meting</c:v>
                </c:pt>
                <c:pt idx="1">
                  <c:v>na meting</c:v>
                </c:pt>
              </c:strCache>
            </c:strRef>
          </c:cat>
          <c:val>
            <c:numRef>
              <c:f>Blad1!$C$2:$C$3</c:f>
              <c:numCache>
                <c:formatCode>General</c:formatCode>
                <c:ptCount val="2"/>
                <c:pt idx="0">
                  <c:v>99</c:v>
                </c:pt>
                <c:pt idx="1">
                  <c:v>25</c:v>
                </c:pt>
              </c:numCache>
            </c:numRef>
          </c:val>
          <c:smooth val="0"/>
          <c:extLst>
            <c:ext xmlns:c16="http://schemas.microsoft.com/office/drawing/2014/chart" uri="{C3380CC4-5D6E-409C-BE32-E72D297353CC}">
              <c16:uniqueId val="{00000001-673A-744E-98E1-D54C9CA5B289}"/>
            </c:ext>
          </c:extLst>
        </c:ser>
        <c:dLbls>
          <c:showLegendKey val="0"/>
          <c:showVal val="0"/>
          <c:showCatName val="0"/>
          <c:showSerName val="0"/>
          <c:showPercent val="0"/>
          <c:showBubbleSize val="0"/>
        </c:dLbls>
        <c:smooth val="0"/>
        <c:axId val="298269696"/>
        <c:axId val="267331840"/>
      </c:lineChart>
      <c:catAx>
        <c:axId val="298269696"/>
        <c:scaling>
          <c:orientation val="minMax"/>
        </c:scaling>
        <c:delete val="1"/>
        <c:axPos val="b"/>
        <c:numFmt formatCode="General" sourceLinked="0"/>
        <c:majorTickMark val="out"/>
        <c:minorTickMark val="none"/>
        <c:tickLblPos val="nextTo"/>
        <c:crossAx val="267331840"/>
        <c:crosses val="autoZero"/>
        <c:auto val="1"/>
        <c:lblAlgn val="ctr"/>
        <c:lblOffset val="100"/>
        <c:noMultiLvlLbl val="0"/>
      </c:catAx>
      <c:valAx>
        <c:axId val="267331840"/>
        <c:scaling>
          <c:orientation val="minMax"/>
        </c:scaling>
        <c:delete val="0"/>
        <c:axPos val="l"/>
        <c:majorGridlines/>
        <c:numFmt formatCode="General" sourceLinked="1"/>
        <c:majorTickMark val="out"/>
        <c:minorTickMark val="none"/>
        <c:tickLblPos val="nextTo"/>
        <c:txPr>
          <a:bodyPr/>
          <a:lstStyle/>
          <a:p>
            <a:pPr>
              <a:defRPr lang="en-US"/>
            </a:pPr>
            <a:endParaRPr lang="en-US"/>
          </a:p>
        </c:txPr>
        <c:crossAx val="298269696"/>
        <c:crosses val="autoZero"/>
        <c:crossBetween val="between"/>
      </c:valAx>
    </c:plotArea>
    <c:legend>
      <c:legendPos val="r"/>
      <c:overlay val="0"/>
      <c:txPr>
        <a:bodyPr/>
        <a:lstStyle/>
        <a:p>
          <a:pPr>
            <a:defRPr lang="en-US"/>
          </a:pPr>
          <a:endParaRPr lang="en-US"/>
        </a:p>
      </c:txPr>
    </c:legend>
    <c:plotVisOnly val="1"/>
    <c:dispBlanksAs val="gap"/>
    <c:showDLblsOverMax val="0"/>
  </c:chart>
  <c:txPr>
    <a:bodyPr/>
    <a:lstStyle/>
    <a:p>
      <a:pPr>
        <a:defRPr sz="1800"/>
      </a:pPr>
      <a:endParaRPr lang="en-US"/>
    </a:p>
  </c:txPr>
  <c:externalData r:id="rId1">
    <c:autoUpdate val="0"/>
  </c:externalData>
  <c:userShapes r:id="rId2"/>
</c:chartSpace>
</file>

<file path=ppt/diagrams/_rels/data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iagrams/_rels/drawing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BCFE54-BFD2-4240-87B6-8F2065D454B9}" type="doc">
      <dgm:prSet loTypeId="urn:microsoft.com/office/officeart/2005/8/layout/arrow2" loCatId="process" qsTypeId="urn:microsoft.com/office/officeart/2005/8/quickstyle/simple1" qsCatId="simple" csTypeId="urn:microsoft.com/office/officeart/2005/8/colors/accent1_2" csCatId="accent1" phldr="1"/>
      <dgm:spPr/>
    </dgm:pt>
    <dgm:pt modelId="{0DBFB6F9-B16A-498F-A73A-1CBC4FA19505}">
      <dgm:prSet phldrT="[Text]"/>
      <dgm:spPr/>
      <dgm:t>
        <a:bodyPr/>
        <a:lstStyle/>
        <a:p>
          <a:r>
            <a:rPr lang="en-US" dirty="0"/>
            <a:t>a</a:t>
          </a:r>
        </a:p>
      </dgm:t>
    </dgm:pt>
    <dgm:pt modelId="{2F7850C8-8025-41F1-8F2F-8B5279A0BD5B}" type="parTrans" cxnId="{FE607E2E-CF85-45FD-856C-831A1E0C4F29}">
      <dgm:prSet/>
      <dgm:spPr/>
      <dgm:t>
        <a:bodyPr/>
        <a:lstStyle/>
        <a:p>
          <a:endParaRPr lang="en-US"/>
        </a:p>
      </dgm:t>
    </dgm:pt>
    <dgm:pt modelId="{2A7DA280-B5B2-4576-957D-1D4951C9BC58}" type="sibTrans" cxnId="{FE607E2E-CF85-45FD-856C-831A1E0C4F29}">
      <dgm:prSet/>
      <dgm:spPr/>
      <dgm:t>
        <a:bodyPr/>
        <a:lstStyle/>
        <a:p>
          <a:endParaRPr lang="en-US"/>
        </a:p>
      </dgm:t>
    </dgm:pt>
    <dgm:pt modelId="{0A922CB5-61B5-4878-8E4A-0BD8D4AA19F0}">
      <dgm:prSet phldrT="[Text]"/>
      <dgm:spPr/>
      <dgm:t>
        <a:bodyPr/>
        <a:lstStyle/>
        <a:p>
          <a:r>
            <a:rPr lang="en-US" dirty="0"/>
            <a:t>b</a:t>
          </a:r>
        </a:p>
      </dgm:t>
    </dgm:pt>
    <dgm:pt modelId="{25FFA065-BD17-4985-A74A-2186BCEF5961}" type="parTrans" cxnId="{43F080C8-96B4-47DC-A4D1-F345CF244660}">
      <dgm:prSet/>
      <dgm:spPr/>
      <dgm:t>
        <a:bodyPr/>
        <a:lstStyle/>
        <a:p>
          <a:endParaRPr lang="en-US"/>
        </a:p>
      </dgm:t>
    </dgm:pt>
    <dgm:pt modelId="{660891BA-48AD-4543-9B0E-512FBB009E30}" type="sibTrans" cxnId="{43F080C8-96B4-47DC-A4D1-F345CF244660}">
      <dgm:prSet/>
      <dgm:spPr/>
      <dgm:t>
        <a:bodyPr/>
        <a:lstStyle/>
        <a:p>
          <a:endParaRPr lang="en-US"/>
        </a:p>
      </dgm:t>
    </dgm:pt>
    <dgm:pt modelId="{3B3D6FBE-4E73-4A9D-BCD8-3DA8A775A1ED}">
      <dgm:prSet phldrT="[Text]"/>
      <dgm:spPr/>
      <dgm:t>
        <a:bodyPr/>
        <a:lstStyle/>
        <a:p>
          <a:r>
            <a:rPr lang="en-US" dirty="0"/>
            <a:t>c</a:t>
          </a:r>
        </a:p>
      </dgm:t>
    </dgm:pt>
    <dgm:pt modelId="{DF9E7087-19BD-4545-9AFE-AE72C7325F2A}" type="parTrans" cxnId="{536E24D0-AC66-40BB-967B-3FE58CCA8C8C}">
      <dgm:prSet/>
      <dgm:spPr/>
      <dgm:t>
        <a:bodyPr/>
        <a:lstStyle/>
        <a:p>
          <a:endParaRPr lang="en-US"/>
        </a:p>
      </dgm:t>
    </dgm:pt>
    <dgm:pt modelId="{905D3266-4CC7-440C-8207-8473247AA44F}" type="sibTrans" cxnId="{536E24D0-AC66-40BB-967B-3FE58CCA8C8C}">
      <dgm:prSet/>
      <dgm:spPr/>
      <dgm:t>
        <a:bodyPr/>
        <a:lstStyle/>
        <a:p>
          <a:endParaRPr lang="en-US"/>
        </a:p>
      </dgm:t>
    </dgm:pt>
    <dgm:pt modelId="{7ED8414D-4608-4BCD-84D0-96A81B243C1D}" type="pres">
      <dgm:prSet presAssocID="{3CBCFE54-BFD2-4240-87B6-8F2065D454B9}" presName="arrowDiagram" presStyleCnt="0">
        <dgm:presLayoutVars>
          <dgm:chMax val="5"/>
          <dgm:dir/>
          <dgm:resizeHandles val="exact"/>
        </dgm:presLayoutVars>
      </dgm:prSet>
      <dgm:spPr/>
    </dgm:pt>
    <dgm:pt modelId="{80AF8CCA-1627-4CD2-8308-BB129A50B5F5}" type="pres">
      <dgm:prSet presAssocID="{3CBCFE54-BFD2-4240-87B6-8F2065D454B9}" presName="arrow" presStyleLbl="bgShp" presStyleIdx="0" presStyleCnt="1" custLinFactNeighborX="29032" custLinFactNeighborY="-53606"/>
      <dgm:spPr/>
    </dgm:pt>
    <dgm:pt modelId="{D40406BE-D06C-4DAF-A367-0B4CC14ED158}" type="pres">
      <dgm:prSet presAssocID="{3CBCFE54-BFD2-4240-87B6-8F2065D454B9}" presName="arrowDiagram3" presStyleCnt="0"/>
      <dgm:spPr/>
    </dgm:pt>
    <dgm:pt modelId="{AF005187-9B45-408C-8B1F-218C63A1C112}" type="pres">
      <dgm:prSet presAssocID="{0DBFB6F9-B16A-498F-A73A-1CBC4FA19505}" presName="bullet3a" presStyleLbl="node1" presStyleIdx="0" presStyleCnt="3"/>
      <dgm:spPr/>
    </dgm:pt>
    <dgm:pt modelId="{60D9609F-6415-43D1-84DF-036288329EFE}" type="pres">
      <dgm:prSet presAssocID="{0DBFB6F9-B16A-498F-A73A-1CBC4FA19505}" presName="textBox3a" presStyleLbl="revTx" presStyleIdx="0" presStyleCnt="3">
        <dgm:presLayoutVars>
          <dgm:bulletEnabled val="1"/>
        </dgm:presLayoutVars>
      </dgm:prSet>
      <dgm:spPr/>
    </dgm:pt>
    <dgm:pt modelId="{84DA5827-35C6-4C22-AFD0-C3607DBEFE53}" type="pres">
      <dgm:prSet presAssocID="{0A922CB5-61B5-4878-8E4A-0BD8D4AA19F0}" presName="bullet3b" presStyleLbl="node1" presStyleIdx="1" presStyleCnt="3"/>
      <dgm:spPr/>
    </dgm:pt>
    <dgm:pt modelId="{CDBC7187-213D-4BD3-BAD5-F3EEE6AB6993}" type="pres">
      <dgm:prSet presAssocID="{0A922CB5-61B5-4878-8E4A-0BD8D4AA19F0}" presName="textBox3b" presStyleLbl="revTx" presStyleIdx="1" presStyleCnt="3">
        <dgm:presLayoutVars>
          <dgm:bulletEnabled val="1"/>
        </dgm:presLayoutVars>
      </dgm:prSet>
      <dgm:spPr/>
    </dgm:pt>
    <dgm:pt modelId="{A0164F2D-1A4C-4198-A892-C82E8E92537C}" type="pres">
      <dgm:prSet presAssocID="{3B3D6FBE-4E73-4A9D-BCD8-3DA8A775A1ED}" presName="bullet3c" presStyleLbl="node1" presStyleIdx="2" presStyleCnt="3"/>
      <dgm:spPr/>
    </dgm:pt>
    <dgm:pt modelId="{0C0E98C4-5EA7-4CA2-AF0B-72D3E8EA1740}" type="pres">
      <dgm:prSet presAssocID="{3B3D6FBE-4E73-4A9D-BCD8-3DA8A775A1ED}" presName="textBox3c" presStyleLbl="revTx" presStyleIdx="2" presStyleCnt="3">
        <dgm:presLayoutVars>
          <dgm:bulletEnabled val="1"/>
        </dgm:presLayoutVars>
      </dgm:prSet>
      <dgm:spPr/>
    </dgm:pt>
  </dgm:ptLst>
  <dgm:cxnLst>
    <dgm:cxn modelId="{FE607E2E-CF85-45FD-856C-831A1E0C4F29}" srcId="{3CBCFE54-BFD2-4240-87B6-8F2065D454B9}" destId="{0DBFB6F9-B16A-498F-A73A-1CBC4FA19505}" srcOrd="0" destOrd="0" parTransId="{2F7850C8-8025-41F1-8F2F-8B5279A0BD5B}" sibTransId="{2A7DA280-B5B2-4576-957D-1D4951C9BC58}"/>
    <dgm:cxn modelId="{0A0F1847-55CD-47BC-B76C-B4C8E4521EBD}" type="presOf" srcId="{3CBCFE54-BFD2-4240-87B6-8F2065D454B9}" destId="{7ED8414D-4608-4BCD-84D0-96A81B243C1D}" srcOrd="0" destOrd="0" presId="urn:microsoft.com/office/officeart/2005/8/layout/arrow2"/>
    <dgm:cxn modelId="{F5B32956-3DE3-4B07-B179-3194C0D22E07}" type="presOf" srcId="{3B3D6FBE-4E73-4A9D-BCD8-3DA8A775A1ED}" destId="{0C0E98C4-5EA7-4CA2-AF0B-72D3E8EA1740}" srcOrd="0" destOrd="0" presId="urn:microsoft.com/office/officeart/2005/8/layout/arrow2"/>
    <dgm:cxn modelId="{7360545A-F633-45B6-A25B-93114411A34D}" type="presOf" srcId="{0A922CB5-61B5-4878-8E4A-0BD8D4AA19F0}" destId="{CDBC7187-213D-4BD3-BAD5-F3EEE6AB6993}" srcOrd="0" destOrd="0" presId="urn:microsoft.com/office/officeart/2005/8/layout/arrow2"/>
    <dgm:cxn modelId="{BA03FD71-79E7-4EFF-9C30-510B11BF68AA}" type="presOf" srcId="{0DBFB6F9-B16A-498F-A73A-1CBC4FA19505}" destId="{60D9609F-6415-43D1-84DF-036288329EFE}" srcOrd="0" destOrd="0" presId="urn:microsoft.com/office/officeart/2005/8/layout/arrow2"/>
    <dgm:cxn modelId="{43F080C8-96B4-47DC-A4D1-F345CF244660}" srcId="{3CBCFE54-BFD2-4240-87B6-8F2065D454B9}" destId="{0A922CB5-61B5-4878-8E4A-0BD8D4AA19F0}" srcOrd="1" destOrd="0" parTransId="{25FFA065-BD17-4985-A74A-2186BCEF5961}" sibTransId="{660891BA-48AD-4543-9B0E-512FBB009E30}"/>
    <dgm:cxn modelId="{536E24D0-AC66-40BB-967B-3FE58CCA8C8C}" srcId="{3CBCFE54-BFD2-4240-87B6-8F2065D454B9}" destId="{3B3D6FBE-4E73-4A9D-BCD8-3DA8A775A1ED}" srcOrd="2" destOrd="0" parTransId="{DF9E7087-19BD-4545-9AFE-AE72C7325F2A}" sibTransId="{905D3266-4CC7-440C-8207-8473247AA44F}"/>
    <dgm:cxn modelId="{DD71405E-78B0-4616-9D8E-23F2E1097C0C}" type="presParOf" srcId="{7ED8414D-4608-4BCD-84D0-96A81B243C1D}" destId="{80AF8CCA-1627-4CD2-8308-BB129A50B5F5}" srcOrd="0" destOrd="0" presId="urn:microsoft.com/office/officeart/2005/8/layout/arrow2"/>
    <dgm:cxn modelId="{A56FBF08-63E9-48B0-B616-4B1A3002C341}" type="presParOf" srcId="{7ED8414D-4608-4BCD-84D0-96A81B243C1D}" destId="{D40406BE-D06C-4DAF-A367-0B4CC14ED158}" srcOrd="1" destOrd="0" presId="urn:microsoft.com/office/officeart/2005/8/layout/arrow2"/>
    <dgm:cxn modelId="{B0E0C158-2EF8-481B-B7E6-49D6E7443FFF}" type="presParOf" srcId="{D40406BE-D06C-4DAF-A367-0B4CC14ED158}" destId="{AF005187-9B45-408C-8B1F-218C63A1C112}" srcOrd="0" destOrd="0" presId="urn:microsoft.com/office/officeart/2005/8/layout/arrow2"/>
    <dgm:cxn modelId="{359D65D2-2F5A-42A8-933E-EF2BB2E078E7}" type="presParOf" srcId="{D40406BE-D06C-4DAF-A367-0B4CC14ED158}" destId="{60D9609F-6415-43D1-84DF-036288329EFE}" srcOrd="1" destOrd="0" presId="urn:microsoft.com/office/officeart/2005/8/layout/arrow2"/>
    <dgm:cxn modelId="{DA8F21B5-FDB4-4E1D-846E-77614D7F1990}" type="presParOf" srcId="{D40406BE-D06C-4DAF-A367-0B4CC14ED158}" destId="{84DA5827-35C6-4C22-AFD0-C3607DBEFE53}" srcOrd="2" destOrd="0" presId="urn:microsoft.com/office/officeart/2005/8/layout/arrow2"/>
    <dgm:cxn modelId="{8F08641F-6C1F-4ABA-9C5C-D4C20E1B5F1B}" type="presParOf" srcId="{D40406BE-D06C-4DAF-A367-0B4CC14ED158}" destId="{CDBC7187-213D-4BD3-BAD5-F3EEE6AB6993}" srcOrd="3" destOrd="0" presId="urn:microsoft.com/office/officeart/2005/8/layout/arrow2"/>
    <dgm:cxn modelId="{203C846A-E8F9-4676-9496-1C4153997300}" type="presParOf" srcId="{D40406BE-D06C-4DAF-A367-0B4CC14ED158}" destId="{A0164F2D-1A4C-4198-A892-C82E8E92537C}" srcOrd="4" destOrd="0" presId="urn:microsoft.com/office/officeart/2005/8/layout/arrow2"/>
    <dgm:cxn modelId="{97DFE623-C4CD-4735-A38B-B0F1D2397A89}" type="presParOf" srcId="{D40406BE-D06C-4DAF-A367-0B4CC14ED158}" destId="{0C0E98C4-5EA7-4CA2-AF0B-72D3E8EA1740}" srcOrd="5"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9037A5-639F-4A7E-BECF-4DAB09434699}" type="doc">
      <dgm:prSet loTypeId="urn:microsoft.com/office/officeart/2005/8/layout/arrow2" loCatId="process" qsTypeId="urn:microsoft.com/office/officeart/2005/8/quickstyle/simple1" qsCatId="simple" csTypeId="urn:microsoft.com/office/officeart/2005/8/colors/accent1_2" csCatId="accent1" phldr="1"/>
      <dgm:spPr/>
    </dgm:pt>
    <dgm:pt modelId="{A119DF1C-57A5-4F7C-A8B8-C4134ED1D227}">
      <dgm:prSet phldrT="[Tekst]"/>
      <dgm:spPr/>
      <dgm:t>
        <a:bodyPr/>
        <a:lstStyle/>
        <a:p>
          <a:r>
            <a:rPr lang="nl-NL" b="1" dirty="0" err="1"/>
            <a:t>Designing</a:t>
          </a:r>
          <a:r>
            <a:rPr lang="nl-NL" b="1" dirty="0"/>
            <a:t> </a:t>
          </a:r>
          <a:r>
            <a:rPr lang="nl-NL" b="1" dirty="0" err="1"/>
            <a:t>the</a:t>
          </a:r>
          <a:r>
            <a:rPr lang="nl-NL" b="1" dirty="0"/>
            <a:t> System </a:t>
          </a:r>
        </a:p>
        <a:p>
          <a:r>
            <a:rPr lang="nl-NL" dirty="0" err="1"/>
            <a:t>Define</a:t>
          </a:r>
          <a:r>
            <a:rPr lang="nl-NL" dirty="0"/>
            <a:t> system </a:t>
          </a:r>
          <a:r>
            <a:rPr lang="nl-NL" dirty="0" err="1"/>
            <a:t>requirements</a:t>
          </a:r>
          <a:r>
            <a:rPr lang="nl-NL" dirty="0"/>
            <a:t> </a:t>
          </a:r>
          <a:r>
            <a:rPr lang="nl-NL" dirty="0" err="1"/>
            <a:t>and</a:t>
          </a:r>
          <a:r>
            <a:rPr lang="nl-NL" dirty="0"/>
            <a:t> target </a:t>
          </a:r>
          <a:r>
            <a:rPr lang="nl-NL" dirty="0" err="1"/>
            <a:t>groups</a:t>
          </a:r>
          <a:r>
            <a:rPr lang="nl-NL" dirty="0"/>
            <a:t>.</a:t>
          </a:r>
        </a:p>
      </dgm:t>
    </dgm:pt>
    <dgm:pt modelId="{F5C3F218-EE35-47C9-A3A8-14CFF024125A}" type="parTrans" cxnId="{916B5F81-F0DA-4D5D-B48D-1E7B5C2A442B}">
      <dgm:prSet/>
      <dgm:spPr/>
      <dgm:t>
        <a:bodyPr/>
        <a:lstStyle/>
        <a:p>
          <a:endParaRPr lang="nl-NL"/>
        </a:p>
      </dgm:t>
    </dgm:pt>
    <dgm:pt modelId="{CBABB450-91A8-4B4F-8959-D25A3BE2CAC5}" type="sibTrans" cxnId="{916B5F81-F0DA-4D5D-B48D-1E7B5C2A442B}">
      <dgm:prSet/>
      <dgm:spPr/>
      <dgm:t>
        <a:bodyPr/>
        <a:lstStyle/>
        <a:p>
          <a:endParaRPr lang="nl-NL"/>
        </a:p>
      </dgm:t>
    </dgm:pt>
    <dgm:pt modelId="{823C3E0C-29CB-4AD4-B981-DAFFFF009665}">
      <dgm:prSet phldrT="[Tekst]"/>
      <dgm:spPr/>
      <dgm:t>
        <a:bodyPr/>
        <a:lstStyle/>
        <a:p>
          <a:r>
            <a:rPr lang="nl-NL" b="1" dirty="0" err="1"/>
            <a:t>Implementing</a:t>
          </a:r>
          <a:r>
            <a:rPr lang="nl-NL" b="1" dirty="0"/>
            <a:t> </a:t>
          </a:r>
          <a:r>
            <a:rPr lang="nl-NL" b="1" dirty="0" err="1"/>
            <a:t>the</a:t>
          </a:r>
          <a:r>
            <a:rPr lang="nl-NL" b="1" dirty="0"/>
            <a:t> System</a:t>
          </a:r>
        </a:p>
        <a:p>
          <a:r>
            <a:rPr lang="nl-NL" b="1" dirty="0"/>
            <a:t> </a:t>
          </a:r>
          <a:r>
            <a:rPr lang="nl-NL" dirty="0"/>
            <a:t>Design System Architecture </a:t>
          </a:r>
          <a:r>
            <a:rPr lang="nl-NL" dirty="0" err="1"/>
            <a:t>and</a:t>
          </a:r>
          <a:r>
            <a:rPr lang="nl-NL" dirty="0"/>
            <a:t> </a:t>
          </a:r>
          <a:r>
            <a:rPr lang="nl-NL" dirty="0" err="1"/>
            <a:t>Inference</a:t>
          </a:r>
          <a:r>
            <a:rPr lang="nl-NL" dirty="0"/>
            <a:t> Engine, Code.</a:t>
          </a:r>
        </a:p>
      </dgm:t>
    </dgm:pt>
    <dgm:pt modelId="{F1BE3A61-29DD-4186-8206-B776941BB179}" type="parTrans" cxnId="{522E72F8-3E8B-40F2-A442-7082099CB880}">
      <dgm:prSet/>
      <dgm:spPr/>
      <dgm:t>
        <a:bodyPr/>
        <a:lstStyle/>
        <a:p>
          <a:endParaRPr lang="nl-NL"/>
        </a:p>
      </dgm:t>
    </dgm:pt>
    <dgm:pt modelId="{88C8E05E-6AD0-443A-A970-57A63EF1CDC2}" type="sibTrans" cxnId="{522E72F8-3E8B-40F2-A442-7082099CB880}">
      <dgm:prSet/>
      <dgm:spPr/>
      <dgm:t>
        <a:bodyPr/>
        <a:lstStyle/>
        <a:p>
          <a:endParaRPr lang="nl-NL"/>
        </a:p>
      </dgm:t>
    </dgm:pt>
    <dgm:pt modelId="{155926D0-19FE-4A91-A366-05C6672E7F52}">
      <dgm:prSet phldrT="[Tekst]"/>
      <dgm:spPr/>
      <dgm:t>
        <a:bodyPr/>
        <a:lstStyle/>
        <a:p>
          <a:r>
            <a:rPr lang="nl-NL" b="1" dirty="0"/>
            <a:t>Using </a:t>
          </a:r>
          <a:r>
            <a:rPr lang="nl-NL" b="1" dirty="0" err="1"/>
            <a:t>the</a:t>
          </a:r>
          <a:r>
            <a:rPr lang="nl-NL" b="1" dirty="0"/>
            <a:t> System  </a:t>
          </a:r>
        </a:p>
        <a:p>
          <a:r>
            <a:rPr lang="nl-NL" b="1" dirty="0"/>
            <a:t>Validation</a:t>
          </a:r>
          <a:r>
            <a:rPr lang="nl-NL" dirty="0"/>
            <a:t> + user </a:t>
          </a:r>
          <a:r>
            <a:rPr lang="nl-NL" dirty="0" err="1"/>
            <a:t>evaluations</a:t>
          </a:r>
          <a:endParaRPr lang="nl-NL" dirty="0"/>
        </a:p>
        <a:p>
          <a:endParaRPr lang="nl-NL" dirty="0"/>
        </a:p>
      </dgm:t>
    </dgm:pt>
    <dgm:pt modelId="{293E25BD-2C84-491A-B606-1BB8C8247293}" type="parTrans" cxnId="{94AABC99-A14E-4633-B3E7-6FFF91E5E105}">
      <dgm:prSet/>
      <dgm:spPr/>
      <dgm:t>
        <a:bodyPr/>
        <a:lstStyle/>
        <a:p>
          <a:endParaRPr lang="nl-NL"/>
        </a:p>
      </dgm:t>
    </dgm:pt>
    <dgm:pt modelId="{37B79860-9D26-4BD1-B8DF-F3F08ED4E3FA}" type="sibTrans" cxnId="{94AABC99-A14E-4633-B3E7-6FFF91E5E105}">
      <dgm:prSet/>
      <dgm:spPr/>
      <dgm:t>
        <a:bodyPr/>
        <a:lstStyle/>
        <a:p>
          <a:endParaRPr lang="nl-NL"/>
        </a:p>
      </dgm:t>
    </dgm:pt>
    <dgm:pt modelId="{31F730F0-707B-4B84-BF18-D3D1C99F3B62}">
      <dgm:prSet phldrT="[Tekst]"/>
      <dgm:spPr/>
      <dgm:t>
        <a:bodyPr/>
        <a:lstStyle/>
        <a:p>
          <a:r>
            <a:rPr lang="nl-NL" b="1" dirty="0"/>
            <a:t>Testing  </a:t>
          </a:r>
          <a:r>
            <a:rPr lang="nl-NL" b="1" dirty="0" err="1"/>
            <a:t>the</a:t>
          </a:r>
          <a:r>
            <a:rPr lang="nl-NL" b="1" dirty="0"/>
            <a:t> System </a:t>
          </a:r>
        </a:p>
        <a:p>
          <a:r>
            <a:rPr lang="nl-NL" dirty="0" err="1"/>
            <a:t>Evaluate</a:t>
          </a:r>
          <a:r>
            <a:rPr lang="nl-NL" dirty="0"/>
            <a:t> </a:t>
          </a:r>
          <a:r>
            <a:rPr lang="nl-NL" b="1" dirty="0"/>
            <a:t>Verification</a:t>
          </a:r>
          <a:r>
            <a:rPr lang="nl-NL" dirty="0"/>
            <a:t> </a:t>
          </a:r>
          <a:r>
            <a:rPr lang="nl-NL" dirty="0" err="1"/>
            <a:t>and</a:t>
          </a:r>
          <a:r>
            <a:rPr lang="nl-NL" dirty="0"/>
            <a:t> </a:t>
          </a:r>
          <a:r>
            <a:rPr lang="nl-NL" dirty="0" err="1"/>
            <a:t>fine-tune</a:t>
          </a:r>
          <a:r>
            <a:rPr lang="nl-NL" dirty="0"/>
            <a:t> parameters</a:t>
          </a:r>
        </a:p>
      </dgm:t>
    </dgm:pt>
    <dgm:pt modelId="{9FF04ACA-22E0-44B5-885E-FB93DC9BE611}" type="parTrans" cxnId="{1773BA0A-4E7B-4F13-8314-AD2019200988}">
      <dgm:prSet/>
      <dgm:spPr/>
      <dgm:t>
        <a:bodyPr/>
        <a:lstStyle/>
        <a:p>
          <a:endParaRPr lang="en-US"/>
        </a:p>
      </dgm:t>
    </dgm:pt>
    <dgm:pt modelId="{5776DEAC-46E1-45A4-9F92-4CC2F973497F}" type="sibTrans" cxnId="{1773BA0A-4E7B-4F13-8314-AD2019200988}">
      <dgm:prSet/>
      <dgm:spPr/>
      <dgm:t>
        <a:bodyPr/>
        <a:lstStyle/>
        <a:p>
          <a:endParaRPr lang="en-US"/>
        </a:p>
      </dgm:t>
    </dgm:pt>
    <dgm:pt modelId="{23603A15-CE32-4356-B302-ADFB9394C013}" type="pres">
      <dgm:prSet presAssocID="{0C9037A5-639F-4A7E-BECF-4DAB09434699}" presName="arrowDiagram" presStyleCnt="0">
        <dgm:presLayoutVars>
          <dgm:chMax val="5"/>
          <dgm:dir/>
          <dgm:resizeHandles val="exact"/>
        </dgm:presLayoutVars>
      </dgm:prSet>
      <dgm:spPr/>
    </dgm:pt>
    <dgm:pt modelId="{A22C261E-ED9B-4C34-97A9-4359408A3854}" type="pres">
      <dgm:prSet presAssocID="{0C9037A5-639F-4A7E-BECF-4DAB09434699}" presName="arrow" presStyleLbl="bgShp" presStyleIdx="0" presStyleCnt="1"/>
      <dgm:spPr/>
    </dgm:pt>
    <dgm:pt modelId="{C4C12E59-4271-9D42-B927-3D400940A1E3}" type="pres">
      <dgm:prSet presAssocID="{0C9037A5-639F-4A7E-BECF-4DAB09434699}" presName="arrowDiagram4" presStyleCnt="0"/>
      <dgm:spPr/>
    </dgm:pt>
    <dgm:pt modelId="{CADE06A5-70C9-B042-9BC6-C39974E4DE16}" type="pres">
      <dgm:prSet presAssocID="{A119DF1C-57A5-4F7C-A8B8-C4134ED1D227}" presName="bullet4a" presStyleLbl="node1" presStyleIdx="0" presStyleCnt="4"/>
      <dgm:spPr/>
    </dgm:pt>
    <dgm:pt modelId="{7E451E5E-5383-EB4D-9F97-D9EFFD428091}" type="pres">
      <dgm:prSet presAssocID="{A119DF1C-57A5-4F7C-A8B8-C4134ED1D227}" presName="textBox4a" presStyleLbl="revTx" presStyleIdx="0" presStyleCnt="4">
        <dgm:presLayoutVars>
          <dgm:bulletEnabled val="1"/>
        </dgm:presLayoutVars>
      </dgm:prSet>
      <dgm:spPr/>
    </dgm:pt>
    <dgm:pt modelId="{FDAF4959-F200-6F46-ADEC-D4823ECAA5A0}" type="pres">
      <dgm:prSet presAssocID="{823C3E0C-29CB-4AD4-B981-DAFFFF009665}" presName="bullet4b" presStyleLbl="node1" presStyleIdx="1" presStyleCnt="4"/>
      <dgm:spPr/>
    </dgm:pt>
    <dgm:pt modelId="{2640DB55-32AA-9348-87A3-CDEBC6D29A2E}" type="pres">
      <dgm:prSet presAssocID="{823C3E0C-29CB-4AD4-B981-DAFFFF009665}" presName="textBox4b" presStyleLbl="revTx" presStyleIdx="1" presStyleCnt="4">
        <dgm:presLayoutVars>
          <dgm:bulletEnabled val="1"/>
        </dgm:presLayoutVars>
      </dgm:prSet>
      <dgm:spPr/>
    </dgm:pt>
    <dgm:pt modelId="{3610AB4A-A9C6-F74E-8F4E-11B83828DE36}" type="pres">
      <dgm:prSet presAssocID="{31F730F0-707B-4B84-BF18-D3D1C99F3B62}" presName="bullet4c" presStyleLbl="node1" presStyleIdx="2" presStyleCnt="4"/>
      <dgm:spPr/>
    </dgm:pt>
    <dgm:pt modelId="{9F55AE84-D72D-7F48-A00C-06F33B496929}" type="pres">
      <dgm:prSet presAssocID="{31F730F0-707B-4B84-BF18-D3D1C99F3B62}" presName="textBox4c" presStyleLbl="revTx" presStyleIdx="2" presStyleCnt="4">
        <dgm:presLayoutVars>
          <dgm:bulletEnabled val="1"/>
        </dgm:presLayoutVars>
      </dgm:prSet>
      <dgm:spPr/>
    </dgm:pt>
    <dgm:pt modelId="{B93269C0-B787-6947-9093-4FF209F56F4C}" type="pres">
      <dgm:prSet presAssocID="{155926D0-19FE-4A91-A366-05C6672E7F52}" presName="bullet4d" presStyleLbl="node1" presStyleIdx="3" presStyleCnt="4"/>
      <dgm:spPr/>
    </dgm:pt>
    <dgm:pt modelId="{D96586EC-1FB1-8E47-890E-437505C76375}" type="pres">
      <dgm:prSet presAssocID="{155926D0-19FE-4A91-A366-05C6672E7F52}" presName="textBox4d" presStyleLbl="revTx" presStyleIdx="3" presStyleCnt="4">
        <dgm:presLayoutVars>
          <dgm:bulletEnabled val="1"/>
        </dgm:presLayoutVars>
      </dgm:prSet>
      <dgm:spPr/>
    </dgm:pt>
  </dgm:ptLst>
  <dgm:cxnLst>
    <dgm:cxn modelId="{1E04E208-B0AB-A84F-B29E-C051FE789041}" type="presOf" srcId="{A119DF1C-57A5-4F7C-A8B8-C4134ED1D227}" destId="{7E451E5E-5383-EB4D-9F97-D9EFFD428091}" srcOrd="0" destOrd="0" presId="urn:microsoft.com/office/officeart/2005/8/layout/arrow2"/>
    <dgm:cxn modelId="{1773BA0A-4E7B-4F13-8314-AD2019200988}" srcId="{0C9037A5-639F-4A7E-BECF-4DAB09434699}" destId="{31F730F0-707B-4B84-BF18-D3D1C99F3B62}" srcOrd="2" destOrd="0" parTransId="{9FF04ACA-22E0-44B5-885E-FB93DC9BE611}" sibTransId="{5776DEAC-46E1-45A4-9F92-4CC2F973497F}"/>
    <dgm:cxn modelId="{1BB05020-027E-BC41-9CE6-E7F815ED6189}" type="presOf" srcId="{823C3E0C-29CB-4AD4-B981-DAFFFF009665}" destId="{2640DB55-32AA-9348-87A3-CDEBC6D29A2E}" srcOrd="0" destOrd="0" presId="urn:microsoft.com/office/officeart/2005/8/layout/arrow2"/>
    <dgm:cxn modelId="{277F9635-13FA-B847-ACC1-EDF648F301B4}" type="presOf" srcId="{155926D0-19FE-4A91-A366-05C6672E7F52}" destId="{D96586EC-1FB1-8E47-890E-437505C76375}" srcOrd="0" destOrd="0" presId="urn:microsoft.com/office/officeart/2005/8/layout/arrow2"/>
    <dgm:cxn modelId="{916B5F81-F0DA-4D5D-B48D-1E7B5C2A442B}" srcId="{0C9037A5-639F-4A7E-BECF-4DAB09434699}" destId="{A119DF1C-57A5-4F7C-A8B8-C4134ED1D227}" srcOrd="0" destOrd="0" parTransId="{F5C3F218-EE35-47C9-A3A8-14CFF024125A}" sibTransId="{CBABB450-91A8-4B4F-8959-D25A3BE2CAC5}"/>
    <dgm:cxn modelId="{94AABC99-A14E-4633-B3E7-6FFF91E5E105}" srcId="{0C9037A5-639F-4A7E-BECF-4DAB09434699}" destId="{155926D0-19FE-4A91-A366-05C6672E7F52}" srcOrd="3" destOrd="0" parTransId="{293E25BD-2C84-491A-B606-1BB8C8247293}" sibTransId="{37B79860-9D26-4BD1-B8DF-F3F08ED4E3FA}"/>
    <dgm:cxn modelId="{95BDFF9A-E77F-7545-8365-673A189B3927}" type="presOf" srcId="{31F730F0-707B-4B84-BF18-D3D1C99F3B62}" destId="{9F55AE84-D72D-7F48-A00C-06F33B496929}" srcOrd="0" destOrd="0" presId="urn:microsoft.com/office/officeart/2005/8/layout/arrow2"/>
    <dgm:cxn modelId="{022AADC6-D17C-473A-B758-F87B79F7CDBF}" type="presOf" srcId="{0C9037A5-639F-4A7E-BECF-4DAB09434699}" destId="{23603A15-CE32-4356-B302-ADFB9394C013}" srcOrd="0" destOrd="0" presId="urn:microsoft.com/office/officeart/2005/8/layout/arrow2"/>
    <dgm:cxn modelId="{522E72F8-3E8B-40F2-A442-7082099CB880}" srcId="{0C9037A5-639F-4A7E-BECF-4DAB09434699}" destId="{823C3E0C-29CB-4AD4-B981-DAFFFF009665}" srcOrd="1" destOrd="0" parTransId="{F1BE3A61-29DD-4186-8206-B776941BB179}" sibTransId="{88C8E05E-6AD0-443A-A970-57A63EF1CDC2}"/>
    <dgm:cxn modelId="{3121493B-2FBC-4E26-AE8E-37EC381E8AD4}" type="presParOf" srcId="{23603A15-CE32-4356-B302-ADFB9394C013}" destId="{A22C261E-ED9B-4C34-97A9-4359408A3854}" srcOrd="0" destOrd="0" presId="urn:microsoft.com/office/officeart/2005/8/layout/arrow2"/>
    <dgm:cxn modelId="{0FEDE537-4B70-B044-85BF-294D19E8B903}" type="presParOf" srcId="{23603A15-CE32-4356-B302-ADFB9394C013}" destId="{C4C12E59-4271-9D42-B927-3D400940A1E3}" srcOrd="1" destOrd="0" presId="urn:microsoft.com/office/officeart/2005/8/layout/arrow2"/>
    <dgm:cxn modelId="{2C5376F2-E31B-2846-907A-E9BE2017B5C7}" type="presParOf" srcId="{C4C12E59-4271-9D42-B927-3D400940A1E3}" destId="{CADE06A5-70C9-B042-9BC6-C39974E4DE16}" srcOrd="0" destOrd="0" presId="urn:microsoft.com/office/officeart/2005/8/layout/arrow2"/>
    <dgm:cxn modelId="{D72E1C58-93F8-B949-841D-41593E5365D6}" type="presParOf" srcId="{C4C12E59-4271-9D42-B927-3D400940A1E3}" destId="{7E451E5E-5383-EB4D-9F97-D9EFFD428091}" srcOrd="1" destOrd="0" presId="urn:microsoft.com/office/officeart/2005/8/layout/arrow2"/>
    <dgm:cxn modelId="{35B2771B-D188-FA4A-8F22-0E7ECA7A0F14}" type="presParOf" srcId="{C4C12E59-4271-9D42-B927-3D400940A1E3}" destId="{FDAF4959-F200-6F46-ADEC-D4823ECAA5A0}" srcOrd="2" destOrd="0" presId="urn:microsoft.com/office/officeart/2005/8/layout/arrow2"/>
    <dgm:cxn modelId="{3035F3EA-786B-4342-A1CB-5FDE8A2A45F8}" type="presParOf" srcId="{C4C12E59-4271-9D42-B927-3D400940A1E3}" destId="{2640DB55-32AA-9348-87A3-CDEBC6D29A2E}" srcOrd="3" destOrd="0" presId="urn:microsoft.com/office/officeart/2005/8/layout/arrow2"/>
    <dgm:cxn modelId="{978557FB-27AE-F446-960F-AEAD43B49D69}" type="presParOf" srcId="{C4C12E59-4271-9D42-B927-3D400940A1E3}" destId="{3610AB4A-A9C6-F74E-8F4E-11B83828DE36}" srcOrd="4" destOrd="0" presId="urn:microsoft.com/office/officeart/2005/8/layout/arrow2"/>
    <dgm:cxn modelId="{548DB394-779F-904C-97F2-390020F8E4DA}" type="presParOf" srcId="{C4C12E59-4271-9D42-B927-3D400940A1E3}" destId="{9F55AE84-D72D-7F48-A00C-06F33B496929}" srcOrd="5" destOrd="0" presId="urn:microsoft.com/office/officeart/2005/8/layout/arrow2"/>
    <dgm:cxn modelId="{B45095FD-7C4F-5142-BCF6-AFD4D99C05B8}" type="presParOf" srcId="{C4C12E59-4271-9D42-B927-3D400940A1E3}" destId="{B93269C0-B787-6947-9093-4FF209F56F4C}" srcOrd="6" destOrd="0" presId="urn:microsoft.com/office/officeart/2005/8/layout/arrow2"/>
    <dgm:cxn modelId="{8291F34F-2919-EB4C-BD74-969FBDDAD353}" type="presParOf" srcId="{C4C12E59-4271-9D42-B927-3D400940A1E3}" destId="{D96586EC-1FB1-8E47-890E-437505C76375}"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959A71-D9BD-41AC-8E71-2701A6853801}" type="doc">
      <dgm:prSet loTypeId="urn:microsoft.com/office/officeart/2005/8/layout/chevron1" loCatId="process" qsTypeId="urn:microsoft.com/office/officeart/2005/8/quickstyle/simple1" qsCatId="simple" csTypeId="urn:microsoft.com/office/officeart/2005/8/colors/accent1_2" csCatId="accent1" phldr="1"/>
      <dgm:spPr/>
    </dgm:pt>
    <dgm:pt modelId="{583A25F6-3765-4D87-BA61-8D9259574CE8}">
      <dgm:prSet phldrT="[Tekst]"/>
      <dgm:spPr/>
      <dgm:t>
        <a:bodyPr/>
        <a:lstStyle/>
        <a:p>
          <a:r>
            <a:rPr lang="nl-NL" dirty="0"/>
            <a:t>Building </a:t>
          </a:r>
          <a:r>
            <a:rPr lang="nl-NL" dirty="0" err="1"/>
            <a:t>the</a:t>
          </a:r>
          <a:r>
            <a:rPr lang="nl-NL" dirty="0"/>
            <a:t> System</a:t>
          </a:r>
        </a:p>
      </dgm:t>
    </dgm:pt>
    <dgm:pt modelId="{34AF5764-B2CF-4133-B0BF-1CC1DAAD557D}" type="parTrans" cxnId="{2141EA16-8AFB-45F1-8581-B5D189E76E61}">
      <dgm:prSet/>
      <dgm:spPr/>
      <dgm:t>
        <a:bodyPr/>
        <a:lstStyle/>
        <a:p>
          <a:endParaRPr lang="nl-NL"/>
        </a:p>
      </dgm:t>
    </dgm:pt>
    <dgm:pt modelId="{434394CB-2D49-4F1F-903D-93DA04A4CF8D}" type="sibTrans" cxnId="{2141EA16-8AFB-45F1-8581-B5D189E76E61}">
      <dgm:prSet/>
      <dgm:spPr/>
      <dgm:t>
        <a:bodyPr/>
        <a:lstStyle/>
        <a:p>
          <a:endParaRPr lang="nl-NL"/>
        </a:p>
      </dgm:t>
    </dgm:pt>
    <dgm:pt modelId="{FE8EB7F4-998D-4365-90F6-F077C339F4C1}">
      <dgm:prSet phldrT="[Tekst]"/>
      <dgm:spPr/>
      <dgm:t>
        <a:bodyPr/>
        <a:lstStyle/>
        <a:p>
          <a:r>
            <a:rPr lang="nl-NL" dirty="0"/>
            <a:t>Using </a:t>
          </a:r>
          <a:r>
            <a:rPr lang="nl-NL" dirty="0" err="1"/>
            <a:t>the</a:t>
          </a:r>
          <a:r>
            <a:rPr lang="nl-NL" dirty="0"/>
            <a:t> System</a:t>
          </a:r>
        </a:p>
      </dgm:t>
    </dgm:pt>
    <dgm:pt modelId="{34DA7FAD-16B4-4BBA-9C36-ACCF5E0A4888}" type="parTrans" cxnId="{ADA0BE95-F1EB-4D4B-B087-1C297A742AD5}">
      <dgm:prSet/>
      <dgm:spPr/>
      <dgm:t>
        <a:bodyPr/>
        <a:lstStyle/>
        <a:p>
          <a:endParaRPr lang="nl-NL"/>
        </a:p>
      </dgm:t>
    </dgm:pt>
    <dgm:pt modelId="{BBC778FD-09D7-474C-99BF-EE6EC21E01D9}" type="sibTrans" cxnId="{ADA0BE95-F1EB-4D4B-B087-1C297A742AD5}">
      <dgm:prSet/>
      <dgm:spPr/>
      <dgm:t>
        <a:bodyPr/>
        <a:lstStyle/>
        <a:p>
          <a:endParaRPr lang="nl-NL"/>
        </a:p>
      </dgm:t>
    </dgm:pt>
    <dgm:pt modelId="{72B99BB8-885D-4B45-BD26-F8EA4D1C89F1}" type="pres">
      <dgm:prSet presAssocID="{1E959A71-D9BD-41AC-8E71-2701A6853801}" presName="Name0" presStyleCnt="0">
        <dgm:presLayoutVars>
          <dgm:dir/>
          <dgm:animLvl val="lvl"/>
          <dgm:resizeHandles val="exact"/>
        </dgm:presLayoutVars>
      </dgm:prSet>
      <dgm:spPr/>
    </dgm:pt>
    <dgm:pt modelId="{40156C14-6035-4F0A-9C8C-35337D8CF05B}" type="pres">
      <dgm:prSet presAssocID="{583A25F6-3765-4D87-BA61-8D9259574CE8}" presName="parTxOnly" presStyleLbl="node1" presStyleIdx="0" presStyleCnt="2">
        <dgm:presLayoutVars>
          <dgm:chMax val="0"/>
          <dgm:chPref val="0"/>
          <dgm:bulletEnabled val="1"/>
        </dgm:presLayoutVars>
      </dgm:prSet>
      <dgm:spPr/>
    </dgm:pt>
    <dgm:pt modelId="{1AADB98A-159E-453B-B58C-1900471DCDE2}" type="pres">
      <dgm:prSet presAssocID="{434394CB-2D49-4F1F-903D-93DA04A4CF8D}" presName="parTxOnlySpace" presStyleCnt="0"/>
      <dgm:spPr/>
    </dgm:pt>
    <dgm:pt modelId="{10CDF1FA-0AD1-4473-AF0B-27F9835A228E}" type="pres">
      <dgm:prSet presAssocID="{FE8EB7F4-998D-4365-90F6-F077C339F4C1}" presName="parTxOnly" presStyleLbl="node1" presStyleIdx="1" presStyleCnt="2">
        <dgm:presLayoutVars>
          <dgm:chMax val="0"/>
          <dgm:chPref val="0"/>
          <dgm:bulletEnabled val="1"/>
        </dgm:presLayoutVars>
      </dgm:prSet>
      <dgm:spPr/>
    </dgm:pt>
  </dgm:ptLst>
  <dgm:cxnLst>
    <dgm:cxn modelId="{2141EA16-8AFB-45F1-8581-B5D189E76E61}" srcId="{1E959A71-D9BD-41AC-8E71-2701A6853801}" destId="{583A25F6-3765-4D87-BA61-8D9259574CE8}" srcOrd="0" destOrd="0" parTransId="{34AF5764-B2CF-4133-B0BF-1CC1DAAD557D}" sibTransId="{434394CB-2D49-4F1F-903D-93DA04A4CF8D}"/>
    <dgm:cxn modelId="{582FA97C-3E2D-49EB-85DD-C99655B15A6B}" type="presOf" srcId="{583A25F6-3765-4D87-BA61-8D9259574CE8}" destId="{40156C14-6035-4F0A-9C8C-35337D8CF05B}" srcOrd="0" destOrd="0" presId="urn:microsoft.com/office/officeart/2005/8/layout/chevron1"/>
    <dgm:cxn modelId="{68D58984-BDD3-4960-A169-508FC15F2A65}" type="presOf" srcId="{1E959A71-D9BD-41AC-8E71-2701A6853801}" destId="{72B99BB8-885D-4B45-BD26-F8EA4D1C89F1}" srcOrd="0" destOrd="0" presId="urn:microsoft.com/office/officeart/2005/8/layout/chevron1"/>
    <dgm:cxn modelId="{43019F8E-F7B6-4D5E-99DC-9D5342A209BC}" type="presOf" srcId="{FE8EB7F4-998D-4365-90F6-F077C339F4C1}" destId="{10CDF1FA-0AD1-4473-AF0B-27F9835A228E}" srcOrd="0" destOrd="0" presId="urn:microsoft.com/office/officeart/2005/8/layout/chevron1"/>
    <dgm:cxn modelId="{ADA0BE95-F1EB-4D4B-B087-1C297A742AD5}" srcId="{1E959A71-D9BD-41AC-8E71-2701A6853801}" destId="{FE8EB7F4-998D-4365-90F6-F077C339F4C1}" srcOrd="1" destOrd="0" parTransId="{34DA7FAD-16B4-4BBA-9C36-ACCF5E0A4888}" sibTransId="{BBC778FD-09D7-474C-99BF-EE6EC21E01D9}"/>
    <dgm:cxn modelId="{A9AF0A5C-DB48-4F6E-A888-B50D6BDFDB3D}" type="presParOf" srcId="{72B99BB8-885D-4B45-BD26-F8EA4D1C89F1}" destId="{40156C14-6035-4F0A-9C8C-35337D8CF05B}" srcOrd="0" destOrd="0" presId="urn:microsoft.com/office/officeart/2005/8/layout/chevron1"/>
    <dgm:cxn modelId="{74BC00A3-4A69-46B9-AEDD-EFF17345A994}" type="presParOf" srcId="{72B99BB8-885D-4B45-BD26-F8EA4D1C89F1}" destId="{1AADB98A-159E-453B-B58C-1900471DCDE2}" srcOrd="1" destOrd="0" presId="urn:microsoft.com/office/officeart/2005/8/layout/chevron1"/>
    <dgm:cxn modelId="{03B6F2BA-8706-4A6C-AA44-916EED248AD6}" type="presParOf" srcId="{72B99BB8-885D-4B45-BD26-F8EA4D1C89F1}" destId="{10CDF1FA-0AD1-4473-AF0B-27F9835A228E}" srcOrd="2"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B0A4B4F-870D-47CA-AADD-381E45B6085F}" type="doc">
      <dgm:prSet loTypeId="urn:microsoft.com/office/officeart/2005/8/layout/hList2#1" loCatId="relationship" qsTypeId="urn:microsoft.com/office/officeart/2005/8/quickstyle/simple1" qsCatId="simple" csTypeId="urn:microsoft.com/office/officeart/2005/8/colors/accent1_2" csCatId="accent1" phldr="1"/>
      <dgm:spPr/>
      <dgm:t>
        <a:bodyPr/>
        <a:lstStyle/>
        <a:p>
          <a:endParaRPr lang="nl-NL"/>
        </a:p>
      </dgm:t>
    </dgm:pt>
    <dgm:pt modelId="{F6F8F2B4-6C9D-4EB7-997A-13DBC4D3E060}">
      <dgm:prSet phldrT="[Tekst]" custT="1"/>
      <dgm:spPr/>
      <dgm:t>
        <a:bodyPr/>
        <a:lstStyle/>
        <a:p>
          <a:r>
            <a:rPr lang="nl-NL" sz="3600" dirty="0"/>
            <a:t>Control Group</a:t>
          </a:r>
        </a:p>
      </dgm:t>
    </dgm:pt>
    <dgm:pt modelId="{1A4538DF-7C09-4020-9C68-37738EE034B5}" type="parTrans" cxnId="{72999854-30ED-4711-B7F3-B74F37AA84E4}">
      <dgm:prSet/>
      <dgm:spPr/>
      <dgm:t>
        <a:bodyPr/>
        <a:lstStyle/>
        <a:p>
          <a:endParaRPr lang="nl-NL"/>
        </a:p>
      </dgm:t>
    </dgm:pt>
    <dgm:pt modelId="{2DFD6731-5C30-4FB5-B79A-3DC6D1DBEE7D}" type="sibTrans" cxnId="{72999854-30ED-4711-B7F3-B74F37AA84E4}">
      <dgm:prSet/>
      <dgm:spPr/>
      <dgm:t>
        <a:bodyPr/>
        <a:lstStyle/>
        <a:p>
          <a:endParaRPr lang="nl-NL"/>
        </a:p>
      </dgm:t>
    </dgm:pt>
    <dgm:pt modelId="{70B7C67B-1DAA-4EA7-93A6-D04E8DC55D21}">
      <dgm:prSet phldrT="[Tekst]" custT="1"/>
      <dgm:spPr/>
      <dgm:t>
        <a:bodyPr/>
        <a:lstStyle/>
        <a:p>
          <a:r>
            <a:rPr lang="nl-NL" sz="3200" dirty="0" err="1"/>
            <a:t>Experimental</a:t>
          </a:r>
          <a:r>
            <a:rPr lang="nl-NL" sz="3200" dirty="0"/>
            <a:t> Group</a:t>
          </a:r>
        </a:p>
      </dgm:t>
    </dgm:pt>
    <dgm:pt modelId="{3668FB49-8796-4659-AF2C-1B64DF1C9B7B}" type="parTrans" cxnId="{0BA126E9-C171-4054-94D3-205938F44173}">
      <dgm:prSet/>
      <dgm:spPr/>
      <dgm:t>
        <a:bodyPr/>
        <a:lstStyle/>
        <a:p>
          <a:endParaRPr lang="nl-NL"/>
        </a:p>
      </dgm:t>
    </dgm:pt>
    <dgm:pt modelId="{ED945972-CC0E-4C50-8A45-1A82648C7BAE}" type="sibTrans" cxnId="{0BA126E9-C171-4054-94D3-205938F44173}">
      <dgm:prSet/>
      <dgm:spPr/>
      <dgm:t>
        <a:bodyPr/>
        <a:lstStyle/>
        <a:p>
          <a:endParaRPr lang="nl-NL"/>
        </a:p>
      </dgm:t>
    </dgm:pt>
    <dgm:pt modelId="{580FC2B8-B98C-4F2D-B1F2-ACD4B0F0ABBC}">
      <dgm:prSet phldrT="[Tekst]"/>
      <dgm:spPr/>
      <dgm:t>
        <a:bodyPr/>
        <a:lstStyle/>
        <a:p>
          <a:r>
            <a:rPr lang="en-US" b="0" i="0" dirty="0">
              <a:solidFill>
                <a:schemeClr val="tx1"/>
              </a:solidFill>
              <a:effectLst/>
              <a:latin typeface="+mn-lt"/>
              <a:ea typeface="+mn-ea"/>
              <a:cs typeface="+mn-cs"/>
            </a:rPr>
            <a:t>the experimental group (or experimental condition) refers to the group of participants who are exposed to the technological intervention.</a:t>
          </a:r>
          <a:endParaRPr lang="nl-NL" dirty="0"/>
        </a:p>
      </dgm:t>
    </dgm:pt>
    <dgm:pt modelId="{9576A47D-22DE-4DB3-AE22-51F1272DC5FB}" type="parTrans" cxnId="{2CED5B48-3626-4A6A-8EA6-D7B1275E6A63}">
      <dgm:prSet/>
      <dgm:spPr/>
      <dgm:t>
        <a:bodyPr/>
        <a:lstStyle/>
        <a:p>
          <a:endParaRPr lang="en-US"/>
        </a:p>
      </dgm:t>
    </dgm:pt>
    <dgm:pt modelId="{BBE612F0-AA1E-4C51-84EB-8CEAC75B9206}" type="sibTrans" cxnId="{2CED5B48-3626-4A6A-8EA6-D7B1275E6A63}">
      <dgm:prSet/>
      <dgm:spPr/>
      <dgm:t>
        <a:bodyPr/>
        <a:lstStyle/>
        <a:p>
          <a:endParaRPr lang="en-US"/>
        </a:p>
      </dgm:t>
    </dgm:pt>
    <dgm:pt modelId="{F0AEDB1B-5234-4C15-A3DC-3B29BC2E1A87}">
      <dgm:prSet phldrT="[Tekst]" custT="1"/>
      <dgm:spPr>
        <a:solidFill>
          <a:srgbClr val="FF0000"/>
        </a:solidFill>
      </dgm:spPr>
      <dgm:t>
        <a:bodyPr/>
        <a:lstStyle/>
        <a:p>
          <a:r>
            <a:rPr lang="en-US" sz="1800" b="0" i="0" dirty="0">
              <a:solidFill>
                <a:schemeClr val="tx1"/>
              </a:solidFill>
              <a:effectLst/>
              <a:latin typeface="+mn-lt"/>
              <a:ea typeface="+mn-ea"/>
              <a:cs typeface="+mn-cs"/>
            </a:rPr>
            <a:t>the control group (or control condition) refers to the group of participants who are not exposed to the technological intervention.</a:t>
          </a:r>
          <a:endParaRPr lang="nl-NL" sz="1800" dirty="0"/>
        </a:p>
      </dgm:t>
    </dgm:pt>
    <dgm:pt modelId="{8768B443-08C4-4AB7-8F69-F5E93C744FB9}" type="parTrans" cxnId="{EBE5094D-1813-4974-A589-24A50023697A}">
      <dgm:prSet/>
      <dgm:spPr/>
      <dgm:t>
        <a:bodyPr/>
        <a:lstStyle/>
        <a:p>
          <a:endParaRPr lang="en-US"/>
        </a:p>
      </dgm:t>
    </dgm:pt>
    <dgm:pt modelId="{D96E9DE7-579C-4735-852A-D27C489185BF}" type="sibTrans" cxnId="{EBE5094D-1813-4974-A589-24A50023697A}">
      <dgm:prSet/>
      <dgm:spPr/>
      <dgm:t>
        <a:bodyPr/>
        <a:lstStyle/>
        <a:p>
          <a:endParaRPr lang="en-US"/>
        </a:p>
      </dgm:t>
    </dgm:pt>
    <dgm:pt modelId="{6FF05926-D6B4-4C83-9DB1-CE41A33CBDC5}" type="pres">
      <dgm:prSet presAssocID="{BB0A4B4F-870D-47CA-AADD-381E45B6085F}" presName="linearFlow" presStyleCnt="0">
        <dgm:presLayoutVars>
          <dgm:dir/>
          <dgm:animLvl val="lvl"/>
          <dgm:resizeHandles/>
        </dgm:presLayoutVars>
      </dgm:prSet>
      <dgm:spPr/>
    </dgm:pt>
    <dgm:pt modelId="{3C8395A8-5AA3-4164-BEC8-9F256625DF83}" type="pres">
      <dgm:prSet presAssocID="{F6F8F2B4-6C9D-4EB7-997A-13DBC4D3E060}" presName="compositeNode" presStyleCnt="0">
        <dgm:presLayoutVars>
          <dgm:bulletEnabled val="1"/>
        </dgm:presLayoutVars>
      </dgm:prSet>
      <dgm:spPr/>
    </dgm:pt>
    <dgm:pt modelId="{3F7E9180-BE79-44D5-A46F-274FE2B4DE23}" type="pres">
      <dgm:prSet presAssocID="{F6F8F2B4-6C9D-4EB7-997A-13DBC4D3E060}" presName="image" presStyleLbl="fgImgPlace1" presStyleIdx="0" presStyleCnt="2" custScaleX="101186" custScaleY="96250"/>
      <dgm:spPr>
        <a:blipFill rotWithShape="0">
          <a:blip xmlns:r="http://schemas.openxmlformats.org/officeDocument/2006/relationships" r:embed="rId1"/>
          <a:stretch>
            <a:fillRect/>
          </a:stretch>
        </a:blipFill>
      </dgm:spPr>
    </dgm:pt>
    <dgm:pt modelId="{9621702B-E404-40E1-8ECC-4230CA232D4F}" type="pres">
      <dgm:prSet presAssocID="{F6F8F2B4-6C9D-4EB7-997A-13DBC4D3E060}" presName="childNode" presStyleLbl="node1" presStyleIdx="0" presStyleCnt="2">
        <dgm:presLayoutVars>
          <dgm:bulletEnabled val="1"/>
        </dgm:presLayoutVars>
      </dgm:prSet>
      <dgm:spPr/>
    </dgm:pt>
    <dgm:pt modelId="{83C61B12-465C-4E5D-B775-F9534700419C}" type="pres">
      <dgm:prSet presAssocID="{F6F8F2B4-6C9D-4EB7-997A-13DBC4D3E060}" presName="parentNode" presStyleLbl="revTx" presStyleIdx="0" presStyleCnt="2" custScaleX="300730">
        <dgm:presLayoutVars>
          <dgm:chMax val="0"/>
          <dgm:bulletEnabled val="1"/>
        </dgm:presLayoutVars>
      </dgm:prSet>
      <dgm:spPr/>
    </dgm:pt>
    <dgm:pt modelId="{11DF919A-9A1D-44A3-BB78-CFF7F0B4FB99}" type="pres">
      <dgm:prSet presAssocID="{2DFD6731-5C30-4FB5-B79A-3DC6D1DBEE7D}" presName="sibTrans" presStyleCnt="0"/>
      <dgm:spPr/>
    </dgm:pt>
    <dgm:pt modelId="{66C410BA-BA1D-48EB-B8AF-B12E17B8C6D5}" type="pres">
      <dgm:prSet presAssocID="{70B7C67B-1DAA-4EA7-93A6-D04E8DC55D21}" presName="compositeNode" presStyleCnt="0">
        <dgm:presLayoutVars>
          <dgm:bulletEnabled val="1"/>
        </dgm:presLayoutVars>
      </dgm:prSet>
      <dgm:spPr/>
    </dgm:pt>
    <dgm:pt modelId="{DA2E1560-4D9C-4A06-B86F-51630CE53A24}" type="pres">
      <dgm:prSet presAssocID="{70B7C67B-1DAA-4EA7-93A6-D04E8DC55D21}" presName="image" presStyleLbl="fgImgPlace1" presStyleIdx="1" presStyleCnt="2"/>
      <dgm:spPr>
        <a:blipFill rotWithShape="0">
          <a:blip xmlns:r="http://schemas.openxmlformats.org/officeDocument/2006/relationships" r:embed="rId2"/>
          <a:stretch>
            <a:fillRect/>
          </a:stretch>
        </a:blipFill>
      </dgm:spPr>
    </dgm:pt>
    <dgm:pt modelId="{090501C2-A517-4DC3-86C6-235F4EC33A50}" type="pres">
      <dgm:prSet presAssocID="{70B7C67B-1DAA-4EA7-93A6-D04E8DC55D21}" presName="childNode" presStyleLbl="node1" presStyleIdx="1" presStyleCnt="2">
        <dgm:presLayoutVars>
          <dgm:bulletEnabled val="1"/>
        </dgm:presLayoutVars>
      </dgm:prSet>
      <dgm:spPr/>
    </dgm:pt>
    <dgm:pt modelId="{7B60F2B9-7CC8-4910-9B65-654648F194D5}" type="pres">
      <dgm:prSet presAssocID="{70B7C67B-1DAA-4EA7-93A6-D04E8DC55D21}" presName="parentNode" presStyleLbl="revTx" presStyleIdx="1" presStyleCnt="2" custScaleX="291178">
        <dgm:presLayoutVars>
          <dgm:chMax val="0"/>
          <dgm:bulletEnabled val="1"/>
        </dgm:presLayoutVars>
      </dgm:prSet>
      <dgm:spPr/>
    </dgm:pt>
  </dgm:ptLst>
  <dgm:cxnLst>
    <dgm:cxn modelId="{F8C87024-CDF0-4853-B413-DE9685E29864}" type="presOf" srcId="{F0AEDB1B-5234-4C15-A3DC-3B29BC2E1A87}" destId="{9621702B-E404-40E1-8ECC-4230CA232D4F}" srcOrd="0" destOrd="0" presId="urn:microsoft.com/office/officeart/2005/8/layout/hList2#1"/>
    <dgm:cxn modelId="{2CED5B48-3626-4A6A-8EA6-D7B1275E6A63}" srcId="{70B7C67B-1DAA-4EA7-93A6-D04E8DC55D21}" destId="{580FC2B8-B98C-4F2D-B1F2-ACD4B0F0ABBC}" srcOrd="0" destOrd="0" parTransId="{9576A47D-22DE-4DB3-AE22-51F1272DC5FB}" sibTransId="{BBE612F0-AA1E-4C51-84EB-8CEAC75B9206}"/>
    <dgm:cxn modelId="{EDCF8A48-F3E4-48C3-BDC2-39A98211F197}" type="presOf" srcId="{F6F8F2B4-6C9D-4EB7-997A-13DBC4D3E060}" destId="{83C61B12-465C-4E5D-B775-F9534700419C}" srcOrd="0" destOrd="0" presId="urn:microsoft.com/office/officeart/2005/8/layout/hList2#1"/>
    <dgm:cxn modelId="{EBE5094D-1813-4974-A589-24A50023697A}" srcId="{F6F8F2B4-6C9D-4EB7-997A-13DBC4D3E060}" destId="{F0AEDB1B-5234-4C15-A3DC-3B29BC2E1A87}" srcOrd="0" destOrd="0" parTransId="{8768B443-08C4-4AB7-8F69-F5E93C744FB9}" sibTransId="{D96E9DE7-579C-4735-852A-D27C489185BF}"/>
    <dgm:cxn modelId="{72999854-30ED-4711-B7F3-B74F37AA84E4}" srcId="{BB0A4B4F-870D-47CA-AADD-381E45B6085F}" destId="{F6F8F2B4-6C9D-4EB7-997A-13DBC4D3E060}" srcOrd="0" destOrd="0" parTransId="{1A4538DF-7C09-4020-9C68-37738EE034B5}" sibTransId="{2DFD6731-5C30-4FB5-B79A-3DC6D1DBEE7D}"/>
    <dgm:cxn modelId="{61DBCAB0-F2B8-45E5-A7DA-74FFCBB6DBB3}" type="presOf" srcId="{BB0A4B4F-870D-47CA-AADD-381E45B6085F}" destId="{6FF05926-D6B4-4C83-9DB1-CE41A33CBDC5}" srcOrd="0" destOrd="0" presId="urn:microsoft.com/office/officeart/2005/8/layout/hList2#1"/>
    <dgm:cxn modelId="{9FB3C2E7-1483-4229-8400-F5709FF792E1}" type="presOf" srcId="{70B7C67B-1DAA-4EA7-93A6-D04E8DC55D21}" destId="{7B60F2B9-7CC8-4910-9B65-654648F194D5}" srcOrd="0" destOrd="0" presId="urn:microsoft.com/office/officeart/2005/8/layout/hList2#1"/>
    <dgm:cxn modelId="{0BA126E9-C171-4054-94D3-205938F44173}" srcId="{BB0A4B4F-870D-47CA-AADD-381E45B6085F}" destId="{70B7C67B-1DAA-4EA7-93A6-D04E8DC55D21}" srcOrd="1" destOrd="0" parTransId="{3668FB49-8796-4659-AF2C-1B64DF1C9B7B}" sibTransId="{ED945972-CC0E-4C50-8A45-1A82648C7BAE}"/>
    <dgm:cxn modelId="{51CA7DEF-4C7A-4B51-A72E-CF652830D21C}" type="presOf" srcId="{580FC2B8-B98C-4F2D-B1F2-ACD4B0F0ABBC}" destId="{090501C2-A517-4DC3-86C6-235F4EC33A50}" srcOrd="0" destOrd="0" presId="urn:microsoft.com/office/officeart/2005/8/layout/hList2#1"/>
    <dgm:cxn modelId="{3678A253-9BF1-420A-8463-C091A61B865F}" type="presParOf" srcId="{6FF05926-D6B4-4C83-9DB1-CE41A33CBDC5}" destId="{3C8395A8-5AA3-4164-BEC8-9F256625DF83}" srcOrd="0" destOrd="0" presId="urn:microsoft.com/office/officeart/2005/8/layout/hList2#1"/>
    <dgm:cxn modelId="{9FE405EB-7A21-4310-93FC-C2418E918E60}" type="presParOf" srcId="{3C8395A8-5AA3-4164-BEC8-9F256625DF83}" destId="{3F7E9180-BE79-44D5-A46F-274FE2B4DE23}" srcOrd="0" destOrd="0" presId="urn:microsoft.com/office/officeart/2005/8/layout/hList2#1"/>
    <dgm:cxn modelId="{57D30737-6143-47AE-893A-7799FF761497}" type="presParOf" srcId="{3C8395A8-5AA3-4164-BEC8-9F256625DF83}" destId="{9621702B-E404-40E1-8ECC-4230CA232D4F}" srcOrd="1" destOrd="0" presId="urn:microsoft.com/office/officeart/2005/8/layout/hList2#1"/>
    <dgm:cxn modelId="{0D2D4F2C-B49B-4645-8CBF-524C667D0348}" type="presParOf" srcId="{3C8395A8-5AA3-4164-BEC8-9F256625DF83}" destId="{83C61B12-465C-4E5D-B775-F9534700419C}" srcOrd="2" destOrd="0" presId="urn:microsoft.com/office/officeart/2005/8/layout/hList2#1"/>
    <dgm:cxn modelId="{7213F68F-E1CE-48AB-A28B-EE62EFEC2CA0}" type="presParOf" srcId="{6FF05926-D6B4-4C83-9DB1-CE41A33CBDC5}" destId="{11DF919A-9A1D-44A3-BB78-CFF7F0B4FB99}" srcOrd="1" destOrd="0" presId="urn:microsoft.com/office/officeart/2005/8/layout/hList2#1"/>
    <dgm:cxn modelId="{CD01ADFE-2C7A-4575-A7F7-B7D1407D7252}" type="presParOf" srcId="{6FF05926-D6B4-4C83-9DB1-CE41A33CBDC5}" destId="{66C410BA-BA1D-48EB-B8AF-B12E17B8C6D5}" srcOrd="2" destOrd="0" presId="urn:microsoft.com/office/officeart/2005/8/layout/hList2#1"/>
    <dgm:cxn modelId="{198C363D-FC39-4FDF-815B-67FCD7598C4A}" type="presParOf" srcId="{66C410BA-BA1D-48EB-B8AF-B12E17B8C6D5}" destId="{DA2E1560-4D9C-4A06-B86F-51630CE53A24}" srcOrd="0" destOrd="0" presId="urn:microsoft.com/office/officeart/2005/8/layout/hList2#1"/>
    <dgm:cxn modelId="{406CDD10-194F-482F-8143-1CF7DA0AE4B6}" type="presParOf" srcId="{66C410BA-BA1D-48EB-B8AF-B12E17B8C6D5}" destId="{090501C2-A517-4DC3-86C6-235F4EC33A50}" srcOrd="1" destOrd="0" presId="urn:microsoft.com/office/officeart/2005/8/layout/hList2#1"/>
    <dgm:cxn modelId="{6A16AAE2-39E6-47E8-8711-2018582207EC}" type="presParOf" srcId="{66C410BA-BA1D-48EB-B8AF-B12E17B8C6D5}" destId="{7B60F2B9-7CC8-4910-9B65-654648F194D5}" srcOrd="2" destOrd="0" presId="urn:microsoft.com/office/officeart/2005/8/layout/hList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AF8CCA-1627-4CD2-8308-BB129A50B5F5}">
      <dsp:nvSpPr>
        <dsp:cNvPr id="0" name=""/>
        <dsp:cNvSpPr/>
      </dsp:nvSpPr>
      <dsp:spPr>
        <a:xfrm>
          <a:off x="0" y="0"/>
          <a:ext cx="2232248" cy="1395155"/>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005187-9B45-408C-8B1F-218C63A1C112}">
      <dsp:nvSpPr>
        <dsp:cNvPr id="0" name=""/>
        <dsp:cNvSpPr/>
      </dsp:nvSpPr>
      <dsp:spPr>
        <a:xfrm>
          <a:off x="283495" y="1093450"/>
          <a:ext cx="58038" cy="5803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D9609F-6415-43D1-84DF-036288329EFE}">
      <dsp:nvSpPr>
        <dsp:cNvPr id="0" name=""/>
        <dsp:cNvSpPr/>
      </dsp:nvSpPr>
      <dsp:spPr>
        <a:xfrm>
          <a:off x="312514" y="1122469"/>
          <a:ext cx="520113" cy="40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753" tIns="0" rIns="0" bIns="0" numCol="1" spcCol="1270" anchor="t" anchorCtr="0">
          <a:noAutofit/>
        </a:bodyPr>
        <a:lstStyle/>
        <a:p>
          <a:pPr marL="0" lvl="0" indent="0" algn="l" defTabSz="1289050">
            <a:lnSpc>
              <a:spcPct val="90000"/>
            </a:lnSpc>
            <a:spcBef>
              <a:spcPct val="0"/>
            </a:spcBef>
            <a:spcAft>
              <a:spcPct val="35000"/>
            </a:spcAft>
            <a:buNone/>
          </a:pPr>
          <a:r>
            <a:rPr lang="en-US" sz="2900" kern="1200" dirty="0"/>
            <a:t>a</a:t>
          </a:r>
        </a:p>
      </dsp:txBody>
      <dsp:txXfrm>
        <a:off x="312514" y="1122469"/>
        <a:ext cx="520113" cy="403199"/>
      </dsp:txXfrm>
    </dsp:sp>
    <dsp:sp modelId="{84DA5827-35C6-4C22-AFD0-C3607DBEFE53}">
      <dsp:nvSpPr>
        <dsp:cNvPr id="0" name=""/>
        <dsp:cNvSpPr/>
      </dsp:nvSpPr>
      <dsp:spPr>
        <a:xfrm>
          <a:off x="795796" y="714247"/>
          <a:ext cx="104915" cy="10491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BC7187-213D-4BD3-BAD5-F3EEE6AB6993}">
      <dsp:nvSpPr>
        <dsp:cNvPr id="0" name=""/>
        <dsp:cNvSpPr/>
      </dsp:nvSpPr>
      <dsp:spPr>
        <a:xfrm>
          <a:off x="848254" y="766705"/>
          <a:ext cx="535739" cy="758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593" tIns="0" rIns="0" bIns="0" numCol="1" spcCol="1270" anchor="t" anchorCtr="0">
          <a:noAutofit/>
        </a:bodyPr>
        <a:lstStyle/>
        <a:p>
          <a:pPr marL="0" lvl="0" indent="0" algn="l" defTabSz="1289050">
            <a:lnSpc>
              <a:spcPct val="90000"/>
            </a:lnSpc>
            <a:spcBef>
              <a:spcPct val="0"/>
            </a:spcBef>
            <a:spcAft>
              <a:spcPct val="35000"/>
            </a:spcAft>
            <a:buNone/>
          </a:pPr>
          <a:r>
            <a:rPr lang="en-US" sz="2900" kern="1200" dirty="0"/>
            <a:t>b</a:t>
          </a:r>
        </a:p>
      </dsp:txBody>
      <dsp:txXfrm>
        <a:off x="848254" y="766705"/>
        <a:ext cx="535739" cy="758964"/>
      </dsp:txXfrm>
    </dsp:sp>
    <dsp:sp modelId="{A0164F2D-1A4C-4198-A892-C82E8E92537C}">
      <dsp:nvSpPr>
        <dsp:cNvPr id="0" name=""/>
        <dsp:cNvSpPr/>
      </dsp:nvSpPr>
      <dsp:spPr>
        <a:xfrm>
          <a:off x="1411896" y="483488"/>
          <a:ext cx="145096" cy="14509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0E98C4-5EA7-4CA2-AF0B-72D3E8EA1740}">
      <dsp:nvSpPr>
        <dsp:cNvPr id="0" name=""/>
        <dsp:cNvSpPr/>
      </dsp:nvSpPr>
      <dsp:spPr>
        <a:xfrm>
          <a:off x="1484444" y="556036"/>
          <a:ext cx="535739" cy="9696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883" tIns="0" rIns="0" bIns="0" numCol="1" spcCol="1270" anchor="t" anchorCtr="0">
          <a:noAutofit/>
        </a:bodyPr>
        <a:lstStyle/>
        <a:p>
          <a:pPr marL="0" lvl="0" indent="0" algn="l" defTabSz="1289050">
            <a:lnSpc>
              <a:spcPct val="90000"/>
            </a:lnSpc>
            <a:spcBef>
              <a:spcPct val="0"/>
            </a:spcBef>
            <a:spcAft>
              <a:spcPct val="35000"/>
            </a:spcAft>
            <a:buNone/>
          </a:pPr>
          <a:r>
            <a:rPr lang="en-US" sz="2900" kern="1200" dirty="0"/>
            <a:t>c</a:t>
          </a:r>
        </a:p>
      </dsp:txBody>
      <dsp:txXfrm>
        <a:off x="1484444" y="556036"/>
        <a:ext cx="535739" cy="9696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2C261E-ED9B-4C34-97A9-4359408A3854}">
      <dsp:nvSpPr>
        <dsp:cNvPr id="0" name=""/>
        <dsp:cNvSpPr/>
      </dsp:nvSpPr>
      <dsp:spPr>
        <a:xfrm>
          <a:off x="0" y="184520"/>
          <a:ext cx="7704856" cy="4815535"/>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DE06A5-70C9-B042-9BC6-C39974E4DE16}">
      <dsp:nvSpPr>
        <dsp:cNvPr id="0" name=""/>
        <dsp:cNvSpPr/>
      </dsp:nvSpPr>
      <dsp:spPr>
        <a:xfrm>
          <a:off x="758928" y="3765352"/>
          <a:ext cx="177211" cy="17721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451E5E-5383-EB4D-9F97-D9EFFD428091}">
      <dsp:nvSpPr>
        <dsp:cNvPr id="0" name=""/>
        <dsp:cNvSpPr/>
      </dsp:nvSpPr>
      <dsp:spPr>
        <a:xfrm>
          <a:off x="847534" y="3853958"/>
          <a:ext cx="1317530" cy="1146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901" tIns="0" rIns="0" bIns="0" numCol="1" spcCol="1270" anchor="t" anchorCtr="0">
          <a:noAutofit/>
        </a:bodyPr>
        <a:lstStyle/>
        <a:p>
          <a:pPr marL="0" lvl="0" indent="0" algn="l" defTabSz="577850">
            <a:lnSpc>
              <a:spcPct val="90000"/>
            </a:lnSpc>
            <a:spcBef>
              <a:spcPct val="0"/>
            </a:spcBef>
            <a:spcAft>
              <a:spcPct val="35000"/>
            </a:spcAft>
            <a:buNone/>
          </a:pPr>
          <a:r>
            <a:rPr lang="nl-NL" sz="1300" b="1" kern="1200" dirty="0" err="1"/>
            <a:t>Designing</a:t>
          </a:r>
          <a:r>
            <a:rPr lang="nl-NL" sz="1300" b="1" kern="1200" dirty="0"/>
            <a:t> </a:t>
          </a:r>
          <a:r>
            <a:rPr lang="nl-NL" sz="1300" b="1" kern="1200" dirty="0" err="1"/>
            <a:t>the</a:t>
          </a:r>
          <a:r>
            <a:rPr lang="nl-NL" sz="1300" b="1" kern="1200" dirty="0"/>
            <a:t> System </a:t>
          </a:r>
        </a:p>
        <a:p>
          <a:pPr marL="0" lvl="0" indent="0" algn="l" defTabSz="577850">
            <a:lnSpc>
              <a:spcPct val="90000"/>
            </a:lnSpc>
            <a:spcBef>
              <a:spcPct val="0"/>
            </a:spcBef>
            <a:spcAft>
              <a:spcPct val="35000"/>
            </a:spcAft>
            <a:buNone/>
          </a:pPr>
          <a:r>
            <a:rPr lang="nl-NL" sz="1300" kern="1200" dirty="0" err="1"/>
            <a:t>Define</a:t>
          </a:r>
          <a:r>
            <a:rPr lang="nl-NL" sz="1300" kern="1200" dirty="0"/>
            <a:t> system </a:t>
          </a:r>
          <a:r>
            <a:rPr lang="nl-NL" sz="1300" kern="1200" dirty="0" err="1"/>
            <a:t>requirements</a:t>
          </a:r>
          <a:r>
            <a:rPr lang="nl-NL" sz="1300" kern="1200" dirty="0"/>
            <a:t> </a:t>
          </a:r>
          <a:r>
            <a:rPr lang="nl-NL" sz="1300" kern="1200" dirty="0" err="1"/>
            <a:t>and</a:t>
          </a:r>
          <a:r>
            <a:rPr lang="nl-NL" sz="1300" kern="1200" dirty="0"/>
            <a:t> target </a:t>
          </a:r>
          <a:r>
            <a:rPr lang="nl-NL" sz="1300" kern="1200" dirty="0" err="1"/>
            <a:t>groups</a:t>
          </a:r>
          <a:r>
            <a:rPr lang="nl-NL" sz="1300" kern="1200" dirty="0"/>
            <a:t>.</a:t>
          </a:r>
        </a:p>
      </dsp:txBody>
      <dsp:txXfrm>
        <a:off x="847534" y="3853958"/>
        <a:ext cx="1317530" cy="1146097"/>
      </dsp:txXfrm>
    </dsp:sp>
    <dsp:sp modelId="{FDAF4959-F200-6F46-ADEC-D4823ECAA5A0}">
      <dsp:nvSpPr>
        <dsp:cNvPr id="0" name=""/>
        <dsp:cNvSpPr/>
      </dsp:nvSpPr>
      <dsp:spPr>
        <a:xfrm>
          <a:off x="2010967" y="2645258"/>
          <a:ext cx="308194" cy="30819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40DB55-32AA-9348-87A3-CDEBC6D29A2E}">
      <dsp:nvSpPr>
        <dsp:cNvPr id="0" name=""/>
        <dsp:cNvSpPr/>
      </dsp:nvSpPr>
      <dsp:spPr>
        <a:xfrm>
          <a:off x="2165064" y="2799356"/>
          <a:ext cx="1618019" cy="2200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306" tIns="0" rIns="0" bIns="0" numCol="1" spcCol="1270" anchor="t" anchorCtr="0">
          <a:noAutofit/>
        </a:bodyPr>
        <a:lstStyle/>
        <a:p>
          <a:pPr marL="0" lvl="0" indent="0" algn="l" defTabSz="577850">
            <a:lnSpc>
              <a:spcPct val="90000"/>
            </a:lnSpc>
            <a:spcBef>
              <a:spcPct val="0"/>
            </a:spcBef>
            <a:spcAft>
              <a:spcPct val="35000"/>
            </a:spcAft>
            <a:buNone/>
          </a:pPr>
          <a:r>
            <a:rPr lang="nl-NL" sz="1300" b="1" kern="1200" dirty="0" err="1"/>
            <a:t>Implementing</a:t>
          </a:r>
          <a:r>
            <a:rPr lang="nl-NL" sz="1300" b="1" kern="1200" dirty="0"/>
            <a:t> </a:t>
          </a:r>
          <a:r>
            <a:rPr lang="nl-NL" sz="1300" b="1" kern="1200" dirty="0" err="1"/>
            <a:t>the</a:t>
          </a:r>
          <a:r>
            <a:rPr lang="nl-NL" sz="1300" b="1" kern="1200" dirty="0"/>
            <a:t> System</a:t>
          </a:r>
        </a:p>
        <a:p>
          <a:pPr marL="0" lvl="0" indent="0" algn="l" defTabSz="577850">
            <a:lnSpc>
              <a:spcPct val="90000"/>
            </a:lnSpc>
            <a:spcBef>
              <a:spcPct val="0"/>
            </a:spcBef>
            <a:spcAft>
              <a:spcPct val="35000"/>
            </a:spcAft>
            <a:buNone/>
          </a:pPr>
          <a:r>
            <a:rPr lang="nl-NL" sz="1300" b="1" kern="1200" dirty="0"/>
            <a:t> </a:t>
          </a:r>
          <a:r>
            <a:rPr lang="nl-NL" sz="1300" kern="1200" dirty="0"/>
            <a:t>Design System Architecture </a:t>
          </a:r>
          <a:r>
            <a:rPr lang="nl-NL" sz="1300" kern="1200" dirty="0" err="1"/>
            <a:t>and</a:t>
          </a:r>
          <a:r>
            <a:rPr lang="nl-NL" sz="1300" kern="1200" dirty="0"/>
            <a:t> </a:t>
          </a:r>
          <a:r>
            <a:rPr lang="nl-NL" sz="1300" kern="1200" dirty="0" err="1"/>
            <a:t>Inference</a:t>
          </a:r>
          <a:r>
            <a:rPr lang="nl-NL" sz="1300" kern="1200" dirty="0"/>
            <a:t> Engine, Code.</a:t>
          </a:r>
        </a:p>
      </dsp:txBody>
      <dsp:txXfrm>
        <a:off x="2165064" y="2799356"/>
        <a:ext cx="1618019" cy="2200699"/>
      </dsp:txXfrm>
    </dsp:sp>
    <dsp:sp modelId="{3610AB4A-A9C6-F74E-8F4E-11B83828DE36}">
      <dsp:nvSpPr>
        <dsp:cNvPr id="0" name=""/>
        <dsp:cNvSpPr/>
      </dsp:nvSpPr>
      <dsp:spPr>
        <a:xfrm>
          <a:off x="3609725" y="1819876"/>
          <a:ext cx="408357" cy="40835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55AE84-D72D-7F48-A00C-06F33B496929}">
      <dsp:nvSpPr>
        <dsp:cNvPr id="0" name=""/>
        <dsp:cNvSpPr/>
      </dsp:nvSpPr>
      <dsp:spPr>
        <a:xfrm>
          <a:off x="3813903" y="2024054"/>
          <a:ext cx="1618019" cy="297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6380" tIns="0" rIns="0" bIns="0" numCol="1" spcCol="1270" anchor="t" anchorCtr="0">
          <a:noAutofit/>
        </a:bodyPr>
        <a:lstStyle/>
        <a:p>
          <a:pPr marL="0" lvl="0" indent="0" algn="l" defTabSz="577850">
            <a:lnSpc>
              <a:spcPct val="90000"/>
            </a:lnSpc>
            <a:spcBef>
              <a:spcPct val="0"/>
            </a:spcBef>
            <a:spcAft>
              <a:spcPct val="35000"/>
            </a:spcAft>
            <a:buNone/>
          </a:pPr>
          <a:r>
            <a:rPr lang="nl-NL" sz="1300" b="1" kern="1200" dirty="0"/>
            <a:t>Testing  </a:t>
          </a:r>
          <a:r>
            <a:rPr lang="nl-NL" sz="1300" b="1" kern="1200" dirty="0" err="1"/>
            <a:t>the</a:t>
          </a:r>
          <a:r>
            <a:rPr lang="nl-NL" sz="1300" b="1" kern="1200" dirty="0"/>
            <a:t> System </a:t>
          </a:r>
        </a:p>
        <a:p>
          <a:pPr marL="0" lvl="0" indent="0" algn="l" defTabSz="577850">
            <a:lnSpc>
              <a:spcPct val="90000"/>
            </a:lnSpc>
            <a:spcBef>
              <a:spcPct val="0"/>
            </a:spcBef>
            <a:spcAft>
              <a:spcPct val="35000"/>
            </a:spcAft>
            <a:buNone/>
          </a:pPr>
          <a:r>
            <a:rPr lang="nl-NL" sz="1300" kern="1200" dirty="0" err="1"/>
            <a:t>Evaluate</a:t>
          </a:r>
          <a:r>
            <a:rPr lang="nl-NL" sz="1300" kern="1200" dirty="0"/>
            <a:t> </a:t>
          </a:r>
          <a:r>
            <a:rPr lang="nl-NL" sz="1300" b="1" kern="1200" dirty="0"/>
            <a:t>Verification</a:t>
          </a:r>
          <a:r>
            <a:rPr lang="nl-NL" sz="1300" kern="1200" dirty="0"/>
            <a:t> </a:t>
          </a:r>
          <a:r>
            <a:rPr lang="nl-NL" sz="1300" kern="1200" dirty="0" err="1"/>
            <a:t>and</a:t>
          </a:r>
          <a:r>
            <a:rPr lang="nl-NL" sz="1300" kern="1200" dirty="0"/>
            <a:t> </a:t>
          </a:r>
          <a:r>
            <a:rPr lang="nl-NL" sz="1300" kern="1200" dirty="0" err="1"/>
            <a:t>fine-tune</a:t>
          </a:r>
          <a:r>
            <a:rPr lang="nl-NL" sz="1300" kern="1200" dirty="0"/>
            <a:t> parameters</a:t>
          </a:r>
        </a:p>
      </dsp:txBody>
      <dsp:txXfrm>
        <a:off x="3813903" y="2024054"/>
        <a:ext cx="1618019" cy="2976000"/>
      </dsp:txXfrm>
    </dsp:sp>
    <dsp:sp modelId="{B93269C0-B787-6947-9093-4FF209F56F4C}">
      <dsp:nvSpPr>
        <dsp:cNvPr id="0" name=""/>
        <dsp:cNvSpPr/>
      </dsp:nvSpPr>
      <dsp:spPr>
        <a:xfrm>
          <a:off x="5351022" y="1273794"/>
          <a:ext cx="547044" cy="54704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6586EC-1FB1-8E47-890E-437505C76375}">
      <dsp:nvSpPr>
        <dsp:cNvPr id="0" name=""/>
        <dsp:cNvSpPr/>
      </dsp:nvSpPr>
      <dsp:spPr>
        <a:xfrm>
          <a:off x="5624544" y="1547316"/>
          <a:ext cx="1618019" cy="34527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9868" tIns="0" rIns="0" bIns="0" numCol="1" spcCol="1270" anchor="t" anchorCtr="0">
          <a:noAutofit/>
        </a:bodyPr>
        <a:lstStyle/>
        <a:p>
          <a:pPr marL="0" lvl="0" indent="0" algn="l" defTabSz="577850">
            <a:lnSpc>
              <a:spcPct val="90000"/>
            </a:lnSpc>
            <a:spcBef>
              <a:spcPct val="0"/>
            </a:spcBef>
            <a:spcAft>
              <a:spcPct val="35000"/>
            </a:spcAft>
            <a:buNone/>
          </a:pPr>
          <a:r>
            <a:rPr lang="nl-NL" sz="1300" b="1" kern="1200" dirty="0"/>
            <a:t>Using </a:t>
          </a:r>
          <a:r>
            <a:rPr lang="nl-NL" sz="1300" b="1" kern="1200" dirty="0" err="1"/>
            <a:t>the</a:t>
          </a:r>
          <a:r>
            <a:rPr lang="nl-NL" sz="1300" b="1" kern="1200" dirty="0"/>
            <a:t> System  </a:t>
          </a:r>
        </a:p>
        <a:p>
          <a:pPr marL="0" lvl="0" indent="0" algn="l" defTabSz="577850">
            <a:lnSpc>
              <a:spcPct val="90000"/>
            </a:lnSpc>
            <a:spcBef>
              <a:spcPct val="0"/>
            </a:spcBef>
            <a:spcAft>
              <a:spcPct val="35000"/>
            </a:spcAft>
            <a:buNone/>
          </a:pPr>
          <a:r>
            <a:rPr lang="nl-NL" sz="1300" b="1" kern="1200" dirty="0"/>
            <a:t>Validation</a:t>
          </a:r>
          <a:r>
            <a:rPr lang="nl-NL" sz="1300" kern="1200" dirty="0"/>
            <a:t> + user </a:t>
          </a:r>
          <a:r>
            <a:rPr lang="nl-NL" sz="1300" kern="1200" dirty="0" err="1"/>
            <a:t>evaluations</a:t>
          </a:r>
          <a:endParaRPr lang="nl-NL" sz="1300" kern="1200" dirty="0"/>
        </a:p>
        <a:p>
          <a:pPr marL="0" lvl="0" indent="0" algn="l" defTabSz="577850">
            <a:lnSpc>
              <a:spcPct val="90000"/>
            </a:lnSpc>
            <a:spcBef>
              <a:spcPct val="0"/>
            </a:spcBef>
            <a:spcAft>
              <a:spcPct val="35000"/>
            </a:spcAft>
            <a:buNone/>
          </a:pPr>
          <a:endParaRPr lang="nl-NL" sz="1300" kern="1200" dirty="0"/>
        </a:p>
      </dsp:txBody>
      <dsp:txXfrm>
        <a:off x="5624544" y="1547316"/>
        <a:ext cx="1618019" cy="34527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156C14-6035-4F0A-9C8C-35337D8CF05B}">
      <dsp:nvSpPr>
        <dsp:cNvPr id="0" name=""/>
        <dsp:cNvSpPr/>
      </dsp:nvSpPr>
      <dsp:spPr>
        <a:xfrm>
          <a:off x="6563" y="1652131"/>
          <a:ext cx="3923407" cy="156936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r>
            <a:rPr lang="nl-NL" sz="3500" kern="1200" dirty="0"/>
            <a:t>Building </a:t>
          </a:r>
          <a:r>
            <a:rPr lang="nl-NL" sz="3500" kern="1200" dirty="0" err="1"/>
            <a:t>the</a:t>
          </a:r>
          <a:r>
            <a:rPr lang="nl-NL" sz="3500" kern="1200" dirty="0"/>
            <a:t> System</a:t>
          </a:r>
        </a:p>
      </dsp:txBody>
      <dsp:txXfrm>
        <a:off x="791244" y="1652131"/>
        <a:ext cx="2354045" cy="1569362"/>
      </dsp:txXfrm>
    </dsp:sp>
    <dsp:sp modelId="{10CDF1FA-0AD1-4473-AF0B-27F9835A228E}">
      <dsp:nvSpPr>
        <dsp:cNvPr id="0" name=""/>
        <dsp:cNvSpPr/>
      </dsp:nvSpPr>
      <dsp:spPr>
        <a:xfrm>
          <a:off x="3537629" y="1652131"/>
          <a:ext cx="3923407" cy="156936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r>
            <a:rPr lang="nl-NL" sz="3500" kern="1200" dirty="0"/>
            <a:t>Using </a:t>
          </a:r>
          <a:r>
            <a:rPr lang="nl-NL" sz="3500" kern="1200" dirty="0" err="1"/>
            <a:t>the</a:t>
          </a:r>
          <a:r>
            <a:rPr lang="nl-NL" sz="3500" kern="1200" dirty="0"/>
            <a:t> System</a:t>
          </a:r>
        </a:p>
      </dsp:txBody>
      <dsp:txXfrm>
        <a:off x="4322310" y="1652131"/>
        <a:ext cx="2354045" cy="15693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C61B12-465C-4E5D-B775-F9534700419C}">
      <dsp:nvSpPr>
        <dsp:cNvPr id="0" name=""/>
        <dsp:cNvSpPr/>
      </dsp:nvSpPr>
      <dsp:spPr>
        <a:xfrm rot="16200000">
          <a:off x="-1235496" y="1963302"/>
          <a:ext cx="3763138" cy="1532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9370" bIns="0" numCol="1" spcCol="1270" anchor="t" anchorCtr="0">
          <a:noAutofit/>
        </a:bodyPr>
        <a:lstStyle/>
        <a:p>
          <a:pPr marL="0" lvl="0" indent="0" algn="r" defTabSz="1600200">
            <a:lnSpc>
              <a:spcPct val="90000"/>
            </a:lnSpc>
            <a:spcBef>
              <a:spcPct val="0"/>
            </a:spcBef>
            <a:spcAft>
              <a:spcPct val="35000"/>
            </a:spcAft>
            <a:buNone/>
          </a:pPr>
          <a:r>
            <a:rPr lang="nl-NL" sz="3600" kern="1200" dirty="0"/>
            <a:t>Control Group</a:t>
          </a:r>
        </a:p>
      </dsp:txBody>
      <dsp:txXfrm>
        <a:off x="-1235496" y="1963302"/>
        <a:ext cx="3763138" cy="1532285"/>
      </dsp:txXfrm>
    </dsp:sp>
    <dsp:sp modelId="{9621702B-E404-40E1-8ECC-4230CA232D4F}">
      <dsp:nvSpPr>
        <dsp:cNvPr id="0" name=""/>
        <dsp:cNvSpPr/>
      </dsp:nvSpPr>
      <dsp:spPr>
        <a:xfrm>
          <a:off x="900833" y="847876"/>
          <a:ext cx="2537959" cy="3763138"/>
        </a:xfrm>
        <a:prstGeom prst="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449370"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solidFill>
                <a:schemeClr val="tx1"/>
              </a:solidFill>
              <a:effectLst/>
              <a:latin typeface="+mn-lt"/>
              <a:ea typeface="+mn-ea"/>
              <a:cs typeface="+mn-cs"/>
            </a:rPr>
            <a:t>the control group (or control condition) refers to the group of participants who are not exposed to the technological intervention.</a:t>
          </a:r>
          <a:endParaRPr lang="nl-NL" sz="1800" kern="1200" dirty="0"/>
        </a:p>
      </dsp:txBody>
      <dsp:txXfrm>
        <a:off x="900833" y="847876"/>
        <a:ext cx="2537959" cy="3763138"/>
      </dsp:txXfrm>
    </dsp:sp>
    <dsp:sp modelId="{3F7E9180-BE79-44D5-A46F-274FE2B4DE23}">
      <dsp:nvSpPr>
        <dsp:cNvPr id="0" name=""/>
        <dsp:cNvSpPr/>
      </dsp:nvSpPr>
      <dsp:spPr>
        <a:xfrm>
          <a:off x="385268" y="194414"/>
          <a:ext cx="1031129" cy="980829"/>
        </a:xfrm>
        <a:prstGeom prst="rect">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60F2B9-7CC8-4910-9B65-654648F194D5}">
      <dsp:nvSpPr>
        <dsp:cNvPr id="0" name=""/>
        <dsp:cNvSpPr/>
      </dsp:nvSpPr>
      <dsp:spPr>
        <a:xfrm rot="16200000">
          <a:off x="2944956" y="2006744"/>
          <a:ext cx="3763138" cy="1483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9370" bIns="0" numCol="1" spcCol="1270" anchor="t" anchorCtr="0">
          <a:noAutofit/>
        </a:bodyPr>
        <a:lstStyle/>
        <a:p>
          <a:pPr marL="0" lvl="0" indent="0" algn="r" defTabSz="1422400">
            <a:lnSpc>
              <a:spcPct val="90000"/>
            </a:lnSpc>
            <a:spcBef>
              <a:spcPct val="0"/>
            </a:spcBef>
            <a:spcAft>
              <a:spcPct val="35000"/>
            </a:spcAft>
            <a:buNone/>
          </a:pPr>
          <a:r>
            <a:rPr lang="nl-NL" sz="3200" kern="1200" dirty="0" err="1"/>
            <a:t>Experimental</a:t>
          </a:r>
          <a:r>
            <a:rPr lang="nl-NL" sz="3200" kern="1200" dirty="0"/>
            <a:t> Group</a:t>
          </a:r>
        </a:p>
      </dsp:txBody>
      <dsp:txXfrm>
        <a:off x="2944956" y="2006744"/>
        <a:ext cx="3763138" cy="1483615"/>
      </dsp:txXfrm>
    </dsp:sp>
    <dsp:sp modelId="{090501C2-A517-4DC3-86C6-235F4EC33A50}">
      <dsp:nvSpPr>
        <dsp:cNvPr id="0" name=""/>
        <dsp:cNvSpPr/>
      </dsp:nvSpPr>
      <dsp:spPr>
        <a:xfrm>
          <a:off x="5081286" y="866983"/>
          <a:ext cx="2537959" cy="376313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449370" rIns="170688" bIns="170688" numCol="1" spcCol="1270" anchor="t" anchorCtr="0">
          <a:noAutofit/>
        </a:bodyPr>
        <a:lstStyle/>
        <a:p>
          <a:pPr marL="171450" lvl="1" indent="-171450" algn="l" defTabSz="844550">
            <a:lnSpc>
              <a:spcPct val="90000"/>
            </a:lnSpc>
            <a:spcBef>
              <a:spcPct val="0"/>
            </a:spcBef>
            <a:spcAft>
              <a:spcPct val="15000"/>
            </a:spcAft>
            <a:buChar char="•"/>
          </a:pPr>
          <a:r>
            <a:rPr lang="en-US" sz="1900" b="0" i="0" kern="1200" dirty="0">
              <a:solidFill>
                <a:schemeClr val="tx1"/>
              </a:solidFill>
              <a:effectLst/>
              <a:latin typeface="+mn-lt"/>
              <a:ea typeface="+mn-ea"/>
              <a:cs typeface="+mn-cs"/>
            </a:rPr>
            <a:t>the experimental group (or experimental condition) refers to the group of participants who are exposed to the technological intervention.</a:t>
          </a:r>
          <a:endParaRPr lang="nl-NL" sz="1900" kern="1200" dirty="0"/>
        </a:p>
      </dsp:txBody>
      <dsp:txXfrm>
        <a:off x="5081286" y="866983"/>
        <a:ext cx="2537959" cy="3763138"/>
      </dsp:txXfrm>
    </dsp:sp>
    <dsp:sp modelId="{DA2E1560-4D9C-4A06-B86F-51630CE53A24}">
      <dsp:nvSpPr>
        <dsp:cNvPr id="0" name=""/>
        <dsp:cNvSpPr/>
      </dsp:nvSpPr>
      <dsp:spPr>
        <a:xfrm>
          <a:off x="4571764" y="194414"/>
          <a:ext cx="1019043" cy="1019043"/>
        </a:xfrm>
        <a:prstGeom prst="rect">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List2#1">
  <dgm:title val=""/>
  <dgm:desc val=""/>
  <dgm:catLst>
    <dgm:cat type="list" pri="6000"/>
    <dgm:cat type="relationship" pri="1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0.1573</cdr:x>
      <cdr:y>0.92506</cdr:y>
    </cdr:from>
    <cdr:to>
      <cdr:x>0.73034</cdr:x>
      <cdr:y>1</cdr:y>
    </cdr:to>
    <cdr:sp macro="" textlink="">
      <cdr:nvSpPr>
        <cdr:cNvPr id="2" name="TextBox 1">
          <a:extLst xmlns:a="http://schemas.openxmlformats.org/drawingml/2006/main">
            <a:ext uri="{FF2B5EF4-FFF2-40B4-BE49-F238E27FC236}">
              <a16:creationId xmlns:a16="http://schemas.microsoft.com/office/drawing/2014/main" id="{F74EF0F4-AA85-BA4B-9CBF-881F1C93BDE2}"/>
            </a:ext>
          </a:extLst>
        </cdr:cNvPr>
        <cdr:cNvSpPr txBox="1"/>
      </cdr:nvSpPr>
      <cdr:spPr>
        <a:xfrm xmlns:a="http://schemas.openxmlformats.org/drawingml/2006/main">
          <a:off x="1008112" y="4444533"/>
          <a:ext cx="3672408" cy="360039"/>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0.1236</cdr:x>
      <cdr:y>0.90508</cdr:y>
    </cdr:from>
    <cdr:to>
      <cdr:x>0.26628</cdr:x>
      <cdr:y>1</cdr:y>
    </cdr:to>
    <cdr:sp macro="" textlink="">
      <cdr:nvSpPr>
        <cdr:cNvPr id="3" name="TextBox 2">
          <a:extLst xmlns:a="http://schemas.openxmlformats.org/drawingml/2006/main">
            <a:ext uri="{FF2B5EF4-FFF2-40B4-BE49-F238E27FC236}">
              <a16:creationId xmlns:a16="http://schemas.microsoft.com/office/drawing/2014/main" id="{67FCE126-A8EC-8944-AC2D-5D98006F4F8B}"/>
            </a:ext>
          </a:extLst>
        </cdr:cNvPr>
        <cdr:cNvSpPr txBox="1"/>
      </cdr:nvSpPr>
      <cdr:spPr>
        <a:xfrm xmlns:a="http://schemas.openxmlformats.org/drawingml/2006/main">
          <a:off x="792088" y="4348537"/>
          <a:ext cx="914400" cy="456035"/>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55C987-C87D-4C24-94F3-D4D39BAE38E5}" type="datetimeFigureOut">
              <a:rPr lang="en-US" smtClean="0"/>
              <a:pPr/>
              <a:t>9/26/22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C712869-574C-4F88-905A-A68D482E1BE8}" type="slidenum">
              <a:rPr lang="en-US" smtClean="0"/>
              <a:pPr/>
              <a:t>‹#›</a:t>
            </a:fld>
            <a:endParaRPr lang="en-US"/>
          </a:p>
        </p:txBody>
      </p:sp>
    </p:spTree>
    <p:extLst>
      <p:ext uri="{BB962C8B-B14F-4D97-AF65-F5344CB8AC3E}">
        <p14:creationId xmlns:p14="http://schemas.microsoft.com/office/powerpoint/2010/main" val="1542686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813EAE-BDCC-457C-9F6D-7A0F2F4866EE}" type="datetimeFigureOut">
              <a:rPr lang="en-US" smtClean="0"/>
              <a:pPr/>
              <a:t>9/26/22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B5396B-2A2A-4E03-9067-076B17923D50}" type="slidenum">
              <a:rPr lang="en-US" smtClean="0"/>
              <a:pPr/>
              <a:t>‹#›</a:t>
            </a:fld>
            <a:endParaRPr lang="en-US"/>
          </a:p>
        </p:txBody>
      </p:sp>
    </p:spTree>
    <p:extLst>
      <p:ext uri="{BB962C8B-B14F-4D97-AF65-F5344CB8AC3E}">
        <p14:creationId xmlns:p14="http://schemas.microsoft.com/office/powerpoint/2010/main" val="2541295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Artificial_Intelligence" TargetMode="External"/><Relationship Id="rId7" Type="http://schemas.openxmlformats.org/officeDocument/2006/relationships/hyperlink" Target="https://en.wikipedia.org/wiki/Backward_chaining"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en.wikipedia.org/wiki/Forward_chaining" TargetMode="External"/><Relationship Id="rId5" Type="http://schemas.openxmlformats.org/officeDocument/2006/relationships/hyperlink" Target="https://en.wikipedia.org/wiki/Knowledge_base" TargetMode="External"/><Relationship Id="rId4" Type="http://schemas.openxmlformats.org/officeDocument/2006/relationships/hyperlink" Target="https://en.wikipedia.org/wiki/Expert_system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the field of </a:t>
            </a:r>
            <a:r>
              <a:rPr lang="en-US" sz="1200" b="0" i="0" u="none" strike="noStrike" kern="1200" dirty="0">
                <a:solidFill>
                  <a:schemeClr val="tx1"/>
                </a:solidFill>
                <a:effectLst/>
                <a:latin typeface="+mn-lt"/>
                <a:ea typeface="+mn-ea"/>
                <a:cs typeface="+mn-cs"/>
                <a:hlinkClick r:id="rId3" tooltip="Artificial Intelligence"/>
              </a:rPr>
              <a:t>Artificial Intelligence</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inference engine</a:t>
            </a:r>
            <a:r>
              <a:rPr lang="en-US" sz="1200" b="0" i="0" kern="1200" dirty="0">
                <a:solidFill>
                  <a:schemeClr val="tx1"/>
                </a:solidFill>
                <a:effectLst/>
                <a:latin typeface="+mn-lt"/>
                <a:ea typeface="+mn-ea"/>
                <a:cs typeface="+mn-cs"/>
              </a:rPr>
              <a:t> is a component of the system that applies logical rules to the knowledge base to deduce new information. The first inference engines were components of </a:t>
            </a:r>
            <a:r>
              <a:rPr lang="en-US" sz="1200" b="0" i="0" u="none" strike="noStrike" kern="1200" dirty="0">
                <a:solidFill>
                  <a:schemeClr val="tx1"/>
                </a:solidFill>
                <a:effectLst/>
                <a:latin typeface="+mn-lt"/>
                <a:ea typeface="+mn-ea"/>
                <a:cs typeface="+mn-cs"/>
                <a:hlinkClick r:id="rId4" tooltip="Expert systems"/>
              </a:rPr>
              <a:t>expert systems</a:t>
            </a:r>
            <a:r>
              <a:rPr lang="en-US" sz="1200" b="0" i="0" kern="1200" dirty="0">
                <a:solidFill>
                  <a:schemeClr val="tx1"/>
                </a:solidFill>
                <a:effectLst/>
                <a:latin typeface="+mn-lt"/>
                <a:ea typeface="+mn-ea"/>
                <a:cs typeface="+mn-cs"/>
              </a:rPr>
              <a:t>. The typical expert system consisted of a </a:t>
            </a:r>
            <a:r>
              <a:rPr lang="en-US" sz="1200" b="0" i="0" u="none" strike="noStrike" kern="1200" dirty="0">
                <a:solidFill>
                  <a:schemeClr val="tx1"/>
                </a:solidFill>
                <a:effectLst/>
                <a:latin typeface="+mn-lt"/>
                <a:ea typeface="+mn-ea"/>
                <a:cs typeface="+mn-cs"/>
                <a:hlinkClick r:id="rId5" tooltip="Knowledge base"/>
              </a:rPr>
              <a:t>knowledge base</a:t>
            </a:r>
            <a:r>
              <a:rPr lang="en-US" sz="1200" b="0" i="0" kern="1200" dirty="0">
                <a:solidFill>
                  <a:schemeClr val="tx1"/>
                </a:solidFill>
                <a:effectLst/>
                <a:latin typeface="+mn-lt"/>
                <a:ea typeface="+mn-ea"/>
                <a:cs typeface="+mn-cs"/>
              </a:rPr>
              <a:t> and an inference engine. The knowledge base stored facts about the world. The inference engine applies logical rules to the knowledge base and deduced new knowledge. This process would iterate as each new fact in the knowledge base could trigger additional rules in the inference engine. Inference engines work primarily in one of two modes either special rule or facts: </a:t>
            </a:r>
            <a:r>
              <a:rPr lang="en-US" sz="1200" b="0" i="0" u="none" strike="noStrike" kern="1200" dirty="0">
                <a:solidFill>
                  <a:schemeClr val="tx1"/>
                </a:solidFill>
                <a:effectLst/>
                <a:latin typeface="+mn-lt"/>
                <a:ea typeface="+mn-ea"/>
                <a:cs typeface="+mn-cs"/>
                <a:hlinkClick r:id="rId6" tooltip="Forward chaining"/>
              </a:rPr>
              <a:t>forward chaining</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7" tooltip="Backward chaining"/>
              </a:rPr>
              <a:t>backward chaining</a:t>
            </a:r>
            <a:r>
              <a:rPr lang="en-US" sz="1200" b="0" i="0" kern="1200" dirty="0">
                <a:solidFill>
                  <a:schemeClr val="tx1"/>
                </a:solidFill>
                <a:effectLst/>
                <a:latin typeface="+mn-lt"/>
                <a:ea typeface="+mn-ea"/>
                <a:cs typeface="+mn-cs"/>
              </a:rPr>
              <a:t>. Forward chaining starts with the known facts and asserts new facts. Backward chaining starts with goals, and works backward to determine what facts must be asserted so that the goals can be achieved.</a:t>
            </a:r>
          </a:p>
          <a:p>
            <a:r>
              <a:rPr lang="en-US" sz="1200" b="0" i="0" kern="1200" dirty="0">
                <a:solidFill>
                  <a:schemeClr val="tx1"/>
                </a:solidFill>
                <a:effectLst/>
                <a:latin typeface="+mn-lt"/>
                <a:ea typeface="+mn-ea"/>
                <a:cs typeface="+mn-cs"/>
              </a:rPr>
              <a:t>The logic that an inference engine uses is typically represented as IF-THEN rules. The general format of such rules is IF &lt;logical expression&gt; THEN &lt;logical expression&gt;.</a:t>
            </a:r>
            <a:endParaRPr lang="en-US" dirty="0"/>
          </a:p>
        </p:txBody>
      </p:sp>
      <p:sp>
        <p:nvSpPr>
          <p:cNvPr id="4" name="Slide Number Placeholder 3"/>
          <p:cNvSpPr>
            <a:spLocks noGrp="1"/>
          </p:cNvSpPr>
          <p:nvPr>
            <p:ph type="sldNum" sz="quarter" idx="5"/>
          </p:nvPr>
        </p:nvSpPr>
        <p:spPr/>
        <p:txBody>
          <a:bodyPr/>
          <a:lstStyle/>
          <a:p>
            <a:fld id="{CEB5396B-2A2A-4E03-9067-076B17923D50}" type="slidenum">
              <a:rPr lang="en-US" smtClean="0"/>
              <a:pPr/>
              <a:t>6</a:t>
            </a:fld>
            <a:endParaRPr lang="en-US"/>
          </a:p>
        </p:txBody>
      </p:sp>
    </p:spTree>
    <p:extLst>
      <p:ext uri="{BB962C8B-B14F-4D97-AF65-F5344CB8AC3E}">
        <p14:creationId xmlns:p14="http://schemas.microsoft.com/office/powerpoint/2010/main" val="4137766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NL" dirty="0"/>
              <a:t>2</a:t>
            </a:r>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pPr fontAlgn="base"/>
            <a:endParaRPr lang="en-US" sz="1200" b="0" i="0" kern="1200" dirty="0">
              <a:solidFill>
                <a:schemeClr val="tx1"/>
              </a:solidFill>
              <a:effectLst/>
              <a:latin typeface="+mn-lt"/>
              <a:ea typeface="+mn-ea"/>
              <a:cs typeface="+mn-cs"/>
            </a:endParaRPr>
          </a:p>
          <a:p>
            <a:endParaRPr lang="nl-NL" dirty="0"/>
          </a:p>
        </p:txBody>
      </p:sp>
      <p:sp>
        <p:nvSpPr>
          <p:cNvPr id="4" name="Tijdelijke aanduiding voor dianummer 3"/>
          <p:cNvSpPr>
            <a:spLocks noGrp="1"/>
          </p:cNvSpPr>
          <p:nvPr>
            <p:ph type="sldNum" sz="quarter" idx="10"/>
          </p:nvPr>
        </p:nvSpPr>
        <p:spPr/>
        <p:txBody>
          <a:bodyPr/>
          <a:lstStyle/>
          <a:p>
            <a:fld id="{C79F2CF2-EBB0-4675-8D5A-713536D80E94}" type="slidenum">
              <a:rPr lang="en-US" smtClean="0"/>
              <a:pPr/>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EB5396B-2A2A-4E03-9067-076B17923D50}" type="slidenum">
              <a:rPr lang="en-US" smtClean="0"/>
              <a:pPr/>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endParaRPr lang="nl-NL" dirty="0"/>
          </a:p>
        </p:txBody>
      </p:sp>
      <p:sp>
        <p:nvSpPr>
          <p:cNvPr id="4" name="Tijdelijke aanduiding voor dianummer 3"/>
          <p:cNvSpPr>
            <a:spLocks noGrp="1"/>
          </p:cNvSpPr>
          <p:nvPr>
            <p:ph type="sldNum" sz="quarter" idx="10"/>
          </p:nvPr>
        </p:nvSpPr>
        <p:spPr/>
        <p:txBody>
          <a:bodyPr/>
          <a:lstStyle/>
          <a:p>
            <a:fld id="{C79F2CF2-EBB0-4675-8D5A-713536D80E94}" type="slidenum">
              <a:rPr lang="en-US" smtClean="0"/>
              <a:pPr/>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Not</a:t>
            </a:r>
            <a:endParaRPr lang="en-US" dirty="0"/>
          </a:p>
        </p:txBody>
      </p:sp>
      <p:sp>
        <p:nvSpPr>
          <p:cNvPr id="4" name="Slide Number Placeholder 3"/>
          <p:cNvSpPr>
            <a:spLocks noGrp="1"/>
          </p:cNvSpPr>
          <p:nvPr>
            <p:ph type="sldNum" sz="quarter" idx="5"/>
          </p:nvPr>
        </p:nvSpPr>
        <p:spPr/>
        <p:txBody>
          <a:bodyPr/>
          <a:lstStyle/>
          <a:p>
            <a:fld id="{CEB5396B-2A2A-4E03-9067-076B17923D50}" type="slidenum">
              <a:rPr lang="en-US" smtClean="0"/>
              <a:pPr/>
              <a:t>15</a:t>
            </a:fld>
            <a:endParaRPr lang="en-US"/>
          </a:p>
        </p:txBody>
      </p:sp>
    </p:spTree>
    <p:extLst>
      <p:ext uri="{BB962C8B-B14F-4D97-AF65-F5344CB8AC3E}">
        <p14:creationId xmlns:p14="http://schemas.microsoft.com/office/powerpoint/2010/main" val="1997327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16</a:t>
            </a:fld>
            <a:endParaRPr lang="en-US"/>
          </a:p>
        </p:txBody>
      </p:sp>
    </p:spTree>
    <p:extLst>
      <p:ext uri="{BB962C8B-B14F-4D97-AF65-F5344CB8AC3E}">
        <p14:creationId xmlns:p14="http://schemas.microsoft.com/office/powerpoint/2010/main" val="2621458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sz="1200" dirty="0"/>
          </a:p>
          <a:p>
            <a:endParaRPr lang="en-US" b="1" dirty="0"/>
          </a:p>
        </p:txBody>
      </p:sp>
      <p:sp>
        <p:nvSpPr>
          <p:cNvPr id="4" name="Slide Number Placeholder 3"/>
          <p:cNvSpPr>
            <a:spLocks noGrp="1"/>
          </p:cNvSpPr>
          <p:nvPr>
            <p:ph type="sldNum" sz="quarter" idx="10"/>
          </p:nvPr>
        </p:nvSpPr>
        <p:spPr/>
        <p:txBody>
          <a:bodyPr/>
          <a:lstStyle/>
          <a:p>
            <a:fld id="{CEB5396B-2A2A-4E03-9067-076B17923D50}"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Bv </a:t>
            </a:r>
            <a:r>
              <a:rPr lang="en-US" dirty="0" err="1"/>
              <a:t>controle</a:t>
            </a:r>
            <a:r>
              <a:rPr lang="en-US" dirty="0"/>
              <a:t> </a:t>
            </a:r>
            <a:r>
              <a:rPr lang="en-US" dirty="0" err="1"/>
              <a:t>groep</a:t>
            </a:r>
            <a:r>
              <a:rPr lang="en-US" dirty="0"/>
              <a:t>: </a:t>
            </a:r>
            <a:r>
              <a:rPr lang="en-US" dirty="0" err="1"/>
              <a:t>gebruikt</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beschrijf wat </a:t>
            </a:r>
            <a:r>
              <a:rPr lang="en-US" dirty="0" err="1"/>
              <a:t>je</a:t>
            </a:r>
            <a:r>
              <a:rPr lang="en-US" dirty="0"/>
              <a:t> </a:t>
            </a:r>
            <a:r>
              <a:rPr lang="en-US" dirty="0" err="1"/>
              <a:t>resultaten</a:t>
            </a:r>
            <a:r>
              <a:rPr lang="en-US" dirty="0"/>
              <a:t> </a:t>
            </a:r>
            <a:r>
              <a:rPr lang="en-US" dirty="0" err="1"/>
              <a:t>eventueel</a:t>
            </a:r>
            <a:r>
              <a:rPr lang="en-US" dirty="0"/>
              <a:t> </a:t>
            </a:r>
            <a:r>
              <a:rPr lang="en-US" dirty="0" err="1"/>
              <a:t>zou</a:t>
            </a:r>
            <a:r>
              <a:rPr lang="en-US" dirty="0"/>
              <a:t> </a:t>
            </a:r>
            <a:r>
              <a:rPr lang="en-US" dirty="0" err="1"/>
              <a:t>kunnen</a:t>
            </a:r>
            <a:r>
              <a:rPr lang="en-US" dirty="0"/>
              <a:t> </a:t>
            </a:r>
            <a:r>
              <a:rPr lang="en-US" dirty="0" err="1"/>
              <a:t>vertroebelen</a:t>
            </a:r>
            <a:r>
              <a:rPr lang="en-US" dirty="0"/>
              <a:t> </a:t>
            </a:r>
            <a:r>
              <a:rPr lang="en-US" dirty="0" err="1"/>
              <a:t>en</a:t>
            </a:r>
            <a:r>
              <a:rPr lang="en-US" dirty="0"/>
              <a:t> hoe </a:t>
            </a:r>
            <a:r>
              <a:rPr lang="en-US" dirty="0" err="1"/>
              <a:t>je</a:t>
            </a:r>
            <a:r>
              <a:rPr lang="en-US" dirty="0"/>
              <a:t> </a:t>
            </a:r>
            <a:r>
              <a:rPr lang="en-US" dirty="0" err="1"/>
              <a:t>daarvoor</a:t>
            </a:r>
            <a:r>
              <a:rPr lang="en-US" dirty="0"/>
              <a:t> </a:t>
            </a:r>
            <a:r>
              <a:rPr lang="en-US" dirty="0" err="1"/>
              <a:t>kunt</a:t>
            </a:r>
            <a:r>
              <a:rPr lang="en-US" dirty="0"/>
              <a:t> </a:t>
            </a:r>
            <a:r>
              <a:rPr lang="en-US" dirty="0" err="1"/>
              <a:t>controleren</a:t>
            </a:r>
            <a:r>
              <a:rPr lang="en-US" dirty="0"/>
              <a:t>!!</a:t>
            </a:r>
          </a:p>
          <a:p>
            <a:r>
              <a:rPr lang="en-US" dirty="0"/>
              <a:t> </a:t>
            </a:r>
            <a:r>
              <a:rPr lang="en-US" dirty="0" err="1"/>
              <a:t>een</a:t>
            </a:r>
            <a:r>
              <a:rPr lang="en-US" dirty="0"/>
              <a:t> app maar de app </a:t>
            </a:r>
            <a:r>
              <a:rPr lang="en-US" dirty="0" err="1"/>
              <a:t>geeft</a:t>
            </a:r>
            <a:r>
              <a:rPr lang="en-US" dirty="0"/>
              <a:t> </a:t>
            </a:r>
            <a:r>
              <a:rPr lang="en-US" dirty="0" err="1"/>
              <a:t>geen</a:t>
            </a:r>
            <a:r>
              <a:rPr lang="en-US" dirty="0"/>
              <a:t> </a:t>
            </a:r>
            <a:r>
              <a:rPr lang="en-US" dirty="0" err="1"/>
              <a:t>voorlichting</a:t>
            </a:r>
            <a:r>
              <a:rPr lang="en-US" dirty="0"/>
              <a:t>? </a:t>
            </a:r>
            <a:r>
              <a:rPr lang="en-US" dirty="0" err="1"/>
              <a:t>Experimenteel</a:t>
            </a:r>
            <a:r>
              <a:rPr lang="en-US" dirty="0"/>
              <a:t>: </a:t>
            </a:r>
            <a:r>
              <a:rPr lang="en-US" dirty="0" err="1"/>
              <a:t>geeft</a:t>
            </a:r>
            <a:r>
              <a:rPr lang="en-US" dirty="0"/>
              <a:t> op de </a:t>
            </a:r>
            <a:r>
              <a:rPr lang="en-US" dirty="0" err="1"/>
              <a:t>manier</a:t>
            </a:r>
            <a:r>
              <a:rPr lang="en-US" dirty="0"/>
              <a:t> </a:t>
            </a:r>
            <a:r>
              <a:rPr lang="en-US" dirty="0" err="1"/>
              <a:t>zus</a:t>
            </a:r>
            <a:r>
              <a:rPr lang="en-US" dirty="0"/>
              <a:t> </a:t>
            </a:r>
            <a:r>
              <a:rPr lang="en-US" dirty="0" err="1"/>
              <a:t>en</a:t>
            </a:r>
            <a:r>
              <a:rPr lang="en-US" dirty="0"/>
              <a:t> zo </a:t>
            </a:r>
            <a:r>
              <a:rPr lang="en-US" dirty="0" err="1"/>
              <a:t>advies</a:t>
            </a:r>
            <a:r>
              <a:rPr lang="en-US" dirty="0"/>
              <a:t>. (</a:t>
            </a:r>
            <a:r>
              <a:rPr lang="en-US" dirty="0" err="1"/>
              <a:t>maak</a:t>
            </a:r>
            <a:r>
              <a:rPr lang="en-US" dirty="0"/>
              <a:t> </a:t>
            </a:r>
            <a:r>
              <a:rPr lang="en-US" dirty="0" err="1"/>
              <a:t>plaatje</a:t>
            </a:r>
            <a:r>
              <a:rPr lang="en-US" dirty="0"/>
              <a:t>)</a:t>
            </a:r>
          </a:p>
        </p:txBody>
      </p:sp>
      <p:sp>
        <p:nvSpPr>
          <p:cNvPr id="4" name="Slide Number Placeholder 3"/>
          <p:cNvSpPr>
            <a:spLocks noGrp="1"/>
          </p:cNvSpPr>
          <p:nvPr>
            <p:ph type="sldNum" sz="quarter" idx="5"/>
          </p:nvPr>
        </p:nvSpPr>
        <p:spPr/>
        <p:txBody>
          <a:bodyPr/>
          <a:lstStyle/>
          <a:p>
            <a:fld id="{CEB5396B-2A2A-4E03-9067-076B17923D50}" type="slidenum">
              <a:rPr lang="en-US" smtClean="0"/>
              <a:pPr/>
              <a:t>18</a:t>
            </a:fld>
            <a:endParaRPr lang="en-US"/>
          </a:p>
        </p:txBody>
      </p:sp>
    </p:spTree>
    <p:extLst>
      <p:ext uri="{BB962C8B-B14F-4D97-AF65-F5344CB8AC3E}">
        <p14:creationId xmlns:p14="http://schemas.microsoft.com/office/powerpoint/2010/main" val="15104105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B5396B-2A2A-4E03-9067-076B17923D50}" type="slidenum">
              <a:rPr lang="en-US" smtClean="0"/>
              <a:pPr/>
              <a:t>19</a:t>
            </a:fld>
            <a:endParaRPr lang="en-US"/>
          </a:p>
        </p:txBody>
      </p:sp>
    </p:spTree>
    <p:extLst>
      <p:ext uri="{BB962C8B-B14F-4D97-AF65-F5344CB8AC3E}">
        <p14:creationId xmlns:p14="http://schemas.microsoft.com/office/powerpoint/2010/main" val="570732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CEB5396B-2A2A-4E03-9067-076B17923D50}" type="slidenum">
              <a:rPr lang="en-US" smtClean="0"/>
              <a:pPr/>
              <a:t>20</a:t>
            </a:fld>
            <a:endParaRPr lang="en-US"/>
          </a:p>
        </p:txBody>
      </p:sp>
    </p:spTree>
    <p:extLst>
      <p:ext uri="{BB962C8B-B14F-4D97-AF65-F5344CB8AC3E}">
        <p14:creationId xmlns:p14="http://schemas.microsoft.com/office/powerpoint/2010/main" val="596652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EB5396B-2A2A-4E03-9067-076B17923D50}" type="slidenum">
              <a:rPr lang="en-US" smtClean="0"/>
              <a:pPr/>
              <a:t>21</a:t>
            </a:fld>
            <a:endParaRPr lang="en-US"/>
          </a:p>
        </p:txBody>
      </p:sp>
    </p:spTree>
    <p:extLst>
      <p:ext uri="{BB962C8B-B14F-4D97-AF65-F5344CB8AC3E}">
        <p14:creationId xmlns:p14="http://schemas.microsoft.com/office/powerpoint/2010/main" val="19843864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fontScale="92500"/>
          </a:bodyPr>
          <a:lstStyle/>
          <a:p>
            <a:r>
              <a:rPr lang="en-US" dirty="0"/>
              <a:t>The Attrakdiff 2 questionnaire [19] is a usability questionnaire, assessing various qualities of </a:t>
            </a:r>
            <a:r>
              <a:rPr lang="en-US" dirty="0" err="1"/>
              <a:t>SitCoach</a:t>
            </a:r>
            <a:r>
              <a:rPr lang="en-US" dirty="0"/>
              <a:t>. </a:t>
            </a:r>
          </a:p>
          <a:p>
            <a:r>
              <a:rPr lang="en-US" dirty="0"/>
              <a:t>The questionnaire contains 28 items, consisting of a seven-point rating scale with two bipolar anchors to mark the opposing ends of the scale (e.g., confusing—clear, ugly—beautiful). </a:t>
            </a:r>
          </a:p>
          <a:p>
            <a:r>
              <a:rPr lang="en-US" dirty="0"/>
              <a:t>The questionnaire consists of four 7-item subscales, each measuring a different quality of the evaluated product (see Table 1). </a:t>
            </a:r>
          </a:p>
          <a:p>
            <a:r>
              <a:rPr lang="en-US" dirty="0"/>
              <a:t>The combination of the four qualities determines whether the concept is practical, meaningful, and pleasant to use. </a:t>
            </a:r>
          </a:p>
          <a:p>
            <a:r>
              <a:rPr lang="en-US" dirty="0"/>
              <a:t>High scores on all qualities are important for a prolonged usage of a product.</a:t>
            </a:r>
          </a:p>
          <a:p>
            <a:endParaRPr lang="en-US" dirty="0"/>
          </a:p>
          <a:p>
            <a:endParaRPr lang="en-US" dirty="0"/>
          </a:p>
          <a:p>
            <a:r>
              <a:rPr lang="en-US" dirty="0"/>
              <a:t>‘ </a:t>
            </a:r>
            <a:r>
              <a:rPr lang="en-US" dirty="0" err="1"/>
              <a:t>hedionic</a:t>
            </a:r>
            <a:r>
              <a:rPr lang="en-US" dirty="0"/>
              <a:t>’  ‘</a:t>
            </a:r>
            <a:r>
              <a:rPr lang="en-US" dirty="0" err="1"/>
              <a:t>plezierig</a:t>
            </a:r>
            <a:r>
              <a:rPr lang="en-US" dirty="0"/>
              <a:t>’ /’ </a:t>
            </a:r>
            <a:r>
              <a:rPr lang="en-US" dirty="0" err="1"/>
              <a:t>gevoelsmatig</a:t>
            </a:r>
            <a:r>
              <a:rPr lang="en-US" dirty="0"/>
              <a:t>’ </a:t>
            </a:r>
          </a:p>
          <a:p>
            <a:endParaRPr lang="en-US" dirty="0"/>
          </a:p>
          <a:p>
            <a:r>
              <a:rPr lang="en-US" dirty="0" err="1"/>
              <a:t>SitCoach</a:t>
            </a:r>
            <a:endParaRPr lang="en-US" dirty="0"/>
          </a:p>
          <a:p>
            <a:r>
              <a:rPr lang="en-US" sz="1200" b="0" i="0" kern="1200" dirty="0">
                <a:solidFill>
                  <a:schemeClr val="tx1"/>
                </a:solidFill>
                <a:effectLst/>
                <a:latin typeface="+mn-lt"/>
                <a:ea typeface="+mn-ea"/>
                <a:cs typeface="+mn-cs"/>
              </a:rPr>
              <a:t>Prolonged sitting time is a potential health risk, not only for people with an inactive lifestyle, but also for those who do meet the recommended amount of physical activity. In this paper, we evaluate </a:t>
            </a:r>
            <a:r>
              <a:rPr lang="en-US" sz="1200" b="0" i="0" kern="1200" dirty="0" err="1">
                <a:solidFill>
                  <a:schemeClr val="tx1"/>
                </a:solidFill>
                <a:effectLst/>
                <a:latin typeface="+mn-lt"/>
                <a:ea typeface="+mn-ea"/>
                <a:cs typeface="+mn-cs"/>
              </a:rPr>
              <a:t>SitCoach</a:t>
            </a:r>
            <a:r>
              <a:rPr lang="en-US" sz="1200" b="0" i="0" kern="1200" dirty="0">
                <a:solidFill>
                  <a:schemeClr val="tx1"/>
                </a:solidFill>
                <a:effectLst/>
                <a:latin typeface="+mn-lt"/>
                <a:ea typeface="+mn-ea"/>
                <a:cs typeface="+mn-cs"/>
              </a:rPr>
              <a:t>, a mobile application to nudge people from their seats. </a:t>
            </a:r>
            <a:r>
              <a:rPr lang="en-US" sz="1200" b="0" i="0" kern="1200" dirty="0" err="1">
                <a:solidFill>
                  <a:schemeClr val="tx1"/>
                </a:solidFill>
                <a:effectLst/>
                <a:latin typeface="+mn-lt"/>
                <a:ea typeface="+mn-ea"/>
                <a:cs typeface="+mn-cs"/>
              </a:rPr>
              <a:t>SitCoach</a:t>
            </a:r>
            <a:r>
              <a:rPr lang="en-US" sz="1200" b="0" i="0" kern="1200" dirty="0">
                <a:solidFill>
                  <a:schemeClr val="tx1"/>
                </a:solidFill>
                <a:effectLst/>
                <a:latin typeface="+mn-lt"/>
                <a:ea typeface="+mn-ea"/>
                <a:cs typeface="+mn-cs"/>
              </a:rPr>
              <a:t> monitors physical activity and sedentary behavior to provide timely feedback by means of suggesting sitting breaks. A pilot experiment with a group of 8 users learned that the general awareness of the importance of sitting breaks is low. Combined with the belief that the ability to take sitting breaks is highly dependent on </a:t>
            </a:r>
            <a:r>
              <a:rPr lang="en-US" sz="1200" b="0" i="0" kern="1200" dirty="0" err="1">
                <a:solidFill>
                  <a:schemeClr val="tx1"/>
                </a:solidFill>
                <a:effectLst/>
                <a:latin typeface="+mn-lt"/>
                <a:ea typeface="+mn-ea"/>
                <a:cs typeface="+mn-cs"/>
              </a:rPr>
              <a:t>externalfactors</a:t>
            </a:r>
            <a:r>
              <a:rPr lang="en-US" sz="1200" b="0" i="0" kern="1200" dirty="0">
                <a:solidFill>
                  <a:schemeClr val="tx1"/>
                </a:solidFill>
                <a:effectLst/>
                <a:latin typeface="+mn-lt"/>
                <a:ea typeface="+mn-ea"/>
                <a:cs typeface="+mn-cs"/>
              </a:rPr>
              <a:t>, a strategy of proposing break reminders may not be the most successful for this target group. Future work should focus on creating awareness of the problem and providing insights into personal sitting behavior.</a:t>
            </a:r>
            <a:endParaRPr lang="nl-NL" dirty="0"/>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r>
              <a:rPr lang="nl-NL" dirty="0"/>
              <a:t>2</a:t>
            </a:r>
          </a:p>
        </p:txBody>
      </p:sp>
      <p:sp>
        <p:nvSpPr>
          <p:cNvPr id="4" name="Tijdelijke aanduiding voor dianummer 3"/>
          <p:cNvSpPr>
            <a:spLocks noGrp="1"/>
          </p:cNvSpPr>
          <p:nvPr>
            <p:ph type="sldNum" sz="quarter" idx="10"/>
          </p:nvPr>
        </p:nvSpPr>
        <p:spPr/>
        <p:txBody>
          <a:bodyPr/>
          <a:lstStyle/>
          <a:p>
            <a:fld id="{CEB5396B-2A2A-4E03-9067-076B17923D50}" type="slidenum">
              <a:rPr lang="en-US" smtClean="0"/>
              <a:pPr/>
              <a:t>23</a:t>
            </a:fld>
            <a:endParaRPr lang="en-US"/>
          </a:p>
        </p:txBody>
      </p:sp>
    </p:spTree>
    <p:extLst>
      <p:ext uri="{BB962C8B-B14F-4D97-AF65-F5344CB8AC3E}">
        <p14:creationId xmlns:p14="http://schemas.microsoft.com/office/powerpoint/2010/main" val="1985146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BF62D05A-CD77-412F-BAEA-F401EE45EB29}" type="datetime1">
              <a:rPr lang="en-US" smtClean="0"/>
              <a:pPr/>
              <a:t>9/26/22</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90D0CBCA-F7F6-4AC9-BA3F-8673847511B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0654EFB9-BFAA-4BBC-8C8E-621A93853F6C}" type="datetime1">
              <a:rPr lang="en-US" smtClean="0"/>
              <a:pPr/>
              <a:t>9/26/22</a:t>
            </a:fld>
            <a:endParaRPr lang="en-US"/>
          </a:p>
        </p:txBody>
      </p:sp>
      <p:sp>
        <p:nvSpPr>
          <p:cNvPr id="9" name="Slide Number Placeholder 8"/>
          <p:cNvSpPr>
            <a:spLocks noGrp="1"/>
          </p:cNvSpPr>
          <p:nvPr>
            <p:ph type="sldNum" sz="quarter" idx="15"/>
          </p:nvPr>
        </p:nvSpPr>
        <p:spPr/>
        <p:txBody>
          <a:bodyPr rtlCol="0"/>
          <a:lstStyle/>
          <a:p>
            <a:fld id="{90D0CBCA-F7F6-4AC9-BA3F-8673847511BA}"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96387956-425B-4432-9134-9C0A5E1F82F3}" type="datetime1">
              <a:rPr lang="en-US" smtClean="0"/>
              <a:pPr/>
              <a:t>9/26/22</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90D0CBCA-F7F6-4AC9-BA3F-8673847511BA}"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C31F5BD-9F1F-4308-A589-B6FE7F314556}" type="datetime1">
              <a:rPr lang="en-US" smtClean="0"/>
              <a:pPr/>
              <a:t>9/26/22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D0CBCA-F7F6-4AC9-BA3F-8673847511BA}"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DCBBA896-159D-4F6B-B2F4-E8EE8FBEB469}" type="datetime1">
              <a:rPr lang="en-US" smtClean="0"/>
              <a:pPr/>
              <a:t>9/26/22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D0CBCA-F7F6-4AC9-BA3F-8673847511BA}"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4F085166-2D87-41A4-9413-49C833AF4AA9}" type="datetime1">
              <a:rPr lang="en-US" smtClean="0"/>
              <a:pPr/>
              <a:t>9/26/22</a:t>
            </a:fld>
            <a:endParaRPr lang="en-US"/>
          </a:p>
        </p:txBody>
      </p:sp>
      <p:sp>
        <p:nvSpPr>
          <p:cNvPr id="7" name="Slide Number Placeholder 6"/>
          <p:cNvSpPr>
            <a:spLocks noGrp="1"/>
          </p:cNvSpPr>
          <p:nvPr>
            <p:ph type="sldNum" sz="quarter" idx="11"/>
          </p:nvPr>
        </p:nvSpPr>
        <p:spPr/>
        <p:txBody>
          <a:bodyPr rtlCol="0"/>
          <a:lstStyle/>
          <a:p>
            <a:fld id="{90D0CBCA-F7F6-4AC9-BA3F-8673847511BA}"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9FBABA-6D2D-4FE1-B1B6-81597DE0FD76}" type="datetime1">
              <a:rPr lang="en-US" smtClean="0"/>
              <a:pPr/>
              <a:t>9/26/22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D0CBCA-F7F6-4AC9-BA3F-8673847511B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2AE5C179-7679-4A49-B30A-9B810B110B80}" type="datetime1">
              <a:rPr lang="en-US" smtClean="0"/>
              <a:pPr/>
              <a:t>9/26/22</a:t>
            </a:fld>
            <a:endParaRPr lang="en-US"/>
          </a:p>
        </p:txBody>
      </p:sp>
      <p:sp>
        <p:nvSpPr>
          <p:cNvPr id="22" name="Slide Number Placeholder 21"/>
          <p:cNvSpPr>
            <a:spLocks noGrp="1"/>
          </p:cNvSpPr>
          <p:nvPr>
            <p:ph type="sldNum" sz="quarter" idx="15"/>
          </p:nvPr>
        </p:nvSpPr>
        <p:spPr/>
        <p:txBody>
          <a:bodyPr rtlCol="0"/>
          <a:lstStyle/>
          <a:p>
            <a:fld id="{90D0CBCA-F7F6-4AC9-BA3F-8673847511BA}"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7BCFAA61-1DBF-41AB-AAB7-91B15E714466}" type="datetime1">
              <a:rPr lang="en-US" smtClean="0"/>
              <a:pPr/>
              <a:t>9/26/22</a:t>
            </a:fld>
            <a:endParaRPr lang="en-US"/>
          </a:p>
        </p:txBody>
      </p:sp>
      <p:sp>
        <p:nvSpPr>
          <p:cNvPr id="18" name="Slide Number Placeholder 17"/>
          <p:cNvSpPr>
            <a:spLocks noGrp="1"/>
          </p:cNvSpPr>
          <p:nvPr>
            <p:ph type="sldNum" sz="quarter" idx="11"/>
          </p:nvPr>
        </p:nvSpPr>
        <p:spPr/>
        <p:txBody>
          <a:bodyPr rtlCol="0"/>
          <a:lstStyle/>
          <a:p>
            <a:fld id="{90D0CBCA-F7F6-4AC9-BA3F-8673847511BA}"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CF4CF9F-DF8C-4FCC-89E2-D33A950D6A0A}" type="datetime1">
              <a:rPr lang="en-US" smtClean="0"/>
              <a:pPr/>
              <a:t>9/26/22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D0CBCA-F7F6-4AC9-BA3F-8673847511B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4210830-92C9-4435-B028-C25D00A0F4DD}" type="datetime1">
              <a:rPr lang="en-US" smtClean="0"/>
              <a:pPr/>
              <a:t>9/26/22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D0CBCA-F7F6-4AC9-BA3F-8673847511B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0FD078D8-8614-4217-8532-D44F5CD2746B}" type="datetime1">
              <a:rPr lang="en-US" smtClean="0"/>
              <a:pPr/>
              <a:t>9/26/22</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90D0CBCA-F7F6-4AC9-BA3F-8673847511B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psycnet.apa.org/record/2015-40660-003"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discoveringstatistics.co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260648"/>
            <a:ext cx="6678488" cy="1951864"/>
          </a:xfrm>
        </p:spPr>
        <p:txBody>
          <a:bodyPr>
            <a:normAutofit fontScale="90000"/>
          </a:bodyPr>
          <a:lstStyle/>
          <a:p>
            <a:r>
              <a:rPr lang="en-US" b="0" dirty="0"/>
              <a:t>THE PATH TOWARDS A TECHNOLOGICAL INTERVENTION: Evaluating Verification and Validation Methods*</a:t>
            </a:r>
          </a:p>
        </p:txBody>
      </p:sp>
      <p:sp>
        <p:nvSpPr>
          <p:cNvPr id="3" name="Subtitle 2"/>
          <p:cNvSpPr>
            <a:spLocks noGrp="1"/>
          </p:cNvSpPr>
          <p:nvPr>
            <p:ph type="subTitle" idx="1"/>
          </p:nvPr>
        </p:nvSpPr>
        <p:spPr>
          <a:xfrm>
            <a:off x="2160848" y="5085184"/>
            <a:ext cx="6172200" cy="936104"/>
          </a:xfrm>
        </p:spPr>
        <p:txBody>
          <a:bodyPr/>
          <a:lstStyle/>
          <a:p>
            <a:r>
              <a:rPr lang="en-US" dirty="0"/>
              <a:t>Dr. Sara Lusini</a:t>
            </a:r>
          </a:p>
          <a:p>
            <a:r>
              <a:rPr lang="en-US" dirty="0" err="1"/>
              <a:t>s.lusini@vu.nl</a:t>
            </a:r>
            <a:endParaRPr lang="en-US" dirty="0"/>
          </a:p>
        </p:txBody>
      </p:sp>
      <p:sp>
        <p:nvSpPr>
          <p:cNvPr id="4" name="TextBox 3">
            <a:extLst>
              <a:ext uri="{FF2B5EF4-FFF2-40B4-BE49-F238E27FC236}">
                <a16:creationId xmlns:a16="http://schemas.microsoft.com/office/drawing/2014/main" id="{E98DD160-CB25-4949-BDA7-C933AE514852}"/>
              </a:ext>
            </a:extLst>
          </p:cNvPr>
          <p:cNvSpPr txBox="1"/>
          <p:nvPr/>
        </p:nvSpPr>
        <p:spPr>
          <a:xfrm>
            <a:off x="1763688" y="6381328"/>
            <a:ext cx="7380312" cy="369332"/>
          </a:xfrm>
          <a:prstGeom prst="rect">
            <a:avLst/>
          </a:prstGeom>
          <a:noFill/>
        </p:spPr>
        <p:txBody>
          <a:bodyPr wrap="square" rtlCol="0">
            <a:spAutoFit/>
          </a:bodyPr>
          <a:lstStyle/>
          <a:p>
            <a:r>
              <a:rPr lang="en-US" i="1" dirty="0">
                <a:solidFill>
                  <a:schemeClr val="tx2"/>
                </a:solidFill>
              </a:rPr>
              <a:t>*These slides are based on a previous presentation by Dr. M. Klein. </a:t>
            </a:r>
          </a:p>
        </p:txBody>
      </p:sp>
      <p:sp>
        <p:nvSpPr>
          <p:cNvPr id="5" name="TextBox 4">
            <a:extLst>
              <a:ext uri="{FF2B5EF4-FFF2-40B4-BE49-F238E27FC236}">
                <a16:creationId xmlns:a16="http://schemas.microsoft.com/office/drawing/2014/main" id="{C45A0B2D-90DA-9147-B946-879E7B5735AB}"/>
              </a:ext>
            </a:extLst>
          </p:cNvPr>
          <p:cNvSpPr txBox="1"/>
          <p:nvPr/>
        </p:nvSpPr>
        <p:spPr>
          <a:xfrm>
            <a:off x="2160848" y="2911925"/>
            <a:ext cx="4968552" cy="923330"/>
          </a:xfrm>
          <a:prstGeom prst="rect">
            <a:avLst/>
          </a:prstGeom>
          <a:noFill/>
        </p:spPr>
        <p:txBody>
          <a:bodyPr wrap="square" rtlCol="0">
            <a:spAutoFit/>
          </a:bodyPr>
          <a:lstStyle/>
          <a:p>
            <a:r>
              <a:rPr lang="en-US" dirty="0">
                <a:solidFill>
                  <a:schemeClr val="tx2"/>
                </a:solidFill>
              </a:rPr>
              <a:t>Introduction to Artificial Intelligence</a:t>
            </a:r>
          </a:p>
          <a:p>
            <a:r>
              <a:rPr lang="en-US" dirty="0">
                <a:solidFill>
                  <a:schemeClr val="tx2"/>
                </a:solidFill>
              </a:rPr>
              <a:t>27 September 2022</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467600" cy="1008112"/>
          </a:xfrm>
        </p:spPr>
        <p:txBody>
          <a:bodyPr>
            <a:normAutofit fontScale="90000"/>
          </a:bodyPr>
          <a:lstStyle/>
          <a:p>
            <a:br>
              <a:rPr lang="nl-NL" dirty="0"/>
            </a:br>
            <a:br>
              <a:rPr lang="nl-NL" dirty="0"/>
            </a:br>
            <a:r>
              <a:rPr lang="nl-NL" dirty="0"/>
              <a:t>CONTENT</a:t>
            </a:r>
          </a:p>
        </p:txBody>
      </p:sp>
      <p:sp>
        <p:nvSpPr>
          <p:cNvPr id="3" name="Content Placeholder 2"/>
          <p:cNvSpPr>
            <a:spLocks noGrp="1"/>
          </p:cNvSpPr>
          <p:nvPr>
            <p:ph sz="quarter" idx="1"/>
          </p:nvPr>
        </p:nvSpPr>
        <p:spPr/>
        <p:txBody>
          <a:bodyPr>
            <a:normAutofit fontScale="77500" lnSpcReduction="20000"/>
          </a:bodyPr>
          <a:lstStyle/>
          <a:p>
            <a:r>
              <a:rPr lang="nl-NL" b="1" dirty="0"/>
              <a:t>PART 1</a:t>
            </a:r>
          </a:p>
          <a:p>
            <a:pPr lvl="1"/>
            <a:r>
              <a:rPr lang="nl-NL" dirty="0"/>
              <a:t>Learning </a:t>
            </a:r>
            <a:r>
              <a:rPr lang="nl-NL" dirty="0" err="1"/>
              <a:t>Objectives</a:t>
            </a:r>
            <a:endParaRPr lang="nl-NL" dirty="0"/>
          </a:p>
          <a:p>
            <a:pPr lvl="1"/>
            <a:r>
              <a:rPr lang="nl-NL" dirty="0"/>
              <a:t>The </a:t>
            </a:r>
            <a:r>
              <a:rPr lang="nl-NL" dirty="0" err="1"/>
              <a:t>path</a:t>
            </a:r>
            <a:r>
              <a:rPr lang="nl-NL" dirty="0"/>
              <a:t> </a:t>
            </a:r>
            <a:r>
              <a:rPr lang="nl-NL" dirty="0" err="1"/>
              <a:t>towards</a:t>
            </a:r>
            <a:r>
              <a:rPr lang="nl-NL" dirty="0"/>
              <a:t> a </a:t>
            </a:r>
            <a:r>
              <a:rPr lang="nl-NL" dirty="0" err="1"/>
              <a:t>Technological</a:t>
            </a:r>
            <a:r>
              <a:rPr lang="nl-NL" dirty="0"/>
              <a:t> </a:t>
            </a:r>
            <a:r>
              <a:rPr lang="nl-NL" dirty="0" err="1"/>
              <a:t>Intervention</a:t>
            </a:r>
            <a:endParaRPr lang="nl-NL" dirty="0"/>
          </a:p>
          <a:p>
            <a:pPr lvl="1"/>
            <a:r>
              <a:rPr lang="nl-NL" dirty="0"/>
              <a:t>Verification </a:t>
            </a:r>
            <a:r>
              <a:rPr lang="nl-NL" dirty="0" err="1"/>
              <a:t>vs</a:t>
            </a:r>
            <a:r>
              <a:rPr lang="nl-NL" dirty="0"/>
              <a:t> Validation</a:t>
            </a:r>
          </a:p>
          <a:p>
            <a:pPr lvl="1"/>
            <a:r>
              <a:rPr lang="nl-NL" dirty="0" err="1"/>
              <a:t>Exercise</a:t>
            </a:r>
            <a:r>
              <a:rPr lang="nl-NL" dirty="0"/>
              <a:t> 1 (</a:t>
            </a:r>
            <a:r>
              <a:rPr lang="nl-NL" dirty="0" err="1"/>
              <a:t>about</a:t>
            </a:r>
            <a:r>
              <a:rPr lang="nl-NL" dirty="0"/>
              <a:t> 10 minutes </a:t>
            </a:r>
            <a:r>
              <a:rPr lang="nl-NL" dirty="0" err="1"/>
              <a:t>preparation</a:t>
            </a:r>
            <a:r>
              <a:rPr lang="nl-NL" dirty="0"/>
              <a:t> + 10 minutes </a:t>
            </a:r>
            <a:r>
              <a:rPr lang="nl-NL" dirty="0" err="1"/>
              <a:t>discussion</a:t>
            </a:r>
            <a:r>
              <a:rPr lang="nl-NL" dirty="0"/>
              <a:t>)</a:t>
            </a:r>
          </a:p>
          <a:p>
            <a:pPr marL="365760" lvl="1" indent="0">
              <a:buNone/>
            </a:pPr>
            <a:endParaRPr lang="nl-NL" dirty="0"/>
          </a:p>
          <a:p>
            <a:pPr marL="365760" lvl="1" indent="0">
              <a:buNone/>
            </a:pPr>
            <a:r>
              <a:rPr lang="nl-NL" b="1" dirty="0"/>
              <a:t>BREAK (10 minutes)</a:t>
            </a:r>
          </a:p>
          <a:p>
            <a:pPr marL="365760" lvl="1" indent="0">
              <a:buNone/>
            </a:pPr>
            <a:endParaRPr lang="nl-NL" dirty="0"/>
          </a:p>
          <a:p>
            <a:r>
              <a:rPr lang="nl-NL" b="1" dirty="0"/>
              <a:t>PART 2</a:t>
            </a:r>
          </a:p>
          <a:p>
            <a:pPr lvl="1"/>
            <a:r>
              <a:rPr lang="nl-NL" dirty="0" err="1"/>
              <a:t>External</a:t>
            </a:r>
            <a:r>
              <a:rPr lang="nl-NL" dirty="0"/>
              <a:t> Validation</a:t>
            </a:r>
          </a:p>
          <a:p>
            <a:pPr lvl="1"/>
            <a:r>
              <a:rPr lang="nl-NL" dirty="0" err="1"/>
              <a:t>Experimental</a:t>
            </a:r>
            <a:r>
              <a:rPr lang="nl-NL" dirty="0"/>
              <a:t> </a:t>
            </a:r>
            <a:r>
              <a:rPr lang="nl-NL" dirty="0" err="1"/>
              <a:t>vs</a:t>
            </a:r>
            <a:r>
              <a:rPr lang="nl-NL" dirty="0"/>
              <a:t> Control </a:t>
            </a:r>
            <a:r>
              <a:rPr lang="nl-NL" dirty="0" err="1"/>
              <a:t>group</a:t>
            </a:r>
            <a:endParaRPr lang="nl-NL" dirty="0"/>
          </a:p>
          <a:p>
            <a:pPr lvl="1"/>
            <a:r>
              <a:rPr lang="nl-NL" dirty="0" err="1"/>
              <a:t>Evaluating</a:t>
            </a:r>
            <a:r>
              <a:rPr lang="nl-NL" dirty="0"/>
              <a:t> </a:t>
            </a:r>
            <a:r>
              <a:rPr lang="nl-NL" dirty="0" err="1"/>
              <a:t>intervention</a:t>
            </a:r>
            <a:r>
              <a:rPr lang="nl-NL" dirty="0"/>
              <a:t> </a:t>
            </a:r>
            <a:r>
              <a:rPr lang="nl-NL" dirty="0" err="1"/>
              <a:t>effects</a:t>
            </a:r>
            <a:r>
              <a:rPr lang="nl-NL" dirty="0"/>
              <a:t> </a:t>
            </a:r>
            <a:r>
              <a:rPr lang="nl-NL" dirty="0" err="1"/>
              <a:t>and</a:t>
            </a:r>
            <a:r>
              <a:rPr lang="nl-NL" dirty="0"/>
              <a:t> statistical </a:t>
            </a:r>
            <a:r>
              <a:rPr lang="nl-NL" dirty="0" err="1"/>
              <a:t>relevance</a:t>
            </a:r>
            <a:endParaRPr lang="nl-NL" dirty="0"/>
          </a:p>
          <a:p>
            <a:pPr marL="365760" lvl="1" indent="0">
              <a:buNone/>
            </a:pPr>
            <a:endParaRPr lang="nl-NL" dirty="0"/>
          </a:p>
          <a:p>
            <a:r>
              <a:rPr lang="nl-NL" b="1" dirty="0"/>
              <a:t>PART 3</a:t>
            </a:r>
          </a:p>
          <a:p>
            <a:pPr lvl="1"/>
            <a:r>
              <a:rPr lang="nl-NL" dirty="0"/>
              <a:t>Setting up a (</a:t>
            </a:r>
            <a:r>
              <a:rPr lang="nl-NL" dirty="0" err="1"/>
              <a:t>schematic</a:t>
            </a:r>
            <a:r>
              <a:rPr lang="nl-NL" dirty="0"/>
              <a:t>) Research Protocol </a:t>
            </a:r>
          </a:p>
          <a:p>
            <a:pPr lvl="1"/>
            <a:r>
              <a:rPr lang="nl-NL" dirty="0" err="1"/>
              <a:t>External</a:t>
            </a:r>
            <a:r>
              <a:rPr lang="nl-NL" dirty="0"/>
              <a:t> Validation of Research Protocol:</a:t>
            </a:r>
          </a:p>
          <a:p>
            <a:pPr lvl="2"/>
            <a:r>
              <a:rPr lang="nl-NL" dirty="0"/>
              <a:t>Validation (</a:t>
            </a:r>
            <a:r>
              <a:rPr lang="nl-NL" dirty="0" err="1"/>
              <a:t>measure</a:t>
            </a:r>
            <a:r>
              <a:rPr lang="nl-NL" dirty="0"/>
              <a:t> impact of </a:t>
            </a:r>
            <a:r>
              <a:rPr lang="nl-NL" dirty="0" err="1"/>
              <a:t>intervention</a:t>
            </a:r>
            <a:r>
              <a:rPr lang="nl-NL" dirty="0"/>
              <a:t>)</a:t>
            </a:r>
          </a:p>
          <a:p>
            <a:pPr lvl="2"/>
            <a:r>
              <a:rPr lang="nl-NL" dirty="0"/>
              <a:t>User </a:t>
            </a:r>
            <a:r>
              <a:rPr lang="nl-NL" dirty="0" err="1"/>
              <a:t>evaluation</a:t>
            </a:r>
            <a:endParaRPr lang="nl-NL" dirty="0"/>
          </a:p>
          <a:p>
            <a:pPr lvl="1"/>
            <a:r>
              <a:rPr lang="nl-NL" dirty="0" err="1"/>
              <a:t>Exercise</a:t>
            </a:r>
            <a:r>
              <a:rPr lang="nl-NL" dirty="0"/>
              <a:t> 2 (</a:t>
            </a:r>
            <a:r>
              <a:rPr lang="nl-NL" dirty="0" err="1"/>
              <a:t>about</a:t>
            </a:r>
            <a:r>
              <a:rPr lang="nl-NL" dirty="0"/>
              <a:t> 10 minutes </a:t>
            </a:r>
            <a:r>
              <a:rPr lang="nl-NL" dirty="0" err="1"/>
              <a:t>preparation</a:t>
            </a:r>
            <a:r>
              <a:rPr lang="nl-NL" dirty="0"/>
              <a:t> + 10 minutes </a:t>
            </a:r>
            <a:r>
              <a:rPr lang="nl-NL" dirty="0" err="1"/>
              <a:t>discussion</a:t>
            </a:r>
            <a:r>
              <a:rPr lang="nl-NL" dirty="0"/>
              <a:t>)</a:t>
            </a:r>
          </a:p>
          <a:p>
            <a:pPr lvl="1"/>
            <a:endParaRPr lang="nl-NL" dirty="0"/>
          </a:p>
          <a:p>
            <a:pPr>
              <a:buNone/>
            </a:pPr>
            <a:endParaRPr lang="nl-NL" dirty="0"/>
          </a:p>
        </p:txBody>
      </p:sp>
      <p:sp>
        <p:nvSpPr>
          <p:cNvPr id="4" name="Slide Number Placeholder 3"/>
          <p:cNvSpPr>
            <a:spLocks noGrp="1"/>
          </p:cNvSpPr>
          <p:nvPr>
            <p:ph type="sldNum" sz="quarter" idx="15"/>
          </p:nvPr>
        </p:nvSpPr>
        <p:spPr/>
        <p:txBody>
          <a:bodyPr/>
          <a:lstStyle/>
          <a:p>
            <a:fld id="{90D0CBCA-F7F6-4AC9-BA3F-8673847511BA}" type="slidenum">
              <a:rPr lang="nl-NL" smtClean="0"/>
              <a:pPr/>
              <a:t>2</a:t>
            </a:fld>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extLst>
              <p:ext uri="{D42A27DB-BD31-4B8C-83A1-F6EECF244321}">
                <p14:modId xmlns:p14="http://schemas.microsoft.com/office/powerpoint/2010/main" val="355071059"/>
              </p:ext>
            </p:extLst>
          </p:nvPr>
        </p:nvGraphicFramePr>
        <p:xfrm>
          <a:off x="6201568" y="2708920"/>
          <a:ext cx="2232248" cy="16561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457200" y="274638"/>
            <a:ext cx="7467600" cy="1210146"/>
          </a:xfrm>
        </p:spPr>
        <p:txBody>
          <a:bodyPr>
            <a:normAutofit fontScale="90000"/>
          </a:bodyPr>
          <a:lstStyle/>
          <a:p>
            <a:br>
              <a:rPr lang="nl-NL" dirty="0"/>
            </a:br>
            <a:br>
              <a:rPr lang="nl-NL" dirty="0"/>
            </a:br>
            <a:r>
              <a:rPr lang="nl-NL" sz="3100" b="1" dirty="0"/>
              <a:t>PART 1</a:t>
            </a:r>
            <a:br>
              <a:rPr lang="nl-NL" dirty="0"/>
            </a:br>
            <a:br>
              <a:rPr lang="nl-NL" dirty="0"/>
            </a:br>
            <a:r>
              <a:rPr lang="nl-NL" dirty="0"/>
              <a:t>Learning </a:t>
            </a:r>
            <a:r>
              <a:rPr lang="nl-NL" dirty="0" err="1"/>
              <a:t>objectives</a:t>
            </a:r>
            <a:r>
              <a:rPr lang="nl-NL" dirty="0"/>
              <a:t> of </a:t>
            </a:r>
            <a:r>
              <a:rPr lang="nl-NL" dirty="0" err="1"/>
              <a:t>this</a:t>
            </a:r>
            <a:r>
              <a:rPr lang="nl-NL" dirty="0"/>
              <a:t> </a:t>
            </a:r>
            <a:r>
              <a:rPr lang="nl-NL" dirty="0" err="1"/>
              <a:t>lecture</a:t>
            </a:r>
            <a:endParaRPr lang="nl-NL" dirty="0"/>
          </a:p>
        </p:txBody>
      </p:sp>
      <p:sp>
        <p:nvSpPr>
          <p:cNvPr id="3" name="Content Placeholder 2"/>
          <p:cNvSpPr>
            <a:spLocks noGrp="1"/>
          </p:cNvSpPr>
          <p:nvPr>
            <p:ph sz="quarter" idx="1"/>
          </p:nvPr>
        </p:nvSpPr>
        <p:spPr>
          <a:xfrm>
            <a:off x="457200" y="1600200"/>
            <a:ext cx="7467600" cy="5069160"/>
          </a:xfrm>
        </p:spPr>
        <p:txBody>
          <a:bodyPr>
            <a:normAutofit fontScale="85000" lnSpcReduction="10000"/>
          </a:bodyPr>
          <a:lstStyle/>
          <a:p>
            <a:pPr marL="0" indent="0">
              <a:buNone/>
            </a:pPr>
            <a:r>
              <a:rPr lang="nl-NL" dirty="0" err="1"/>
              <a:t>Upon</a:t>
            </a:r>
            <a:r>
              <a:rPr lang="nl-NL" dirty="0"/>
              <a:t> </a:t>
            </a:r>
            <a:r>
              <a:rPr lang="nl-NL" dirty="0" err="1"/>
              <a:t>completion</a:t>
            </a:r>
            <a:r>
              <a:rPr lang="nl-NL" dirty="0"/>
              <a:t> of </a:t>
            </a:r>
            <a:r>
              <a:rPr lang="nl-NL" dirty="0" err="1"/>
              <a:t>this</a:t>
            </a:r>
            <a:r>
              <a:rPr lang="nl-NL" dirty="0"/>
              <a:t> </a:t>
            </a:r>
            <a:r>
              <a:rPr lang="nl-NL" dirty="0" err="1"/>
              <a:t>lecture</a:t>
            </a:r>
            <a:r>
              <a:rPr lang="nl-NL" dirty="0"/>
              <a:t>, </a:t>
            </a:r>
            <a:r>
              <a:rPr lang="nl-NL" dirty="0" err="1"/>
              <a:t>students</a:t>
            </a:r>
            <a:r>
              <a:rPr lang="nl-NL" dirty="0"/>
              <a:t> </a:t>
            </a:r>
            <a:r>
              <a:rPr lang="nl-NL" dirty="0" err="1"/>
              <a:t>will</a:t>
            </a:r>
            <a:r>
              <a:rPr lang="nl-NL" dirty="0"/>
              <a:t> </a:t>
            </a:r>
            <a:r>
              <a:rPr lang="nl-NL" dirty="0" err="1"/>
              <a:t>be</a:t>
            </a:r>
            <a:r>
              <a:rPr lang="nl-NL" dirty="0"/>
              <a:t> </a:t>
            </a:r>
            <a:r>
              <a:rPr lang="nl-NL" dirty="0" err="1"/>
              <a:t>able</a:t>
            </a:r>
            <a:r>
              <a:rPr lang="nl-NL" dirty="0"/>
              <a:t> to:</a:t>
            </a:r>
          </a:p>
          <a:p>
            <a:pPr marL="457200" indent="-457200">
              <a:buFont typeface="+mj-lt"/>
              <a:buAutoNum type="arabicPeriod"/>
            </a:pPr>
            <a:r>
              <a:rPr lang="nl-NL" dirty="0"/>
              <a:t>Use the </a:t>
            </a:r>
            <a:r>
              <a:rPr lang="nl-NL" dirty="0" err="1"/>
              <a:t>scientific</a:t>
            </a:r>
            <a:r>
              <a:rPr lang="nl-NL" dirty="0"/>
              <a:t> </a:t>
            </a:r>
            <a:r>
              <a:rPr lang="nl-NL" dirty="0" err="1"/>
              <a:t>terminology</a:t>
            </a:r>
            <a:r>
              <a:rPr lang="nl-NL" dirty="0"/>
              <a:t> </a:t>
            </a:r>
            <a:r>
              <a:rPr lang="nl-NL" dirty="0" err="1"/>
              <a:t>relative</a:t>
            </a:r>
            <a:r>
              <a:rPr lang="nl-NL" dirty="0"/>
              <a:t> </a:t>
            </a:r>
            <a:r>
              <a:rPr lang="nl-NL" dirty="0" err="1"/>
              <a:t>to</a:t>
            </a:r>
            <a:r>
              <a:rPr lang="nl-NL" dirty="0"/>
              <a:t> </a:t>
            </a:r>
            <a:r>
              <a:rPr lang="en-US" dirty="0"/>
              <a:t>Verification &amp; Validation Methods and their evaluation.</a:t>
            </a:r>
            <a:endParaRPr lang="nl-NL" dirty="0"/>
          </a:p>
          <a:p>
            <a:pPr marL="457200" indent="-457200">
              <a:buFont typeface="+mj-lt"/>
              <a:buAutoNum type="arabicPeriod"/>
            </a:pPr>
            <a:r>
              <a:rPr lang="nl-NL" dirty="0"/>
              <a:t>Design a basic Research Protocol </a:t>
            </a:r>
            <a:r>
              <a:rPr lang="nl-NL" dirty="0" err="1"/>
              <a:t>for</a:t>
            </a:r>
            <a:r>
              <a:rPr lang="nl-NL" dirty="0"/>
              <a:t> the (</a:t>
            </a:r>
            <a:r>
              <a:rPr lang="nl-NL" dirty="0" err="1"/>
              <a:t>external</a:t>
            </a:r>
            <a:r>
              <a:rPr lang="nl-NL" dirty="0"/>
              <a:t>) </a:t>
            </a:r>
            <a:r>
              <a:rPr lang="nl-NL" dirty="0" err="1"/>
              <a:t>validation</a:t>
            </a:r>
            <a:r>
              <a:rPr lang="nl-NL" dirty="0"/>
              <a:t> of a </a:t>
            </a:r>
            <a:r>
              <a:rPr lang="nl-NL" dirty="0" err="1"/>
              <a:t>Technological</a:t>
            </a:r>
            <a:r>
              <a:rPr lang="nl-NL" dirty="0"/>
              <a:t> </a:t>
            </a:r>
            <a:r>
              <a:rPr lang="nl-NL" dirty="0" err="1"/>
              <a:t>Intervention</a:t>
            </a:r>
            <a:r>
              <a:rPr lang="nl-NL" dirty="0"/>
              <a:t>.</a:t>
            </a:r>
          </a:p>
          <a:p>
            <a:pPr marL="457200" indent="-457200">
              <a:buNone/>
            </a:pPr>
            <a:r>
              <a:rPr lang="nl-NL" dirty="0"/>
              <a:t> </a:t>
            </a:r>
          </a:p>
          <a:p>
            <a:pPr marL="457200" indent="-457200">
              <a:buNone/>
            </a:pPr>
            <a:r>
              <a:rPr lang="nl-NL" b="1" dirty="0"/>
              <a:t>How </a:t>
            </a:r>
            <a:r>
              <a:rPr lang="nl-NL" b="1" dirty="0" err="1"/>
              <a:t>will</a:t>
            </a:r>
            <a:r>
              <a:rPr lang="nl-NL" b="1" dirty="0"/>
              <a:t> we get </a:t>
            </a:r>
            <a:r>
              <a:rPr lang="nl-NL" b="1" dirty="0" err="1"/>
              <a:t>there</a:t>
            </a:r>
            <a:r>
              <a:rPr lang="nl-NL" b="1" dirty="0"/>
              <a:t>? </a:t>
            </a:r>
          </a:p>
          <a:p>
            <a:pPr marL="457200" indent="-457200">
              <a:buNone/>
            </a:pPr>
            <a:endParaRPr lang="nl-NL" b="1" dirty="0"/>
          </a:p>
          <a:p>
            <a:pPr marL="457200" indent="-457200">
              <a:buNone/>
            </a:pPr>
            <a:r>
              <a:rPr lang="nl-NL" dirty="0" err="1"/>
              <a:t>Here</a:t>
            </a:r>
            <a:r>
              <a:rPr lang="nl-NL" dirty="0"/>
              <a:t> is </a:t>
            </a:r>
            <a:r>
              <a:rPr lang="nl-NL" dirty="0" err="1"/>
              <a:t>the</a:t>
            </a:r>
            <a:r>
              <a:rPr lang="nl-NL" dirty="0"/>
              <a:t> </a:t>
            </a:r>
            <a:r>
              <a:rPr lang="nl-NL" dirty="0" err="1"/>
              <a:t>process</a:t>
            </a:r>
            <a:r>
              <a:rPr lang="nl-NL" dirty="0"/>
              <a:t> </a:t>
            </a:r>
            <a:r>
              <a:rPr lang="nl-NL" dirty="0" err="1"/>
              <a:t>step-by-step</a:t>
            </a:r>
            <a:r>
              <a:rPr lang="nl-NL" dirty="0"/>
              <a:t>:</a:t>
            </a:r>
          </a:p>
          <a:p>
            <a:pPr>
              <a:buFont typeface="Arial" panose="020B0604020202020204" pitchFamily="34" charset="0"/>
              <a:buChar char="•"/>
            </a:pPr>
            <a:r>
              <a:rPr lang="nl-NL" dirty="0"/>
              <a:t>The </a:t>
            </a:r>
            <a:r>
              <a:rPr lang="nl-NL" dirty="0" err="1"/>
              <a:t>bigger</a:t>
            </a:r>
            <a:r>
              <a:rPr lang="nl-NL" dirty="0"/>
              <a:t> picture: </a:t>
            </a:r>
            <a:r>
              <a:rPr lang="nl-NL" dirty="0" err="1"/>
              <a:t>provide</a:t>
            </a:r>
            <a:r>
              <a:rPr lang="nl-NL" dirty="0"/>
              <a:t> </a:t>
            </a:r>
            <a:r>
              <a:rPr lang="nl-NL" dirty="0" err="1"/>
              <a:t>an</a:t>
            </a:r>
            <a:r>
              <a:rPr lang="nl-NL" dirty="0"/>
              <a:t> </a:t>
            </a:r>
            <a:r>
              <a:rPr lang="nl-NL" dirty="0" err="1"/>
              <a:t>overview</a:t>
            </a:r>
            <a:r>
              <a:rPr lang="nl-NL" dirty="0"/>
              <a:t> of the </a:t>
            </a:r>
            <a:r>
              <a:rPr lang="nl-NL" dirty="0" err="1"/>
              <a:t>Technological</a:t>
            </a:r>
            <a:r>
              <a:rPr lang="nl-NL" dirty="0"/>
              <a:t> </a:t>
            </a:r>
            <a:r>
              <a:rPr lang="nl-NL" dirty="0" err="1"/>
              <a:t>Intervention</a:t>
            </a:r>
            <a:r>
              <a:rPr lang="nl-NL" dirty="0"/>
              <a:t> </a:t>
            </a:r>
            <a:r>
              <a:rPr lang="nl-NL" dirty="0" err="1"/>
              <a:t>process</a:t>
            </a:r>
            <a:r>
              <a:rPr lang="nl-NL" dirty="0"/>
              <a:t>.</a:t>
            </a:r>
          </a:p>
          <a:p>
            <a:pPr>
              <a:buFont typeface="Arial" panose="020B0604020202020204" pitchFamily="34" charset="0"/>
              <a:buChar char="•"/>
            </a:pPr>
            <a:r>
              <a:rPr lang="nl-NL" dirty="0" err="1"/>
              <a:t>Discuss</a:t>
            </a:r>
            <a:r>
              <a:rPr lang="nl-NL" dirty="0"/>
              <a:t> </a:t>
            </a:r>
            <a:r>
              <a:rPr lang="nl-NL" dirty="0" err="1"/>
              <a:t>and</a:t>
            </a:r>
            <a:r>
              <a:rPr lang="nl-NL" dirty="0"/>
              <a:t> </a:t>
            </a:r>
            <a:r>
              <a:rPr lang="nl-NL" dirty="0" err="1"/>
              <a:t>understand</a:t>
            </a:r>
            <a:r>
              <a:rPr lang="nl-NL" dirty="0"/>
              <a:t> the </a:t>
            </a:r>
            <a:r>
              <a:rPr lang="nl-NL" dirty="0" err="1"/>
              <a:t>difference</a:t>
            </a:r>
            <a:r>
              <a:rPr lang="nl-NL" dirty="0"/>
              <a:t> </a:t>
            </a:r>
            <a:r>
              <a:rPr lang="nl-NL" dirty="0" err="1"/>
              <a:t>between</a:t>
            </a:r>
            <a:r>
              <a:rPr lang="nl-NL" dirty="0"/>
              <a:t> Validation </a:t>
            </a:r>
            <a:r>
              <a:rPr lang="nl-NL" dirty="0" err="1"/>
              <a:t>and</a:t>
            </a:r>
            <a:r>
              <a:rPr lang="nl-NL" dirty="0"/>
              <a:t> </a:t>
            </a:r>
            <a:r>
              <a:rPr lang="nl-NL" dirty="0" err="1"/>
              <a:t>Verification</a:t>
            </a:r>
            <a:r>
              <a:rPr lang="nl-NL" dirty="0"/>
              <a:t>, </a:t>
            </a:r>
            <a:r>
              <a:rPr lang="nl-NL" dirty="0" err="1"/>
              <a:t>and</a:t>
            </a:r>
            <a:r>
              <a:rPr lang="nl-NL" dirty="0"/>
              <a:t> </a:t>
            </a:r>
            <a:r>
              <a:rPr lang="nl-NL" dirty="0" err="1"/>
              <a:t>why</a:t>
            </a:r>
            <a:r>
              <a:rPr lang="nl-NL" dirty="0"/>
              <a:t> </a:t>
            </a:r>
            <a:r>
              <a:rPr lang="nl-NL" dirty="0" err="1"/>
              <a:t>they</a:t>
            </a:r>
            <a:r>
              <a:rPr lang="nl-NL" dirty="0"/>
              <a:t> are </a:t>
            </a:r>
            <a:r>
              <a:rPr lang="nl-NL" dirty="0" err="1"/>
              <a:t>both</a:t>
            </a:r>
            <a:r>
              <a:rPr lang="nl-NL" dirty="0"/>
              <a:t> </a:t>
            </a:r>
            <a:r>
              <a:rPr lang="nl-NL" dirty="0" err="1"/>
              <a:t>needed</a:t>
            </a:r>
            <a:r>
              <a:rPr lang="nl-NL" dirty="0"/>
              <a:t>.</a:t>
            </a:r>
          </a:p>
          <a:p>
            <a:pPr>
              <a:buFont typeface="Arial" panose="020B0604020202020204" pitchFamily="34" charset="0"/>
              <a:buChar char="•"/>
            </a:pPr>
            <a:r>
              <a:rPr lang="nl-NL" dirty="0" err="1"/>
              <a:t>Discuss</a:t>
            </a:r>
            <a:r>
              <a:rPr lang="nl-NL" dirty="0"/>
              <a:t> </a:t>
            </a:r>
            <a:r>
              <a:rPr lang="nl-NL" dirty="0" err="1"/>
              <a:t>examples</a:t>
            </a:r>
            <a:r>
              <a:rPr lang="nl-NL" dirty="0"/>
              <a:t> of Research </a:t>
            </a:r>
            <a:r>
              <a:rPr lang="nl-NL" dirty="0" err="1"/>
              <a:t>Protocols</a:t>
            </a:r>
            <a:r>
              <a:rPr lang="nl-NL" dirty="0"/>
              <a:t> </a:t>
            </a:r>
            <a:r>
              <a:rPr lang="nl-NL" dirty="0" err="1"/>
              <a:t>for</a:t>
            </a:r>
            <a:r>
              <a:rPr lang="nl-NL" dirty="0"/>
              <a:t> the (</a:t>
            </a:r>
            <a:r>
              <a:rPr lang="nl-NL" dirty="0" err="1"/>
              <a:t>external</a:t>
            </a:r>
            <a:r>
              <a:rPr lang="nl-NL" dirty="0"/>
              <a:t>) </a:t>
            </a:r>
            <a:r>
              <a:rPr lang="nl-NL" dirty="0" err="1"/>
              <a:t>validation</a:t>
            </a:r>
            <a:r>
              <a:rPr lang="nl-NL" dirty="0"/>
              <a:t> of a </a:t>
            </a:r>
            <a:r>
              <a:rPr lang="nl-NL" dirty="0" err="1"/>
              <a:t>Technological</a:t>
            </a:r>
            <a:r>
              <a:rPr lang="nl-NL" dirty="0"/>
              <a:t> </a:t>
            </a:r>
            <a:r>
              <a:rPr lang="nl-NL" dirty="0" err="1"/>
              <a:t>Intervention</a:t>
            </a:r>
            <a:r>
              <a:rPr lang="nl-NL" dirty="0"/>
              <a:t>.</a:t>
            </a:r>
          </a:p>
        </p:txBody>
      </p:sp>
      <p:sp>
        <p:nvSpPr>
          <p:cNvPr id="4" name="Slide Number Placeholder 3"/>
          <p:cNvSpPr>
            <a:spLocks noGrp="1"/>
          </p:cNvSpPr>
          <p:nvPr>
            <p:ph type="sldNum" sz="quarter" idx="15"/>
          </p:nvPr>
        </p:nvSpPr>
        <p:spPr/>
        <p:txBody>
          <a:bodyPr/>
          <a:lstStyle/>
          <a:p>
            <a:fld id="{90D0CBCA-F7F6-4AC9-BA3F-8673847511BA}" type="slidenum">
              <a:rPr lang="nl-NL" smtClean="0"/>
              <a:pPr/>
              <a:t>3</a:t>
            </a:fld>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2" grpId="0"/>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A7B695-FEAC-2B40-A62F-E1900D5F6707}"/>
              </a:ext>
            </a:extLst>
          </p:cNvPr>
          <p:cNvSpPr>
            <a:spLocks noGrp="1"/>
          </p:cNvSpPr>
          <p:nvPr>
            <p:ph sz="quarter" idx="1"/>
          </p:nvPr>
        </p:nvSpPr>
        <p:spPr>
          <a:xfrm>
            <a:off x="457200" y="116632"/>
            <a:ext cx="7467600" cy="6357320"/>
          </a:xfrm>
        </p:spPr>
        <p:txBody>
          <a:bodyPr/>
          <a:lstStyle/>
          <a:p>
            <a:pPr marL="0" indent="0">
              <a:buNone/>
            </a:pPr>
            <a:r>
              <a:rPr lang="en-US" b="1" dirty="0"/>
              <a:t>Technological intervention…what’s that?</a:t>
            </a:r>
          </a:p>
          <a:p>
            <a:endParaRPr lang="en-US" dirty="0"/>
          </a:p>
          <a:p>
            <a:r>
              <a:rPr lang="en-US" dirty="0"/>
              <a:t>Write down of a lifestyle or medical app </a:t>
            </a:r>
            <a:r>
              <a:rPr lang="en-US" b="1" dirty="0"/>
              <a:t>supporting health</a:t>
            </a:r>
            <a:r>
              <a:rPr lang="en-US" dirty="0"/>
              <a:t> that you used and did not work well for you (e.g. related to exercise, nutrition, sleep, meditation, blood sugar measurement etc.). Think of </a:t>
            </a:r>
            <a:r>
              <a:rPr lang="en-US" b="1" dirty="0"/>
              <a:t>why it didn’t work</a:t>
            </a:r>
            <a:r>
              <a:rPr lang="en-US" dirty="0"/>
              <a:t>.</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97CCD5C-033B-8A48-AD53-658FBE301177}"/>
              </a:ext>
            </a:extLst>
          </p:cNvPr>
          <p:cNvSpPr>
            <a:spLocks noGrp="1"/>
          </p:cNvSpPr>
          <p:nvPr>
            <p:ph type="sldNum" sz="quarter" idx="15"/>
          </p:nvPr>
        </p:nvSpPr>
        <p:spPr/>
        <p:txBody>
          <a:bodyPr/>
          <a:lstStyle/>
          <a:p>
            <a:fld id="{90D0CBCA-F7F6-4AC9-BA3F-8673847511BA}" type="slidenum">
              <a:rPr lang="en-US" smtClean="0"/>
              <a:pPr/>
              <a:t>4</a:t>
            </a:fld>
            <a:endParaRPr lang="en-US"/>
          </a:p>
        </p:txBody>
      </p:sp>
      <p:pic>
        <p:nvPicPr>
          <p:cNvPr id="6" name="Picture 5">
            <a:extLst>
              <a:ext uri="{FF2B5EF4-FFF2-40B4-BE49-F238E27FC236}">
                <a16:creationId xmlns:a16="http://schemas.microsoft.com/office/drawing/2014/main" id="{36C1A162-BF45-D54B-A303-E4B35B3094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2" y="2924944"/>
            <a:ext cx="3816424" cy="3816424"/>
          </a:xfrm>
          <a:prstGeom prst="rect">
            <a:avLst/>
          </a:prstGeom>
        </p:spPr>
      </p:pic>
    </p:spTree>
    <p:extLst>
      <p:ext uri="{BB962C8B-B14F-4D97-AF65-F5344CB8AC3E}">
        <p14:creationId xmlns:p14="http://schemas.microsoft.com/office/powerpoint/2010/main" val="3847775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66779" y="188640"/>
            <a:ext cx="8157220" cy="1494947"/>
          </a:xfrm>
        </p:spPr>
        <p:txBody>
          <a:bodyPr>
            <a:noAutofit/>
          </a:bodyPr>
          <a:lstStyle/>
          <a:p>
            <a:br>
              <a:rPr lang="nl-NL" sz="2400" dirty="0">
                <a:solidFill>
                  <a:srgbClr val="0070C0"/>
                </a:solidFill>
              </a:rPr>
            </a:br>
            <a:br>
              <a:rPr lang="nl-NL" sz="2400" dirty="0">
                <a:solidFill>
                  <a:srgbClr val="0070C0"/>
                </a:solidFill>
              </a:rPr>
            </a:br>
            <a:r>
              <a:rPr lang="nl-NL" sz="2400" dirty="0" err="1">
                <a:solidFill>
                  <a:srgbClr val="0070C0"/>
                </a:solidFill>
              </a:rPr>
              <a:t>example</a:t>
            </a:r>
            <a:r>
              <a:rPr lang="nl-NL" sz="2400" dirty="0">
                <a:solidFill>
                  <a:srgbClr val="0070C0"/>
                </a:solidFill>
              </a:rPr>
              <a:t>: AN APP THAT HELPS PEOPLE TO STOP SMOKING </a:t>
            </a:r>
            <a:r>
              <a:rPr lang="nl-NL" sz="2400" dirty="0" err="1">
                <a:solidFill>
                  <a:srgbClr val="0070C0"/>
                </a:solidFill>
              </a:rPr>
              <a:t>and</a:t>
            </a:r>
            <a:r>
              <a:rPr lang="nl-NL" sz="2400" dirty="0">
                <a:solidFill>
                  <a:srgbClr val="0070C0"/>
                </a:solidFill>
              </a:rPr>
              <a:t> </a:t>
            </a:r>
            <a:r>
              <a:rPr lang="nl-NL" sz="2400" dirty="0" err="1">
                <a:solidFill>
                  <a:srgbClr val="0070C0"/>
                </a:solidFill>
              </a:rPr>
              <a:t>provides</a:t>
            </a:r>
            <a:r>
              <a:rPr lang="nl-NL" sz="2400" dirty="0">
                <a:solidFill>
                  <a:srgbClr val="0070C0"/>
                </a:solidFill>
              </a:rPr>
              <a:t> users </a:t>
            </a:r>
            <a:r>
              <a:rPr lang="nl-NL" sz="2400" dirty="0" err="1">
                <a:solidFill>
                  <a:srgbClr val="0070C0"/>
                </a:solidFill>
              </a:rPr>
              <a:t>with</a:t>
            </a:r>
            <a:r>
              <a:rPr lang="nl-NL" sz="2400" dirty="0">
                <a:solidFill>
                  <a:srgbClr val="0070C0"/>
                </a:solidFill>
              </a:rPr>
              <a:t> a </a:t>
            </a:r>
            <a:r>
              <a:rPr lang="nl-NL" sz="2400" dirty="0" err="1">
                <a:solidFill>
                  <a:srgbClr val="0070C0"/>
                </a:solidFill>
              </a:rPr>
              <a:t>personalized</a:t>
            </a:r>
            <a:r>
              <a:rPr lang="nl-NL" sz="2400" dirty="0">
                <a:solidFill>
                  <a:srgbClr val="0070C0"/>
                </a:solidFill>
              </a:rPr>
              <a:t> plan </a:t>
            </a:r>
            <a:r>
              <a:rPr lang="nl-NL" sz="2400" dirty="0" err="1">
                <a:solidFill>
                  <a:srgbClr val="0070C0"/>
                </a:solidFill>
              </a:rPr>
              <a:t>and</a:t>
            </a:r>
            <a:r>
              <a:rPr lang="nl-NL" sz="2400" dirty="0">
                <a:solidFill>
                  <a:srgbClr val="0070C0"/>
                </a:solidFill>
              </a:rPr>
              <a:t> </a:t>
            </a:r>
            <a:r>
              <a:rPr lang="nl-NL" sz="2400" dirty="0" err="1">
                <a:solidFill>
                  <a:srgbClr val="0070C0"/>
                </a:solidFill>
              </a:rPr>
              <a:t>advice</a:t>
            </a:r>
            <a:endParaRPr lang="nl-NL" sz="2400" dirty="0">
              <a:solidFill>
                <a:srgbClr val="0070C0"/>
              </a:solidFill>
            </a:endParaRP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5</a:t>
            </a:fld>
            <a:endParaRPr lang="en-US"/>
          </a:p>
        </p:txBody>
      </p:sp>
      <p:pic>
        <p:nvPicPr>
          <p:cNvPr id="7170" name="Picture 2" descr="http://www.dutchcowgirls.nl/images/upload/Mystopbuddy.jpg"/>
          <p:cNvPicPr>
            <a:picLocks noChangeAspect="1" noChangeArrowheads="1"/>
          </p:cNvPicPr>
          <p:nvPr/>
        </p:nvPicPr>
        <p:blipFill>
          <a:blip r:embed="rId3" cstate="print"/>
          <a:srcRect/>
          <a:stretch>
            <a:fillRect/>
          </a:stretch>
        </p:blipFill>
        <p:spPr bwMode="auto">
          <a:xfrm>
            <a:off x="179512" y="2582123"/>
            <a:ext cx="3761987" cy="2869545"/>
          </a:xfrm>
          <a:prstGeom prst="rect">
            <a:avLst/>
          </a:prstGeom>
          <a:noFill/>
        </p:spPr>
      </p:pic>
      <p:pic>
        <p:nvPicPr>
          <p:cNvPr id="7172" name="Picture 4" descr="Screenshots My Stop Buddy"/>
          <p:cNvPicPr>
            <a:picLocks noChangeAspect="1" noChangeArrowheads="1"/>
          </p:cNvPicPr>
          <p:nvPr/>
        </p:nvPicPr>
        <p:blipFill>
          <a:blip r:embed="rId4" cstate="print"/>
          <a:srcRect/>
          <a:stretch>
            <a:fillRect/>
          </a:stretch>
        </p:blipFill>
        <p:spPr bwMode="auto">
          <a:xfrm>
            <a:off x="3851920" y="2492896"/>
            <a:ext cx="4762500" cy="304800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457200" y="274638"/>
            <a:ext cx="7787208" cy="706090"/>
          </a:xfrm>
        </p:spPr>
        <p:txBody>
          <a:bodyPr/>
          <a:lstStyle/>
          <a:p>
            <a:r>
              <a:rPr lang="nl-NL" dirty="0"/>
              <a:t>INTERVENTION SYSTEM</a:t>
            </a: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6</a:t>
            </a:fld>
            <a:endParaRPr lang="en-US"/>
          </a:p>
        </p:txBody>
      </p:sp>
      <p:graphicFrame>
        <p:nvGraphicFramePr>
          <p:cNvPr id="5" name="Diagram 4"/>
          <p:cNvGraphicFramePr/>
          <p:nvPr>
            <p:extLst>
              <p:ext uri="{D42A27DB-BD31-4B8C-83A1-F6EECF244321}">
                <p14:modId xmlns:p14="http://schemas.microsoft.com/office/powerpoint/2010/main" val="196475191"/>
              </p:ext>
            </p:extLst>
          </p:nvPr>
        </p:nvGraphicFramePr>
        <p:xfrm>
          <a:off x="539552" y="1340768"/>
          <a:ext cx="7704856" cy="51845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Graphic spid="5"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7467600" cy="953283"/>
          </a:xfrm>
        </p:spPr>
        <p:txBody>
          <a:bodyPr>
            <a:normAutofit fontScale="90000"/>
          </a:bodyPr>
          <a:lstStyle/>
          <a:p>
            <a:r>
              <a:rPr lang="nl-NL" dirty="0"/>
              <a:t>THE PATH TOWARDS A TECHNOLOGICAL INTERVENTION</a:t>
            </a:r>
          </a:p>
        </p:txBody>
      </p:sp>
      <p:sp>
        <p:nvSpPr>
          <p:cNvPr id="3" name="Tijdelijke aanduiding voor inhoud 2"/>
          <p:cNvSpPr>
            <a:spLocks noGrp="1"/>
          </p:cNvSpPr>
          <p:nvPr>
            <p:ph sz="quarter" idx="1"/>
          </p:nvPr>
        </p:nvSpPr>
        <p:spPr/>
        <p:txBody>
          <a:bodyPr>
            <a:normAutofit fontScale="77500" lnSpcReduction="20000"/>
          </a:bodyPr>
          <a:lstStyle/>
          <a:p>
            <a:r>
              <a:rPr lang="en-US" b="1" dirty="0"/>
              <a:t>System design</a:t>
            </a:r>
          </a:p>
          <a:p>
            <a:pPr lvl="1"/>
            <a:r>
              <a:rPr lang="nl-NL" dirty="0"/>
              <a:t>System </a:t>
            </a:r>
            <a:r>
              <a:rPr lang="nl-NL" dirty="0" err="1"/>
              <a:t>Requirements</a:t>
            </a:r>
            <a:endParaRPr lang="nl-NL" dirty="0"/>
          </a:p>
          <a:p>
            <a:pPr lvl="1"/>
            <a:r>
              <a:rPr lang="nl-NL" dirty="0"/>
              <a:t>Target </a:t>
            </a:r>
            <a:r>
              <a:rPr lang="nl-NL" dirty="0" err="1"/>
              <a:t>groups</a:t>
            </a:r>
            <a:r>
              <a:rPr lang="nl-NL" dirty="0"/>
              <a:t>/test subjects</a:t>
            </a:r>
          </a:p>
          <a:p>
            <a:endParaRPr lang="nl-NL" dirty="0"/>
          </a:p>
          <a:p>
            <a:r>
              <a:rPr lang="nl-NL" b="1" dirty="0"/>
              <a:t>System </a:t>
            </a:r>
            <a:r>
              <a:rPr lang="nl-NL" b="1" dirty="0" err="1"/>
              <a:t>implementation</a:t>
            </a:r>
            <a:endParaRPr lang="nl-NL" b="1" dirty="0"/>
          </a:p>
          <a:p>
            <a:pPr lvl="1"/>
            <a:r>
              <a:rPr lang="nl-NL" dirty="0"/>
              <a:t>System Architecture</a:t>
            </a:r>
          </a:p>
          <a:p>
            <a:pPr lvl="1"/>
            <a:r>
              <a:rPr lang="nl-NL" dirty="0" err="1"/>
              <a:t>Inference</a:t>
            </a:r>
            <a:r>
              <a:rPr lang="nl-NL" dirty="0"/>
              <a:t> Engine</a:t>
            </a:r>
          </a:p>
          <a:p>
            <a:pPr lvl="1"/>
            <a:r>
              <a:rPr lang="nl-NL" dirty="0"/>
              <a:t>Programming</a:t>
            </a:r>
          </a:p>
          <a:p>
            <a:pPr marL="0" indent="0">
              <a:buNone/>
            </a:pPr>
            <a:endParaRPr lang="nl-NL" dirty="0"/>
          </a:p>
          <a:p>
            <a:r>
              <a:rPr lang="nl-NL" b="1" dirty="0"/>
              <a:t>System Testing (</a:t>
            </a:r>
            <a:r>
              <a:rPr lang="nl-NL" b="1" dirty="0" err="1"/>
              <a:t>verification</a:t>
            </a:r>
            <a:r>
              <a:rPr lang="nl-NL" b="1" dirty="0"/>
              <a:t>)</a:t>
            </a:r>
          </a:p>
          <a:p>
            <a:pPr lvl="1"/>
            <a:r>
              <a:rPr lang="nl-NL" dirty="0"/>
              <a:t>Do </a:t>
            </a:r>
            <a:r>
              <a:rPr lang="nl-NL" dirty="0" err="1"/>
              <a:t>the</a:t>
            </a:r>
            <a:r>
              <a:rPr lang="nl-NL" dirty="0"/>
              <a:t> </a:t>
            </a:r>
            <a:r>
              <a:rPr lang="nl-NL" dirty="0" err="1"/>
              <a:t>components</a:t>
            </a:r>
            <a:r>
              <a:rPr lang="nl-NL" dirty="0"/>
              <a:t> </a:t>
            </a:r>
            <a:r>
              <a:rPr lang="nl-NL" dirty="0" err="1"/>
              <a:t>work</a:t>
            </a:r>
            <a:r>
              <a:rPr lang="nl-NL" dirty="0"/>
              <a:t>? </a:t>
            </a:r>
          </a:p>
          <a:p>
            <a:pPr lvl="1"/>
            <a:r>
              <a:rPr lang="nl-NL" dirty="0"/>
              <a:t>Does </a:t>
            </a:r>
            <a:r>
              <a:rPr lang="nl-NL" dirty="0" err="1"/>
              <a:t>the</a:t>
            </a:r>
            <a:r>
              <a:rPr lang="nl-NL" dirty="0"/>
              <a:t> system </a:t>
            </a:r>
            <a:r>
              <a:rPr lang="nl-NL" dirty="0" err="1"/>
              <a:t>give</a:t>
            </a:r>
            <a:r>
              <a:rPr lang="nl-NL" dirty="0"/>
              <a:t> </a:t>
            </a:r>
            <a:r>
              <a:rPr lang="nl-NL" dirty="0" err="1"/>
              <a:t>the</a:t>
            </a:r>
            <a:r>
              <a:rPr lang="nl-NL" dirty="0"/>
              <a:t> </a:t>
            </a:r>
            <a:r>
              <a:rPr lang="nl-NL" dirty="0" err="1"/>
              <a:t>expected</a:t>
            </a:r>
            <a:r>
              <a:rPr lang="nl-NL" dirty="0"/>
              <a:t> output </a:t>
            </a:r>
            <a:r>
              <a:rPr lang="nl-NL" dirty="0" err="1"/>
              <a:t>based</a:t>
            </a:r>
            <a:r>
              <a:rPr lang="nl-NL" dirty="0"/>
              <a:t> on a </a:t>
            </a:r>
            <a:r>
              <a:rPr lang="nl-NL" dirty="0" err="1"/>
              <a:t>given</a:t>
            </a:r>
            <a:r>
              <a:rPr lang="nl-NL" dirty="0"/>
              <a:t> input?</a:t>
            </a:r>
          </a:p>
          <a:p>
            <a:pPr lvl="1"/>
            <a:endParaRPr lang="nl-NL" dirty="0"/>
          </a:p>
          <a:p>
            <a:r>
              <a:rPr lang="nl-NL" b="1" dirty="0"/>
              <a:t>System Validation </a:t>
            </a:r>
            <a:endParaRPr lang="nl-NL" dirty="0"/>
          </a:p>
          <a:p>
            <a:pPr lvl="1"/>
            <a:r>
              <a:rPr lang="nl-NL" dirty="0"/>
              <a:t>Does </a:t>
            </a:r>
            <a:r>
              <a:rPr lang="nl-NL" dirty="0" err="1"/>
              <a:t>the</a:t>
            </a:r>
            <a:r>
              <a:rPr lang="nl-NL" dirty="0"/>
              <a:t> system help </a:t>
            </a:r>
            <a:r>
              <a:rPr lang="nl-NL" dirty="0" err="1"/>
              <a:t>its</a:t>
            </a:r>
            <a:r>
              <a:rPr lang="nl-NL" dirty="0"/>
              <a:t> users </a:t>
            </a:r>
            <a:r>
              <a:rPr lang="nl-NL" dirty="0" err="1"/>
              <a:t>achieve</a:t>
            </a:r>
            <a:r>
              <a:rPr lang="nl-NL" dirty="0"/>
              <a:t> </a:t>
            </a:r>
            <a:r>
              <a:rPr lang="nl-NL" dirty="0" err="1"/>
              <a:t>their</a:t>
            </a:r>
            <a:r>
              <a:rPr lang="nl-NL" dirty="0"/>
              <a:t> goal?</a:t>
            </a:r>
          </a:p>
          <a:p>
            <a:pPr lvl="1"/>
            <a:r>
              <a:rPr lang="nl-NL" dirty="0"/>
              <a:t>How is </a:t>
            </a:r>
            <a:r>
              <a:rPr lang="nl-NL" dirty="0" err="1"/>
              <a:t>the</a:t>
            </a:r>
            <a:r>
              <a:rPr lang="nl-NL" dirty="0"/>
              <a:t> overall user </a:t>
            </a:r>
            <a:r>
              <a:rPr lang="nl-NL" dirty="0" err="1"/>
              <a:t>experience</a:t>
            </a:r>
            <a:r>
              <a:rPr lang="nl-NL" dirty="0"/>
              <a:t>?</a:t>
            </a:r>
          </a:p>
          <a:p>
            <a:endParaRPr lang="nl-NL" dirty="0"/>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7</a:t>
            </a:fld>
            <a:endParaRPr lang="en-US"/>
          </a:p>
        </p:txBody>
      </p:sp>
      <p:pic>
        <p:nvPicPr>
          <p:cNvPr id="5122" name="Picture 2" descr="http://nl.dreamstime.com/groep-mensen-in-een-rij-thumb11747890.jpg"/>
          <p:cNvPicPr>
            <a:picLocks noChangeAspect="1" noChangeArrowheads="1"/>
          </p:cNvPicPr>
          <p:nvPr/>
        </p:nvPicPr>
        <p:blipFill>
          <a:blip r:embed="rId3" cstate="print"/>
          <a:srcRect t="4227" b="6118"/>
          <a:stretch>
            <a:fillRect/>
          </a:stretch>
        </p:blipFill>
        <p:spPr bwMode="auto">
          <a:xfrm>
            <a:off x="6754150" y="732769"/>
            <a:ext cx="1679666" cy="1152000"/>
          </a:xfrm>
          <a:prstGeom prst="rect">
            <a:avLst/>
          </a:prstGeom>
          <a:noFill/>
        </p:spPr>
      </p:pic>
      <p:pic>
        <p:nvPicPr>
          <p:cNvPr id="5124" name="Picture 4"/>
          <p:cNvPicPr>
            <a:picLocks noChangeAspect="1" noChangeArrowheads="1"/>
          </p:cNvPicPr>
          <p:nvPr/>
        </p:nvPicPr>
        <p:blipFill>
          <a:blip r:embed="rId4" cstate="print"/>
          <a:srcRect l="26284" t="23250" r="27780" b="17688"/>
          <a:stretch>
            <a:fillRect/>
          </a:stretch>
        </p:blipFill>
        <p:spPr bwMode="auto">
          <a:xfrm>
            <a:off x="4614704" y="2060649"/>
            <a:ext cx="3312368" cy="239448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1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06090"/>
          </a:xfrm>
        </p:spPr>
        <p:txBody>
          <a:bodyPr/>
          <a:lstStyle/>
          <a:p>
            <a:r>
              <a:rPr lang="nl-NL" dirty="0"/>
              <a:t>VERIFICATION &amp; VALIDATION</a:t>
            </a:r>
          </a:p>
        </p:txBody>
      </p:sp>
      <p:sp>
        <p:nvSpPr>
          <p:cNvPr id="3" name="Content Placeholder 2"/>
          <p:cNvSpPr>
            <a:spLocks noGrp="1"/>
          </p:cNvSpPr>
          <p:nvPr>
            <p:ph sz="quarter" idx="1"/>
          </p:nvPr>
        </p:nvSpPr>
        <p:spPr/>
        <p:txBody>
          <a:bodyPr>
            <a:normAutofit fontScale="92500"/>
          </a:bodyPr>
          <a:lstStyle/>
          <a:p>
            <a:pPr marL="0" indent="0">
              <a:buNone/>
            </a:pPr>
            <a:r>
              <a:rPr lang="en-US" b="1" dirty="0"/>
              <a:t>Verification</a:t>
            </a:r>
            <a:r>
              <a:rPr lang="en-US" dirty="0"/>
              <a:t> is the process of checking whether the software system meets the specified requirements of the users </a:t>
            </a:r>
            <a:r>
              <a:rPr lang="en-US" sz="3000" dirty="0"/>
              <a:t>☞ </a:t>
            </a:r>
            <a:r>
              <a:rPr lang="en-US" dirty="0"/>
              <a:t>Testing the system’s </a:t>
            </a:r>
            <a:r>
              <a:rPr lang="en-US" i="1" dirty="0"/>
              <a:t>Correctness: </a:t>
            </a:r>
            <a:r>
              <a:rPr lang="nl-NL" dirty="0"/>
              <a:t>Is the system </a:t>
            </a:r>
            <a:r>
              <a:rPr lang="nl-NL" dirty="0" err="1"/>
              <a:t>doing</a:t>
            </a:r>
            <a:r>
              <a:rPr lang="nl-NL" dirty="0"/>
              <a:t> </a:t>
            </a:r>
            <a:r>
              <a:rPr lang="nl-NL" dirty="0" err="1"/>
              <a:t>what</a:t>
            </a:r>
            <a:r>
              <a:rPr lang="nl-NL" dirty="0"/>
              <a:t> </a:t>
            </a:r>
            <a:r>
              <a:rPr lang="nl-NL" dirty="0" err="1"/>
              <a:t>it</a:t>
            </a:r>
            <a:r>
              <a:rPr lang="nl-NL" dirty="0"/>
              <a:t> is </a:t>
            </a:r>
            <a:r>
              <a:rPr lang="nl-NL" dirty="0" err="1"/>
              <a:t>supposed</a:t>
            </a:r>
            <a:r>
              <a:rPr lang="nl-NL" dirty="0"/>
              <a:t> to </a:t>
            </a:r>
            <a:r>
              <a:rPr lang="nl-NL" dirty="0" err="1"/>
              <a:t>be</a:t>
            </a:r>
            <a:r>
              <a:rPr lang="nl-NL" dirty="0"/>
              <a:t> </a:t>
            </a:r>
            <a:r>
              <a:rPr lang="nl-NL" dirty="0" err="1"/>
              <a:t>doing</a:t>
            </a:r>
            <a:r>
              <a:rPr lang="nl-NL" dirty="0"/>
              <a:t>? Can </a:t>
            </a:r>
            <a:r>
              <a:rPr lang="nl-NL" dirty="0" err="1"/>
              <a:t>it</a:t>
            </a:r>
            <a:r>
              <a:rPr lang="nl-NL" dirty="0"/>
              <a:t> </a:t>
            </a:r>
            <a:r>
              <a:rPr lang="nl-NL" dirty="0" err="1"/>
              <a:t>correctly</a:t>
            </a:r>
            <a:r>
              <a:rPr lang="nl-NL" dirty="0"/>
              <a:t> keep track of </a:t>
            </a:r>
            <a:r>
              <a:rPr lang="nl-NL" dirty="0" err="1"/>
              <a:t>how</a:t>
            </a:r>
            <a:r>
              <a:rPr lang="nl-NL" dirty="0"/>
              <a:t> </a:t>
            </a:r>
            <a:r>
              <a:rPr lang="nl-NL" dirty="0" err="1"/>
              <a:t>much</a:t>
            </a:r>
            <a:r>
              <a:rPr lang="nl-NL" dirty="0"/>
              <a:t> the users are smoking? Is </a:t>
            </a:r>
            <a:r>
              <a:rPr lang="nl-NL" dirty="0" err="1"/>
              <a:t>it</a:t>
            </a:r>
            <a:r>
              <a:rPr lang="nl-NL" dirty="0"/>
              <a:t> </a:t>
            </a:r>
            <a:r>
              <a:rPr lang="nl-NL" dirty="0" err="1"/>
              <a:t>able</a:t>
            </a:r>
            <a:r>
              <a:rPr lang="nl-NL" dirty="0"/>
              <a:t> </a:t>
            </a:r>
            <a:r>
              <a:rPr lang="nl-NL" dirty="0" err="1"/>
              <a:t>to</a:t>
            </a:r>
            <a:r>
              <a:rPr lang="nl-NL" dirty="0"/>
              <a:t> </a:t>
            </a:r>
            <a:r>
              <a:rPr lang="nl-NL" dirty="0" err="1"/>
              <a:t>provide</a:t>
            </a:r>
            <a:r>
              <a:rPr lang="nl-NL" dirty="0"/>
              <a:t> users </a:t>
            </a:r>
            <a:r>
              <a:rPr lang="nl-NL" dirty="0" err="1"/>
              <a:t>with</a:t>
            </a:r>
            <a:r>
              <a:rPr lang="nl-NL" dirty="0"/>
              <a:t> </a:t>
            </a:r>
            <a:r>
              <a:rPr lang="nl-NL" dirty="0" err="1"/>
              <a:t>personalized</a:t>
            </a:r>
            <a:r>
              <a:rPr lang="nl-NL" dirty="0"/>
              <a:t> </a:t>
            </a:r>
            <a:r>
              <a:rPr lang="nl-NL" dirty="0" err="1"/>
              <a:t>plans</a:t>
            </a:r>
            <a:r>
              <a:rPr lang="nl-NL" dirty="0"/>
              <a:t> </a:t>
            </a:r>
            <a:r>
              <a:rPr lang="nl-NL" dirty="0" err="1"/>
              <a:t>targeting</a:t>
            </a:r>
            <a:r>
              <a:rPr lang="nl-NL" dirty="0"/>
              <a:t> </a:t>
            </a:r>
            <a:r>
              <a:rPr lang="nl-NL" dirty="0" err="1"/>
              <a:t>individual</a:t>
            </a:r>
            <a:r>
              <a:rPr lang="nl-NL" dirty="0"/>
              <a:t> users’ </a:t>
            </a:r>
            <a:r>
              <a:rPr lang="nl-NL" dirty="0" err="1"/>
              <a:t>need</a:t>
            </a:r>
            <a:r>
              <a:rPr lang="nl-NL" dirty="0"/>
              <a:t>?</a:t>
            </a:r>
          </a:p>
          <a:p>
            <a:pPr marL="0" indent="0">
              <a:buNone/>
            </a:pPr>
            <a:endParaRPr lang="en-US" i="1" dirty="0"/>
          </a:p>
          <a:p>
            <a:pPr marL="0" indent="0">
              <a:buNone/>
            </a:pPr>
            <a:r>
              <a:rPr lang="en-US" b="1" dirty="0"/>
              <a:t>Validation</a:t>
            </a:r>
            <a:r>
              <a:rPr lang="en-US" dirty="0"/>
              <a:t> is the process of checking whether the software system meets the actual requirements of the users </a:t>
            </a:r>
            <a:r>
              <a:rPr lang="en-US" sz="3000" dirty="0"/>
              <a:t>☞ </a:t>
            </a:r>
            <a:r>
              <a:rPr lang="en-US" dirty="0"/>
              <a:t>Testing the system’s </a:t>
            </a:r>
            <a:r>
              <a:rPr lang="en-US" i="1" dirty="0"/>
              <a:t>Effectiveness</a:t>
            </a:r>
            <a:r>
              <a:rPr lang="nl-NL" dirty="0"/>
              <a:t> Does the system </a:t>
            </a:r>
            <a:r>
              <a:rPr lang="nl-NL" dirty="0" err="1"/>
              <a:t>actually</a:t>
            </a:r>
            <a:r>
              <a:rPr lang="nl-NL" dirty="0"/>
              <a:t> </a:t>
            </a:r>
            <a:r>
              <a:rPr lang="nl-NL" dirty="0" err="1"/>
              <a:t>work</a:t>
            </a:r>
            <a:r>
              <a:rPr lang="nl-NL" dirty="0"/>
              <a:t>? Does </a:t>
            </a:r>
            <a:r>
              <a:rPr lang="nl-NL" dirty="0" err="1"/>
              <a:t>it</a:t>
            </a:r>
            <a:r>
              <a:rPr lang="nl-NL" dirty="0"/>
              <a:t> help </a:t>
            </a:r>
            <a:r>
              <a:rPr lang="nl-NL" dirty="0" err="1"/>
              <a:t>its</a:t>
            </a:r>
            <a:r>
              <a:rPr lang="nl-NL" dirty="0"/>
              <a:t> users </a:t>
            </a:r>
            <a:r>
              <a:rPr lang="nl-NL" dirty="0" err="1"/>
              <a:t>smoke</a:t>
            </a:r>
            <a:r>
              <a:rPr lang="nl-NL" dirty="0"/>
              <a:t> </a:t>
            </a:r>
            <a:r>
              <a:rPr lang="nl-NL" dirty="0" err="1"/>
              <a:t>less</a:t>
            </a:r>
            <a:r>
              <a:rPr lang="nl-NL" dirty="0"/>
              <a:t> or </a:t>
            </a:r>
            <a:r>
              <a:rPr lang="nl-NL" dirty="0" err="1"/>
              <a:t>quit</a:t>
            </a:r>
            <a:r>
              <a:rPr lang="nl-NL" dirty="0"/>
              <a:t> smoking?</a:t>
            </a:r>
          </a:p>
          <a:p>
            <a:endParaRPr lang="nl-NL" dirty="0"/>
          </a:p>
        </p:txBody>
      </p:sp>
      <p:sp>
        <p:nvSpPr>
          <p:cNvPr id="4" name="Slide Number Placeholder 3"/>
          <p:cNvSpPr>
            <a:spLocks noGrp="1"/>
          </p:cNvSpPr>
          <p:nvPr>
            <p:ph type="sldNum" sz="quarter" idx="15"/>
          </p:nvPr>
        </p:nvSpPr>
        <p:spPr/>
        <p:txBody>
          <a:bodyPr/>
          <a:lstStyle/>
          <a:p>
            <a:fld id="{90D0CBCA-F7F6-4AC9-BA3F-8673847511BA}" type="slidenum">
              <a:rPr lang="en-US" smtClean="0"/>
              <a:pPr/>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Internal</a:t>
            </a:r>
            <a:r>
              <a:rPr lang="nl-NL" dirty="0"/>
              <a:t> </a:t>
            </a:r>
            <a:r>
              <a:rPr lang="nl-NL" dirty="0" err="1"/>
              <a:t>vs</a:t>
            </a:r>
            <a:r>
              <a:rPr lang="nl-NL" dirty="0"/>
              <a:t> </a:t>
            </a:r>
            <a:r>
              <a:rPr lang="nl-NL" dirty="0" err="1"/>
              <a:t>external</a:t>
            </a:r>
            <a:r>
              <a:rPr lang="nl-NL" dirty="0"/>
              <a:t> </a:t>
            </a:r>
            <a:r>
              <a:rPr lang="nl-NL" dirty="0" err="1"/>
              <a:t>validation</a:t>
            </a:r>
            <a:endParaRPr lang="nl-NL" dirty="0"/>
          </a:p>
        </p:txBody>
      </p:sp>
      <p:graphicFrame>
        <p:nvGraphicFramePr>
          <p:cNvPr id="5" name="Tijdelijke aanduiding voor inhoud 4"/>
          <p:cNvGraphicFramePr>
            <a:graphicFrameLocks noGrp="1"/>
          </p:cNvGraphicFramePr>
          <p:nvPr>
            <p:ph sz="quarter" idx="1"/>
            <p:extLst>
              <p:ext uri="{D42A27DB-BD31-4B8C-83A1-F6EECF244321}">
                <p14:modId xmlns:p14="http://schemas.microsoft.com/office/powerpoint/2010/main" val="954173753"/>
              </p:ext>
            </p:extLst>
          </p:nvPr>
        </p:nvGraphicFramePr>
        <p:xfrm>
          <a:off x="457200" y="1600200"/>
          <a:ext cx="7467600" cy="4873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jdelijke aanduiding voor dianummer 3"/>
          <p:cNvSpPr>
            <a:spLocks noGrp="1"/>
          </p:cNvSpPr>
          <p:nvPr>
            <p:ph type="sldNum" sz="quarter" idx="15"/>
          </p:nvPr>
        </p:nvSpPr>
        <p:spPr/>
        <p:txBody>
          <a:bodyPr/>
          <a:lstStyle/>
          <a:p>
            <a:fld id="{90D0CBCA-F7F6-4AC9-BA3F-8673847511BA}" type="slidenum">
              <a:rPr lang="en-US" smtClean="0"/>
              <a:pPr/>
              <a:t>9</a:t>
            </a:fld>
            <a:endParaRPr lang="en-US"/>
          </a:p>
        </p:txBody>
      </p:sp>
      <p:sp>
        <p:nvSpPr>
          <p:cNvPr id="6" name="Tekstvak 5"/>
          <p:cNvSpPr txBox="1"/>
          <p:nvPr/>
        </p:nvSpPr>
        <p:spPr>
          <a:xfrm>
            <a:off x="827584" y="2636912"/>
            <a:ext cx="2952328" cy="369332"/>
          </a:xfrm>
          <a:prstGeom prst="rect">
            <a:avLst/>
          </a:prstGeom>
          <a:noFill/>
        </p:spPr>
        <p:txBody>
          <a:bodyPr wrap="square" rtlCol="0">
            <a:spAutoFit/>
          </a:bodyPr>
          <a:lstStyle/>
          <a:p>
            <a:r>
              <a:rPr lang="nl-NL" b="1" dirty="0" err="1"/>
              <a:t>Internal</a:t>
            </a:r>
            <a:r>
              <a:rPr lang="nl-NL" b="1" dirty="0"/>
              <a:t> </a:t>
            </a:r>
            <a:r>
              <a:rPr lang="nl-NL" b="1" dirty="0" err="1"/>
              <a:t>validation</a:t>
            </a:r>
            <a:endParaRPr lang="nl-NL" b="1" dirty="0"/>
          </a:p>
        </p:txBody>
      </p:sp>
      <p:sp>
        <p:nvSpPr>
          <p:cNvPr id="7" name="Tekstvak 6"/>
          <p:cNvSpPr txBox="1"/>
          <p:nvPr/>
        </p:nvSpPr>
        <p:spPr>
          <a:xfrm>
            <a:off x="5004048" y="2636912"/>
            <a:ext cx="2592288" cy="369332"/>
          </a:xfrm>
          <a:prstGeom prst="rect">
            <a:avLst/>
          </a:prstGeom>
          <a:noFill/>
        </p:spPr>
        <p:txBody>
          <a:bodyPr wrap="square" rtlCol="0">
            <a:spAutoFit/>
          </a:bodyPr>
          <a:lstStyle/>
          <a:p>
            <a:r>
              <a:rPr lang="nl-NL" b="1" dirty="0" err="1"/>
              <a:t>External</a:t>
            </a:r>
            <a:r>
              <a:rPr lang="nl-NL" b="1" dirty="0"/>
              <a:t> </a:t>
            </a:r>
            <a:r>
              <a:rPr lang="nl-NL" b="1" dirty="0" err="1"/>
              <a:t>validation</a:t>
            </a:r>
            <a:endParaRPr lang="nl-NL" b="1" dirty="0"/>
          </a:p>
        </p:txBody>
      </p:sp>
      <p:sp>
        <p:nvSpPr>
          <p:cNvPr id="8" name="Tekstvak 7"/>
          <p:cNvSpPr txBox="1"/>
          <p:nvPr/>
        </p:nvSpPr>
        <p:spPr>
          <a:xfrm>
            <a:off x="755576" y="5157192"/>
            <a:ext cx="2808312" cy="1200329"/>
          </a:xfrm>
          <a:prstGeom prst="rect">
            <a:avLst/>
          </a:prstGeom>
          <a:noFill/>
        </p:spPr>
        <p:txBody>
          <a:bodyPr wrap="square" rtlCol="0">
            <a:spAutoFit/>
          </a:bodyPr>
          <a:lstStyle/>
          <a:p>
            <a:r>
              <a:rPr lang="nl-NL" b="1" dirty="0"/>
              <a:t>Verification</a:t>
            </a:r>
            <a:r>
              <a:rPr lang="nl-NL" dirty="0"/>
              <a:t> </a:t>
            </a:r>
            <a:r>
              <a:rPr lang="nl-NL" dirty="0" err="1"/>
              <a:t>Components</a:t>
            </a:r>
            <a:r>
              <a:rPr lang="nl-NL" dirty="0"/>
              <a:t>/</a:t>
            </a:r>
            <a:r>
              <a:rPr lang="nl-NL" dirty="0" err="1"/>
              <a:t>models</a:t>
            </a:r>
            <a:r>
              <a:rPr lang="nl-NL" dirty="0"/>
              <a:t> </a:t>
            </a:r>
            <a:r>
              <a:rPr lang="nl-NL" dirty="0" err="1"/>
              <a:t>Simulations</a:t>
            </a:r>
            <a:endParaRPr lang="nl-NL" dirty="0"/>
          </a:p>
          <a:p>
            <a:r>
              <a:rPr lang="nl-NL" dirty="0"/>
              <a:t>Parameter </a:t>
            </a:r>
            <a:r>
              <a:rPr lang="nl-NL" dirty="0" err="1"/>
              <a:t>tuning</a:t>
            </a:r>
            <a:endParaRPr lang="nl-NL" dirty="0"/>
          </a:p>
        </p:txBody>
      </p:sp>
      <p:sp>
        <p:nvSpPr>
          <p:cNvPr id="10" name="Tekstvak 9"/>
          <p:cNvSpPr txBox="1"/>
          <p:nvPr/>
        </p:nvSpPr>
        <p:spPr>
          <a:xfrm>
            <a:off x="4788024" y="5229200"/>
            <a:ext cx="3136776" cy="1200329"/>
          </a:xfrm>
          <a:prstGeom prst="rect">
            <a:avLst/>
          </a:prstGeom>
          <a:noFill/>
        </p:spPr>
        <p:txBody>
          <a:bodyPr wrap="square" rtlCol="0">
            <a:spAutoFit/>
          </a:bodyPr>
          <a:lstStyle/>
          <a:p>
            <a:r>
              <a:rPr lang="nl-NL" b="1" dirty="0"/>
              <a:t>Validation </a:t>
            </a:r>
          </a:p>
          <a:p>
            <a:r>
              <a:rPr lang="nl-NL" dirty="0" err="1"/>
              <a:t>Measure</a:t>
            </a:r>
            <a:r>
              <a:rPr lang="nl-NL" dirty="0"/>
              <a:t> </a:t>
            </a:r>
            <a:r>
              <a:rPr lang="nl-NL" dirty="0" err="1"/>
              <a:t>the</a:t>
            </a:r>
            <a:r>
              <a:rPr lang="nl-NL" dirty="0"/>
              <a:t> impact/effect of </a:t>
            </a:r>
            <a:r>
              <a:rPr lang="nl-NL" dirty="0" err="1"/>
              <a:t>the</a:t>
            </a:r>
            <a:r>
              <a:rPr lang="nl-NL" dirty="0"/>
              <a:t> </a:t>
            </a:r>
            <a:r>
              <a:rPr lang="nl-NL" dirty="0" err="1"/>
              <a:t>intervention</a:t>
            </a:r>
            <a:r>
              <a:rPr lang="nl-NL" dirty="0"/>
              <a:t>/</a:t>
            </a:r>
          </a:p>
          <a:p>
            <a:r>
              <a:rPr lang="nl-NL" dirty="0"/>
              <a:t>(user) </a:t>
            </a:r>
            <a:r>
              <a:rPr lang="nl-NL" dirty="0" err="1"/>
              <a:t>evaluations</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003232" cy="980728"/>
          </a:xfrm>
        </p:spPr>
        <p:txBody>
          <a:bodyPr>
            <a:normAutofit fontScale="90000"/>
          </a:bodyPr>
          <a:lstStyle/>
          <a:p>
            <a:br>
              <a:rPr lang="en-US" dirty="0"/>
            </a:br>
            <a:br>
              <a:rPr lang="en-US" dirty="0"/>
            </a:br>
            <a:r>
              <a:rPr lang="en-US" dirty="0"/>
              <a:t>Exercise 1:</a:t>
            </a:r>
            <a:br>
              <a:rPr lang="en-US" dirty="0"/>
            </a:br>
            <a:r>
              <a:rPr lang="en-US" dirty="0"/>
              <a:t>set up </a:t>
            </a:r>
            <a:r>
              <a:rPr lang="en-US" sz="2200" dirty="0"/>
              <a:t>INTERVENTION</a:t>
            </a:r>
          </a:p>
        </p:txBody>
      </p:sp>
      <p:sp>
        <p:nvSpPr>
          <p:cNvPr id="4" name="Slide Number Placeholder 3"/>
          <p:cNvSpPr>
            <a:spLocks noGrp="1"/>
          </p:cNvSpPr>
          <p:nvPr>
            <p:ph type="sldNum" sz="quarter" idx="15"/>
          </p:nvPr>
        </p:nvSpPr>
        <p:spPr/>
        <p:txBody>
          <a:bodyPr/>
          <a:lstStyle/>
          <a:p>
            <a:fld id="{90D0CBCA-F7F6-4AC9-BA3F-8673847511BA}" type="slidenum">
              <a:rPr lang="en-US" smtClean="0"/>
              <a:pPr/>
              <a:t>10</a:t>
            </a:fld>
            <a:endParaRPr lang="en-US"/>
          </a:p>
        </p:txBody>
      </p:sp>
      <p:sp>
        <p:nvSpPr>
          <p:cNvPr id="5" name="Rechthoek 4"/>
          <p:cNvSpPr/>
          <p:nvPr/>
        </p:nvSpPr>
        <p:spPr>
          <a:xfrm>
            <a:off x="457200" y="980728"/>
            <a:ext cx="8246888" cy="56886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nl-NL" sz="2000" b="1" dirty="0"/>
          </a:p>
          <a:p>
            <a:r>
              <a:rPr lang="nl-NL" sz="2000" dirty="0"/>
              <a:t>First, think of a new </a:t>
            </a:r>
            <a:r>
              <a:rPr lang="en-US" sz="2000" b="1" dirty="0">
                <a:solidFill>
                  <a:schemeClr val="tx1"/>
                </a:solidFill>
              </a:rPr>
              <a:t>Lifestyle and/or Medical Intervention App Supporting Health Care</a:t>
            </a:r>
            <a:r>
              <a:rPr lang="nl-NL" sz="2000" dirty="0"/>
              <a:t>. </a:t>
            </a:r>
          </a:p>
          <a:p>
            <a:endParaRPr lang="nl-NL" sz="2000" dirty="0"/>
          </a:p>
          <a:p>
            <a:endParaRPr lang="nl-NL" sz="2000" dirty="0"/>
          </a:p>
          <a:p>
            <a:r>
              <a:rPr lang="nl-NL" sz="2000" dirty="0" err="1"/>
              <a:t>Then</a:t>
            </a:r>
            <a:r>
              <a:rPr lang="nl-NL" sz="2000" dirty="0"/>
              <a:t>, </a:t>
            </a:r>
            <a:r>
              <a:rPr lang="nl-NL" sz="2000" dirty="0" err="1"/>
              <a:t>discuss</a:t>
            </a:r>
            <a:r>
              <a:rPr lang="nl-NL" sz="2000" dirty="0"/>
              <a:t> </a:t>
            </a:r>
            <a:r>
              <a:rPr lang="nl-NL" sz="2000" b="1" dirty="0" err="1"/>
              <a:t>how</a:t>
            </a:r>
            <a:r>
              <a:rPr lang="nl-NL" sz="2000" b="1" dirty="0"/>
              <a:t> </a:t>
            </a:r>
            <a:r>
              <a:rPr lang="nl-NL" sz="2000" b="1" dirty="0" err="1"/>
              <a:t>you</a:t>
            </a:r>
            <a:r>
              <a:rPr lang="nl-NL" sz="2000" b="1" dirty="0"/>
              <a:t> </a:t>
            </a:r>
            <a:r>
              <a:rPr lang="nl-NL" sz="2000" b="1" dirty="0" err="1"/>
              <a:t>could</a:t>
            </a:r>
            <a:r>
              <a:rPr lang="nl-NL" sz="2000" b="1" dirty="0"/>
              <a:t> </a:t>
            </a:r>
            <a:r>
              <a:rPr lang="nl-NL" sz="2000" b="1" dirty="0" err="1"/>
              <a:t>actually</a:t>
            </a:r>
            <a:r>
              <a:rPr lang="nl-NL" sz="2000" b="1" dirty="0"/>
              <a:t> test </a:t>
            </a:r>
            <a:r>
              <a:rPr lang="nl-NL" sz="2000" dirty="0" err="1"/>
              <a:t>if</a:t>
            </a:r>
            <a:r>
              <a:rPr lang="nl-NL" sz="2000" dirty="0"/>
              <a:t> the app </a:t>
            </a:r>
            <a:r>
              <a:rPr lang="nl-NL" sz="2000" dirty="0" err="1"/>
              <a:t>works</a:t>
            </a:r>
            <a:r>
              <a:rPr lang="nl-NL" sz="2000" dirty="0"/>
              <a:t> or </a:t>
            </a:r>
            <a:r>
              <a:rPr lang="nl-NL" sz="2000" dirty="0" err="1"/>
              <a:t>not</a:t>
            </a:r>
            <a:r>
              <a:rPr lang="nl-NL" sz="2000" dirty="0"/>
              <a:t> (i.e. </a:t>
            </a:r>
            <a:r>
              <a:rPr lang="nl-NL" sz="2000" dirty="0" err="1"/>
              <a:t>whether</a:t>
            </a:r>
            <a:r>
              <a:rPr lang="nl-NL" sz="2000" dirty="0"/>
              <a:t> </a:t>
            </a:r>
            <a:r>
              <a:rPr lang="nl-NL" sz="2000" dirty="0" err="1"/>
              <a:t>it</a:t>
            </a:r>
            <a:r>
              <a:rPr lang="nl-NL" sz="2000" dirty="0"/>
              <a:t> </a:t>
            </a:r>
            <a:r>
              <a:rPr lang="nl-NL" sz="2000" dirty="0" err="1"/>
              <a:t>achieves</a:t>
            </a:r>
            <a:r>
              <a:rPr lang="nl-NL" sz="2000" dirty="0"/>
              <a:t> the </a:t>
            </a:r>
            <a:r>
              <a:rPr lang="nl-NL" sz="2000" dirty="0" err="1"/>
              <a:t>intended</a:t>
            </a:r>
            <a:r>
              <a:rPr lang="nl-NL" sz="2000" dirty="0"/>
              <a:t> goals). </a:t>
            </a:r>
          </a:p>
          <a:p>
            <a:endParaRPr lang="nl-NL" sz="2000" dirty="0"/>
          </a:p>
          <a:p>
            <a:endParaRPr lang="nl-NL" sz="2000" dirty="0"/>
          </a:p>
          <a:p>
            <a:r>
              <a:rPr lang="nl-NL" sz="2000" dirty="0" err="1"/>
              <a:t>After</a:t>
            </a:r>
            <a:r>
              <a:rPr lang="nl-NL" sz="2000" dirty="0"/>
              <a:t> 10 minutes of </a:t>
            </a:r>
            <a:r>
              <a:rPr lang="nl-NL" sz="2000" dirty="0" err="1"/>
              <a:t>discussion</a:t>
            </a:r>
            <a:r>
              <a:rPr lang="nl-NL" sz="2000" dirty="0"/>
              <a:t>, I </a:t>
            </a:r>
            <a:r>
              <a:rPr lang="nl-NL" sz="2000" dirty="0" err="1"/>
              <a:t>will</a:t>
            </a:r>
            <a:r>
              <a:rPr lang="nl-NL" sz="2000" dirty="0"/>
              <a:t> </a:t>
            </a:r>
            <a:r>
              <a:rPr lang="nl-NL" sz="2000" dirty="0" err="1"/>
              <a:t>ask</a:t>
            </a:r>
            <a:r>
              <a:rPr lang="nl-NL" sz="2000" dirty="0"/>
              <a:t> a </a:t>
            </a:r>
            <a:r>
              <a:rPr lang="nl-NL" sz="2000" dirty="0" err="1"/>
              <a:t>couple</a:t>
            </a:r>
            <a:r>
              <a:rPr lang="nl-NL" sz="2000" dirty="0"/>
              <a:t> of </a:t>
            </a:r>
            <a:r>
              <a:rPr lang="nl-NL" sz="2000" dirty="0" err="1"/>
              <a:t>groups</a:t>
            </a:r>
            <a:r>
              <a:rPr lang="nl-NL" sz="2000" dirty="0"/>
              <a:t> </a:t>
            </a:r>
            <a:r>
              <a:rPr lang="nl-NL" sz="2000" dirty="0" err="1"/>
              <a:t>to</a:t>
            </a:r>
            <a:r>
              <a:rPr lang="nl-NL" sz="2000" dirty="0"/>
              <a:t> share </a:t>
            </a:r>
            <a:r>
              <a:rPr lang="nl-NL" sz="2000" dirty="0" err="1"/>
              <a:t>their</a:t>
            </a:r>
            <a:r>
              <a:rPr lang="nl-NL" sz="2000" dirty="0"/>
              <a:t> </a:t>
            </a:r>
            <a:r>
              <a:rPr lang="nl-NL" sz="2000" dirty="0" err="1"/>
              <a:t>ideas</a:t>
            </a:r>
            <a:r>
              <a:rPr lang="nl-NL" sz="2000" dirty="0"/>
              <a:t> </a:t>
            </a:r>
            <a:r>
              <a:rPr lang="nl-NL" sz="2000" dirty="0" err="1"/>
              <a:t>with</a:t>
            </a:r>
            <a:r>
              <a:rPr lang="nl-NL" sz="2000" dirty="0"/>
              <a:t> the rest of the class.</a:t>
            </a:r>
          </a:p>
          <a:p>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0"/>
            <a:ext cx="8003232" cy="1916832"/>
          </a:xfrm>
        </p:spPr>
        <p:txBody>
          <a:bodyPr>
            <a:normAutofit fontScale="90000"/>
          </a:bodyPr>
          <a:lstStyle/>
          <a:p>
            <a:br>
              <a:rPr lang="nl-NL" dirty="0"/>
            </a:br>
            <a:br>
              <a:rPr lang="nl-NL" dirty="0"/>
            </a:br>
            <a:br>
              <a:rPr lang="nl-NL" dirty="0"/>
            </a:br>
            <a:br>
              <a:rPr lang="nl-NL" dirty="0"/>
            </a:br>
            <a:br>
              <a:rPr lang="nl-NL" dirty="0"/>
            </a:br>
            <a:br>
              <a:rPr lang="nl-NL" dirty="0"/>
            </a:br>
            <a:br>
              <a:rPr lang="nl-NL" dirty="0"/>
            </a:br>
            <a:r>
              <a:rPr lang="nl-NL" dirty="0"/>
              <a:t> </a:t>
            </a:r>
            <a:br>
              <a:rPr lang="nl-NL" dirty="0"/>
            </a:br>
            <a:r>
              <a:rPr lang="nl-NL" dirty="0"/>
              <a:t>                                                                         </a:t>
            </a:r>
            <a:br>
              <a:rPr lang="nl-NL" dirty="0"/>
            </a:br>
            <a:br>
              <a:rPr lang="nl-NL" dirty="0"/>
            </a:br>
            <a:r>
              <a:rPr lang="nl-NL" sz="3100" b="1" dirty="0"/>
              <a:t>PART 2</a:t>
            </a:r>
            <a:br>
              <a:rPr lang="nl-NL" dirty="0"/>
            </a:br>
            <a:br>
              <a:rPr lang="nl-NL" dirty="0"/>
            </a:br>
            <a:r>
              <a:rPr lang="nl-NL" dirty="0"/>
              <a:t>EXTERNAL VALIDATION</a:t>
            </a:r>
            <a:br>
              <a:rPr lang="nl-NL" dirty="0"/>
            </a:br>
            <a:r>
              <a:rPr lang="nl-NL" dirty="0"/>
              <a:t>(OR EFFECTIVENESS)</a:t>
            </a:r>
          </a:p>
        </p:txBody>
      </p:sp>
      <p:sp>
        <p:nvSpPr>
          <p:cNvPr id="3" name="Tijdelijke aanduiding voor inhoud 2"/>
          <p:cNvSpPr>
            <a:spLocks noGrp="1"/>
          </p:cNvSpPr>
          <p:nvPr>
            <p:ph sz="quarter" idx="1"/>
          </p:nvPr>
        </p:nvSpPr>
        <p:spPr/>
        <p:txBody>
          <a:bodyPr/>
          <a:lstStyle/>
          <a:p>
            <a:endParaRPr lang="nl-NL" dirty="0"/>
          </a:p>
          <a:p>
            <a:r>
              <a:rPr lang="nl-NL" dirty="0" err="1"/>
              <a:t>External</a:t>
            </a:r>
            <a:r>
              <a:rPr lang="nl-NL" dirty="0"/>
              <a:t> </a:t>
            </a:r>
            <a:r>
              <a:rPr lang="nl-NL" dirty="0" err="1"/>
              <a:t>validation</a:t>
            </a:r>
            <a:r>
              <a:rPr lang="nl-NL" dirty="0"/>
              <a:t> is best </a:t>
            </a:r>
            <a:r>
              <a:rPr lang="nl-NL" dirty="0" err="1"/>
              <a:t>achieved</a:t>
            </a:r>
            <a:r>
              <a:rPr lang="nl-NL" dirty="0"/>
              <a:t> </a:t>
            </a:r>
            <a:r>
              <a:rPr lang="nl-NL" dirty="0" err="1"/>
              <a:t>by</a:t>
            </a:r>
            <a:r>
              <a:rPr lang="nl-NL" dirty="0"/>
              <a:t> means of a </a:t>
            </a:r>
            <a:r>
              <a:rPr lang="nl-NL" dirty="0" err="1"/>
              <a:t>Randomized</a:t>
            </a:r>
            <a:r>
              <a:rPr lang="nl-NL" dirty="0"/>
              <a:t> </a:t>
            </a:r>
            <a:r>
              <a:rPr lang="nl-NL" dirty="0" err="1"/>
              <a:t>Controlled</a:t>
            </a:r>
            <a:r>
              <a:rPr lang="nl-NL" dirty="0"/>
              <a:t> Trial: </a:t>
            </a: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11</a:t>
            </a:fld>
            <a:endParaRPr lang="en-US"/>
          </a:p>
        </p:txBody>
      </p:sp>
      <p:pic>
        <p:nvPicPr>
          <p:cNvPr id="63489" name="Picture 1"/>
          <p:cNvPicPr>
            <a:picLocks noChangeAspect="1" noChangeArrowheads="1"/>
          </p:cNvPicPr>
          <p:nvPr/>
        </p:nvPicPr>
        <p:blipFill>
          <a:blip r:embed="rId2" cstate="print"/>
          <a:srcRect/>
          <a:stretch>
            <a:fillRect/>
          </a:stretch>
        </p:blipFill>
        <p:spPr bwMode="auto">
          <a:xfrm>
            <a:off x="1475656" y="3356992"/>
            <a:ext cx="4762500" cy="28575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4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Experimental</a:t>
            </a:r>
            <a:r>
              <a:rPr lang="nl-NL" dirty="0"/>
              <a:t> </a:t>
            </a:r>
            <a:r>
              <a:rPr lang="nl-NL" dirty="0" err="1"/>
              <a:t>and</a:t>
            </a:r>
            <a:r>
              <a:rPr lang="nl-NL" dirty="0"/>
              <a:t> control </a:t>
            </a:r>
            <a:r>
              <a:rPr lang="nl-NL" dirty="0" err="1"/>
              <a:t>group</a:t>
            </a:r>
            <a:endParaRPr lang="nl-NL" dirty="0"/>
          </a:p>
        </p:txBody>
      </p:sp>
      <p:graphicFrame>
        <p:nvGraphicFramePr>
          <p:cNvPr id="5" name="Tijdelijke aanduiding voor inhoud 4"/>
          <p:cNvGraphicFramePr>
            <a:graphicFrameLocks noGrp="1"/>
          </p:cNvGraphicFramePr>
          <p:nvPr>
            <p:ph sz="quarter" idx="1"/>
            <p:extLst>
              <p:ext uri="{D42A27DB-BD31-4B8C-83A1-F6EECF244321}">
                <p14:modId xmlns:p14="http://schemas.microsoft.com/office/powerpoint/2010/main" val="3001534647"/>
              </p:ext>
            </p:extLst>
          </p:nvPr>
        </p:nvGraphicFramePr>
        <p:xfrm>
          <a:off x="467544" y="1628800"/>
          <a:ext cx="7499176" cy="48245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jdelijke aanduiding voor dianummer 3"/>
          <p:cNvSpPr>
            <a:spLocks noGrp="1"/>
          </p:cNvSpPr>
          <p:nvPr>
            <p:ph type="sldNum" sz="quarter" idx="15"/>
          </p:nvPr>
        </p:nvSpPr>
        <p:spPr/>
        <p:txBody>
          <a:bodyPr/>
          <a:lstStyle/>
          <a:p>
            <a:fld id="{D04DC3B3-43F5-4BEC-A687-307EC1D91FAC}" type="slidenum">
              <a:rPr lang="en-US" smtClean="0"/>
              <a:pPr/>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5"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7467600" cy="922114"/>
          </a:xfrm>
        </p:spPr>
        <p:txBody>
          <a:bodyPr>
            <a:normAutofit fontScale="90000"/>
          </a:bodyPr>
          <a:lstStyle/>
          <a:p>
            <a:r>
              <a:rPr lang="nl-NL" dirty="0"/>
              <a:t>THE CONTROL GROUP</a:t>
            </a:r>
            <a:br>
              <a:rPr lang="nl-NL" dirty="0"/>
            </a:br>
            <a:endParaRPr lang="nl-NL" dirty="0"/>
          </a:p>
        </p:txBody>
      </p:sp>
      <p:sp>
        <p:nvSpPr>
          <p:cNvPr id="3" name="Tijdelijke aanduiding voor inhoud 2"/>
          <p:cNvSpPr>
            <a:spLocks noGrp="1"/>
          </p:cNvSpPr>
          <p:nvPr>
            <p:ph sz="quarter" idx="1"/>
          </p:nvPr>
        </p:nvSpPr>
        <p:spPr>
          <a:xfrm>
            <a:off x="465976" y="883818"/>
            <a:ext cx="7467600" cy="4873752"/>
          </a:xfrm>
        </p:spPr>
        <p:txBody>
          <a:bodyPr/>
          <a:lstStyle/>
          <a:p>
            <a:r>
              <a:rPr lang="nl-NL" dirty="0"/>
              <a:t>N.B.= </a:t>
            </a:r>
            <a:r>
              <a:rPr lang="nl-NL" dirty="0" err="1"/>
              <a:t>During</a:t>
            </a:r>
            <a:r>
              <a:rPr lang="nl-NL" dirty="0"/>
              <a:t> </a:t>
            </a:r>
            <a:r>
              <a:rPr lang="nl-NL" b="1" dirty="0" err="1"/>
              <a:t>Clinical</a:t>
            </a:r>
            <a:r>
              <a:rPr lang="nl-NL" b="1" dirty="0"/>
              <a:t> trials</a:t>
            </a:r>
            <a:r>
              <a:rPr lang="nl-NL" dirty="0"/>
              <a:t>, </a:t>
            </a:r>
            <a:r>
              <a:rPr lang="nl-NL" dirty="0" err="1"/>
              <a:t>not</a:t>
            </a:r>
            <a:r>
              <a:rPr lang="nl-NL" dirty="0"/>
              <a:t> </a:t>
            </a:r>
            <a:r>
              <a:rPr lang="nl-NL" dirty="0" err="1"/>
              <a:t>getting</a:t>
            </a:r>
            <a:r>
              <a:rPr lang="nl-NL" dirty="0"/>
              <a:t> </a:t>
            </a:r>
            <a:r>
              <a:rPr lang="nl-NL" dirty="0" err="1"/>
              <a:t>any</a:t>
            </a:r>
            <a:r>
              <a:rPr lang="nl-NL" dirty="0"/>
              <a:t> treatment is </a:t>
            </a:r>
            <a:r>
              <a:rPr lang="nl-NL" dirty="0" err="1"/>
              <a:t>often</a:t>
            </a:r>
            <a:r>
              <a:rPr lang="nl-NL" dirty="0"/>
              <a:t> </a:t>
            </a:r>
            <a:r>
              <a:rPr lang="nl-NL" dirty="0" err="1"/>
              <a:t>not</a:t>
            </a:r>
            <a:r>
              <a:rPr lang="nl-NL" dirty="0"/>
              <a:t> </a:t>
            </a:r>
            <a:r>
              <a:rPr lang="nl-NL" dirty="0" err="1"/>
              <a:t>an</a:t>
            </a:r>
            <a:r>
              <a:rPr lang="nl-NL" dirty="0"/>
              <a:t> option </a:t>
            </a:r>
            <a:r>
              <a:rPr lang="nl-NL" dirty="0" err="1"/>
              <a:t>for</a:t>
            </a:r>
            <a:r>
              <a:rPr lang="nl-NL" dirty="0"/>
              <a:t> </a:t>
            </a:r>
            <a:r>
              <a:rPr lang="nl-NL" dirty="0" err="1"/>
              <a:t>the</a:t>
            </a:r>
            <a:r>
              <a:rPr lang="nl-NL" dirty="0"/>
              <a:t> </a:t>
            </a:r>
            <a:r>
              <a:rPr lang="nl-NL" dirty="0" err="1"/>
              <a:t>participants</a:t>
            </a:r>
            <a:r>
              <a:rPr lang="nl-NL" dirty="0"/>
              <a:t>.</a:t>
            </a:r>
          </a:p>
          <a:p>
            <a:endParaRPr lang="nl-NL" dirty="0"/>
          </a:p>
          <a:p>
            <a:endParaRPr lang="nl-NL" dirty="0"/>
          </a:p>
          <a:p>
            <a:pPr>
              <a:buNone/>
            </a:pPr>
            <a:r>
              <a:rPr lang="nl-NL" dirty="0"/>
              <a:t> </a:t>
            </a: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13</a:t>
            </a:fld>
            <a:endParaRPr lang="en-US" dirty="0"/>
          </a:p>
        </p:txBody>
      </p:sp>
      <p:sp>
        <p:nvSpPr>
          <p:cNvPr id="5" name="Rechthoek 4"/>
          <p:cNvSpPr/>
          <p:nvPr/>
        </p:nvSpPr>
        <p:spPr>
          <a:xfrm>
            <a:off x="5207888" y="2132856"/>
            <a:ext cx="3456384" cy="175418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nl-NL" sz="3200" dirty="0"/>
          </a:p>
          <a:p>
            <a:pPr algn="ctr"/>
            <a:r>
              <a:rPr lang="nl-NL" sz="3200" dirty="0" err="1"/>
              <a:t>Why</a:t>
            </a:r>
            <a:r>
              <a:rPr lang="nl-NL" sz="3200" dirty="0"/>
              <a:t> do </a:t>
            </a:r>
            <a:r>
              <a:rPr lang="nl-NL" sz="3200" dirty="0" err="1"/>
              <a:t>you</a:t>
            </a:r>
            <a:r>
              <a:rPr lang="nl-NL" sz="3200" dirty="0"/>
              <a:t> think </a:t>
            </a:r>
            <a:r>
              <a:rPr lang="nl-NL" sz="3200" dirty="0" err="1"/>
              <a:t>this</a:t>
            </a:r>
            <a:r>
              <a:rPr lang="nl-NL" sz="3200" dirty="0"/>
              <a:t> is </a:t>
            </a:r>
            <a:r>
              <a:rPr lang="nl-NL" sz="3200" dirty="0" err="1"/>
              <a:t>the</a:t>
            </a:r>
            <a:r>
              <a:rPr lang="nl-NL" sz="3200" dirty="0"/>
              <a:t> case?</a:t>
            </a:r>
          </a:p>
          <a:p>
            <a:pPr algn="ctr"/>
            <a:endParaRPr lang="nl-NL" dirty="0"/>
          </a:p>
        </p:txBody>
      </p:sp>
      <p:sp>
        <p:nvSpPr>
          <p:cNvPr id="7" name="Rechthoek 6"/>
          <p:cNvSpPr/>
          <p:nvPr/>
        </p:nvSpPr>
        <p:spPr>
          <a:xfrm>
            <a:off x="5207888" y="3897961"/>
            <a:ext cx="3456384" cy="1680031"/>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nl-NL" sz="3200" dirty="0"/>
              <a:t>How </a:t>
            </a:r>
            <a:r>
              <a:rPr lang="nl-NL" sz="3200" dirty="0" err="1"/>
              <a:t>could</a:t>
            </a:r>
            <a:r>
              <a:rPr lang="nl-NL" sz="3200" dirty="0"/>
              <a:t> </a:t>
            </a:r>
            <a:r>
              <a:rPr lang="nl-NL" sz="3200" dirty="0" err="1"/>
              <a:t>you</a:t>
            </a:r>
            <a:r>
              <a:rPr lang="nl-NL" sz="3200" dirty="0"/>
              <a:t> </a:t>
            </a:r>
            <a:r>
              <a:rPr lang="nl-NL" sz="3200" dirty="0" err="1"/>
              <a:t>solve</a:t>
            </a:r>
            <a:r>
              <a:rPr lang="nl-NL" sz="3200" dirty="0"/>
              <a:t> </a:t>
            </a:r>
            <a:r>
              <a:rPr lang="nl-NL" sz="3200" dirty="0" err="1"/>
              <a:t>this</a:t>
            </a:r>
            <a:r>
              <a:rPr lang="nl-NL" sz="3200" dirty="0"/>
              <a:t> issue?</a:t>
            </a:r>
          </a:p>
          <a:p>
            <a:pPr algn="ctr"/>
            <a:endParaRPr lang="nl-NL" dirty="0"/>
          </a:p>
        </p:txBody>
      </p:sp>
      <p:pic>
        <p:nvPicPr>
          <p:cNvPr id="8" name="Picture 7">
            <a:extLst>
              <a:ext uri="{FF2B5EF4-FFF2-40B4-BE49-F238E27FC236}">
                <a16:creationId xmlns:a16="http://schemas.microsoft.com/office/drawing/2014/main" id="{358A70B8-0F63-2541-929E-68CE1069F3DC}"/>
              </a:ext>
            </a:extLst>
          </p:cNvPr>
          <p:cNvPicPr>
            <a:picLocks noChangeAspect="1"/>
          </p:cNvPicPr>
          <p:nvPr/>
        </p:nvPicPr>
        <p:blipFill rotWithShape="1">
          <a:blip r:embed="rId3">
            <a:extLst>
              <a:ext uri="{28A0092B-C50C-407E-A947-70E740481C1C}">
                <a14:useLocalDpi xmlns:a14="http://schemas.microsoft.com/office/drawing/2010/main" val="0"/>
              </a:ext>
            </a:extLst>
          </a:blip>
          <a:srcRect l="16357" t="12567" r="16622" b="13431"/>
          <a:stretch/>
        </p:blipFill>
        <p:spPr>
          <a:xfrm>
            <a:off x="611560" y="2132856"/>
            <a:ext cx="4184864" cy="46207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5"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7467600" cy="562074"/>
          </a:xfrm>
        </p:spPr>
        <p:txBody>
          <a:bodyPr>
            <a:normAutofit/>
          </a:bodyPr>
          <a:lstStyle/>
          <a:p>
            <a:r>
              <a:rPr lang="en-US" dirty="0"/>
              <a:t>Evaluating intervention effects</a:t>
            </a:r>
            <a:endParaRPr lang="en-US" dirty="0">
              <a:hlinkClick r:id="rId3">
                <a:extLst>
                  <a:ext uri="{A12FA001-AC4F-418D-AE19-62706E023703}">
                    <ahyp:hlinkClr xmlns:ahyp="http://schemas.microsoft.com/office/drawing/2018/hyperlinkcolor" val="tx"/>
                  </a:ext>
                </a:extLst>
              </a:hlinkClick>
            </a:endParaRPr>
          </a:p>
        </p:txBody>
      </p:sp>
      <p:sp>
        <p:nvSpPr>
          <p:cNvPr id="4" name="Tijdelijke aanduiding voor dianummer 3"/>
          <p:cNvSpPr>
            <a:spLocks noGrp="1"/>
          </p:cNvSpPr>
          <p:nvPr>
            <p:ph type="sldNum" sz="quarter" idx="15"/>
          </p:nvPr>
        </p:nvSpPr>
        <p:spPr/>
        <p:txBody>
          <a:bodyPr/>
          <a:lstStyle/>
          <a:p>
            <a:fld id="{D04DC3B3-43F5-4BEC-A687-307EC1D91FAC}" type="slidenum">
              <a:rPr lang="en-US" smtClean="0"/>
              <a:pPr/>
              <a:t>14</a:t>
            </a:fld>
            <a:endParaRPr lang="en-US"/>
          </a:p>
        </p:txBody>
      </p:sp>
      <p:graphicFrame>
        <p:nvGraphicFramePr>
          <p:cNvPr id="8" name="Grafiek 7"/>
          <p:cNvGraphicFramePr/>
          <p:nvPr>
            <p:extLst>
              <p:ext uri="{D42A27DB-BD31-4B8C-83A1-F6EECF244321}">
                <p14:modId xmlns:p14="http://schemas.microsoft.com/office/powerpoint/2010/main" val="2964965746"/>
              </p:ext>
            </p:extLst>
          </p:nvPr>
        </p:nvGraphicFramePr>
        <p:xfrm>
          <a:off x="2352866" y="1906721"/>
          <a:ext cx="6179574" cy="4348538"/>
        </p:xfrm>
        <a:graphic>
          <a:graphicData uri="http://schemas.openxmlformats.org/drawingml/2006/chart">
            <c:chart xmlns:c="http://schemas.openxmlformats.org/drawingml/2006/chart" xmlns:r="http://schemas.openxmlformats.org/officeDocument/2006/relationships" r:id="rId4"/>
          </a:graphicData>
        </a:graphic>
      </p:graphicFrame>
      <p:sp>
        <p:nvSpPr>
          <p:cNvPr id="9" name="Tekstvak 8"/>
          <p:cNvSpPr txBox="1"/>
          <p:nvPr/>
        </p:nvSpPr>
        <p:spPr>
          <a:xfrm>
            <a:off x="480658" y="3429000"/>
            <a:ext cx="1872208" cy="1754326"/>
          </a:xfrm>
          <a:prstGeom prst="rect">
            <a:avLst/>
          </a:prstGeom>
          <a:noFill/>
        </p:spPr>
        <p:txBody>
          <a:bodyPr wrap="square" rtlCol="0">
            <a:spAutoFit/>
          </a:bodyPr>
          <a:lstStyle/>
          <a:p>
            <a:r>
              <a:rPr lang="nl-NL" dirty="0"/>
              <a:t>Performance </a:t>
            </a:r>
            <a:r>
              <a:rPr lang="nl-NL" dirty="0" err="1"/>
              <a:t>measurements</a:t>
            </a:r>
            <a:r>
              <a:rPr lang="nl-NL" dirty="0"/>
              <a:t> </a:t>
            </a:r>
            <a:r>
              <a:rPr lang="nl-NL" dirty="0" err="1"/>
              <a:t>based</a:t>
            </a:r>
            <a:r>
              <a:rPr lang="nl-NL" dirty="0"/>
              <a:t> on </a:t>
            </a:r>
            <a:r>
              <a:rPr lang="nl-NL" dirty="0" err="1"/>
              <a:t>number</a:t>
            </a:r>
            <a:r>
              <a:rPr lang="nl-NL" dirty="0"/>
              <a:t> of </a:t>
            </a:r>
            <a:r>
              <a:rPr lang="nl-NL" dirty="0" err="1"/>
              <a:t>weekly</a:t>
            </a:r>
            <a:r>
              <a:rPr lang="nl-NL" dirty="0"/>
              <a:t> </a:t>
            </a:r>
            <a:r>
              <a:rPr lang="nl-NL" dirty="0" err="1"/>
              <a:t>cigarettes</a:t>
            </a:r>
            <a:endParaRPr lang="nl-NL" dirty="0"/>
          </a:p>
        </p:txBody>
      </p:sp>
      <p:sp>
        <p:nvSpPr>
          <p:cNvPr id="6" name="Titel 1">
            <a:extLst>
              <a:ext uri="{FF2B5EF4-FFF2-40B4-BE49-F238E27FC236}">
                <a16:creationId xmlns:a16="http://schemas.microsoft.com/office/drawing/2014/main" id="{F66DC3ED-6136-2D4C-B2F9-48BAE82422F4}"/>
              </a:ext>
            </a:extLst>
          </p:cNvPr>
          <p:cNvSpPr txBox="1">
            <a:spLocks/>
          </p:cNvSpPr>
          <p:nvPr/>
        </p:nvSpPr>
        <p:spPr>
          <a:xfrm>
            <a:off x="480658" y="841256"/>
            <a:ext cx="7467600" cy="562074"/>
          </a:xfrm>
          <a:prstGeom prst="rect">
            <a:avLst/>
          </a:prstGeom>
        </p:spPr>
        <p:txBody>
          <a:bodyPr vert="horz" anchor="b">
            <a:norm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endParaRPr lang="en-US" u="sng" dirty="0">
              <a:hlinkClick r:id="rId3">
                <a:extLst>
                  <a:ext uri="{A12FA001-AC4F-418D-AE19-62706E023703}">
                    <ahyp:hlinkClr xmlns:ahyp="http://schemas.microsoft.com/office/drawing/2018/hyperlinkcolor" val="tx"/>
                  </a:ext>
                </a:extLst>
              </a:hlinkClick>
            </a:endParaRPr>
          </a:p>
        </p:txBody>
      </p:sp>
      <p:sp>
        <p:nvSpPr>
          <p:cNvPr id="3" name="TextBox 2">
            <a:extLst>
              <a:ext uri="{FF2B5EF4-FFF2-40B4-BE49-F238E27FC236}">
                <a16:creationId xmlns:a16="http://schemas.microsoft.com/office/drawing/2014/main" id="{CD2409A4-1400-3348-9FA0-E4C6FAFF45B3}"/>
              </a:ext>
            </a:extLst>
          </p:cNvPr>
          <p:cNvSpPr txBox="1"/>
          <p:nvPr/>
        </p:nvSpPr>
        <p:spPr>
          <a:xfrm>
            <a:off x="480658" y="1260389"/>
            <a:ext cx="7491057" cy="646331"/>
          </a:xfrm>
          <a:prstGeom prst="rect">
            <a:avLst/>
          </a:prstGeom>
          <a:noFill/>
        </p:spPr>
        <p:txBody>
          <a:bodyPr wrap="square" rtlCol="0">
            <a:spAutoFit/>
          </a:bodyPr>
          <a:lstStyle/>
          <a:p>
            <a:r>
              <a:rPr lang="en-US" dirty="0"/>
              <a:t>If this was the outcome of your external validation process, how could you tell if the difference is significant? </a:t>
            </a:r>
          </a:p>
        </p:txBody>
      </p:sp>
      <p:sp>
        <p:nvSpPr>
          <p:cNvPr id="5" name="TextBox 4">
            <a:extLst>
              <a:ext uri="{FF2B5EF4-FFF2-40B4-BE49-F238E27FC236}">
                <a16:creationId xmlns:a16="http://schemas.microsoft.com/office/drawing/2014/main" id="{23DEDD3A-4CD0-A141-9BBF-5ABA8E71E261}"/>
              </a:ext>
            </a:extLst>
          </p:cNvPr>
          <p:cNvSpPr txBox="1"/>
          <p:nvPr/>
        </p:nvSpPr>
        <p:spPr>
          <a:xfrm>
            <a:off x="2627784" y="5932092"/>
            <a:ext cx="4896544" cy="646331"/>
          </a:xfrm>
          <a:prstGeom prst="rect">
            <a:avLst/>
          </a:prstGeom>
          <a:noFill/>
        </p:spPr>
        <p:txBody>
          <a:bodyPr wrap="square" rtlCol="0">
            <a:spAutoFit/>
          </a:bodyPr>
          <a:lstStyle/>
          <a:p>
            <a:r>
              <a:rPr lang="en-US" dirty="0"/>
              <a:t>                   Before                     After</a:t>
            </a:r>
          </a:p>
          <a:p>
            <a:r>
              <a:rPr lang="en-US" dirty="0"/>
              <a:t>                   measurement         measurement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8" grpId="0">
        <p:bldAsOne/>
      </p:bldGraphic>
      <p:bldP spid="9" grpId="0"/>
      <p:bldP spid="3"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7467600" cy="922114"/>
          </a:xfrm>
        </p:spPr>
        <p:txBody>
          <a:bodyPr>
            <a:normAutofit fontScale="90000"/>
          </a:bodyPr>
          <a:lstStyle/>
          <a:p>
            <a:r>
              <a:rPr lang="nl-NL" dirty="0"/>
              <a:t>Is the </a:t>
            </a:r>
            <a:r>
              <a:rPr lang="nl-NL" dirty="0" err="1"/>
              <a:t>difference</a:t>
            </a:r>
            <a:r>
              <a:rPr lang="nl-NL" dirty="0"/>
              <a:t> significant or </a:t>
            </a:r>
            <a:r>
              <a:rPr lang="nl-NL" dirty="0" err="1"/>
              <a:t>due</a:t>
            </a:r>
            <a:r>
              <a:rPr lang="nl-NL" dirty="0"/>
              <a:t> </a:t>
            </a:r>
            <a:r>
              <a:rPr lang="nl-NL" dirty="0" err="1"/>
              <a:t>to</a:t>
            </a:r>
            <a:r>
              <a:rPr lang="nl-NL" dirty="0"/>
              <a:t> chance?</a:t>
            </a:r>
          </a:p>
        </p:txBody>
      </p:sp>
      <p:sp>
        <p:nvSpPr>
          <p:cNvPr id="3" name="Tijdelijke aanduiding voor inhoud 2"/>
          <p:cNvSpPr>
            <a:spLocks noGrp="1"/>
          </p:cNvSpPr>
          <p:nvPr>
            <p:ph sz="quarter" idx="1"/>
          </p:nvPr>
        </p:nvSpPr>
        <p:spPr/>
        <p:txBody>
          <a:bodyPr>
            <a:normAutofit fontScale="92500"/>
          </a:bodyPr>
          <a:lstStyle/>
          <a:p>
            <a:r>
              <a:rPr lang="nl-NL" dirty="0"/>
              <a:t>You </a:t>
            </a:r>
            <a:r>
              <a:rPr lang="nl-NL" dirty="0" err="1"/>
              <a:t>need</a:t>
            </a:r>
            <a:r>
              <a:rPr lang="nl-NL" dirty="0"/>
              <a:t> to </a:t>
            </a:r>
            <a:r>
              <a:rPr lang="nl-NL" dirty="0" err="1"/>
              <a:t>establish</a:t>
            </a:r>
            <a:r>
              <a:rPr lang="nl-NL" dirty="0"/>
              <a:t> </a:t>
            </a:r>
            <a:r>
              <a:rPr lang="nl-NL" dirty="0" err="1"/>
              <a:t>this</a:t>
            </a:r>
            <a:r>
              <a:rPr lang="nl-NL" dirty="0"/>
              <a:t> </a:t>
            </a:r>
            <a:r>
              <a:rPr lang="nl-NL" dirty="0" err="1"/>
              <a:t>through</a:t>
            </a:r>
            <a:r>
              <a:rPr lang="nl-NL" dirty="0"/>
              <a:t> a </a:t>
            </a:r>
            <a:r>
              <a:rPr lang="nl-NL" dirty="0">
                <a:solidFill>
                  <a:schemeClr val="accent1"/>
                </a:solidFill>
                <a:hlinkClick r:id="rId3">
                  <a:extLst>
                    <a:ext uri="{A12FA001-AC4F-418D-AE19-62706E023703}">
                      <ahyp:hlinkClr xmlns:ahyp="http://schemas.microsoft.com/office/drawing/2018/hyperlinkcolor" val="tx"/>
                    </a:ext>
                  </a:extLst>
                </a:hlinkClick>
              </a:rPr>
              <a:t>statistical analysis</a:t>
            </a:r>
            <a:r>
              <a:rPr lang="nl-NL" dirty="0"/>
              <a:t>, </a:t>
            </a:r>
            <a:r>
              <a:rPr lang="nl-NL" dirty="0" err="1"/>
              <a:t>for</a:t>
            </a:r>
            <a:r>
              <a:rPr lang="nl-NL" dirty="0"/>
              <a:t> </a:t>
            </a:r>
            <a:r>
              <a:rPr lang="nl-NL" dirty="0" err="1"/>
              <a:t>instance</a:t>
            </a:r>
            <a:r>
              <a:rPr lang="nl-NL" dirty="0"/>
              <a:t>: </a:t>
            </a:r>
          </a:p>
          <a:p>
            <a:pPr lvl="1"/>
            <a:r>
              <a:rPr lang="nl-NL" dirty="0"/>
              <a:t>T-tests </a:t>
            </a:r>
          </a:p>
          <a:p>
            <a:pPr lvl="1"/>
            <a:r>
              <a:rPr lang="nl-NL" dirty="0" err="1"/>
              <a:t>repeated</a:t>
            </a:r>
            <a:r>
              <a:rPr lang="nl-NL" dirty="0"/>
              <a:t> </a:t>
            </a:r>
            <a:r>
              <a:rPr lang="nl-NL" dirty="0" err="1"/>
              <a:t>measures</a:t>
            </a:r>
            <a:r>
              <a:rPr lang="nl-NL" dirty="0"/>
              <a:t> design </a:t>
            </a:r>
          </a:p>
          <a:p>
            <a:pPr lvl="1"/>
            <a:r>
              <a:rPr lang="nl-NL" dirty="0"/>
              <a:t>ANOVA (Analysis of </a:t>
            </a:r>
            <a:r>
              <a:rPr lang="nl-NL" dirty="0" err="1"/>
              <a:t>Variance</a:t>
            </a:r>
            <a:r>
              <a:rPr lang="nl-NL" dirty="0"/>
              <a:t>)</a:t>
            </a:r>
          </a:p>
          <a:p>
            <a:pPr lvl="1"/>
            <a:r>
              <a:rPr lang="nl-NL" dirty="0"/>
              <a:t>ANCOVA (Analysis of </a:t>
            </a:r>
            <a:r>
              <a:rPr lang="nl-NL" dirty="0" err="1"/>
              <a:t>Covariance</a:t>
            </a:r>
            <a:r>
              <a:rPr lang="nl-NL" dirty="0"/>
              <a:t>)</a:t>
            </a:r>
          </a:p>
          <a:p>
            <a:pPr lvl="1"/>
            <a:endParaRPr lang="nl-NL" dirty="0"/>
          </a:p>
          <a:p>
            <a:r>
              <a:rPr lang="en-US" sz="2100" dirty="0"/>
              <a:t>The primary output of statistical tests is the p-value (probability value). It indicates the </a:t>
            </a:r>
            <a:r>
              <a:rPr lang="en-US" sz="2100" b="1" dirty="0"/>
              <a:t>probability</a:t>
            </a:r>
            <a:r>
              <a:rPr lang="en-US" sz="2100" dirty="0"/>
              <a:t> of observing the difference if no difference exists. </a:t>
            </a:r>
            <a:endParaRPr lang="nl-NL" dirty="0"/>
          </a:p>
          <a:p>
            <a:r>
              <a:rPr lang="nl-NL" sz="2100" dirty="0"/>
              <a:t>These tests are </a:t>
            </a:r>
            <a:r>
              <a:rPr lang="nl-NL" sz="2100" dirty="0" err="1"/>
              <a:t>widely</a:t>
            </a:r>
            <a:r>
              <a:rPr lang="nl-NL" sz="2100" dirty="0"/>
              <a:t> </a:t>
            </a:r>
            <a:r>
              <a:rPr lang="nl-NL" sz="2100" dirty="0" err="1"/>
              <a:t>used</a:t>
            </a:r>
            <a:r>
              <a:rPr lang="nl-NL" sz="2100" dirty="0"/>
              <a:t> in </a:t>
            </a:r>
            <a:r>
              <a:rPr lang="nl-NL" sz="2100" dirty="0" err="1"/>
              <a:t>a.o</a:t>
            </a:r>
            <a:r>
              <a:rPr lang="nl-NL" sz="2100" dirty="0"/>
              <a:t>. </a:t>
            </a:r>
            <a:r>
              <a:rPr lang="nl-NL" sz="2100" dirty="0" err="1"/>
              <a:t>Social</a:t>
            </a:r>
            <a:r>
              <a:rPr lang="nl-NL" sz="2100" dirty="0"/>
              <a:t> Sciences &amp; </a:t>
            </a:r>
            <a:r>
              <a:rPr lang="nl-NL" sz="2100" dirty="0" err="1"/>
              <a:t>Economics</a:t>
            </a:r>
            <a:endParaRPr lang="nl-NL" sz="2100" dirty="0"/>
          </a:p>
          <a:p>
            <a:r>
              <a:rPr lang="nl-NL" sz="2100" dirty="0"/>
              <a:t>The </a:t>
            </a:r>
            <a:r>
              <a:rPr lang="nl-NL" sz="2100" dirty="0" err="1"/>
              <a:t>easiest</a:t>
            </a:r>
            <a:r>
              <a:rPr lang="nl-NL" sz="2100" dirty="0"/>
              <a:t> type of statistical test is a t-test </a:t>
            </a:r>
            <a:r>
              <a:rPr lang="nl-NL" sz="2100" dirty="0" err="1"/>
              <a:t>comparing</a:t>
            </a:r>
            <a:r>
              <a:rPr lang="nl-NL" sz="2100" dirty="0"/>
              <a:t> the performances of </a:t>
            </a:r>
            <a:r>
              <a:rPr lang="nl-NL" sz="2100" dirty="0" err="1"/>
              <a:t>two</a:t>
            </a:r>
            <a:r>
              <a:rPr lang="nl-NL" sz="2100" dirty="0"/>
              <a:t> </a:t>
            </a:r>
            <a:r>
              <a:rPr lang="nl-NL" sz="2100" dirty="0" err="1"/>
              <a:t>groups</a:t>
            </a:r>
            <a:r>
              <a:rPr lang="nl-NL" sz="2100" dirty="0"/>
              <a:t> of users (</a:t>
            </a:r>
            <a:r>
              <a:rPr lang="nl-NL" sz="2100" dirty="0" err="1"/>
              <a:t>one</a:t>
            </a:r>
            <a:r>
              <a:rPr lang="nl-NL" sz="2100" dirty="0"/>
              <a:t> </a:t>
            </a:r>
            <a:r>
              <a:rPr lang="nl-NL" sz="2100" dirty="0" err="1"/>
              <a:t>measurement</a:t>
            </a:r>
            <a:r>
              <a:rPr lang="nl-NL" sz="2100" dirty="0"/>
              <a:t> </a:t>
            </a:r>
            <a:r>
              <a:rPr lang="nl-NL" sz="2100" dirty="0" err="1"/>
              <a:t>each</a:t>
            </a:r>
            <a:r>
              <a:rPr lang="nl-NL" sz="2100" dirty="0"/>
              <a:t>). </a:t>
            </a: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http://members.ziggo.nl/dennisoftware/photoshop/gallery/photoshop/sigaret.jpg"/>
          <p:cNvPicPr>
            <a:picLocks noChangeAspect="1" noChangeArrowheads="1"/>
          </p:cNvPicPr>
          <p:nvPr/>
        </p:nvPicPr>
        <p:blipFill>
          <a:blip r:embed="rId3" cstate="print"/>
          <a:srcRect/>
          <a:stretch>
            <a:fillRect/>
          </a:stretch>
        </p:blipFill>
        <p:spPr bwMode="auto">
          <a:xfrm>
            <a:off x="6300192" y="-617024"/>
            <a:ext cx="2592288" cy="2009024"/>
          </a:xfrm>
          <a:prstGeom prst="rect">
            <a:avLst/>
          </a:prstGeom>
          <a:noFill/>
        </p:spPr>
      </p:pic>
      <p:sp>
        <p:nvSpPr>
          <p:cNvPr id="2" name="Titel 1"/>
          <p:cNvSpPr>
            <a:spLocks noGrp="1"/>
          </p:cNvSpPr>
          <p:nvPr>
            <p:ph type="title"/>
          </p:nvPr>
        </p:nvSpPr>
        <p:spPr>
          <a:xfrm>
            <a:off x="457200" y="274638"/>
            <a:ext cx="7671816" cy="490066"/>
          </a:xfrm>
        </p:spPr>
        <p:txBody>
          <a:bodyPr>
            <a:normAutofit fontScale="90000"/>
          </a:bodyPr>
          <a:lstStyle/>
          <a:p>
            <a:r>
              <a:rPr lang="nl-NL" dirty="0" err="1"/>
              <a:t>Subjective</a:t>
            </a:r>
            <a:r>
              <a:rPr lang="nl-NL" dirty="0"/>
              <a:t> or </a:t>
            </a:r>
            <a:r>
              <a:rPr lang="nl-NL" dirty="0" err="1"/>
              <a:t>objective</a:t>
            </a:r>
            <a:r>
              <a:rPr lang="nl-NL" dirty="0"/>
              <a:t> </a:t>
            </a:r>
            <a:r>
              <a:rPr lang="nl-NL" dirty="0" err="1"/>
              <a:t>measurement</a:t>
            </a:r>
            <a:r>
              <a:rPr lang="nl-NL" dirty="0"/>
              <a:t>?</a:t>
            </a:r>
          </a:p>
        </p:txBody>
      </p:sp>
      <p:sp>
        <p:nvSpPr>
          <p:cNvPr id="3" name="Tijdelijke aanduiding voor inhoud 2"/>
          <p:cNvSpPr>
            <a:spLocks noGrp="1"/>
          </p:cNvSpPr>
          <p:nvPr>
            <p:ph sz="quarter" idx="1"/>
          </p:nvPr>
        </p:nvSpPr>
        <p:spPr>
          <a:xfrm>
            <a:off x="457200" y="1426766"/>
            <a:ext cx="7467600" cy="5242594"/>
          </a:xfrm>
        </p:spPr>
        <p:txBody>
          <a:bodyPr>
            <a:normAutofit lnSpcReduction="10000"/>
          </a:bodyPr>
          <a:lstStyle/>
          <a:p>
            <a:r>
              <a:rPr lang="nl-NL" dirty="0"/>
              <a:t>NB:= You </a:t>
            </a:r>
            <a:r>
              <a:rPr lang="nl-NL" dirty="0" err="1"/>
              <a:t>can</a:t>
            </a:r>
            <a:r>
              <a:rPr lang="nl-NL" dirty="0"/>
              <a:t> track the </a:t>
            </a:r>
            <a:r>
              <a:rPr lang="nl-NL" dirty="0" err="1"/>
              <a:t>number</a:t>
            </a:r>
            <a:r>
              <a:rPr lang="nl-NL" dirty="0"/>
              <a:t> of </a:t>
            </a:r>
            <a:r>
              <a:rPr lang="nl-NL" dirty="0" err="1"/>
              <a:t>cigarettes</a:t>
            </a:r>
            <a:r>
              <a:rPr lang="nl-NL" dirty="0"/>
              <a:t> </a:t>
            </a:r>
            <a:r>
              <a:rPr lang="nl-NL" dirty="0" err="1"/>
              <a:t>smoked</a:t>
            </a:r>
            <a:r>
              <a:rPr lang="nl-NL" dirty="0"/>
              <a:t> </a:t>
            </a:r>
            <a:r>
              <a:rPr lang="nl-NL" dirty="0" err="1"/>
              <a:t>by</a:t>
            </a:r>
            <a:r>
              <a:rPr lang="nl-NL" dirty="0"/>
              <a:t> </a:t>
            </a:r>
            <a:r>
              <a:rPr lang="nl-NL" dirty="0" err="1"/>
              <a:t>participants</a:t>
            </a:r>
            <a:r>
              <a:rPr lang="nl-NL" dirty="0"/>
              <a:t> </a:t>
            </a:r>
            <a:r>
              <a:rPr lang="nl-NL" dirty="0" err="1"/>
              <a:t>through</a:t>
            </a:r>
            <a:r>
              <a:rPr lang="nl-NL" dirty="0"/>
              <a:t> </a:t>
            </a:r>
            <a:r>
              <a:rPr lang="nl-NL" dirty="0" err="1"/>
              <a:t>self</a:t>
            </a:r>
            <a:r>
              <a:rPr lang="nl-NL" dirty="0"/>
              <a:t>-report, </a:t>
            </a:r>
            <a:r>
              <a:rPr lang="nl-NL" dirty="0" err="1"/>
              <a:t>subjective</a:t>
            </a:r>
            <a:r>
              <a:rPr lang="nl-NL" dirty="0"/>
              <a:t> </a:t>
            </a:r>
            <a:r>
              <a:rPr lang="nl-NL" dirty="0" err="1"/>
              <a:t>measurements</a:t>
            </a:r>
            <a:r>
              <a:rPr lang="nl-NL" dirty="0"/>
              <a:t> (e.g. questionnaires), BUT at </a:t>
            </a:r>
            <a:r>
              <a:rPr lang="nl-NL" dirty="0" err="1"/>
              <a:t>the</a:t>
            </a:r>
            <a:r>
              <a:rPr lang="nl-NL" dirty="0"/>
              <a:t> </a:t>
            </a:r>
            <a:r>
              <a:rPr lang="nl-NL" dirty="0" err="1"/>
              <a:t>same</a:t>
            </a:r>
            <a:r>
              <a:rPr lang="nl-NL" dirty="0"/>
              <a:t> time </a:t>
            </a:r>
            <a:r>
              <a:rPr lang="nl-NL" dirty="0" err="1"/>
              <a:t>you</a:t>
            </a:r>
            <a:r>
              <a:rPr lang="nl-NL" dirty="0"/>
              <a:t> </a:t>
            </a:r>
            <a:r>
              <a:rPr lang="nl-NL" dirty="0" err="1"/>
              <a:t>should</a:t>
            </a:r>
            <a:r>
              <a:rPr lang="nl-NL" dirty="0"/>
              <a:t> </a:t>
            </a:r>
            <a:r>
              <a:rPr lang="nl-NL" dirty="0" err="1"/>
              <a:t>use</a:t>
            </a:r>
            <a:r>
              <a:rPr lang="nl-NL" dirty="0"/>
              <a:t> more </a:t>
            </a:r>
            <a:r>
              <a:rPr lang="nl-NL" dirty="0" err="1"/>
              <a:t>objective</a:t>
            </a:r>
            <a:r>
              <a:rPr lang="nl-NL" dirty="0"/>
              <a:t> </a:t>
            </a:r>
            <a:r>
              <a:rPr lang="nl-NL" dirty="0" err="1"/>
              <a:t>ways</a:t>
            </a:r>
            <a:r>
              <a:rPr lang="nl-NL" dirty="0"/>
              <a:t> to track these data as well.</a:t>
            </a:r>
          </a:p>
          <a:p>
            <a:endParaRPr lang="nl-NL" dirty="0"/>
          </a:p>
          <a:p>
            <a:pPr marL="0" indent="0">
              <a:buNone/>
            </a:pPr>
            <a:endParaRPr lang="nl-NL" dirty="0"/>
          </a:p>
          <a:p>
            <a:r>
              <a:rPr lang="nl-NL" dirty="0"/>
              <a:t>A sensor </a:t>
            </a:r>
            <a:r>
              <a:rPr lang="nl-NL" dirty="0" err="1"/>
              <a:t>that</a:t>
            </a:r>
            <a:r>
              <a:rPr lang="nl-NL" dirty="0"/>
              <a:t> </a:t>
            </a:r>
            <a:r>
              <a:rPr lang="nl-NL" dirty="0" err="1"/>
              <a:t>keeps</a:t>
            </a:r>
            <a:r>
              <a:rPr lang="nl-NL" dirty="0"/>
              <a:t> track of </a:t>
            </a:r>
            <a:r>
              <a:rPr lang="nl-NL" dirty="0" err="1"/>
              <a:t>every</a:t>
            </a:r>
            <a:r>
              <a:rPr lang="nl-NL" dirty="0"/>
              <a:t> time a </a:t>
            </a:r>
            <a:r>
              <a:rPr lang="nl-NL" dirty="0" err="1"/>
              <a:t>cigarette</a:t>
            </a:r>
            <a:r>
              <a:rPr lang="nl-NL" dirty="0"/>
              <a:t> package is </a:t>
            </a:r>
            <a:r>
              <a:rPr lang="nl-NL" dirty="0" err="1"/>
              <a:t>opened</a:t>
            </a:r>
            <a:r>
              <a:rPr lang="nl-NL" dirty="0"/>
              <a:t>? Or a sensor </a:t>
            </a:r>
            <a:r>
              <a:rPr lang="nl-NL" dirty="0" err="1"/>
              <a:t>that</a:t>
            </a:r>
            <a:r>
              <a:rPr lang="nl-NL" dirty="0"/>
              <a:t> </a:t>
            </a:r>
            <a:r>
              <a:rPr lang="nl-NL" dirty="0" err="1"/>
              <a:t>detects</a:t>
            </a:r>
            <a:r>
              <a:rPr lang="nl-NL" dirty="0"/>
              <a:t> </a:t>
            </a:r>
            <a:r>
              <a:rPr lang="nl-NL" dirty="0" err="1"/>
              <a:t>cigarette</a:t>
            </a:r>
            <a:r>
              <a:rPr lang="nl-NL" dirty="0"/>
              <a:t> </a:t>
            </a:r>
            <a:r>
              <a:rPr lang="nl-NL" dirty="0" err="1"/>
              <a:t>smoke</a:t>
            </a:r>
            <a:r>
              <a:rPr lang="nl-NL" dirty="0"/>
              <a:t> in </a:t>
            </a:r>
            <a:r>
              <a:rPr lang="nl-NL" dirty="0" err="1"/>
              <a:t>the</a:t>
            </a:r>
            <a:r>
              <a:rPr lang="nl-NL" dirty="0"/>
              <a:t> </a:t>
            </a:r>
            <a:r>
              <a:rPr lang="nl-NL" dirty="0" err="1"/>
              <a:t>proxiomity</a:t>
            </a:r>
            <a:r>
              <a:rPr lang="nl-NL" dirty="0"/>
              <a:t> of </a:t>
            </a:r>
            <a:r>
              <a:rPr lang="nl-NL" dirty="0" err="1"/>
              <a:t>the</a:t>
            </a:r>
            <a:r>
              <a:rPr lang="nl-NL" dirty="0"/>
              <a:t> </a:t>
            </a:r>
            <a:r>
              <a:rPr lang="nl-NL" dirty="0" err="1"/>
              <a:t>participant’s</a:t>
            </a:r>
            <a:r>
              <a:rPr lang="nl-NL" dirty="0"/>
              <a:t> </a:t>
            </a:r>
            <a:r>
              <a:rPr lang="nl-NL" dirty="0" err="1"/>
              <a:t>faces</a:t>
            </a:r>
            <a:r>
              <a:rPr lang="nl-NL" dirty="0"/>
              <a:t>? </a:t>
            </a:r>
          </a:p>
          <a:p>
            <a:r>
              <a:rPr lang="nl-NL" dirty="0" err="1"/>
              <a:t>Measuring</a:t>
            </a:r>
            <a:r>
              <a:rPr lang="nl-NL" dirty="0"/>
              <a:t> </a:t>
            </a:r>
            <a:r>
              <a:rPr lang="nl-NL" dirty="0" err="1"/>
              <a:t>people’s</a:t>
            </a:r>
            <a:r>
              <a:rPr lang="nl-NL" dirty="0"/>
              <a:t> </a:t>
            </a:r>
            <a:r>
              <a:rPr lang="nl-NL" dirty="0" err="1"/>
              <a:t>behavior</a:t>
            </a:r>
            <a:r>
              <a:rPr lang="nl-NL" dirty="0"/>
              <a:t> </a:t>
            </a:r>
            <a:r>
              <a:rPr lang="nl-NL" dirty="0" err="1"/>
              <a:t>can</a:t>
            </a:r>
            <a:r>
              <a:rPr lang="nl-NL" dirty="0"/>
              <a:t> </a:t>
            </a:r>
            <a:r>
              <a:rPr lang="nl-NL" dirty="0" err="1"/>
              <a:t>be</a:t>
            </a:r>
            <a:r>
              <a:rPr lang="nl-NL" dirty="0"/>
              <a:t> </a:t>
            </a:r>
            <a:r>
              <a:rPr lang="nl-NL" dirty="0" err="1"/>
              <a:t>complicated</a:t>
            </a:r>
            <a:r>
              <a:rPr lang="nl-NL" dirty="0"/>
              <a:t>. </a:t>
            </a:r>
            <a:r>
              <a:rPr lang="nl-NL" dirty="0" err="1"/>
              <a:t>If</a:t>
            </a:r>
            <a:r>
              <a:rPr lang="nl-NL" dirty="0"/>
              <a:t> </a:t>
            </a:r>
            <a:r>
              <a:rPr lang="nl-NL" dirty="0" err="1"/>
              <a:t>possible</a:t>
            </a:r>
            <a:r>
              <a:rPr lang="nl-NL" dirty="0"/>
              <a:t>, multiple sensors </a:t>
            </a:r>
            <a:r>
              <a:rPr lang="nl-NL" dirty="0" err="1"/>
              <a:t>should</a:t>
            </a:r>
            <a:r>
              <a:rPr lang="nl-NL" dirty="0"/>
              <a:t> </a:t>
            </a:r>
            <a:r>
              <a:rPr lang="nl-NL" dirty="0" err="1"/>
              <a:t>be</a:t>
            </a:r>
            <a:r>
              <a:rPr lang="nl-NL" dirty="0"/>
              <a:t> </a:t>
            </a:r>
            <a:r>
              <a:rPr lang="nl-NL" dirty="0" err="1"/>
              <a:t>used</a:t>
            </a:r>
            <a:r>
              <a:rPr lang="nl-NL" dirty="0"/>
              <a:t>, </a:t>
            </a:r>
            <a:r>
              <a:rPr lang="nl-NL" dirty="0" err="1"/>
              <a:t>along</a:t>
            </a:r>
            <a:r>
              <a:rPr lang="nl-NL" dirty="0"/>
              <a:t> </a:t>
            </a:r>
            <a:r>
              <a:rPr lang="nl-NL" dirty="0" err="1"/>
              <a:t>with</a:t>
            </a:r>
            <a:r>
              <a:rPr lang="nl-NL" dirty="0"/>
              <a:t> </a:t>
            </a:r>
            <a:r>
              <a:rPr lang="nl-NL" dirty="0" err="1"/>
              <a:t>self</a:t>
            </a:r>
            <a:r>
              <a:rPr lang="nl-NL" dirty="0"/>
              <a:t>-report </a:t>
            </a:r>
            <a:r>
              <a:rPr lang="nl-NL" dirty="0" err="1"/>
              <a:t>measurements</a:t>
            </a:r>
            <a:r>
              <a:rPr lang="nl-NL" dirty="0"/>
              <a:t>.</a:t>
            </a: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16</a:t>
            </a:fld>
            <a:endParaRPr lang="en-US"/>
          </a:p>
        </p:txBody>
      </p:sp>
      <p:sp>
        <p:nvSpPr>
          <p:cNvPr id="5" name="Rechthoek 4"/>
          <p:cNvSpPr/>
          <p:nvPr/>
        </p:nvSpPr>
        <p:spPr>
          <a:xfrm>
            <a:off x="457200" y="3187271"/>
            <a:ext cx="7467600" cy="74578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nl-NL" sz="2400" dirty="0"/>
              <a:t>How </a:t>
            </a:r>
            <a:r>
              <a:rPr lang="nl-NL" sz="2400" dirty="0" err="1"/>
              <a:t>can</a:t>
            </a:r>
            <a:r>
              <a:rPr lang="nl-NL" sz="2400" dirty="0"/>
              <a:t> we </a:t>
            </a:r>
            <a:r>
              <a:rPr lang="nl-NL" sz="2400" dirty="0" err="1"/>
              <a:t>measure</a:t>
            </a:r>
            <a:r>
              <a:rPr lang="nl-NL" sz="2400" dirty="0"/>
              <a:t> smoking </a:t>
            </a:r>
            <a:r>
              <a:rPr lang="nl-NL" sz="2400" dirty="0" err="1"/>
              <a:t>behavior</a:t>
            </a:r>
            <a:r>
              <a:rPr lang="nl-NL" sz="2400" dirty="0"/>
              <a:t> in </a:t>
            </a:r>
            <a:r>
              <a:rPr lang="nl-NL" sz="2400" dirty="0" err="1"/>
              <a:t>an</a:t>
            </a:r>
            <a:r>
              <a:rPr lang="nl-NL" sz="2400" dirty="0"/>
              <a:t> </a:t>
            </a:r>
            <a:r>
              <a:rPr lang="nl-NL" sz="2400" dirty="0" err="1"/>
              <a:t>objective</a:t>
            </a:r>
            <a:r>
              <a:rPr lang="nl-NL" sz="2400" dirty="0"/>
              <a:t> way?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467600" cy="936104"/>
          </a:xfrm>
        </p:spPr>
        <p:txBody>
          <a:bodyPr>
            <a:normAutofit fontScale="90000"/>
          </a:bodyPr>
          <a:lstStyle/>
          <a:p>
            <a:r>
              <a:rPr lang="en-US" sz="3100" b="1" dirty="0"/>
              <a:t>PART 3</a:t>
            </a:r>
            <a:br>
              <a:rPr lang="en-US" dirty="0"/>
            </a:br>
            <a:r>
              <a:rPr lang="en-US" dirty="0"/>
              <a:t>Research protocol</a:t>
            </a:r>
          </a:p>
        </p:txBody>
      </p:sp>
      <p:sp>
        <p:nvSpPr>
          <p:cNvPr id="3" name="Content Placeholder 2"/>
          <p:cNvSpPr>
            <a:spLocks noGrp="1"/>
          </p:cNvSpPr>
          <p:nvPr>
            <p:ph sz="quarter" idx="1"/>
          </p:nvPr>
        </p:nvSpPr>
        <p:spPr>
          <a:xfrm>
            <a:off x="476632" y="1120902"/>
            <a:ext cx="7467600" cy="5737098"/>
          </a:xfrm>
        </p:spPr>
        <p:txBody>
          <a:bodyPr>
            <a:noAutofit/>
          </a:bodyPr>
          <a:lstStyle/>
          <a:p>
            <a:pPr>
              <a:buNone/>
            </a:pPr>
            <a:r>
              <a:rPr lang="en-US" sz="1800" dirty="0"/>
              <a:t>You need to become familiar with the following terms, which you will use to write up your Research Protocol:</a:t>
            </a:r>
          </a:p>
          <a:p>
            <a:pPr lvl="1"/>
            <a:r>
              <a:rPr lang="en-US" sz="1800" b="1" dirty="0"/>
              <a:t>Research Question (</a:t>
            </a:r>
            <a:r>
              <a:rPr lang="en-US" sz="1800" dirty="0"/>
              <a:t>is the objective of a study or a problem to be solved through research)</a:t>
            </a:r>
          </a:p>
          <a:p>
            <a:pPr lvl="1"/>
            <a:r>
              <a:rPr lang="en-US" sz="1800" b="1" dirty="0"/>
              <a:t>Hypothesis</a:t>
            </a:r>
            <a:r>
              <a:rPr lang="en-US" sz="1800" dirty="0"/>
              <a:t> (is a proposed explanation for a phenomenon)</a:t>
            </a:r>
          </a:p>
          <a:p>
            <a:pPr lvl="1"/>
            <a:r>
              <a:rPr lang="en-US" sz="1800" b="1" dirty="0"/>
              <a:t>Experimental and Control group </a:t>
            </a:r>
            <a:r>
              <a:rPr lang="en-US" sz="1800" dirty="0"/>
              <a:t>(respectively, the group of participants who are exposed to the technological intervention and the group of participants who are not exposed to the technological intervention)</a:t>
            </a:r>
          </a:p>
          <a:p>
            <a:pPr lvl="1"/>
            <a:r>
              <a:rPr lang="en-US" sz="1800" b="1" dirty="0"/>
              <a:t>Independent Variable </a:t>
            </a:r>
            <a:r>
              <a:rPr lang="en-US" sz="1800" dirty="0"/>
              <a:t>(the variable that is changed or controlled in a scientific experiment to test the effects on the dependent variable.)</a:t>
            </a:r>
          </a:p>
          <a:p>
            <a:pPr lvl="1"/>
            <a:r>
              <a:rPr lang="en-US" sz="1800" b="1" dirty="0"/>
              <a:t>Dependent variable (</a:t>
            </a:r>
            <a:r>
              <a:rPr lang="en-US" sz="1800" dirty="0"/>
              <a:t>the variable being tested and measured in a scientific experiment.)</a:t>
            </a:r>
          </a:p>
          <a:p>
            <a:pPr lvl="1"/>
            <a:r>
              <a:rPr lang="en-US" sz="1800" b="1" dirty="0"/>
              <a:t>Subjects/participants </a:t>
            </a:r>
            <a:r>
              <a:rPr lang="en-US" sz="1800" dirty="0"/>
              <a:t>(the people taking part in the experiment/intervention)</a:t>
            </a:r>
          </a:p>
          <a:p>
            <a:pPr lvl="1"/>
            <a:r>
              <a:rPr lang="en-US" sz="1800" b="1" dirty="0"/>
              <a:t>Possible Confounding variables (</a:t>
            </a:r>
            <a:r>
              <a:rPr lang="en-US" sz="1800" dirty="0"/>
              <a:t>extra independent variables that are having a hidden effect on your dependent variables)</a:t>
            </a:r>
            <a:endParaRPr lang="en-US" sz="1800" b="1" dirty="0"/>
          </a:p>
        </p:txBody>
      </p:sp>
      <p:sp>
        <p:nvSpPr>
          <p:cNvPr id="4" name="Slide Number Placeholder 3"/>
          <p:cNvSpPr>
            <a:spLocks noGrp="1"/>
          </p:cNvSpPr>
          <p:nvPr>
            <p:ph type="sldNum" sz="quarter" idx="15"/>
          </p:nvPr>
        </p:nvSpPr>
        <p:spPr/>
        <p:txBody>
          <a:bodyPr/>
          <a:lstStyle/>
          <a:p>
            <a:fld id="{90D0CBCA-F7F6-4AC9-BA3F-8673847511BA}" type="slidenum">
              <a:rPr lang="en-US" smtClean="0"/>
              <a:pPr/>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467600" cy="864096"/>
          </a:xfrm>
        </p:spPr>
        <p:txBody>
          <a:bodyPr>
            <a:normAutofit fontScale="90000"/>
          </a:bodyPr>
          <a:lstStyle/>
          <a:p>
            <a:r>
              <a:rPr lang="en-US" dirty="0"/>
              <a:t>Example : (schematic) research protocol</a:t>
            </a:r>
          </a:p>
        </p:txBody>
      </p:sp>
      <p:sp>
        <p:nvSpPr>
          <p:cNvPr id="3" name="Content Placeholder 2"/>
          <p:cNvSpPr>
            <a:spLocks noGrp="1"/>
          </p:cNvSpPr>
          <p:nvPr>
            <p:ph sz="quarter" idx="1"/>
          </p:nvPr>
        </p:nvSpPr>
        <p:spPr>
          <a:xfrm>
            <a:off x="457200" y="980728"/>
            <a:ext cx="7467600" cy="5493224"/>
          </a:xfrm>
        </p:spPr>
        <p:txBody>
          <a:bodyPr>
            <a:normAutofit fontScale="85000" lnSpcReduction="20000"/>
          </a:bodyPr>
          <a:lstStyle/>
          <a:p>
            <a:r>
              <a:rPr lang="en-US" b="1" dirty="0"/>
              <a:t>Research Question</a:t>
            </a:r>
            <a:r>
              <a:rPr lang="en-US" dirty="0"/>
              <a:t>: Is it possible to reduce smoking behavior by using a smart app that gives tailored advice to its users?</a:t>
            </a:r>
          </a:p>
          <a:p>
            <a:r>
              <a:rPr lang="en-US" b="1" dirty="0"/>
              <a:t>Hypothesis</a:t>
            </a:r>
            <a:r>
              <a:rPr lang="en-US" dirty="0"/>
              <a:t>: A smart app reduces smoking behavior more than an app that gives only information to its users, and little to no tailored advice.</a:t>
            </a:r>
          </a:p>
          <a:p>
            <a:r>
              <a:rPr lang="en-US" b="1" dirty="0"/>
              <a:t>Control Condition and Experimental Condition:</a:t>
            </a:r>
            <a:r>
              <a:rPr lang="en-US" dirty="0"/>
              <a:t> Half of the test subjects are given an app that provides only information to its users, and little to no tailored advice, while the remaining half is given a smart app that gives tailored advice to its users. </a:t>
            </a:r>
          </a:p>
          <a:p>
            <a:r>
              <a:rPr lang="en-US" b="1" i="1" dirty="0"/>
              <a:t>Independent Variable</a:t>
            </a:r>
            <a:r>
              <a:rPr lang="en-US" i="1" dirty="0"/>
              <a:t>: Intervention (with or without the smart app)</a:t>
            </a:r>
          </a:p>
          <a:p>
            <a:r>
              <a:rPr lang="en-US" b="1" i="1" dirty="0"/>
              <a:t>Dependent variable</a:t>
            </a:r>
            <a:r>
              <a:rPr lang="en-US" i="1" dirty="0"/>
              <a:t>: smoking behavior (e.g. number of weekly cigarettes)</a:t>
            </a:r>
          </a:p>
          <a:p>
            <a:r>
              <a:rPr lang="en-US" b="1" dirty="0"/>
              <a:t>Test Subjects</a:t>
            </a:r>
            <a:r>
              <a:rPr lang="en-US" dirty="0"/>
              <a:t>: E.g. Male, Dutch High educated, have been smoking for more than 10 years.</a:t>
            </a:r>
          </a:p>
          <a:p>
            <a:r>
              <a:rPr lang="en-US" b="1" dirty="0"/>
              <a:t>Possible Confounding Variables</a:t>
            </a:r>
            <a:r>
              <a:rPr lang="en-US" dirty="0"/>
              <a:t>: E.g. the interface is not user-friendly, and therefore the participants stop using </a:t>
            </a:r>
            <a:r>
              <a:rPr lang="en-US"/>
              <a:t>the app.</a:t>
            </a:r>
            <a:endParaRPr lang="en-US" dirty="0"/>
          </a:p>
        </p:txBody>
      </p:sp>
      <p:sp>
        <p:nvSpPr>
          <p:cNvPr id="4" name="Slide Number Placeholder 3"/>
          <p:cNvSpPr>
            <a:spLocks noGrp="1"/>
          </p:cNvSpPr>
          <p:nvPr>
            <p:ph type="sldNum" sz="quarter" idx="15"/>
          </p:nvPr>
        </p:nvSpPr>
        <p:spPr/>
        <p:txBody>
          <a:bodyPr/>
          <a:lstStyle/>
          <a:p>
            <a:fld id="{90D0CBCA-F7F6-4AC9-BA3F-8673847511BA}" type="slidenum">
              <a:rPr lang="en-US" smtClean="0"/>
              <a:pPr/>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003232" cy="864096"/>
          </a:xfrm>
        </p:spPr>
        <p:txBody>
          <a:bodyPr>
            <a:normAutofit/>
          </a:bodyPr>
          <a:lstStyle/>
          <a:p>
            <a:r>
              <a:rPr lang="en-US" dirty="0"/>
              <a:t>How can you test a research question?</a:t>
            </a:r>
          </a:p>
        </p:txBody>
      </p:sp>
      <p:sp>
        <p:nvSpPr>
          <p:cNvPr id="3" name="Content Placeholder 2"/>
          <p:cNvSpPr>
            <a:spLocks noGrp="1"/>
          </p:cNvSpPr>
          <p:nvPr>
            <p:ph sz="quarter" idx="1"/>
          </p:nvPr>
        </p:nvSpPr>
        <p:spPr>
          <a:xfrm>
            <a:off x="457200" y="980728"/>
            <a:ext cx="7467600" cy="5493224"/>
          </a:xfrm>
        </p:spPr>
        <p:txBody>
          <a:bodyPr>
            <a:normAutofit fontScale="85000" lnSpcReduction="20000"/>
          </a:bodyPr>
          <a:lstStyle/>
          <a:p>
            <a:pPr marL="457200" indent="-457200">
              <a:buNone/>
            </a:pPr>
            <a:r>
              <a:rPr lang="nl-NL" i="1" dirty="0"/>
              <a:t>‘</a:t>
            </a:r>
            <a:r>
              <a:rPr lang="nl-NL" i="1" dirty="0" err="1"/>
              <a:t>Example</a:t>
            </a:r>
            <a:r>
              <a:rPr lang="nl-NL" i="1" dirty="0"/>
              <a:t>: Does the </a:t>
            </a:r>
            <a:r>
              <a:rPr lang="nl-NL" i="1" dirty="0" err="1"/>
              <a:t>use</a:t>
            </a:r>
            <a:r>
              <a:rPr lang="nl-NL" i="1" dirty="0"/>
              <a:t> of a running app lead to more </a:t>
            </a:r>
            <a:r>
              <a:rPr lang="nl-NL" i="1" dirty="0" err="1"/>
              <a:t>exercise</a:t>
            </a:r>
            <a:r>
              <a:rPr lang="nl-NL" i="1" dirty="0"/>
              <a:t>?’</a:t>
            </a:r>
          </a:p>
          <a:p>
            <a:pPr marL="457200" indent="-457200">
              <a:buNone/>
            </a:pPr>
            <a:endParaRPr lang="nl-NL" dirty="0"/>
          </a:p>
          <a:p>
            <a:pPr marL="457200" indent="-457200">
              <a:buNone/>
            </a:pPr>
            <a:r>
              <a:rPr lang="nl-NL" b="1" dirty="0" err="1"/>
              <a:t>Here</a:t>
            </a:r>
            <a:r>
              <a:rPr lang="nl-NL" b="1" dirty="0"/>
              <a:t> are </a:t>
            </a:r>
            <a:r>
              <a:rPr lang="nl-NL" b="1" dirty="0" err="1"/>
              <a:t>some</a:t>
            </a:r>
            <a:r>
              <a:rPr lang="nl-NL" b="1" dirty="0"/>
              <a:t> </a:t>
            </a:r>
            <a:r>
              <a:rPr lang="nl-NL" b="1" dirty="0" err="1"/>
              <a:t>examples</a:t>
            </a:r>
            <a:r>
              <a:rPr lang="nl-NL" b="1" dirty="0"/>
              <a:t>:</a:t>
            </a:r>
          </a:p>
          <a:p>
            <a:pPr marL="457200" indent="-457200">
              <a:buFont typeface="+mj-lt"/>
              <a:buAutoNum type="alphaUcPeriod"/>
            </a:pPr>
            <a:r>
              <a:rPr lang="nl-NL" dirty="0" err="1"/>
              <a:t>By</a:t>
            </a:r>
            <a:r>
              <a:rPr lang="nl-NL" dirty="0"/>
              <a:t> </a:t>
            </a:r>
            <a:r>
              <a:rPr lang="nl-NL" dirty="0" err="1"/>
              <a:t>letting</a:t>
            </a:r>
            <a:r>
              <a:rPr lang="nl-NL" dirty="0"/>
              <a:t> 100 test subjects </a:t>
            </a:r>
            <a:r>
              <a:rPr lang="nl-NL" dirty="0" err="1"/>
              <a:t>use</a:t>
            </a:r>
            <a:r>
              <a:rPr lang="nl-NL" dirty="0"/>
              <a:t> the running app </a:t>
            </a:r>
            <a:r>
              <a:rPr lang="nl-NL" dirty="0" err="1"/>
              <a:t>and</a:t>
            </a:r>
            <a:r>
              <a:rPr lang="nl-NL" dirty="0"/>
              <a:t> </a:t>
            </a:r>
            <a:r>
              <a:rPr lang="nl-NL" dirty="0" err="1"/>
              <a:t>then</a:t>
            </a:r>
            <a:r>
              <a:rPr lang="nl-NL" dirty="0"/>
              <a:t> </a:t>
            </a:r>
            <a:r>
              <a:rPr lang="nl-NL" dirty="0" err="1"/>
              <a:t>asking</a:t>
            </a:r>
            <a:r>
              <a:rPr lang="nl-NL" dirty="0"/>
              <a:t> </a:t>
            </a:r>
            <a:r>
              <a:rPr lang="nl-NL" dirty="0" err="1"/>
              <a:t>them</a:t>
            </a:r>
            <a:r>
              <a:rPr lang="nl-NL" dirty="0"/>
              <a:t> </a:t>
            </a:r>
            <a:r>
              <a:rPr lang="nl-NL" dirty="0" err="1"/>
              <a:t>whether</a:t>
            </a:r>
            <a:r>
              <a:rPr lang="nl-NL" dirty="0"/>
              <a:t> </a:t>
            </a:r>
            <a:r>
              <a:rPr lang="nl-NL" dirty="0" err="1"/>
              <a:t>it</a:t>
            </a:r>
            <a:r>
              <a:rPr lang="nl-NL" dirty="0"/>
              <a:t> </a:t>
            </a:r>
            <a:r>
              <a:rPr lang="nl-NL" dirty="0" err="1"/>
              <a:t>worked</a:t>
            </a:r>
            <a:r>
              <a:rPr lang="nl-NL" dirty="0"/>
              <a:t> </a:t>
            </a:r>
            <a:r>
              <a:rPr lang="nl-NL" dirty="0" err="1"/>
              <a:t>ot</a:t>
            </a:r>
            <a:r>
              <a:rPr lang="nl-NL" dirty="0"/>
              <a:t> </a:t>
            </a:r>
            <a:r>
              <a:rPr lang="nl-NL" dirty="0" err="1"/>
              <a:t>not</a:t>
            </a:r>
            <a:r>
              <a:rPr lang="nl-NL" dirty="0"/>
              <a:t>.</a:t>
            </a:r>
          </a:p>
          <a:p>
            <a:pPr marL="457200" indent="-457200">
              <a:buFont typeface="+mj-lt"/>
              <a:buAutoNum type="alphaUcPeriod"/>
            </a:pPr>
            <a:r>
              <a:rPr lang="nl-NL" dirty="0" err="1"/>
              <a:t>By</a:t>
            </a:r>
            <a:r>
              <a:rPr lang="nl-NL" dirty="0"/>
              <a:t> </a:t>
            </a:r>
            <a:r>
              <a:rPr lang="nl-NL" dirty="0" err="1"/>
              <a:t>letting</a:t>
            </a:r>
            <a:r>
              <a:rPr lang="nl-NL" dirty="0"/>
              <a:t> 100 test subjects </a:t>
            </a:r>
            <a:r>
              <a:rPr lang="nl-NL" dirty="0" err="1"/>
              <a:t>use</a:t>
            </a:r>
            <a:r>
              <a:rPr lang="nl-NL" dirty="0"/>
              <a:t> the running app </a:t>
            </a:r>
            <a:r>
              <a:rPr lang="nl-NL" dirty="0" err="1"/>
              <a:t>and</a:t>
            </a:r>
            <a:r>
              <a:rPr lang="nl-NL" dirty="0"/>
              <a:t> tracking </a:t>
            </a:r>
            <a:r>
              <a:rPr lang="nl-NL" dirty="0" err="1"/>
              <a:t>their</a:t>
            </a:r>
            <a:r>
              <a:rPr lang="nl-NL" dirty="0"/>
              <a:t> </a:t>
            </a:r>
            <a:r>
              <a:rPr lang="nl-NL" dirty="0" err="1"/>
              <a:t>physical</a:t>
            </a:r>
            <a:r>
              <a:rPr lang="nl-NL" dirty="0"/>
              <a:t> </a:t>
            </a:r>
            <a:r>
              <a:rPr lang="nl-NL" dirty="0" err="1"/>
              <a:t>activity</a:t>
            </a:r>
            <a:r>
              <a:rPr lang="nl-NL" dirty="0"/>
              <a:t> </a:t>
            </a:r>
            <a:r>
              <a:rPr lang="nl-NL" dirty="0" err="1"/>
              <a:t>through</a:t>
            </a:r>
            <a:r>
              <a:rPr lang="nl-NL" dirty="0"/>
              <a:t> a sensor </a:t>
            </a:r>
            <a:r>
              <a:rPr lang="nl-NL" dirty="0" err="1"/>
              <a:t>while</a:t>
            </a:r>
            <a:r>
              <a:rPr lang="nl-NL" dirty="0"/>
              <a:t> </a:t>
            </a:r>
            <a:r>
              <a:rPr lang="nl-NL" dirty="0" err="1"/>
              <a:t>they</a:t>
            </a:r>
            <a:r>
              <a:rPr lang="nl-NL" dirty="0"/>
              <a:t> are </a:t>
            </a:r>
            <a:r>
              <a:rPr lang="nl-NL" dirty="0" err="1"/>
              <a:t>using</a:t>
            </a:r>
            <a:r>
              <a:rPr lang="nl-NL" dirty="0"/>
              <a:t> the app. </a:t>
            </a:r>
          </a:p>
          <a:p>
            <a:pPr marL="457200" indent="-457200">
              <a:buFont typeface="+mj-lt"/>
              <a:buAutoNum type="alphaUcPeriod"/>
            </a:pPr>
            <a:r>
              <a:rPr lang="nl-NL" dirty="0"/>
              <a:t>By </a:t>
            </a:r>
            <a:r>
              <a:rPr lang="nl-NL" dirty="0" err="1"/>
              <a:t>letting</a:t>
            </a:r>
            <a:r>
              <a:rPr lang="nl-NL" dirty="0"/>
              <a:t> 100 test subjects </a:t>
            </a:r>
            <a:r>
              <a:rPr lang="nl-NL" dirty="0" err="1"/>
              <a:t>use</a:t>
            </a:r>
            <a:r>
              <a:rPr lang="nl-NL" dirty="0"/>
              <a:t> </a:t>
            </a:r>
            <a:r>
              <a:rPr lang="nl-NL" dirty="0" err="1"/>
              <a:t>the</a:t>
            </a:r>
            <a:r>
              <a:rPr lang="nl-NL" dirty="0"/>
              <a:t> running app, </a:t>
            </a:r>
            <a:r>
              <a:rPr lang="nl-NL" dirty="0" err="1"/>
              <a:t>and</a:t>
            </a:r>
            <a:r>
              <a:rPr lang="nl-NL" dirty="0"/>
              <a:t> at </a:t>
            </a:r>
            <a:r>
              <a:rPr lang="nl-NL" dirty="0" err="1"/>
              <a:t>the</a:t>
            </a:r>
            <a:r>
              <a:rPr lang="nl-NL" dirty="0"/>
              <a:t> </a:t>
            </a:r>
            <a:r>
              <a:rPr lang="nl-NL" dirty="0" err="1"/>
              <a:t>same</a:t>
            </a:r>
            <a:r>
              <a:rPr lang="nl-NL" dirty="0"/>
              <a:t> time </a:t>
            </a:r>
            <a:r>
              <a:rPr lang="nl-NL" dirty="0" err="1"/>
              <a:t>letting</a:t>
            </a:r>
            <a:r>
              <a:rPr lang="nl-NL" dirty="0"/>
              <a:t> 100 tests subjects </a:t>
            </a:r>
            <a:r>
              <a:rPr lang="nl-NL" dirty="0" err="1"/>
              <a:t>use</a:t>
            </a:r>
            <a:r>
              <a:rPr lang="nl-NL" dirty="0"/>
              <a:t> a </a:t>
            </a:r>
            <a:r>
              <a:rPr lang="nl-NL" dirty="0" err="1"/>
              <a:t>puzzle</a:t>
            </a:r>
            <a:r>
              <a:rPr lang="nl-NL" dirty="0"/>
              <a:t> app. </a:t>
            </a:r>
            <a:r>
              <a:rPr lang="nl-NL" dirty="0" err="1"/>
              <a:t>Then</a:t>
            </a:r>
            <a:r>
              <a:rPr lang="nl-NL" dirty="0"/>
              <a:t>, the </a:t>
            </a:r>
            <a:r>
              <a:rPr lang="nl-NL" dirty="0" err="1"/>
              <a:t>physical</a:t>
            </a:r>
            <a:r>
              <a:rPr lang="nl-NL" dirty="0"/>
              <a:t> </a:t>
            </a:r>
            <a:r>
              <a:rPr lang="nl-NL" dirty="0" err="1"/>
              <a:t>activity</a:t>
            </a:r>
            <a:r>
              <a:rPr lang="nl-NL" dirty="0"/>
              <a:t> of </a:t>
            </a:r>
            <a:r>
              <a:rPr lang="nl-NL" dirty="0" err="1"/>
              <a:t>both</a:t>
            </a:r>
            <a:r>
              <a:rPr lang="nl-NL" dirty="0"/>
              <a:t> </a:t>
            </a:r>
            <a:r>
              <a:rPr lang="nl-NL" dirty="0" err="1"/>
              <a:t>groups</a:t>
            </a:r>
            <a:r>
              <a:rPr lang="nl-NL" dirty="0"/>
              <a:t> </a:t>
            </a:r>
            <a:r>
              <a:rPr lang="nl-NL" dirty="0" err="1"/>
              <a:t>can</a:t>
            </a:r>
            <a:r>
              <a:rPr lang="nl-NL" dirty="0"/>
              <a:t> </a:t>
            </a:r>
            <a:r>
              <a:rPr lang="nl-NL" dirty="0" err="1"/>
              <a:t>be</a:t>
            </a:r>
            <a:r>
              <a:rPr lang="nl-NL" dirty="0"/>
              <a:t> </a:t>
            </a:r>
            <a:r>
              <a:rPr lang="nl-NL" dirty="0" err="1"/>
              <a:t>tracked</a:t>
            </a:r>
            <a:r>
              <a:rPr lang="nl-NL" dirty="0"/>
              <a:t>, </a:t>
            </a:r>
            <a:r>
              <a:rPr lang="nl-NL" dirty="0" err="1"/>
              <a:t>and</a:t>
            </a:r>
            <a:r>
              <a:rPr lang="nl-NL" dirty="0"/>
              <a:t> </a:t>
            </a:r>
            <a:r>
              <a:rPr lang="nl-NL" dirty="0" err="1"/>
              <a:t>if</a:t>
            </a:r>
            <a:r>
              <a:rPr lang="nl-NL" dirty="0"/>
              <a:t> </a:t>
            </a:r>
            <a:r>
              <a:rPr lang="nl-NL" dirty="0" err="1"/>
              <a:t>there</a:t>
            </a:r>
            <a:r>
              <a:rPr lang="nl-NL" dirty="0"/>
              <a:t> is a </a:t>
            </a:r>
            <a:r>
              <a:rPr lang="nl-NL" dirty="0" err="1"/>
              <a:t>difference</a:t>
            </a:r>
            <a:r>
              <a:rPr lang="nl-NL" dirty="0"/>
              <a:t>, </a:t>
            </a:r>
            <a:r>
              <a:rPr lang="nl-NL" dirty="0" err="1"/>
              <a:t>it</a:t>
            </a:r>
            <a:r>
              <a:rPr lang="nl-NL" dirty="0"/>
              <a:t> </a:t>
            </a:r>
            <a:r>
              <a:rPr lang="nl-NL" dirty="0" err="1"/>
              <a:t>can</a:t>
            </a:r>
            <a:r>
              <a:rPr lang="nl-NL" dirty="0"/>
              <a:t> </a:t>
            </a:r>
            <a:r>
              <a:rPr lang="nl-NL" dirty="0" err="1"/>
              <a:t>be</a:t>
            </a:r>
            <a:r>
              <a:rPr lang="nl-NL" dirty="0"/>
              <a:t> </a:t>
            </a:r>
            <a:r>
              <a:rPr lang="nl-NL" dirty="0" err="1"/>
              <a:t>investigated</a:t>
            </a:r>
            <a:r>
              <a:rPr lang="nl-NL" dirty="0"/>
              <a:t> </a:t>
            </a:r>
            <a:r>
              <a:rPr lang="nl-NL" dirty="0" err="1"/>
              <a:t>whether</a:t>
            </a:r>
            <a:r>
              <a:rPr lang="nl-NL" dirty="0"/>
              <a:t> </a:t>
            </a:r>
            <a:r>
              <a:rPr lang="nl-NL" dirty="0" err="1"/>
              <a:t>it</a:t>
            </a:r>
            <a:r>
              <a:rPr lang="nl-NL" dirty="0"/>
              <a:t> is </a:t>
            </a:r>
            <a:r>
              <a:rPr lang="nl-NL" dirty="0" err="1"/>
              <a:t>statistically</a:t>
            </a:r>
            <a:r>
              <a:rPr lang="nl-NL" dirty="0"/>
              <a:t> significant or </a:t>
            </a:r>
            <a:r>
              <a:rPr lang="nl-NL" dirty="0" err="1"/>
              <a:t>not</a:t>
            </a:r>
            <a:r>
              <a:rPr lang="nl-NL" dirty="0"/>
              <a:t>. </a:t>
            </a:r>
          </a:p>
          <a:p>
            <a:pPr marL="457200" indent="-457200">
              <a:buFont typeface="+mj-lt"/>
              <a:buAutoNum type="alphaUcPeriod"/>
            </a:pPr>
            <a:r>
              <a:rPr lang="nl-NL" dirty="0"/>
              <a:t>By </a:t>
            </a:r>
            <a:r>
              <a:rPr lang="nl-NL" dirty="0" err="1"/>
              <a:t>letting</a:t>
            </a:r>
            <a:r>
              <a:rPr lang="nl-NL" dirty="0"/>
              <a:t> 100 test subjects </a:t>
            </a:r>
            <a:r>
              <a:rPr lang="nl-NL" dirty="0" err="1"/>
              <a:t>use</a:t>
            </a:r>
            <a:r>
              <a:rPr lang="nl-NL" dirty="0"/>
              <a:t> </a:t>
            </a:r>
            <a:r>
              <a:rPr lang="nl-NL" dirty="0" err="1"/>
              <a:t>the</a:t>
            </a:r>
            <a:r>
              <a:rPr lang="nl-NL" dirty="0"/>
              <a:t> running app, </a:t>
            </a:r>
            <a:r>
              <a:rPr lang="nl-NL" dirty="0" err="1"/>
              <a:t>and</a:t>
            </a:r>
            <a:r>
              <a:rPr lang="nl-NL" dirty="0"/>
              <a:t> at </a:t>
            </a:r>
            <a:r>
              <a:rPr lang="nl-NL" dirty="0" err="1"/>
              <a:t>the</a:t>
            </a:r>
            <a:r>
              <a:rPr lang="nl-NL" dirty="0"/>
              <a:t> </a:t>
            </a:r>
            <a:r>
              <a:rPr lang="nl-NL" dirty="0" err="1"/>
              <a:t>same</a:t>
            </a:r>
            <a:r>
              <a:rPr lang="nl-NL" dirty="0"/>
              <a:t> time </a:t>
            </a:r>
            <a:r>
              <a:rPr lang="nl-NL" dirty="0" err="1"/>
              <a:t>sending</a:t>
            </a:r>
            <a:r>
              <a:rPr lang="nl-NL" dirty="0"/>
              <a:t> 100 tests subjects information </a:t>
            </a:r>
            <a:r>
              <a:rPr lang="nl-NL" dirty="0" err="1"/>
              <a:t>materials</a:t>
            </a:r>
            <a:r>
              <a:rPr lang="nl-NL" dirty="0"/>
              <a:t> </a:t>
            </a:r>
            <a:r>
              <a:rPr lang="nl-NL" dirty="0" err="1"/>
              <a:t>through</a:t>
            </a:r>
            <a:r>
              <a:rPr lang="nl-NL" dirty="0"/>
              <a:t> </a:t>
            </a:r>
            <a:r>
              <a:rPr lang="nl-NL" dirty="0" err="1"/>
              <a:t>the</a:t>
            </a:r>
            <a:r>
              <a:rPr lang="nl-NL" dirty="0"/>
              <a:t> mail. </a:t>
            </a:r>
            <a:r>
              <a:rPr lang="nl-NL" dirty="0" err="1"/>
              <a:t>Then</a:t>
            </a:r>
            <a:r>
              <a:rPr lang="nl-NL" dirty="0"/>
              <a:t>, the </a:t>
            </a:r>
            <a:r>
              <a:rPr lang="nl-NL" dirty="0" err="1"/>
              <a:t>physical</a:t>
            </a:r>
            <a:r>
              <a:rPr lang="nl-NL" dirty="0"/>
              <a:t> </a:t>
            </a:r>
            <a:r>
              <a:rPr lang="nl-NL" dirty="0" err="1"/>
              <a:t>activity</a:t>
            </a:r>
            <a:r>
              <a:rPr lang="nl-NL" dirty="0"/>
              <a:t> of </a:t>
            </a:r>
            <a:r>
              <a:rPr lang="nl-NL" dirty="0" err="1"/>
              <a:t>both</a:t>
            </a:r>
            <a:r>
              <a:rPr lang="nl-NL" dirty="0"/>
              <a:t> </a:t>
            </a:r>
            <a:r>
              <a:rPr lang="nl-NL" dirty="0" err="1"/>
              <a:t>groups</a:t>
            </a:r>
            <a:r>
              <a:rPr lang="nl-NL" dirty="0"/>
              <a:t> </a:t>
            </a:r>
            <a:r>
              <a:rPr lang="nl-NL" dirty="0" err="1"/>
              <a:t>can</a:t>
            </a:r>
            <a:r>
              <a:rPr lang="nl-NL" dirty="0"/>
              <a:t> </a:t>
            </a:r>
            <a:r>
              <a:rPr lang="nl-NL" dirty="0" err="1"/>
              <a:t>be</a:t>
            </a:r>
            <a:r>
              <a:rPr lang="nl-NL" dirty="0"/>
              <a:t> </a:t>
            </a:r>
            <a:r>
              <a:rPr lang="nl-NL" dirty="0" err="1"/>
              <a:t>tracked</a:t>
            </a:r>
            <a:r>
              <a:rPr lang="nl-NL" dirty="0"/>
              <a:t>, </a:t>
            </a:r>
            <a:r>
              <a:rPr lang="nl-NL" dirty="0" err="1"/>
              <a:t>and</a:t>
            </a:r>
            <a:r>
              <a:rPr lang="nl-NL" dirty="0"/>
              <a:t> </a:t>
            </a:r>
            <a:r>
              <a:rPr lang="nl-NL" dirty="0" err="1"/>
              <a:t>if</a:t>
            </a:r>
            <a:r>
              <a:rPr lang="nl-NL" dirty="0"/>
              <a:t> </a:t>
            </a:r>
            <a:r>
              <a:rPr lang="nl-NL" dirty="0" err="1"/>
              <a:t>there</a:t>
            </a:r>
            <a:r>
              <a:rPr lang="nl-NL" dirty="0"/>
              <a:t> is a </a:t>
            </a:r>
            <a:r>
              <a:rPr lang="nl-NL" dirty="0" err="1"/>
              <a:t>difference</a:t>
            </a:r>
            <a:r>
              <a:rPr lang="nl-NL" dirty="0"/>
              <a:t>, </a:t>
            </a:r>
            <a:r>
              <a:rPr lang="nl-NL" dirty="0" err="1"/>
              <a:t>it</a:t>
            </a:r>
            <a:r>
              <a:rPr lang="nl-NL" dirty="0"/>
              <a:t> </a:t>
            </a:r>
            <a:r>
              <a:rPr lang="nl-NL" dirty="0" err="1"/>
              <a:t>can</a:t>
            </a:r>
            <a:r>
              <a:rPr lang="nl-NL" dirty="0"/>
              <a:t> </a:t>
            </a:r>
            <a:r>
              <a:rPr lang="nl-NL" dirty="0" err="1"/>
              <a:t>be</a:t>
            </a:r>
            <a:r>
              <a:rPr lang="nl-NL" dirty="0"/>
              <a:t> </a:t>
            </a:r>
            <a:r>
              <a:rPr lang="nl-NL" dirty="0" err="1"/>
              <a:t>investigated</a:t>
            </a:r>
            <a:r>
              <a:rPr lang="nl-NL" dirty="0"/>
              <a:t> </a:t>
            </a:r>
            <a:r>
              <a:rPr lang="nl-NL" dirty="0" err="1"/>
              <a:t>whether</a:t>
            </a:r>
            <a:r>
              <a:rPr lang="nl-NL" dirty="0"/>
              <a:t> </a:t>
            </a:r>
            <a:r>
              <a:rPr lang="nl-NL" dirty="0" err="1"/>
              <a:t>it</a:t>
            </a:r>
            <a:r>
              <a:rPr lang="nl-NL" dirty="0"/>
              <a:t> is </a:t>
            </a:r>
            <a:r>
              <a:rPr lang="nl-NL" dirty="0" err="1"/>
              <a:t>statistically</a:t>
            </a:r>
            <a:r>
              <a:rPr lang="nl-NL" dirty="0"/>
              <a:t> significant or </a:t>
            </a:r>
            <a:r>
              <a:rPr lang="nl-NL" dirty="0" err="1"/>
              <a:t>not</a:t>
            </a:r>
            <a:r>
              <a:rPr lang="nl-NL" dirty="0"/>
              <a:t>. </a:t>
            </a:r>
          </a:p>
        </p:txBody>
      </p:sp>
      <p:sp>
        <p:nvSpPr>
          <p:cNvPr id="4" name="Slide Number Placeholder 3"/>
          <p:cNvSpPr>
            <a:spLocks noGrp="1"/>
          </p:cNvSpPr>
          <p:nvPr>
            <p:ph type="sldNum" sz="quarter" idx="15"/>
          </p:nvPr>
        </p:nvSpPr>
        <p:spPr/>
        <p:txBody>
          <a:bodyPr/>
          <a:lstStyle/>
          <a:p>
            <a:fld id="{90D0CBCA-F7F6-4AC9-BA3F-8673847511BA}" type="slidenum">
              <a:rPr lang="en-US" smtClean="0"/>
              <a:pPr/>
              <a:t>19</a:t>
            </a:fld>
            <a:endParaRPr lang="en-US"/>
          </a:p>
        </p:txBody>
      </p:sp>
    </p:spTree>
    <p:extLst>
      <p:ext uri="{BB962C8B-B14F-4D97-AF65-F5344CB8AC3E}">
        <p14:creationId xmlns:p14="http://schemas.microsoft.com/office/powerpoint/2010/main" val="398459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4082"/>
          </a:xfrm>
        </p:spPr>
        <p:txBody>
          <a:bodyPr/>
          <a:lstStyle/>
          <a:p>
            <a:r>
              <a:rPr lang="en-US" dirty="0"/>
              <a:t>User experience evaluation</a:t>
            </a:r>
          </a:p>
        </p:txBody>
      </p:sp>
      <p:sp>
        <p:nvSpPr>
          <p:cNvPr id="3" name="Content Placeholder 2"/>
          <p:cNvSpPr>
            <a:spLocks noGrp="1"/>
          </p:cNvSpPr>
          <p:nvPr>
            <p:ph sz="quarter" idx="1"/>
          </p:nvPr>
        </p:nvSpPr>
        <p:spPr>
          <a:xfrm>
            <a:off x="457200" y="1052736"/>
            <a:ext cx="7467600" cy="3629000"/>
          </a:xfrm>
        </p:spPr>
        <p:txBody>
          <a:bodyPr>
            <a:normAutofit fontScale="85000" lnSpcReduction="20000"/>
          </a:bodyPr>
          <a:lstStyle/>
          <a:p>
            <a:pPr marL="0" indent="0">
              <a:buNone/>
            </a:pPr>
            <a:r>
              <a:rPr lang="en-US" dirty="0"/>
              <a:t>Your Research protocol needs to be externally validated through </a:t>
            </a:r>
            <a:r>
              <a:rPr lang="en-US" b="1" dirty="0"/>
              <a:t>User Experience Evaluation</a:t>
            </a:r>
            <a:r>
              <a:rPr lang="en-US" dirty="0"/>
              <a:t>.</a:t>
            </a:r>
          </a:p>
          <a:p>
            <a:pPr marL="0" indent="0">
              <a:buNone/>
            </a:pPr>
            <a:endParaRPr lang="en-US" dirty="0"/>
          </a:p>
          <a:p>
            <a:r>
              <a:rPr lang="en-US" dirty="0"/>
              <a:t>User Experience (Usability): Do you think it works? Is it easy to use? Will you keep using it?  Do you like it? Is it cost-effective and feasible?</a:t>
            </a:r>
          </a:p>
          <a:p>
            <a:endParaRPr lang="en-US" dirty="0"/>
          </a:p>
          <a:p>
            <a:r>
              <a:rPr lang="en-US" dirty="0"/>
              <a:t>Questionnaires (often based on a </a:t>
            </a:r>
            <a:r>
              <a:rPr lang="en-US" b="1" dirty="0" err="1"/>
              <a:t>likert</a:t>
            </a:r>
            <a:r>
              <a:rPr lang="en-US" b="1" dirty="0"/>
              <a:t>-scale</a:t>
            </a:r>
            <a:r>
              <a:rPr lang="en-US" dirty="0"/>
              <a:t>) are used to evaluate user experience . Examples include:</a:t>
            </a:r>
          </a:p>
          <a:p>
            <a:pPr lvl="1"/>
            <a:r>
              <a:rPr lang="nl-NL" dirty="0" err="1"/>
              <a:t>Acceptability</a:t>
            </a:r>
            <a:r>
              <a:rPr lang="nl-NL" dirty="0"/>
              <a:t> questionnaire</a:t>
            </a:r>
          </a:p>
          <a:p>
            <a:pPr lvl="1"/>
            <a:r>
              <a:rPr lang="nl-NL" dirty="0"/>
              <a:t>Usability questionnaire</a:t>
            </a:r>
          </a:p>
          <a:p>
            <a:pPr lvl="1"/>
            <a:r>
              <a:rPr lang="nl-NL" dirty="0" err="1"/>
              <a:t>Feasibility</a:t>
            </a:r>
            <a:r>
              <a:rPr lang="nl-NL" dirty="0"/>
              <a:t> questionnaire</a:t>
            </a:r>
          </a:p>
          <a:p>
            <a:endParaRPr lang="nl-NL" dirty="0"/>
          </a:p>
          <a:p>
            <a:endParaRPr lang="nl-NL" dirty="0"/>
          </a:p>
          <a:p>
            <a:endParaRPr lang="nl-NL" dirty="0"/>
          </a:p>
          <a:p>
            <a:endParaRPr lang="en-US" dirty="0"/>
          </a:p>
        </p:txBody>
      </p:sp>
      <p:sp>
        <p:nvSpPr>
          <p:cNvPr id="4" name="Slide Number Placeholder 3"/>
          <p:cNvSpPr>
            <a:spLocks noGrp="1"/>
          </p:cNvSpPr>
          <p:nvPr>
            <p:ph type="sldNum" sz="quarter" idx="15"/>
          </p:nvPr>
        </p:nvSpPr>
        <p:spPr/>
        <p:txBody>
          <a:bodyPr/>
          <a:lstStyle/>
          <a:p>
            <a:fld id="{90D0CBCA-F7F6-4AC9-BA3F-8673847511BA}" type="slidenum">
              <a:rPr lang="en-US" smtClean="0"/>
              <a:pPr/>
              <a:t>20</a:t>
            </a:fld>
            <a:endParaRPr lang="en-US"/>
          </a:p>
        </p:txBody>
      </p:sp>
      <p:pic>
        <p:nvPicPr>
          <p:cNvPr id="5" name="Picture 4">
            <a:extLst>
              <a:ext uri="{FF2B5EF4-FFF2-40B4-BE49-F238E27FC236}">
                <a16:creationId xmlns:a16="http://schemas.microsoft.com/office/drawing/2014/main" id="{24980846-43CF-CD4B-97A8-1E1D692167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8565" y="4681736"/>
            <a:ext cx="5924869" cy="2124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4082"/>
          </a:xfrm>
        </p:spPr>
        <p:txBody>
          <a:bodyPr>
            <a:normAutofit fontScale="90000"/>
          </a:bodyPr>
          <a:lstStyle/>
          <a:p>
            <a:r>
              <a:rPr lang="en-US" dirty="0"/>
              <a:t>Acceptability, usability and feasibility</a:t>
            </a:r>
          </a:p>
        </p:txBody>
      </p:sp>
      <p:sp>
        <p:nvSpPr>
          <p:cNvPr id="3" name="Content Placeholder 2"/>
          <p:cNvSpPr>
            <a:spLocks noGrp="1"/>
          </p:cNvSpPr>
          <p:nvPr>
            <p:ph sz="quarter" idx="1"/>
          </p:nvPr>
        </p:nvSpPr>
        <p:spPr>
          <a:xfrm>
            <a:off x="457200" y="1196752"/>
            <a:ext cx="7467600" cy="5058506"/>
          </a:xfrm>
        </p:spPr>
        <p:txBody>
          <a:bodyPr>
            <a:normAutofit lnSpcReduction="10000"/>
          </a:bodyPr>
          <a:lstStyle/>
          <a:p>
            <a:r>
              <a:rPr lang="nl-NL" sz="2600" b="1" dirty="0" err="1"/>
              <a:t>Acceptability</a:t>
            </a:r>
            <a:r>
              <a:rPr lang="nl-NL" sz="2600" dirty="0"/>
              <a:t>: </a:t>
            </a:r>
            <a:r>
              <a:rPr lang="en-US" sz="2600" dirty="0"/>
              <a:t>Acceptability refers to the factors that affect the users’ willingness to use the application.</a:t>
            </a:r>
          </a:p>
          <a:p>
            <a:endParaRPr lang="nl-NL" sz="2600" dirty="0"/>
          </a:p>
          <a:p>
            <a:r>
              <a:rPr lang="nl-NL" sz="2600" b="1" dirty="0" err="1"/>
              <a:t>Usability</a:t>
            </a:r>
            <a:r>
              <a:rPr lang="nl-NL" sz="2600" dirty="0"/>
              <a:t>: </a:t>
            </a:r>
            <a:r>
              <a:rPr lang="en-US" sz="2600" dirty="0"/>
              <a:t>Usability refers to the design factors that affect the user experience of operating the application’s device and navigating the application for its intended purpose.</a:t>
            </a:r>
          </a:p>
          <a:p>
            <a:endParaRPr lang="en-US" sz="2600" dirty="0"/>
          </a:p>
          <a:p>
            <a:r>
              <a:rPr lang="nl-NL" sz="2600" b="1" dirty="0" err="1"/>
              <a:t>Feasibility</a:t>
            </a:r>
            <a:r>
              <a:rPr lang="nl-NL" sz="2600" dirty="0"/>
              <a:t>: </a:t>
            </a:r>
            <a:r>
              <a:rPr lang="nl-NL" sz="2600" dirty="0" err="1"/>
              <a:t>Feasibility</a:t>
            </a:r>
            <a:r>
              <a:rPr lang="nl-NL" sz="2600" dirty="0"/>
              <a:t> </a:t>
            </a:r>
            <a:r>
              <a:rPr lang="nl-NL" sz="2600" dirty="0" err="1"/>
              <a:t>refers</a:t>
            </a:r>
            <a:r>
              <a:rPr lang="nl-NL" sz="2600" dirty="0"/>
              <a:t> </a:t>
            </a:r>
            <a:r>
              <a:rPr lang="nl-NL" sz="2600" dirty="0" err="1"/>
              <a:t>to</a:t>
            </a:r>
            <a:r>
              <a:rPr lang="nl-NL" sz="2600" dirty="0"/>
              <a:t> </a:t>
            </a:r>
            <a:r>
              <a:rPr lang="nl-NL" sz="2600" dirty="0" err="1"/>
              <a:t>whether</a:t>
            </a:r>
            <a:r>
              <a:rPr lang="nl-NL" sz="2600" dirty="0"/>
              <a:t> the </a:t>
            </a:r>
            <a:r>
              <a:rPr lang="nl-NL" sz="2600" dirty="0" err="1"/>
              <a:t>intervention</a:t>
            </a:r>
            <a:r>
              <a:rPr lang="nl-NL" sz="2600" dirty="0"/>
              <a:t> </a:t>
            </a:r>
            <a:r>
              <a:rPr lang="nl-NL" sz="2600" dirty="0" err="1"/>
              <a:t>can</a:t>
            </a:r>
            <a:r>
              <a:rPr lang="nl-NL" sz="2600" dirty="0"/>
              <a:t> </a:t>
            </a:r>
            <a:r>
              <a:rPr lang="nl-NL" sz="2600" dirty="0" err="1"/>
              <a:t>actually</a:t>
            </a:r>
            <a:r>
              <a:rPr lang="nl-NL" sz="2600" dirty="0"/>
              <a:t> </a:t>
            </a:r>
            <a:r>
              <a:rPr lang="en-US" sz="2600" dirty="0"/>
              <a:t>be carried out or not.</a:t>
            </a:r>
            <a:endParaRPr lang="nl-NL" sz="2600" dirty="0"/>
          </a:p>
          <a:p>
            <a:endParaRPr lang="nl-NL" dirty="0"/>
          </a:p>
          <a:p>
            <a:endParaRPr lang="nl-NL" dirty="0"/>
          </a:p>
          <a:p>
            <a:endParaRPr lang="nl-NL" dirty="0"/>
          </a:p>
          <a:p>
            <a:endParaRPr lang="en-US" dirty="0"/>
          </a:p>
        </p:txBody>
      </p:sp>
      <p:sp>
        <p:nvSpPr>
          <p:cNvPr id="4" name="Slide Number Placeholder 3"/>
          <p:cNvSpPr>
            <a:spLocks noGrp="1"/>
          </p:cNvSpPr>
          <p:nvPr>
            <p:ph type="sldNum" sz="quarter" idx="15"/>
          </p:nvPr>
        </p:nvSpPr>
        <p:spPr/>
        <p:txBody>
          <a:bodyPr/>
          <a:lstStyle/>
          <a:p>
            <a:fld id="{90D0CBCA-F7F6-4AC9-BA3F-8673847511BA}" type="slidenum">
              <a:rPr lang="en-US" smtClean="0"/>
              <a:pPr/>
              <a:t>21</a:t>
            </a:fld>
            <a:endParaRPr lang="en-US"/>
          </a:p>
        </p:txBody>
      </p:sp>
    </p:spTree>
    <p:extLst>
      <p:ext uri="{BB962C8B-B14F-4D97-AF65-F5344CB8AC3E}">
        <p14:creationId xmlns:p14="http://schemas.microsoft.com/office/powerpoint/2010/main" val="323457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7467600" cy="778098"/>
          </a:xfrm>
        </p:spPr>
        <p:txBody>
          <a:bodyPr>
            <a:normAutofit fontScale="90000"/>
          </a:bodyPr>
          <a:lstStyle/>
          <a:p>
            <a:r>
              <a:rPr lang="nl-NL" dirty="0" err="1"/>
              <a:t>Example</a:t>
            </a:r>
            <a:r>
              <a:rPr lang="nl-NL" dirty="0"/>
              <a:t> of usability questionnaire </a:t>
            </a:r>
            <a:r>
              <a:rPr lang="nl-NL" dirty="0" err="1"/>
              <a:t>for</a:t>
            </a:r>
            <a:r>
              <a:rPr lang="nl-NL" dirty="0"/>
              <a:t> ‘</a:t>
            </a:r>
            <a:r>
              <a:rPr lang="nl-NL" dirty="0" err="1"/>
              <a:t>sitcoach</a:t>
            </a:r>
            <a:r>
              <a:rPr lang="nl-NL" dirty="0"/>
              <a:t>’  system</a:t>
            </a:r>
          </a:p>
        </p:txBody>
      </p:sp>
      <p:sp>
        <p:nvSpPr>
          <p:cNvPr id="4" name="Tijdelijke aanduiding voor dianummer 3"/>
          <p:cNvSpPr>
            <a:spLocks noGrp="1"/>
          </p:cNvSpPr>
          <p:nvPr>
            <p:ph type="sldNum" sz="quarter" idx="15"/>
          </p:nvPr>
        </p:nvSpPr>
        <p:spPr/>
        <p:txBody>
          <a:bodyPr/>
          <a:lstStyle/>
          <a:p>
            <a:fld id="{90D0CBCA-F7F6-4AC9-BA3F-8673847511BA}" type="slidenum">
              <a:rPr lang="en-US" smtClean="0"/>
              <a:pPr/>
              <a:t>22</a:t>
            </a:fld>
            <a:endParaRPr lang="en-US"/>
          </a:p>
        </p:txBody>
      </p:sp>
      <p:pic>
        <p:nvPicPr>
          <p:cNvPr id="51202" name="Picture 2"/>
          <p:cNvPicPr>
            <a:picLocks noChangeAspect="1" noChangeArrowheads="1"/>
          </p:cNvPicPr>
          <p:nvPr/>
        </p:nvPicPr>
        <p:blipFill>
          <a:blip r:embed="rId3" cstate="print"/>
          <a:srcRect l="5254" t="35063" r="27780" b="18672"/>
          <a:stretch>
            <a:fillRect/>
          </a:stretch>
        </p:blipFill>
        <p:spPr bwMode="auto">
          <a:xfrm>
            <a:off x="251520" y="2132856"/>
            <a:ext cx="8424936" cy="338437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003232" cy="980728"/>
          </a:xfrm>
        </p:spPr>
        <p:txBody>
          <a:bodyPr>
            <a:normAutofit fontScale="90000"/>
          </a:bodyPr>
          <a:lstStyle/>
          <a:p>
            <a:br>
              <a:rPr lang="en-US" dirty="0"/>
            </a:br>
            <a:br>
              <a:rPr lang="en-US" dirty="0"/>
            </a:br>
            <a:r>
              <a:rPr lang="en-US" dirty="0"/>
              <a:t>Exercise 2:</a:t>
            </a:r>
            <a:br>
              <a:rPr lang="en-US" dirty="0"/>
            </a:br>
            <a:r>
              <a:rPr lang="en-US" dirty="0"/>
              <a:t>set up research protocol</a:t>
            </a:r>
          </a:p>
        </p:txBody>
      </p:sp>
      <p:sp>
        <p:nvSpPr>
          <p:cNvPr id="4" name="Slide Number Placeholder 3"/>
          <p:cNvSpPr>
            <a:spLocks noGrp="1"/>
          </p:cNvSpPr>
          <p:nvPr>
            <p:ph type="sldNum" sz="quarter" idx="15"/>
          </p:nvPr>
        </p:nvSpPr>
        <p:spPr/>
        <p:txBody>
          <a:bodyPr/>
          <a:lstStyle/>
          <a:p>
            <a:fld id="{90D0CBCA-F7F6-4AC9-BA3F-8673847511BA}" type="slidenum">
              <a:rPr lang="en-US" smtClean="0"/>
              <a:pPr/>
              <a:t>23</a:t>
            </a:fld>
            <a:endParaRPr lang="en-US"/>
          </a:p>
        </p:txBody>
      </p:sp>
      <p:sp>
        <p:nvSpPr>
          <p:cNvPr id="5" name="Rechthoek 4"/>
          <p:cNvSpPr/>
          <p:nvPr/>
        </p:nvSpPr>
        <p:spPr>
          <a:xfrm>
            <a:off x="457200" y="1052736"/>
            <a:ext cx="8105340" cy="56886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nl-NL" sz="2000" b="1" dirty="0"/>
          </a:p>
          <a:p>
            <a:r>
              <a:rPr lang="nl-NL" b="1" dirty="0" err="1"/>
              <a:t>Exercise</a:t>
            </a:r>
            <a:r>
              <a:rPr lang="nl-NL" dirty="0"/>
              <a:t>: get back to </a:t>
            </a:r>
            <a:r>
              <a:rPr lang="nl-NL" dirty="0" err="1"/>
              <a:t>the</a:t>
            </a:r>
            <a:r>
              <a:rPr lang="nl-NL" dirty="0"/>
              <a:t> </a:t>
            </a:r>
            <a:r>
              <a:rPr lang="nl-NL" dirty="0" err="1"/>
              <a:t>technological</a:t>
            </a:r>
            <a:r>
              <a:rPr lang="nl-NL" dirty="0"/>
              <a:t> </a:t>
            </a:r>
            <a:r>
              <a:rPr lang="nl-NL" dirty="0" err="1"/>
              <a:t>intervention</a:t>
            </a:r>
            <a:r>
              <a:rPr lang="nl-NL" dirty="0"/>
              <a:t> </a:t>
            </a:r>
            <a:r>
              <a:rPr lang="nl-NL" dirty="0" err="1"/>
              <a:t>you</a:t>
            </a:r>
            <a:r>
              <a:rPr lang="nl-NL" dirty="0"/>
              <a:t> had </a:t>
            </a:r>
            <a:r>
              <a:rPr lang="nl-NL" dirty="0" err="1"/>
              <a:t>thought</a:t>
            </a:r>
            <a:r>
              <a:rPr lang="nl-NL" dirty="0"/>
              <a:t> of </a:t>
            </a:r>
            <a:r>
              <a:rPr lang="nl-NL" dirty="0" err="1"/>
              <a:t>for</a:t>
            </a:r>
            <a:r>
              <a:rPr lang="nl-NL" dirty="0"/>
              <a:t> </a:t>
            </a:r>
            <a:r>
              <a:rPr lang="nl-NL" dirty="0" err="1"/>
              <a:t>the</a:t>
            </a:r>
            <a:r>
              <a:rPr lang="nl-NL" dirty="0"/>
              <a:t> first </a:t>
            </a:r>
            <a:r>
              <a:rPr lang="nl-NL" dirty="0" err="1"/>
              <a:t>exercise</a:t>
            </a:r>
            <a:r>
              <a:rPr lang="nl-NL" dirty="0"/>
              <a:t>. Use the </a:t>
            </a:r>
            <a:r>
              <a:rPr lang="nl-NL" dirty="0" err="1"/>
              <a:t>categories</a:t>
            </a:r>
            <a:r>
              <a:rPr lang="nl-NL" dirty="0"/>
              <a:t> below to </a:t>
            </a:r>
            <a:r>
              <a:rPr lang="nl-NL" dirty="0" err="1"/>
              <a:t>write</a:t>
            </a:r>
            <a:r>
              <a:rPr lang="nl-NL" dirty="0"/>
              <a:t> up </a:t>
            </a:r>
            <a:r>
              <a:rPr lang="nl-NL" b="1" dirty="0"/>
              <a:t>a </a:t>
            </a:r>
            <a:r>
              <a:rPr lang="nl-NL" b="1" dirty="0" err="1"/>
              <a:t>schematic</a:t>
            </a:r>
            <a:r>
              <a:rPr lang="nl-NL" b="1" dirty="0"/>
              <a:t> research protocol to test the (</a:t>
            </a:r>
            <a:r>
              <a:rPr lang="nl-NL" b="1" dirty="0" err="1"/>
              <a:t>external</a:t>
            </a:r>
            <a:r>
              <a:rPr lang="nl-NL" b="1" dirty="0"/>
              <a:t>) </a:t>
            </a:r>
            <a:r>
              <a:rPr lang="nl-NL" b="1" dirty="0" err="1"/>
              <a:t>validity</a:t>
            </a:r>
            <a:r>
              <a:rPr lang="nl-NL" b="1" dirty="0"/>
              <a:t> of </a:t>
            </a:r>
            <a:r>
              <a:rPr lang="nl-NL" b="1" dirty="0" err="1"/>
              <a:t>your</a:t>
            </a:r>
            <a:r>
              <a:rPr lang="nl-NL" b="1" dirty="0"/>
              <a:t> </a:t>
            </a:r>
            <a:r>
              <a:rPr lang="nl-NL" b="1" dirty="0" err="1"/>
              <a:t>technological</a:t>
            </a:r>
            <a:r>
              <a:rPr lang="nl-NL" b="1" dirty="0"/>
              <a:t> </a:t>
            </a:r>
            <a:r>
              <a:rPr lang="nl-NL" b="1" dirty="0" err="1"/>
              <a:t>intervention</a:t>
            </a:r>
            <a:r>
              <a:rPr lang="nl-NL" b="1" dirty="0"/>
              <a:t>:</a:t>
            </a:r>
          </a:p>
          <a:p>
            <a:endParaRPr lang="nl-NL" b="1" dirty="0"/>
          </a:p>
          <a:p>
            <a:pPr marL="342900" indent="-342900">
              <a:buFont typeface="Arial" panose="020B0604020202020204" pitchFamily="34" charset="0"/>
              <a:buChar char="•"/>
            </a:pPr>
            <a:r>
              <a:rPr lang="nl-NL" dirty="0"/>
              <a:t>Research </a:t>
            </a:r>
            <a:r>
              <a:rPr lang="nl-NL" dirty="0" err="1"/>
              <a:t>questions</a:t>
            </a:r>
            <a:endParaRPr lang="nl-NL" dirty="0"/>
          </a:p>
          <a:p>
            <a:pPr marL="342900" indent="-342900">
              <a:buFont typeface="Arial" panose="020B0604020202020204" pitchFamily="34" charset="0"/>
              <a:buChar char="•"/>
            </a:pPr>
            <a:r>
              <a:rPr lang="nl-NL" dirty="0"/>
              <a:t>Hypothesis</a:t>
            </a:r>
          </a:p>
          <a:p>
            <a:pPr marL="342900" indent="-342900">
              <a:buFont typeface="Arial" panose="020B0604020202020204" pitchFamily="34" charset="0"/>
              <a:buChar char="•"/>
            </a:pPr>
            <a:r>
              <a:rPr lang="nl-NL" dirty="0" err="1"/>
              <a:t>Conditions</a:t>
            </a:r>
            <a:r>
              <a:rPr lang="nl-NL" dirty="0"/>
              <a:t>: Control &amp; </a:t>
            </a:r>
            <a:r>
              <a:rPr lang="nl-NL" dirty="0" err="1"/>
              <a:t>Experimental</a:t>
            </a:r>
            <a:endParaRPr lang="nl-NL" dirty="0"/>
          </a:p>
          <a:p>
            <a:pPr marL="342900" indent="-342900">
              <a:buFont typeface="Arial" panose="020B0604020202020204" pitchFamily="34" charset="0"/>
              <a:buChar char="•"/>
            </a:pPr>
            <a:r>
              <a:rPr lang="nl-NL" dirty="0"/>
              <a:t>Independent </a:t>
            </a:r>
            <a:r>
              <a:rPr lang="nl-NL" dirty="0" err="1"/>
              <a:t>variable</a:t>
            </a:r>
            <a:endParaRPr lang="nl-NL" dirty="0"/>
          </a:p>
          <a:p>
            <a:pPr marL="342900" indent="-342900">
              <a:buFont typeface="Arial" panose="020B0604020202020204" pitchFamily="34" charset="0"/>
              <a:buChar char="•"/>
            </a:pPr>
            <a:r>
              <a:rPr lang="nl-NL" dirty="0" err="1"/>
              <a:t>Dependent</a:t>
            </a:r>
            <a:r>
              <a:rPr lang="nl-NL" dirty="0"/>
              <a:t> </a:t>
            </a:r>
            <a:r>
              <a:rPr lang="nl-NL" dirty="0" err="1"/>
              <a:t>variable</a:t>
            </a:r>
            <a:endParaRPr lang="nl-NL" dirty="0"/>
          </a:p>
          <a:p>
            <a:pPr marL="342900" indent="-342900">
              <a:buFont typeface="Arial" panose="020B0604020202020204" pitchFamily="34" charset="0"/>
              <a:buChar char="•"/>
            </a:pPr>
            <a:r>
              <a:rPr lang="nl-NL" dirty="0"/>
              <a:t>Test subjects</a:t>
            </a:r>
          </a:p>
          <a:p>
            <a:pPr marL="342900" indent="-342900">
              <a:buFont typeface="Arial" panose="020B0604020202020204" pitchFamily="34" charset="0"/>
              <a:buChar char="•"/>
            </a:pPr>
            <a:r>
              <a:rPr lang="nl-NL" dirty="0" err="1"/>
              <a:t>Possible</a:t>
            </a:r>
            <a:r>
              <a:rPr lang="nl-NL" dirty="0"/>
              <a:t> </a:t>
            </a:r>
            <a:r>
              <a:rPr lang="nl-NL" dirty="0" err="1"/>
              <a:t>confounding</a:t>
            </a:r>
            <a:r>
              <a:rPr lang="nl-NL" dirty="0"/>
              <a:t> variables</a:t>
            </a:r>
          </a:p>
          <a:p>
            <a:endParaRPr lang="nl-NL" b="1" dirty="0"/>
          </a:p>
          <a:p>
            <a:r>
              <a:rPr lang="nl-NL" dirty="0"/>
              <a:t>Do </a:t>
            </a:r>
            <a:r>
              <a:rPr lang="nl-NL" dirty="0" err="1"/>
              <a:t>not</a:t>
            </a:r>
            <a:r>
              <a:rPr lang="nl-NL" dirty="0"/>
              <a:t> </a:t>
            </a:r>
            <a:r>
              <a:rPr lang="nl-NL" dirty="0" err="1"/>
              <a:t>forget</a:t>
            </a:r>
            <a:r>
              <a:rPr lang="nl-NL" dirty="0"/>
              <a:t> </a:t>
            </a:r>
            <a:r>
              <a:rPr lang="nl-NL" dirty="0" err="1"/>
              <a:t>to</a:t>
            </a:r>
            <a:r>
              <a:rPr lang="nl-NL" dirty="0"/>
              <a:t> </a:t>
            </a:r>
            <a:r>
              <a:rPr lang="nl-NL" dirty="0" err="1"/>
              <a:t>provide</a:t>
            </a:r>
            <a:r>
              <a:rPr lang="nl-NL" dirty="0"/>
              <a:t> information </a:t>
            </a:r>
            <a:r>
              <a:rPr lang="nl-NL" dirty="0" err="1"/>
              <a:t>about</a:t>
            </a:r>
            <a:r>
              <a:rPr lang="nl-NL" dirty="0"/>
              <a:t> </a:t>
            </a:r>
            <a:r>
              <a:rPr lang="nl-NL" dirty="0" err="1"/>
              <a:t>the</a:t>
            </a:r>
            <a:r>
              <a:rPr lang="nl-NL" dirty="0"/>
              <a:t> questionnaire </a:t>
            </a:r>
            <a:r>
              <a:rPr lang="nl-NL" dirty="0" err="1"/>
              <a:t>that</a:t>
            </a:r>
            <a:r>
              <a:rPr lang="nl-NL" dirty="0"/>
              <a:t> </a:t>
            </a:r>
            <a:r>
              <a:rPr lang="nl-NL" dirty="0" err="1"/>
              <a:t>will</a:t>
            </a:r>
            <a:r>
              <a:rPr lang="nl-NL" dirty="0"/>
              <a:t> </a:t>
            </a:r>
            <a:r>
              <a:rPr lang="nl-NL" dirty="0" err="1"/>
              <a:t>be</a:t>
            </a:r>
            <a:r>
              <a:rPr lang="nl-NL" dirty="0"/>
              <a:t> </a:t>
            </a:r>
            <a:r>
              <a:rPr lang="nl-NL" dirty="0" err="1"/>
              <a:t>used</a:t>
            </a:r>
            <a:r>
              <a:rPr lang="nl-NL" dirty="0"/>
              <a:t> </a:t>
            </a:r>
            <a:r>
              <a:rPr lang="nl-NL" dirty="0" err="1"/>
              <a:t>to</a:t>
            </a:r>
            <a:r>
              <a:rPr lang="nl-NL" dirty="0"/>
              <a:t> </a:t>
            </a:r>
            <a:r>
              <a:rPr lang="nl-NL" b="1" dirty="0" err="1"/>
              <a:t>evaluate</a:t>
            </a:r>
            <a:r>
              <a:rPr lang="nl-NL" b="1" dirty="0"/>
              <a:t> </a:t>
            </a:r>
            <a:r>
              <a:rPr lang="nl-NL" b="1" dirty="0" err="1"/>
              <a:t>your</a:t>
            </a:r>
            <a:r>
              <a:rPr lang="nl-NL" b="1" dirty="0"/>
              <a:t> system</a:t>
            </a:r>
            <a:r>
              <a:rPr lang="nl-NL" dirty="0"/>
              <a:t> (</a:t>
            </a:r>
            <a:r>
              <a:rPr lang="nl-NL" dirty="0" err="1"/>
              <a:t>acceptibility</a:t>
            </a:r>
            <a:r>
              <a:rPr lang="nl-NL" dirty="0"/>
              <a:t>/</a:t>
            </a:r>
            <a:r>
              <a:rPr lang="nl-NL" dirty="0" err="1"/>
              <a:t>feasibility</a:t>
            </a:r>
            <a:r>
              <a:rPr lang="nl-NL" dirty="0"/>
              <a:t>/</a:t>
            </a:r>
            <a:r>
              <a:rPr lang="nl-NL" dirty="0" err="1"/>
              <a:t>cost-effectiveness</a:t>
            </a:r>
            <a:r>
              <a:rPr lang="nl-NL" dirty="0"/>
              <a:t>, etc.).</a:t>
            </a:r>
            <a:r>
              <a:rPr lang="nl-NL" dirty="0" err="1"/>
              <a:t>Which</a:t>
            </a:r>
            <a:r>
              <a:rPr lang="nl-NL" dirty="0"/>
              <a:t> </a:t>
            </a:r>
            <a:r>
              <a:rPr lang="nl-NL" dirty="0" err="1"/>
              <a:t>categories</a:t>
            </a:r>
            <a:r>
              <a:rPr lang="nl-NL" dirty="0"/>
              <a:t> are </a:t>
            </a:r>
            <a:r>
              <a:rPr lang="nl-NL" dirty="0" err="1"/>
              <a:t>you</a:t>
            </a:r>
            <a:r>
              <a:rPr lang="nl-NL" dirty="0"/>
              <a:t> </a:t>
            </a:r>
            <a:r>
              <a:rPr lang="nl-NL" dirty="0" err="1"/>
              <a:t>going</a:t>
            </a:r>
            <a:r>
              <a:rPr lang="nl-NL" dirty="0"/>
              <a:t> </a:t>
            </a:r>
            <a:r>
              <a:rPr lang="nl-NL" dirty="0" err="1"/>
              <a:t>to</a:t>
            </a:r>
            <a:r>
              <a:rPr lang="nl-NL" dirty="0"/>
              <a:t> </a:t>
            </a:r>
            <a:r>
              <a:rPr lang="nl-NL" dirty="0" err="1"/>
              <a:t>investigate</a:t>
            </a:r>
            <a:r>
              <a:rPr lang="nl-NL" dirty="0"/>
              <a:t>? </a:t>
            </a:r>
            <a:r>
              <a:rPr lang="nl-NL" dirty="0" err="1"/>
              <a:t>What</a:t>
            </a:r>
            <a:r>
              <a:rPr lang="nl-NL" dirty="0"/>
              <a:t> do these </a:t>
            </a:r>
            <a:r>
              <a:rPr lang="nl-NL" dirty="0" err="1"/>
              <a:t>questions</a:t>
            </a:r>
            <a:r>
              <a:rPr lang="nl-NL" dirty="0"/>
              <a:t> </a:t>
            </a:r>
            <a:r>
              <a:rPr lang="nl-NL" dirty="0" err="1"/>
              <a:t>lists</a:t>
            </a:r>
            <a:r>
              <a:rPr lang="nl-NL" dirty="0"/>
              <a:t> </a:t>
            </a:r>
            <a:r>
              <a:rPr lang="nl-NL" dirty="0" err="1"/>
              <a:t>measure</a:t>
            </a:r>
            <a:r>
              <a:rPr lang="nl-NL" dirty="0"/>
              <a:t>? </a:t>
            </a:r>
            <a:r>
              <a:rPr lang="nl-NL" dirty="0" err="1"/>
              <a:t>Provide</a:t>
            </a:r>
            <a:r>
              <a:rPr lang="nl-NL" dirty="0"/>
              <a:t> </a:t>
            </a:r>
            <a:r>
              <a:rPr lang="nl-NL" dirty="0" err="1"/>
              <a:t>examples</a:t>
            </a:r>
            <a:r>
              <a:rPr lang="nl-NL" dirty="0"/>
              <a:t>.</a:t>
            </a:r>
          </a:p>
          <a:p>
            <a:endParaRPr lang="nl-NL" b="1" dirty="0"/>
          </a:p>
          <a:p>
            <a:r>
              <a:rPr lang="nl-NL" dirty="0"/>
              <a:t> </a:t>
            </a:r>
            <a:r>
              <a:rPr lang="nl-NL" dirty="0" err="1"/>
              <a:t>After</a:t>
            </a:r>
            <a:r>
              <a:rPr lang="nl-NL" dirty="0"/>
              <a:t> </a:t>
            </a:r>
            <a:r>
              <a:rPr lang="nl-NL" b="1" dirty="0"/>
              <a:t>10 minutes</a:t>
            </a:r>
            <a:r>
              <a:rPr lang="nl-NL" dirty="0"/>
              <a:t>, I </a:t>
            </a:r>
            <a:r>
              <a:rPr lang="nl-NL" dirty="0" err="1"/>
              <a:t>will</a:t>
            </a:r>
            <a:r>
              <a:rPr lang="nl-NL" dirty="0"/>
              <a:t> </a:t>
            </a:r>
            <a:r>
              <a:rPr lang="nl-NL" dirty="0" err="1"/>
              <a:t>pick</a:t>
            </a:r>
            <a:r>
              <a:rPr lang="nl-NL" dirty="0"/>
              <a:t> a </a:t>
            </a:r>
            <a:r>
              <a:rPr lang="nl-NL" dirty="0" err="1"/>
              <a:t>couple</a:t>
            </a:r>
            <a:r>
              <a:rPr lang="nl-NL" dirty="0"/>
              <a:t> of </a:t>
            </a:r>
            <a:r>
              <a:rPr lang="nl-NL" dirty="0" err="1"/>
              <a:t>groups</a:t>
            </a:r>
            <a:r>
              <a:rPr lang="nl-NL" dirty="0"/>
              <a:t> </a:t>
            </a:r>
            <a:r>
              <a:rPr lang="nl-NL" dirty="0" err="1"/>
              <a:t>and</a:t>
            </a:r>
            <a:r>
              <a:rPr lang="nl-NL" dirty="0"/>
              <a:t> </a:t>
            </a:r>
            <a:r>
              <a:rPr lang="nl-NL" dirty="0" err="1"/>
              <a:t>ask</a:t>
            </a:r>
            <a:r>
              <a:rPr lang="nl-NL" dirty="0"/>
              <a:t> </a:t>
            </a:r>
            <a:r>
              <a:rPr lang="nl-NL" dirty="0" err="1"/>
              <a:t>them</a:t>
            </a:r>
            <a:r>
              <a:rPr lang="nl-NL" dirty="0"/>
              <a:t> </a:t>
            </a:r>
            <a:r>
              <a:rPr lang="nl-NL" dirty="0" err="1"/>
              <a:t>to</a:t>
            </a:r>
            <a:r>
              <a:rPr lang="nl-NL" dirty="0"/>
              <a:t> present </a:t>
            </a:r>
            <a:r>
              <a:rPr lang="nl-NL" dirty="0" err="1"/>
              <a:t>their</a:t>
            </a:r>
            <a:r>
              <a:rPr lang="nl-NL" dirty="0"/>
              <a:t> research protocol </a:t>
            </a:r>
            <a:r>
              <a:rPr lang="nl-NL" dirty="0" err="1"/>
              <a:t>to</a:t>
            </a:r>
            <a:r>
              <a:rPr lang="nl-NL" dirty="0"/>
              <a:t> the class.</a:t>
            </a:r>
          </a:p>
          <a:p>
            <a:endParaRPr lang="nl-NL" dirty="0"/>
          </a:p>
        </p:txBody>
      </p:sp>
    </p:spTree>
    <p:extLst>
      <p:ext uri="{BB962C8B-B14F-4D97-AF65-F5344CB8AC3E}">
        <p14:creationId xmlns:p14="http://schemas.microsoft.com/office/powerpoint/2010/main" val="126303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dianummer 3"/>
          <p:cNvSpPr>
            <a:spLocks noGrp="1"/>
          </p:cNvSpPr>
          <p:nvPr>
            <p:ph type="sldNum" sz="quarter" idx="15"/>
          </p:nvPr>
        </p:nvSpPr>
        <p:spPr/>
        <p:txBody>
          <a:bodyPr/>
          <a:lstStyle/>
          <a:p>
            <a:fld id="{90D0CBCA-F7F6-4AC9-BA3F-8673847511BA}" type="slidenum">
              <a:rPr lang="en-US" smtClean="0"/>
              <a:pPr/>
              <a:t>24</a:t>
            </a:fld>
            <a:endParaRPr lang="en-US"/>
          </a:p>
        </p:txBody>
      </p:sp>
      <p:pic>
        <p:nvPicPr>
          <p:cNvPr id="6" name="Picture 2" descr="http://blogimages.bloggen.be/2cward/1474291-64b8299d1597b8a5c7b9cb9c88642f6c.jpg">
            <a:extLst>
              <a:ext uri="{FF2B5EF4-FFF2-40B4-BE49-F238E27FC236}">
                <a16:creationId xmlns:a16="http://schemas.microsoft.com/office/drawing/2014/main" id="{A1A5E21E-681A-4246-B838-CD4B8CE84919}"/>
              </a:ext>
            </a:extLst>
          </p:cNvPr>
          <p:cNvPicPr>
            <a:picLocks noGrp="1" noChangeAspect="1" noChangeArrowheads="1"/>
          </p:cNvPicPr>
          <p:nvPr>
            <p:ph sz="quarter" idx="1"/>
          </p:nvPr>
        </p:nvPicPr>
        <p:blipFill>
          <a:blip r:embed="rId2" cstate="print"/>
          <a:srcRect/>
          <a:stretch>
            <a:fillRect/>
          </a:stretch>
        </p:blipFill>
        <p:spPr bwMode="auto">
          <a:xfrm>
            <a:off x="599965" y="476672"/>
            <a:ext cx="7536155" cy="5004000"/>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12134</TotalTime>
  <Words>2375</Words>
  <Application>Microsoft Macintosh PowerPoint</Application>
  <PresentationFormat>On-screen Show (4:3)</PresentationFormat>
  <Paragraphs>256</Paragraphs>
  <Slides>24</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Century Schoolbook</vt:lpstr>
      <vt:lpstr>Wingdings</vt:lpstr>
      <vt:lpstr>Wingdings 2</vt:lpstr>
      <vt:lpstr>Oriel</vt:lpstr>
      <vt:lpstr>THE PATH TOWARDS A TECHNOLOGICAL INTERVENTION: Evaluating Verification and Validation Methods*</vt:lpstr>
      <vt:lpstr>  CONTENT</vt:lpstr>
      <vt:lpstr>  PART 1  Learning objectives of this lecture</vt:lpstr>
      <vt:lpstr>PowerPoint Presentation</vt:lpstr>
      <vt:lpstr>  example: AN APP THAT HELPS PEOPLE TO STOP SMOKING and provides users with a personalized plan and advice</vt:lpstr>
      <vt:lpstr>INTERVENTION SYSTEM</vt:lpstr>
      <vt:lpstr>THE PATH TOWARDS A TECHNOLOGICAL INTERVENTION</vt:lpstr>
      <vt:lpstr>VERIFICATION &amp; VALIDATION</vt:lpstr>
      <vt:lpstr>Internal vs external validation</vt:lpstr>
      <vt:lpstr>  Exercise 1: set up INTERVENTION</vt:lpstr>
      <vt:lpstr>                                                                                    PART 2  EXTERNAL VALIDATION (OR EFFECTIVENESS)</vt:lpstr>
      <vt:lpstr>Experimental and control group</vt:lpstr>
      <vt:lpstr>THE CONTROL GROUP </vt:lpstr>
      <vt:lpstr>Evaluating intervention effects</vt:lpstr>
      <vt:lpstr>Is the difference significant or due to chance?</vt:lpstr>
      <vt:lpstr>Subjective or objective measurement?</vt:lpstr>
      <vt:lpstr>PART 3 Research protocol</vt:lpstr>
      <vt:lpstr>Example : (schematic) research protocol</vt:lpstr>
      <vt:lpstr>How can you test a research question?</vt:lpstr>
      <vt:lpstr>User experience evaluation</vt:lpstr>
      <vt:lpstr>Acceptability, usability and feasibility</vt:lpstr>
      <vt:lpstr>Example of usability questionnaire for ‘sitcoach’  system</vt:lpstr>
      <vt:lpstr>  Exercise 2: set up research protocol</vt:lpstr>
      <vt:lpstr>PowerPoint Presentation</vt:lpstr>
    </vt:vector>
  </TitlesOfParts>
  <Company>Vrije Universiteit Amsterdam</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Validatie/evaluatie systemen</dc:title>
  <dc:creator>Chantal Natalie van der Wal</dc:creator>
  <cp:lastModifiedBy>Lusini, S. (Sara)</cp:lastModifiedBy>
  <cp:revision>221</cp:revision>
  <dcterms:created xsi:type="dcterms:W3CDTF">2012-07-24T14:16:35Z</dcterms:created>
  <dcterms:modified xsi:type="dcterms:W3CDTF">2022-09-27T13:19:06Z</dcterms:modified>
</cp:coreProperties>
</file>