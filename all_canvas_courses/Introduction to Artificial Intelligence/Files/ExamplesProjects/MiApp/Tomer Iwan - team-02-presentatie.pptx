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PT Sans Narrow"/>
      <p:regular r:id="rId14"/>
      <p:bold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TSansNarrow-bold.fntdata"/><Relationship Id="rId14" Type="http://schemas.openxmlformats.org/officeDocument/2006/relationships/font" Target="fonts/PTSansNarrow-regular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slide" Target="slides/slide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2.xml"/><Relationship Id="rId18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Shape 7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Shape 8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hape 10"/>
          <p:cNvCxnSpPr/>
          <p:nvPr/>
        </p:nvCxnSpPr>
        <p:spPr>
          <a:xfrm>
            <a:off x="7007735" y="3176887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Shape 11"/>
          <p:cNvCxnSpPr/>
          <p:nvPr/>
        </p:nvCxnSpPr>
        <p:spPr>
          <a:xfrm>
            <a:off x="1575034" y="3158251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" name="Shape 12"/>
          <p:cNvGrpSpPr/>
          <p:nvPr/>
        </p:nvGrpSpPr>
        <p:grpSpPr>
          <a:xfrm>
            <a:off x="1004144" y="1022025"/>
            <a:ext cx="7136667" cy="152400"/>
            <a:chOff x="1346428" y="1011300"/>
            <a:chExt cx="6452100" cy="152400"/>
          </a:xfrm>
        </p:grpSpPr>
        <p:cxnSp>
          <p:nvCxnSpPr>
            <p:cNvPr id="13" name="Shape 13"/>
            <p:cNvCxnSpPr/>
            <p:nvPr/>
          </p:nvCxnSpPr>
          <p:spPr>
            <a:xfrm rot="10800000">
              <a:off x="1346428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Shape 14"/>
            <p:cNvCxnSpPr/>
            <p:nvPr/>
          </p:nvCxnSpPr>
          <p:spPr>
            <a:xfrm rot="10800000">
              <a:off x="1346428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" name="Shape 15"/>
          <p:cNvGrpSpPr/>
          <p:nvPr/>
        </p:nvGrpSpPr>
        <p:grpSpPr>
          <a:xfrm>
            <a:off x="1004151" y="3969100"/>
            <a:ext cx="7136667" cy="152400"/>
            <a:chOff x="1346435" y="3969087"/>
            <a:chExt cx="6452100" cy="152400"/>
          </a:xfrm>
        </p:grpSpPr>
        <p:cxnSp>
          <p:nvCxnSpPr>
            <p:cNvPr id="16" name="Shape 16"/>
            <p:cNvCxnSpPr/>
            <p:nvPr/>
          </p:nvCxnSpPr>
          <p:spPr>
            <a:xfrm>
              <a:off x="1346435" y="4121487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Shape 17"/>
            <p:cNvCxnSpPr/>
            <p:nvPr/>
          </p:nvCxnSpPr>
          <p:spPr>
            <a:xfrm>
              <a:off x="1346435" y="3969087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" name="Shape 18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5400"/>
            </a:lvl1pPr>
            <a:lvl2pPr lvl="1" algn="ctr">
              <a:spcBef>
                <a:spcPts val="0"/>
              </a:spcBef>
              <a:buSzPct val="100000"/>
              <a:defRPr sz="5400"/>
            </a:lvl2pPr>
            <a:lvl3pPr lvl="2" algn="ctr">
              <a:spcBef>
                <a:spcPts val="0"/>
              </a:spcBef>
              <a:buSzPct val="100000"/>
              <a:defRPr sz="5400"/>
            </a:lvl3pPr>
            <a:lvl4pPr lvl="3" algn="ctr">
              <a:spcBef>
                <a:spcPts val="0"/>
              </a:spcBef>
              <a:buSzPct val="100000"/>
              <a:defRPr sz="5400"/>
            </a:lvl4pPr>
            <a:lvl5pPr lvl="4" algn="ctr">
              <a:spcBef>
                <a:spcPts val="0"/>
              </a:spcBef>
              <a:buSzPct val="100000"/>
              <a:defRPr sz="5400"/>
            </a:lvl5pPr>
            <a:lvl6pPr lvl="5" algn="ctr">
              <a:spcBef>
                <a:spcPts val="0"/>
              </a:spcBef>
              <a:buSzPct val="100000"/>
              <a:defRPr sz="5400"/>
            </a:lvl6pPr>
            <a:lvl7pPr lvl="6" algn="ctr">
              <a:spcBef>
                <a:spcPts val="0"/>
              </a:spcBef>
              <a:buSzPct val="100000"/>
              <a:defRPr sz="5400"/>
            </a:lvl7pPr>
            <a:lvl8pPr lvl="7" algn="ctr">
              <a:spcBef>
                <a:spcPts val="0"/>
              </a:spcBef>
              <a:buSzPct val="100000"/>
              <a:defRPr sz="5400"/>
            </a:lvl8pPr>
            <a:lvl9pPr lvl="8" algn="ctr">
              <a:spcBef>
                <a:spcPts val="0"/>
              </a:spcBef>
              <a:buSzPct val="100000"/>
              <a:defRPr sz="5400"/>
            </a:lvl9pPr>
          </a:lstStyle>
          <a:p/>
        </p:txBody>
      </p:sp>
      <p:sp>
        <p:nvSpPr>
          <p:cNvPr id="19" name="Shape 19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nl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" name="Shape 2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nl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" name="Shape 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8" name="Shape 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9" name="Shape 2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nl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32" name="Shape 32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3" name="Shape 33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nl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37" name="Shape 3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nl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40" name="Shape 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41" name="Shape 4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nl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Clr>
                <a:schemeClr val="dk2"/>
              </a:buClr>
              <a:buSzPct val="100000"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buClr>
                <a:schemeClr val="dk2"/>
              </a:buClr>
              <a:buSzPct val="100000"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buClr>
                <a:schemeClr val="dk2"/>
              </a:buClr>
              <a:buSzPct val="100000"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buClr>
                <a:schemeClr val="dk2"/>
              </a:buClr>
              <a:buSzPct val="100000"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buClr>
                <a:schemeClr val="dk2"/>
              </a:buClr>
              <a:buSzPct val="100000"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buClr>
                <a:schemeClr val="dk2"/>
              </a:buClr>
              <a:buSzPct val="100000"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buClr>
                <a:schemeClr val="dk2"/>
              </a:buClr>
              <a:buSzPct val="100000"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buClr>
                <a:schemeClr val="dk2"/>
              </a:buClr>
              <a:buSzPct val="100000"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buClr>
                <a:schemeClr val="dk2"/>
              </a:buClr>
              <a:buSzPct val="100000"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nl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cxnSp>
        <p:nvCxnSpPr>
          <p:cNvPr id="47" name="Shape 4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" name="Shape 48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49" name="Shape 4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50" name="Shape 5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nl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Shape 5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nl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7" name="Shape 57"/>
          <p:cNvSpPr txBox="1"/>
          <p:nvPr>
            <p:ph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Clr>
                <a:schemeClr val="accent3"/>
              </a:buClr>
              <a:buSzPct val="100000"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buClr>
                <a:schemeClr val="accent3"/>
              </a:buClr>
              <a:buSzPct val="100000"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buClr>
                <a:schemeClr val="accent3"/>
              </a:buClr>
              <a:buSzPct val="100000"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buClr>
                <a:schemeClr val="accent3"/>
              </a:buClr>
              <a:buSzPct val="100000"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buClr>
                <a:schemeClr val="accent3"/>
              </a:buClr>
              <a:buSzPct val="100000"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buClr>
                <a:schemeClr val="accent3"/>
              </a:buClr>
              <a:buSzPct val="100000"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buClr>
                <a:schemeClr val="accent3"/>
              </a:buClr>
              <a:buSzPct val="100000"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buClr>
                <a:schemeClr val="accent3"/>
              </a:buClr>
              <a:buSzPct val="100000"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buClr>
                <a:schemeClr val="accent3"/>
              </a:buClr>
              <a:buSzPct val="100000"/>
              <a:defRPr sz="1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59" name="Shape 5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nl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nl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accent1"/>
              </a:buClr>
              <a:buSzPct val="1000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buSzPct val="1000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buSzPct val="1000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buSzPct val="1000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buSzPct val="1000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buSzPct val="1000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buSzPct val="1000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buSzPct val="1000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buSzPct val="1000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Open Sans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Open Sans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Open Sans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Open Sans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Open Sans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Open Sans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Open Sans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Open Sans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Open Sans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nl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0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0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0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03.png"/><Relationship Id="rId4" Type="http://schemas.openxmlformats.org/officeDocument/2006/relationships/image" Target="../media/image0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0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nl"/>
              <a:t>Groep 2.2</a:t>
            </a:r>
          </a:p>
          <a:p>
            <a:pPr lvl="0">
              <a:spcBef>
                <a:spcPts val="0"/>
              </a:spcBef>
              <a:buNone/>
            </a:pPr>
            <a:r>
              <a:rPr lang="nl"/>
              <a:t>Yunus, Oktay, Tomer</a:t>
            </a:r>
          </a:p>
        </p:txBody>
      </p:sp>
      <p:pic>
        <p:nvPicPr>
          <p:cNvPr descr="mockup.png" id="67" name="Shape 67"/>
          <p:cNvPicPr preferRelativeResize="0"/>
          <p:nvPr/>
        </p:nvPicPr>
        <p:blipFill rotWithShape="1">
          <a:blip r:embed="rId3">
            <a:alphaModFix/>
          </a:blip>
          <a:srcRect b="84590" l="0" r="2143" t="0"/>
          <a:stretch/>
        </p:blipFill>
        <p:spPr>
          <a:xfrm>
            <a:off x="984074" y="656074"/>
            <a:ext cx="6888599" cy="225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nl"/>
              <a:t>Inleiding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Myocardial Infarction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Risicofactoren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Symptomen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Gevolgen van een hartaanval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Onze oplossing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nl"/>
              <a:t>Myocardial Infarction</a:t>
            </a:r>
          </a:p>
        </p:txBody>
      </p:sp>
      <p:sp>
        <p:nvSpPr>
          <p:cNvPr id="79" name="Shape 7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Bloedstroom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Beschadiging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Ischemie</a:t>
            </a:r>
          </a:p>
          <a:p>
            <a:pPr indent="-228600" lvl="0" marL="457200">
              <a:spcBef>
                <a:spcPts val="0"/>
              </a:spcBef>
              <a:buChar char="-"/>
            </a:pPr>
            <a:r>
              <a:rPr lang="nl"/>
              <a:t>Infarction</a:t>
            </a:r>
          </a:p>
        </p:txBody>
      </p:sp>
      <p:pic>
        <p:nvPicPr>
          <p:cNvPr id="80" name="Shape 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850" y="1209374"/>
            <a:ext cx="2783450" cy="341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Controleerbare factoren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Niet controleerbare factoren</a:t>
            </a:r>
          </a:p>
        </p:txBody>
      </p:sp>
      <p:sp>
        <p:nvSpPr>
          <p:cNvPr id="86" name="Shape 8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nl"/>
              <a:t>Risicofactoren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Meest voorkomend</a:t>
            </a:r>
          </a:p>
          <a:p>
            <a:pPr indent="-228600" lvl="1" marL="914400" rtl="0">
              <a:spcBef>
                <a:spcPts val="0"/>
              </a:spcBef>
              <a:buChar char="-"/>
            </a:pPr>
            <a:r>
              <a:rPr lang="nl"/>
              <a:t>Pijn in de borst</a:t>
            </a:r>
          </a:p>
          <a:p>
            <a:pPr indent="-228600" lvl="1" marL="914400" rtl="0">
              <a:spcBef>
                <a:spcPts val="0"/>
              </a:spcBef>
              <a:buChar char="-"/>
            </a:pPr>
            <a:r>
              <a:rPr lang="nl"/>
              <a:t>Pijn in het bovenlichaam</a:t>
            </a:r>
          </a:p>
          <a:p>
            <a:pPr indent="-228600" lvl="1" marL="914400" rtl="0">
              <a:spcBef>
                <a:spcPts val="0"/>
              </a:spcBef>
              <a:buChar char="-"/>
            </a:pPr>
            <a:r>
              <a:rPr lang="nl"/>
              <a:t>Ademtekort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Overige symptomen</a:t>
            </a:r>
          </a:p>
        </p:txBody>
      </p:sp>
      <p:sp>
        <p:nvSpPr>
          <p:cNvPr id="92" name="Shape 9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nl"/>
              <a:t>Symptomen</a:t>
            </a:r>
          </a:p>
        </p:txBody>
      </p:sp>
      <p:pic>
        <p:nvPicPr>
          <p:cNvPr id="93" name="Shape 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8525" y="1266325"/>
            <a:ext cx="3533775" cy="33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nl"/>
              <a:t>De gevolgen van een hartaanval</a:t>
            </a:r>
          </a:p>
        </p:txBody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Actief leven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Verandering van levensstijl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Medicijnen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Angst en depressie</a:t>
            </a:r>
          </a:p>
          <a:p>
            <a:pPr indent="-228600" lvl="0" marL="457200">
              <a:spcBef>
                <a:spcPts val="0"/>
              </a:spcBef>
              <a:buChar char="-"/>
            </a:pPr>
            <a:r>
              <a:rPr lang="nl"/>
              <a:t>Risico’s op een volgende hartaanval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nl"/>
              <a:t>Wat is er al?</a:t>
            </a:r>
          </a:p>
        </p:txBody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Apps voor hartslagmeting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Google Play, AppleStore</a:t>
            </a:r>
          </a:p>
          <a:p>
            <a:pPr indent="-228600" lvl="0" marL="457200" rtl="0">
              <a:spcBef>
                <a:spcPts val="0"/>
              </a:spcBef>
              <a:spcAft>
                <a:spcPts val="0"/>
              </a:spcAft>
              <a:buChar char="-"/>
            </a:pPr>
            <a:r>
              <a:rPr lang="nl"/>
              <a:t>Heart, Heart Rate, Heart Monitor</a:t>
            </a:r>
          </a:p>
          <a:p>
            <a:pPr indent="-228600" lvl="0" marL="457200" rtl="0">
              <a:spcBef>
                <a:spcPts val="0"/>
              </a:spcBef>
              <a:spcAft>
                <a:spcPts val="0"/>
              </a:spcAft>
              <a:buChar char="-"/>
            </a:pPr>
            <a:r>
              <a:t/>
            </a:r>
            <a:endParaRPr/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id="106" name="Shape 106"/>
          <p:cNvPicPr preferRelativeResize="0"/>
          <p:nvPr/>
        </p:nvPicPr>
        <p:blipFill rotWithShape="1">
          <a:blip r:embed="rId3">
            <a:alphaModFix/>
          </a:blip>
          <a:srcRect b="15540" l="8039" r="8306" t="18356"/>
          <a:stretch/>
        </p:blipFill>
        <p:spPr>
          <a:xfrm>
            <a:off x="892225" y="2359899"/>
            <a:ext cx="5379700" cy="238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nl"/>
              <a:t>Onze oplossing</a:t>
            </a:r>
          </a:p>
        </p:txBody>
      </p:sp>
      <p:sp>
        <p:nvSpPr>
          <p:cNvPr id="112" name="Shape 112"/>
          <p:cNvSpPr txBox="1"/>
          <p:nvPr>
            <p:ph idx="1" type="body"/>
          </p:nvPr>
        </p:nvSpPr>
        <p:spPr>
          <a:xfrm>
            <a:off x="311700" y="1358175"/>
            <a:ext cx="8520600" cy="330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Biometrisch Shirt</a:t>
            </a:r>
          </a:p>
          <a:p>
            <a:pPr indent="-228600" lvl="1" marL="914400" rtl="0">
              <a:spcBef>
                <a:spcPts val="0"/>
              </a:spcBef>
              <a:buChar char="-"/>
            </a:pPr>
            <a:r>
              <a:rPr lang="nl"/>
              <a:t>Hartritme</a:t>
            </a:r>
          </a:p>
          <a:p>
            <a:pPr indent="-228600" lvl="1" marL="914400" rtl="0">
              <a:spcBef>
                <a:spcPts val="0"/>
              </a:spcBef>
              <a:buChar char="-"/>
            </a:pPr>
            <a:r>
              <a:rPr lang="nl"/>
              <a:t>Lichaamstemperatuur</a:t>
            </a:r>
          </a:p>
          <a:p>
            <a:pPr indent="-228600" lvl="1" marL="914400" rtl="0">
              <a:spcBef>
                <a:spcPts val="0"/>
              </a:spcBef>
              <a:buChar char="-"/>
            </a:pPr>
            <a:r>
              <a:rPr lang="nl"/>
              <a:t>Vochtigheid</a:t>
            </a:r>
          </a:p>
          <a:p>
            <a:pPr indent="-228600" lvl="0" marL="457200" rtl="0">
              <a:spcBef>
                <a:spcPts val="0"/>
              </a:spcBef>
              <a:buChar char="-"/>
            </a:pPr>
            <a:r>
              <a:rPr lang="nl"/>
              <a:t>MIAPP</a:t>
            </a:r>
          </a:p>
          <a:p>
            <a:pPr indent="-228600" lvl="1" marL="914400" rtl="0">
              <a:spcBef>
                <a:spcPts val="0"/>
              </a:spcBef>
              <a:buChar char="-"/>
            </a:pPr>
            <a:r>
              <a:rPr lang="nl"/>
              <a:t>Noodbericht</a:t>
            </a:r>
          </a:p>
        </p:txBody>
      </p:sp>
      <p:pic>
        <p:nvPicPr>
          <p:cNvPr descr="iphone-mockup.png" id="113" name="Shape 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900" y="0"/>
            <a:ext cx="30861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Shape 114"/>
          <p:cNvPicPr preferRelativeResize="0"/>
          <p:nvPr/>
        </p:nvPicPr>
        <p:blipFill rotWithShape="1">
          <a:blip r:embed="rId4">
            <a:alphaModFix/>
          </a:blip>
          <a:srcRect b="24475" l="49651" r="21934" t="26396"/>
          <a:stretch/>
        </p:blipFill>
        <p:spPr>
          <a:xfrm>
            <a:off x="3272999" y="1243274"/>
            <a:ext cx="2597998" cy="25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nl"/>
              <a:t>Vragen?</a:t>
            </a:r>
          </a:p>
        </p:txBody>
      </p:sp>
      <p:pic>
        <p:nvPicPr>
          <p:cNvPr id="120" name="Shape 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6899" y="1152424"/>
            <a:ext cx="3208224" cy="319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