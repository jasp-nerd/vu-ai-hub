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webextensions/webextension1.xml" ContentType="application/vnd.ms-office.webextension+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6" r:id="rId1"/>
  </p:sldMasterIdLst>
  <p:notesMasterIdLst>
    <p:notesMasterId r:id="rId32"/>
  </p:notesMasterIdLst>
  <p:handoutMasterIdLst>
    <p:handoutMasterId r:id="rId33"/>
  </p:handoutMasterIdLst>
  <p:sldIdLst>
    <p:sldId id="256" r:id="rId2"/>
    <p:sldId id="351" r:id="rId3"/>
    <p:sldId id="340" r:id="rId4"/>
    <p:sldId id="352" r:id="rId5"/>
    <p:sldId id="353" r:id="rId6"/>
    <p:sldId id="261" r:id="rId7"/>
    <p:sldId id="262" r:id="rId8"/>
    <p:sldId id="308" r:id="rId9"/>
    <p:sldId id="335" r:id="rId10"/>
    <p:sldId id="344" r:id="rId11"/>
    <p:sldId id="345" r:id="rId12"/>
    <p:sldId id="321" r:id="rId13"/>
    <p:sldId id="328" r:id="rId14"/>
    <p:sldId id="334" r:id="rId15"/>
    <p:sldId id="337" r:id="rId16"/>
    <p:sldId id="336" r:id="rId17"/>
    <p:sldId id="330" r:id="rId18"/>
    <p:sldId id="338" r:id="rId19"/>
    <p:sldId id="329" r:id="rId20"/>
    <p:sldId id="324" r:id="rId21"/>
    <p:sldId id="348" r:id="rId22"/>
    <p:sldId id="273" r:id="rId23"/>
    <p:sldId id="350" r:id="rId24"/>
    <p:sldId id="339" r:id="rId25"/>
    <p:sldId id="346" r:id="rId26"/>
    <p:sldId id="349" r:id="rId27"/>
    <p:sldId id="354" r:id="rId28"/>
    <p:sldId id="356" r:id="rId29"/>
    <p:sldId id="355" r:id="rId30"/>
    <p:sldId id="280" r:id="rId31"/>
  </p:sldIdLst>
  <p:sldSz cx="9144000" cy="6858000" type="screen4x3"/>
  <p:notesSz cx="6797675" cy="9926638"/>
  <p:custDataLst>
    <p:tags r:id="rId34"/>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4E4BED-36D6-4E12-80AE-ED418434BE71}" v="3" dt="2025-05-06T08:31:26.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004" autoAdjust="0"/>
    <p:restoredTop sz="84522" autoAdjust="0"/>
  </p:normalViewPr>
  <p:slideViewPr>
    <p:cSldViewPr snapToGrid="0">
      <p:cViewPr varScale="1">
        <p:scale>
          <a:sx n="53" d="100"/>
          <a:sy n="53" d="100"/>
        </p:scale>
        <p:origin x="956" y="48"/>
      </p:cViewPr>
      <p:guideLst>
        <p:guide orient="horz" pos="2160"/>
        <p:guide pos="2880"/>
      </p:guideLst>
    </p:cSldViewPr>
  </p:slideViewPr>
  <p:outlineViewPr>
    <p:cViewPr>
      <p:scale>
        <a:sx n="33" d="100"/>
        <a:sy n="33" d="100"/>
      </p:scale>
      <p:origin x="42" y="3298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onfi, A. (Anna)" userId="1addae48-7a8e-409d-8f14-8504ef7ace15" providerId="ADAL" clId="{E14E4BED-36D6-4E12-80AE-ED418434BE71}"/>
    <pc:docChg chg="undo custSel addSld delSld modSld modShowInfo">
      <pc:chgData name="Martonfi, A. (Anna)" userId="1addae48-7a8e-409d-8f14-8504ef7ace15" providerId="ADAL" clId="{E14E4BED-36D6-4E12-80AE-ED418434BE71}" dt="2025-05-06T07:46:04.505" v="127" actId="2744"/>
      <pc:docMkLst>
        <pc:docMk/>
      </pc:docMkLst>
      <pc:sldChg chg="modSp mod">
        <pc:chgData name="Martonfi, A. (Anna)" userId="1addae48-7a8e-409d-8f14-8504ef7ace15" providerId="ADAL" clId="{E14E4BED-36D6-4E12-80AE-ED418434BE71}" dt="2025-04-20T16:47:31.113" v="43" actId="20577"/>
        <pc:sldMkLst>
          <pc:docMk/>
          <pc:sldMk cId="2077830603" sldId="256"/>
        </pc:sldMkLst>
        <pc:spChg chg="mod">
          <ac:chgData name="Martonfi, A. (Anna)" userId="1addae48-7a8e-409d-8f14-8504ef7ace15" providerId="ADAL" clId="{E14E4BED-36D6-4E12-80AE-ED418434BE71}" dt="2025-04-20T16:47:31.113" v="43" actId="20577"/>
          <ac:spMkLst>
            <pc:docMk/>
            <pc:sldMk cId="2077830603" sldId="256"/>
            <ac:spMk id="3" creationId="{00000000-0000-0000-0000-000000000000}"/>
          </ac:spMkLst>
        </pc:spChg>
      </pc:sldChg>
      <pc:sldChg chg="modSp mod">
        <pc:chgData name="Martonfi, A. (Anna)" userId="1addae48-7a8e-409d-8f14-8504ef7ace15" providerId="ADAL" clId="{E14E4BED-36D6-4E12-80AE-ED418434BE71}" dt="2025-04-20T16:52:30.692" v="124" actId="6549"/>
        <pc:sldMkLst>
          <pc:docMk/>
          <pc:sldMk cId="3739368480" sldId="280"/>
        </pc:sldMkLst>
        <pc:spChg chg="mod">
          <ac:chgData name="Martonfi, A. (Anna)" userId="1addae48-7a8e-409d-8f14-8504ef7ace15" providerId="ADAL" clId="{E14E4BED-36D6-4E12-80AE-ED418434BE71}" dt="2025-04-20T16:52:30.692" v="124" actId="6549"/>
          <ac:spMkLst>
            <pc:docMk/>
            <pc:sldMk cId="3739368480" sldId="280"/>
            <ac:spMk id="3" creationId="{00000000-0000-0000-0000-000000000000}"/>
          </ac:spMkLst>
        </pc:spChg>
      </pc:sldChg>
      <pc:sldChg chg="del">
        <pc:chgData name="Martonfi, A. (Anna)" userId="1addae48-7a8e-409d-8f14-8504ef7ace15" providerId="ADAL" clId="{E14E4BED-36D6-4E12-80AE-ED418434BE71}" dt="2025-04-20T16:49:59.410" v="47" actId="47"/>
        <pc:sldMkLst>
          <pc:docMk/>
          <pc:sldMk cId="2006262216" sldId="323"/>
        </pc:sldMkLst>
      </pc:sldChg>
      <pc:sldChg chg="modSp mod">
        <pc:chgData name="Martonfi, A. (Anna)" userId="1addae48-7a8e-409d-8f14-8504ef7ace15" providerId="ADAL" clId="{E14E4BED-36D6-4E12-80AE-ED418434BE71}" dt="2025-04-20T16:50:19.936" v="56" actId="6549"/>
        <pc:sldMkLst>
          <pc:docMk/>
          <pc:sldMk cId="1989731097" sldId="355"/>
        </pc:sldMkLst>
        <pc:spChg chg="mod">
          <ac:chgData name="Martonfi, A. (Anna)" userId="1addae48-7a8e-409d-8f14-8504ef7ace15" providerId="ADAL" clId="{E14E4BED-36D6-4E12-80AE-ED418434BE71}" dt="2025-04-20T16:50:19.936" v="56" actId="6549"/>
          <ac:spMkLst>
            <pc:docMk/>
            <pc:sldMk cId="1989731097" sldId="355"/>
            <ac:spMk id="2" creationId="{00000000-0000-0000-0000-000000000000}"/>
          </ac:spMkLst>
        </pc:spChg>
        <pc:spChg chg="mod">
          <ac:chgData name="Martonfi, A. (Anna)" userId="1addae48-7a8e-409d-8f14-8504ef7ace15" providerId="ADAL" clId="{E14E4BED-36D6-4E12-80AE-ED418434BE71}" dt="2025-04-20T16:48:31.893" v="44"/>
          <ac:spMkLst>
            <pc:docMk/>
            <pc:sldMk cId="1989731097" sldId="355"/>
            <ac:spMk id="3" creationId="{00000000-0000-0000-0000-000000000000}"/>
          </ac:spMkLst>
        </pc:spChg>
      </pc:sldChg>
      <pc:sldChg chg="addSp delSp new mod">
        <pc:chgData name="Martonfi, A. (Anna)" userId="1addae48-7a8e-409d-8f14-8504ef7ace15" providerId="ADAL" clId="{E14E4BED-36D6-4E12-80AE-ED418434BE71}" dt="2025-04-20T16:49:47.217" v="46"/>
        <pc:sldMkLst>
          <pc:docMk/>
          <pc:sldMk cId="6056587" sldId="356"/>
        </pc:sldMkLst>
        <pc:graphicFrameChg chg="add">
          <ac:chgData name="Martonfi, A. (Anna)" userId="1addae48-7a8e-409d-8f14-8504ef7ace15" providerId="ADAL" clId="{E14E4BED-36D6-4E12-80AE-ED418434BE71}" dt="2025-04-20T16:49:47.217" v="46"/>
          <ac:graphicFrameMkLst>
            <pc:docMk/>
            <pc:sldMk cId="6056587" sldId="356"/>
            <ac:graphicFrameMk id="4" creationId="{6BD20423-0D44-7D15-23D2-3EF57D68008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18B0E79-BF47-4CA9-9728-24E1C1F3BC38}" type="datetimeFigureOut">
              <a:rPr lang="en-US" smtClean="0"/>
              <a:t>5/6/2025</a:t>
            </a:fld>
            <a:endParaRPr lang="en-US"/>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46636C6F-D46C-46FD-82F7-8C8B2EA29D36}" type="slidenum">
              <a:rPr lang="en-US" smtClean="0"/>
              <a:t>‹#›</a:t>
            </a:fld>
            <a:endParaRPr lang="en-US"/>
          </a:p>
        </p:txBody>
      </p:sp>
    </p:spTree>
    <p:extLst>
      <p:ext uri="{BB962C8B-B14F-4D97-AF65-F5344CB8AC3E}">
        <p14:creationId xmlns:p14="http://schemas.microsoft.com/office/powerpoint/2010/main" val="346335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88CD70ED-E498-4C06-A979-0F8FFA96014E}" type="datetimeFigureOut">
              <a:rPr lang="en-US" smtClean="0"/>
              <a:pPr/>
              <a:t>5/6/2025</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9FD4A38E-3B7C-4605-90DE-92E1994282E5}" type="slidenum">
              <a:rPr lang="en-US" smtClean="0"/>
              <a:pPr/>
              <a:t>‹#›</a:t>
            </a:fld>
            <a:endParaRPr lang="en-US"/>
          </a:p>
        </p:txBody>
      </p:sp>
    </p:spTree>
    <p:extLst>
      <p:ext uri="{BB962C8B-B14F-4D97-AF65-F5344CB8AC3E}">
        <p14:creationId xmlns:p14="http://schemas.microsoft.com/office/powerpoint/2010/main" val="1310353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Ik ben de</a:t>
            </a:r>
            <a:r>
              <a:rPr lang="nl-NL" baseline="0" dirty="0"/>
              <a:t> hoorcolleges telkens begonnen met een onverwachte afbeelding, waar ik dan aan het einde weer op terug kom (bijv. de hamburger </a:t>
            </a:r>
            <a:r>
              <a:rPr lang="nl-NL" baseline="0" dirty="0" err="1"/>
              <a:t>paragraph</a:t>
            </a:r>
            <a:r>
              <a:rPr lang="nl-NL" baseline="0" dirty="0"/>
              <a:t>). Dit is een uitsmijter (volgens google), en je hebt voor je tekst natuurlijk ook een goeie uitsmijter nodig. Ik zeg dan gewoon, we gaan het vandaag hierover hebben, en kom dan voor de samenvatting aan het einde terug hierop: wat heeft het nou te maken met de stof van vandaag. In dit geval moet je natuurlijk ook uitleggen wat het is in het Nederlands :)</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3</a:t>
            </a:fld>
            <a:endParaRPr lang="en-US"/>
          </a:p>
        </p:txBody>
      </p:sp>
    </p:spTree>
    <p:extLst>
      <p:ext uri="{BB962C8B-B14F-4D97-AF65-F5344CB8AC3E}">
        <p14:creationId xmlns:p14="http://schemas.microsoft.com/office/powerpoint/2010/main" val="1234282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Deze</a:t>
            </a:r>
            <a:r>
              <a:rPr lang="nl-NL" baseline="0" dirty="0"/>
              <a:t> drie vragen zijn precies hetzelfde als die ik heb gebruikt als structuur voor het hoorcollege over introducties (alleen had ik 2 en 3 omgedraaid daar, omdat ik meer nadruk wilde leggen op de Thesis statement). </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6</a:t>
            </a:fld>
            <a:endParaRPr lang="en-US"/>
          </a:p>
        </p:txBody>
      </p:sp>
    </p:spTree>
    <p:extLst>
      <p:ext uri="{BB962C8B-B14F-4D97-AF65-F5344CB8AC3E}">
        <p14:creationId xmlns:p14="http://schemas.microsoft.com/office/powerpoint/2010/main" val="117491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Twee vragen voor de studenten bij deze eerste zin van de conclusie: is</a:t>
            </a:r>
            <a:r>
              <a:rPr lang="nl-NL" baseline="0" dirty="0"/>
              <a:t> het aan de hand van deze zin duidelijk waar het paper over ging? En vind je dat dit duidelijk aangeeft dat het </a:t>
            </a:r>
            <a:r>
              <a:rPr lang="nl-NL" baseline="0" dirty="0" err="1"/>
              <a:t>het</a:t>
            </a:r>
            <a:r>
              <a:rPr lang="nl-NL" baseline="0" dirty="0"/>
              <a:t> begin van de conclusie is? [Je kunt evt. nog iets zeggen over </a:t>
            </a:r>
            <a:r>
              <a:rPr lang="nl-NL" baseline="0" dirty="0" err="1"/>
              <a:t>tense</a:t>
            </a:r>
            <a:r>
              <a:rPr lang="nl-NL" baseline="0" dirty="0"/>
              <a:t> &gt; vaak </a:t>
            </a:r>
            <a:r>
              <a:rPr lang="nl-NL" baseline="0" dirty="0" err="1"/>
              <a:t>simple</a:t>
            </a:r>
            <a:r>
              <a:rPr lang="nl-NL" baseline="0" dirty="0"/>
              <a:t> past in de bespreking van resultaten, en een switch naar present perfect in de conclusie]</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8</a:t>
            </a:fld>
            <a:endParaRPr lang="en-US"/>
          </a:p>
        </p:txBody>
      </p:sp>
    </p:spTree>
    <p:extLst>
      <p:ext uri="{BB962C8B-B14F-4D97-AF65-F5344CB8AC3E}">
        <p14:creationId xmlns:p14="http://schemas.microsoft.com/office/powerpoint/2010/main" val="2776223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Zelfde twee vragen</a:t>
            </a:r>
            <a:r>
              <a:rPr lang="nl-NL" baseline="0" dirty="0"/>
              <a:t> als bij de vorige slide.</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9</a:t>
            </a:fld>
            <a:endParaRPr lang="en-US"/>
          </a:p>
        </p:txBody>
      </p:sp>
    </p:spTree>
    <p:extLst>
      <p:ext uri="{BB962C8B-B14F-4D97-AF65-F5344CB8AC3E}">
        <p14:creationId xmlns:p14="http://schemas.microsoft.com/office/powerpoint/2010/main" val="414899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Wat komt er na</a:t>
            </a:r>
            <a:r>
              <a:rPr lang="nl-NL" baseline="0" dirty="0"/>
              <a:t> de openingszin?</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12</a:t>
            </a:fld>
            <a:endParaRPr lang="en-US"/>
          </a:p>
        </p:txBody>
      </p:sp>
    </p:spTree>
    <p:extLst>
      <p:ext uri="{BB962C8B-B14F-4D97-AF65-F5344CB8AC3E}">
        <p14:creationId xmlns:p14="http://schemas.microsoft.com/office/powerpoint/2010/main" val="3790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Even een paar voorbeelden</a:t>
            </a:r>
            <a:r>
              <a:rPr lang="nl-NL" baseline="0" dirty="0"/>
              <a:t> om aan te geven dat de lengte nogal verschilt.</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13</a:t>
            </a:fld>
            <a:endParaRPr lang="en-US"/>
          </a:p>
        </p:txBody>
      </p:sp>
    </p:spTree>
    <p:extLst>
      <p:ext uri="{BB962C8B-B14F-4D97-AF65-F5344CB8AC3E}">
        <p14:creationId xmlns:p14="http://schemas.microsoft.com/office/powerpoint/2010/main" val="389548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15</a:t>
            </a:fld>
            <a:endParaRPr lang="en-US"/>
          </a:p>
        </p:txBody>
      </p:sp>
    </p:spTree>
    <p:extLst>
      <p:ext uri="{BB962C8B-B14F-4D97-AF65-F5344CB8AC3E}">
        <p14:creationId xmlns:p14="http://schemas.microsoft.com/office/powerpoint/2010/main" val="1370829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Weliswaar kort, maar het is een soort van samenvatting van de stappen die ze hebben gedaan. </a:t>
            </a:r>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16</a:t>
            </a:fld>
            <a:endParaRPr lang="en-US"/>
          </a:p>
        </p:txBody>
      </p:sp>
    </p:spTree>
    <p:extLst>
      <p:ext uri="{BB962C8B-B14F-4D97-AF65-F5344CB8AC3E}">
        <p14:creationId xmlns:p14="http://schemas.microsoft.com/office/powerpoint/2010/main" val="4089950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 belangrijkste conclusie</a:t>
            </a:r>
            <a:r>
              <a:rPr lang="nl-NL" baseline="0" dirty="0"/>
              <a:t> van hun werk.</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17</a:t>
            </a:fld>
            <a:endParaRPr lang="en-US"/>
          </a:p>
        </p:txBody>
      </p:sp>
    </p:spTree>
    <p:extLst>
      <p:ext uri="{BB962C8B-B14F-4D97-AF65-F5344CB8AC3E}">
        <p14:creationId xmlns:p14="http://schemas.microsoft.com/office/powerpoint/2010/main" val="2397731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Het belangrijkste punt van het artikel, in dit</a:t>
            </a:r>
            <a:r>
              <a:rPr lang="nl-NL" baseline="0" dirty="0"/>
              <a:t> geval een voorstel. </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18</a:t>
            </a:fld>
            <a:endParaRPr lang="en-US"/>
          </a:p>
        </p:txBody>
      </p:sp>
    </p:spTree>
    <p:extLst>
      <p:ext uri="{BB962C8B-B14F-4D97-AF65-F5344CB8AC3E}">
        <p14:creationId xmlns:p14="http://schemas.microsoft.com/office/powerpoint/2010/main" val="68087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Hier</a:t>
            </a:r>
            <a:r>
              <a:rPr lang="nl-NL" baseline="0" dirty="0"/>
              <a:t> en in de volgende slides een paar voorbeelden van wat er in de conclusie kan staan. Hier: zowel het aangeven van een limitatie als een indicatie waar volgend onderzoek over kan gaan (</a:t>
            </a:r>
            <a:r>
              <a:rPr lang="nl-NL" baseline="0" dirty="0" err="1"/>
              <a:t>will</a:t>
            </a:r>
            <a:r>
              <a:rPr lang="nl-NL" baseline="0" dirty="0"/>
              <a:t> is een beetje gek eigenlijk). </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19</a:t>
            </a:fld>
            <a:endParaRPr lang="en-US"/>
          </a:p>
        </p:txBody>
      </p:sp>
    </p:spTree>
    <p:extLst>
      <p:ext uri="{BB962C8B-B14F-4D97-AF65-F5344CB8AC3E}">
        <p14:creationId xmlns:p14="http://schemas.microsoft.com/office/powerpoint/2010/main" val="10554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23</a:t>
            </a:fld>
            <a:endParaRPr lang="en-US"/>
          </a:p>
        </p:txBody>
      </p:sp>
    </p:spTree>
    <p:extLst>
      <p:ext uri="{BB962C8B-B14F-4D97-AF65-F5344CB8AC3E}">
        <p14:creationId xmlns:p14="http://schemas.microsoft.com/office/powerpoint/2010/main" val="1234282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Laatste</a:t>
            </a:r>
            <a:r>
              <a:rPr lang="nl-NL" baseline="0" dirty="0"/>
              <a:t> zinnen zijn toch wel belangrijk. Wat vinden ze van deze zinnen? Wat voor soort elementen staan er in deze zinnen. Werkt het een beetje als een ‘uitsmijter’ of take-home </a:t>
            </a:r>
            <a:r>
              <a:rPr lang="nl-NL" baseline="0" dirty="0" err="1"/>
              <a:t>message</a:t>
            </a:r>
            <a:r>
              <a:rPr lang="nl-NL" baseline="0" dirty="0"/>
              <a:t>? Ik vind de meeste die ik in de artikelen van CS/LI/IMM ben tegengekomen nogal inspiratieloos.</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24</a:t>
            </a:fld>
            <a:endParaRPr lang="en-US"/>
          </a:p>
        </p:txBody>
      </p:sp>
    </p:spTree>
    <p:extLst>
      <p:ext uri="{BB962C8B-B14F-4D97-AF65-F5344CB8AC3E}">
        <p14:creationId xmlns:p14="http://schemas.microsoft.com/office/powerpoint/2010/main" val="2057968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Deze</a:t>
            </a:r>
            <a:r>
              <a:rPr lang="nl-NL" baseline="0" dirty="0"/>
              <a:t> drie vragen zijn precies hetzelfde als die ik heb gebruikt als structuur voor het hoorcollege over introducties (alleen had ik 2 en 3 omgedraaid daar, omdat ik meer nadruk wilde leggen op de Thesis statement). </a:t>
            </a:r>
            <a:endParaRPr lang="nl-NL" dirty="0"/>
          </a:p>
        </p:txBody>
      </p:sp>
      <p:sp>
        <p:nvSpPr>
          <p:cNvPr id="4" name="Tijdelijke aanduiding voor dianummer 3"/>
          <p:cNvSpPr>
            <a:spLocks noGrp="1"/>
          </p:cNvSpPr>
          <p:nvPr>
            <p:ph type="sldNum" sz="quarter" idx="10"/>
          </p:nvPr>
        </p:nvSpPr>
        <p:spPr/>
        <p:txBody>
          <a:bodyPr/>
          <a:lstStyle/>
          <a:p>
            <a:fld id="{9FD4A38E-3B7C-4605-90DE-92E1994282E5}" type="slidenum">
              <a:rPr lang="en-US" smtClean="0"/>
              <a:pPr/>
              <a:t>27</a:t>
            </a:fld>
            <a:endParaRPr lang="en-US"/>
          </a:p>
        </p:txBody>
      </p:sp>
    </p:spTree>
    <p:extLst>
      <p:ext uri="{BB962C8B-B14F-4D97-AF65-F5344CB8AC3E}">
        <p14:creationId xmlns:p14="http://schemas.microsoft.com/office/powerpoint/2010/main" val="117491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nl-NL"/>
              <a:t>Klik om de stijl te bewerken</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en-US" dirty="0"/>
          </a:p>
        </p:txBody>
      </p:sp>
      <p:sp>
        <p:nvSpPr>
          <p:cNvPr id="4" name="Date Placeholder 3"/>
          <p:cNvSpPr>
            <a:spLocks noGrp="1"/>
          </p:cNvSpPr>
          <p:nvPr>
            <p:ph type="dt" sz="half" idx="10"/>
          </p:nvPr>
        </p:nvSpPr>
        <p:spPr/>
        <p:txBody>
          <a:bodyPr/>
          <a:lstStyle>
            <a:lvl1pPr algn="l">
              <a:defRPr/>
            </a:lvl1pPr>
          </a:lstStyle>
          <a:p>
            <a:fld id="{939305CC-0DCF-478F-93B1-3185BFD9C2C5}" type="datetimeFigureOut">
              <a:rPr lang="nl-NL" smtClean="0"/>
              <a:pPr/>
              <a:t>6-5-2025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705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US" dirty="0"/>
          </a:p>
        </p:txBody>
      </p:sp>
      <p:sp>
        <p:nvSpPr>
          <p:cNvPr id="3" name="Content Placeholder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939305CC-0DCF-478F-93B1-3185BFD9C2C5}" type="datetimeFigureOut">
              <a:rPr lang="nl-NL" smtClean="0"/>
              <a:pPr/>
              <a:t>6-5-2025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2692943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nl-NL"/>
              <a:t>Klik om de stijl te bewerken</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 om de modelstijlen te bewerken</a:t>
            </a:r>
          </a:p>
        </p:txBody>
      </p:sp>
      <p:sp>
        <p:nvSpPr>
          <p:cNvPr id="4" name="Date Placeholder 3"/>
          <p:cNvSpPr>
            <a:spLocks noGrp="1"/>
          </p:cNvSpPr>
          <p:nvPr>
            <p:ph type="dt" sz="half" idx="10"/>
          </p:nvPr>
        </p:nvSpPr>
        <p:spPr/>
        <p:txBody>
          <a:bodyPr/>
          <a:lstStyle/>
          <a:p>
            <a:fld id="{939305CC-0DCF-478F-93B1-3185BFD9C2C5}" type="datetimeFigureOut">
              <a:rPr lang="nl-NL" smtClean="0"/>
              <a:pPr/>
              <a:t>6-5-2025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0963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nl-NL"/>
              <a:t>Klik om de stijl te bewerken</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fld id="{939305CC-0DCF-478F-93B1-3185BFD9C2C5}" type="datetimeFigureOut">
              <a:rPr lang="nl-NL" smtClean="0"/>
              <a:pPr/>
              <a:t>6-5-2025</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4243497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nl-NL"/>
              <a:t>Klik om de stijl te bewerken</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Content Placeholder 3"/>
          <p:cNvSpPr>
            <a:spLocks noGrp="1"/>
          </p:cNvSpPr>
          <p:nvPr>
            <p:ph sz="half" idx="2"/>
          </p:nvPr>
        </p:nvSpPr>
        <p:spPr>
          <a:xfrm>
            <a:off x="768096" y="2967788"/>
            <a:ext cx="3566160" cy="3341572"/>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nl-NL"/>
              <a:t>Klik om de modelstijlen te bewerken</a:t>
            </a:r>
          </a:p>
        </p:txBody>
      </p:sp>
      <p:sp>
        <p:nvSpPr>
          <p:cNvPr id="6" name="Content Placeholder 5"/>
          <p:cNvSpPr>
            <a:spLocks noGrp="1"/>
          </p:cNvSpPr>
          <p:nvPr>
            <p:ph sz="quarter" idx="4"/>
          </p:nvPr>
        </p:nvSpPr>
        <p:spPr>
          <a:xfrm>
            <a:off x="4491990" y="2967788"/>
            <a:ext cx="3566160" cy="3341572"/>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p:txBody>
          <a:bodyPr/>
          <a:lstStyle/>
          <a:p>
            <a:fld id="{939305CC-0DCF-478F-93B1-3185BFD9C2C5}" type="datetimeFigureOut">
              <a:rPr lang="nl-NL" smtClean="0"/>
              <a:pPr/>
              <a:t>6-5-2025</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1266821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US" dirty="0"/>
          </a:p>
        </p:txBody>
      </p:sp>
      <p:sp>
        <p:nvSpPr>
          <p:cNvPr id="3" name="Date Placeholder 2"/>
          <p:cNvSpPr>
            <a:spLocks noGrp="1"/>
          </p:cNvSpPr>
          <p:nvPr>
            <p:ph type="dt" sz="half" idx="10"/>
          </p:nvPr>
        </p:nvSpPr>
        <p:spPr/>
        <p:txBody>
          <a:bodyPr/>
          <a:lstStyle/>
          <a:p>
            <a:fld id="{939305CC-0DCF-478F-93B1-3185BFD9C2C5}" type="datetimeFigureOut">
              <a:rPr lang="nl-NL" smtClean="0"/>
              <a:pPr/>
              <a:t>6-5-2025</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1295652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9305CC-0DCF-478F-93B1-3185BFD9C2C5}" type="datetimeFigureOut">
              <a:rPr lang="nl-NL" smtClean="0"/>
              <a:pPr/>
              <a:t>6-5-2025</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1018054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nl-NL"/>
              <a:t>Klik om de stijl te bewerken</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
        <p:nvSpPr>
          <p:cNvPr id="5" name="Date Placeholder 4"/>
          <p:cNvSpPr>
            <a:spLocks noGrp="1"/>
          </p:cNvSpPr>
          <p:nvPr>
            <p:ph type="dt" sz="half" idx="10"/>
          </p:nvPr>
        </p:nvSpPr>
        <p:spPr/>
        <p:txBody>
          <a:bodyPr/>
          <a:lstStyle/>
          <a:p>
            <a:fld id="{939305CC-0DCF-478F-93B1-3185BFD9C2C5}" type="datetimeFigureOut">
              <a:rPr lang="nl-NL" smtClean="0"/>
              <a:pPr/>
              <a:t>6-5-2025</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1805142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nl-NL"/>
              <a:t>Klik om de stijl te bewerken</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a:t>Klik om de modelstijlen te bewerken</a:t>
            </a:r>
          </a:p>
        </p:txBody>
      </p:sp>
      <p:sp>
        <p:nvSpPr>
          <p:cNvPr id="5" name="Date Placeholder 4"/>
          <p:cNvSpPr>
            <a:spLocks noGrp="1"/>
          </p:cNvSpPr>
          <p:nvPr>
            <p:ph type="dt" sz="half" idx="10"/>
          </p:nvPr>
        </p:nvSpPr>
        <p:spPr/>
        <p:txBody>
          <a:bodyPr/>
          <a:lstStyle/>
          <a:p>
            <a:fld id="{939305CC-0DCF-478F-93B1-3185BFD9C2C5}" type="datetimeFigureOut">
              <a:rPr lang="nl-NL" smtClean="0"/>
              <a:pPr/>
              <a:t>6-5-2025</a:t>
            </a:fld>
            <a:endParaRPr lang="nl-NL"/>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1399E4-B6FB-4519-9D2D-47BB738BBB7D}" type="slidenum">
              <a:rPr lang="nl-NL" smtClean="0"/>
              <a:pPr/>
              <a:t>‹#›</a:t>
            </a:fld>
            <a:endParaRPr lang="nl-NL"/>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117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US" dirty="0"/>
          </a:p>
        </p:txBody>
      </p:sp>
      <p:sp>
        <p:nvSpPr>
          <p:cNvPr id="3" name="Vertical Text Placeholder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939305CC-0DCF-478F-93B1-3185BFD9C2C5}" type="datetimeFigureOut">
              <a:rPr lang="nl-NL" smtClean="0"/>
              <a:pPr/>
              <a:t>6-5-2025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320952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nl-NL"/>
              <a:t>Klik om de stijl te bewerken</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939305CC-0DCF-478F-93B1-3185BFD9C2C5}" type="datetimeFigureOut">
              <a:rPr lang="nl-NL" smtClean="0"/>
              <a:pPr/>
              <a:t>6-5-2025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1888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nl-NL"/>
              <a:t>Klik om de stijl te bewerken</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39305CC-0DCF-478F-93B1-3185BFD9C2C5}" type="datetimeFigureOut">
              <a:rPr lang="nl-NL" smtClean="0"/>
              <a:pPr/>
              <a:t>6-5-2025</a:t>
            </a:fld>
            <a:endParaRPr lang="nl-NL"/>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nl-NL"/>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31399E4-B6FB-4519-9D2D-47BB738BBB7D}" type="slidenum">
              <a:rPr lang="nl-NL" smtClean="0"/>
              <a:pPr/>
              <a:t>‹#›</a:t>
            </a:fld>
            <a:endParaRPr lang="nl-NL"/>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0599318"/>
      </p:ext>
    </p:extLst>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dn.history.com/sites/2/2014/01/pyramids-giza.jpg"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ecurityservicenews.com/wp-content/uploads/2016/02/Security-License-Requirements-Texas-1.png" TargetMode="External"/><Relationship Id="rId5" Type="http://schemas.openxmlformats.org/officeDocument/2006/relationships/image" Target="../media/image5.png"/><Relationship Id="rId4" Type="http://schemas.openxmlformats.org/officeDocument/2006/relationships/hyperlink" Target="http://www.brood.net/public/recepten/lunch/hollandse-uitsmijter.jp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entnet5.com/~c94904x1/wp-content/uploads/2015/08/stack-of-papers-300x199-300x199.jpg"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ecurityservicenews.com/wp-content/uploads/2016/02/Security-License-Requirements-Texas-1.png" TargetMode="External"/><Relationship Id="rId5" Type="http://schemas.openxmlformats.org/officeDocument/2006/relationships/image" Target="../media/image5.png"/><Relationship Id="rId4" Type="http://schemas.openxmlformats.org/officeDocument/2006/relationships/hyperlink" Target="http://www.brood.net/public/recepten/lunch/hollandse-uitsmijter.jpg"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www.phrasebank.manchester.ac.uk/writing-conclusion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www.phrasebank.manchester.ac.uk/writing-conclusion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4960137"/>
            <a:ext cx="5829300" cy="1736996"/>
          </a:xfrm>
        </p:spPr>
        <p:txBody>
          <a:bodyPr>
            <a:normAutofit/>
          </a:bodyPr>
          <a:lstStyle/>
          <a:p>
            <a:r>
              <a:rPr lang="nl-NL" sz="4000" dirty="0" err="1"/>
              <a:t>Academic</a:t>
            </a:r>
            <a:r>
              <a:rPr lang="nl-NL" sz="4000" dirty="0"/>
              <a:t> </a:t>
            </a:r>
            <a:r>
              <a:rPr lang="nl-NL" sz="4000" dirty="0" err="1"/>
              <a:t>Writing</a:t>
            </a:r>
            <a:r>
              <a:rPr lang="nl-NL" sz="4000" dirty="0"/>
              <a:t> (BETA) </a:t>
            </a:r>
            <a:br>
              <a:rPr lang="nl-NL" sz="4000" dirty="0"/>
            </a:br>
            <a:r>
              <a:rPr lang="nl-NL" sz="4000" dirty="0"/>
              <a:t>Week 6, </a:t>
            </a:r>
            <a:r>
              <a:rPr lang="nl-NL" sz="4000" dirty="0" err="1"/>
              <a:t>Lecture</a:t>
            </a:r>
            <a:endParaRPr lang="en-US" sz="4000" dirty="0"/>
          </a:p>
        </p:txBody>
      </p:sp>
      <p:sp>
        <p:nvSpPr>
          <p:cNvPr id="3" name="Subtitle 2"/>
          <p:cNvSpPr>
            <a:spLocks noGrp="1"/>
          </p:cNvSpPr>
          <p:nvPr>
            <p:ph type="subTitle" idx="1"/>
          </p:nvPr>
        </p:nvSpPr>
        <p:spPr>
          <a:xfrm>
            <a:off x="6457950" y="4605866"/>
            <a:ext cx="2400300" cy="2252133"/>
          </a:xfrm>
        </p:spPr>
        <p:txBody>
          <a:bodyPr>
            <a:noAutofit/>
          </a:bodyPr>
          <a:lstStyle/>
          <a:p>
            <a:r>
              <a:rPr lang="nl-NL" sz="2000" dirty="0"/>
              <a:t>Anna Martonfi</a:t>
            </a:r>
          </a:p>
          <a:p>
            <a:r>
              <a:rPr lang="nl-NL" sz="2000" dirty="0"/>
              <a:t>a.martonfi@vu.nl</a:t>
            </a:r>
          </a:p>
          <a:p>
            <a:endParaRPr lang="nl-NL" sz="2000" dirty="0"/>
          </a:p>
          <a:p>
            <a:r>
              <a:rPr lang="nl-NL" sz="2000" dirty="0"/>
              <a:t>Vrije Universiteit Amsterdam</a:t>
            </a:r>
            <a:endParaRPr lang="en-US" sz="2000" dirty="0"/>
          </a:p>
        </p:txBody>
      </p:sp>
      <p:pic>
        <p:nvPicPr>
          <p:cNvPr id="5" name="Afbeelding 4"/>
          <p:cNvPicPr>
            <a:picLocks noChangeAspect="1"/>
          </p:cNvPicPr>
          <p:nvPr/>
        </p:nvPicPr>
        <p:blipFill rotWithShape="1">
          <a:blip r:embed="rId2" cstate="print">
            <a:extLst>
              <a:ext uri="{28A0092B-C50C-407E-A947-70E740481C1C}">
                <a14:useLocalDpi xmlns:a14="http://schemas.microsoft.com/office/drawing/2010/main" val="0"/>
              </a:ext>
            </a:extLst>
          </a:blip>
          <a:srcRect t="3817" b="5791"/>
          <a:stretch/>
        </p:blipFill>
        <p:spPr>
          <a:xfrm>
            <a:off x="0" y="1"/>
            <a:ext cx="9144000" cy="4869712"/>
          </a:xfrm>
          <a:prstGeom prst="rect">
            <a:avLst/>
          </a:prstGeom>
        </p:spPr>
      </p:pic>
    </p:spTree>
    <p:extLst>
      <p:ext uri="{BB962C8B-B14F-4D97-AF65-F5344CB8AC3E}">
        <p14:creationId xmlns:p14="http://schemas.microsoft.com/office/powerpoint/2010/main" val="2077830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cdn.history.com/sites/2/2014/01/pyramids-giza.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755" r="8124"/>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hthoek 1"/>
          <p:cNvSpPr/>
          <p:nvPr/>
        </p:nvSpPr>
        <p:spPr>
          <a:xfrm>
            <a:off x="4571999" y="6611779"/>
            <a:ext cx="4572000" cy="246221"/>
          </a:xfrm>
          <a:prstGeom prst="rect">
            <a:avLst/>
          </a:prstGeom>
        </p:spPr>
        <p:txBody>
          <a:bodyPr>
            <a:spAutoFit/>
          </a:bodyPr>
          <a:lstStyle/>
          <a:p>
            <a:pPr algn="r"/>
            <a:r>
              <a:rPr lang="nl-NL" sz="1000" dirty="0">
                <a:hlinkClick r:id="rId3"/>
              </a:rPr>
              <a:t>http://cdn.history.com/sites/2/2014/01/pyramids-giza.jpg</a:t>
            </a:r>
            <a:r>
              <a:rPr lang="nl-NL" sz="1000" dirty="0"/>
              <a:t> </a:t>
            </a:r>
          </a:p>
        </p:txBody>
      </p:sp>
    </p:spTree>
    <p:extLst>
      <p:ext uri="{BB962C8B-B14F-4D97-AF65-F5344CB8AC3E}">
        <p14:creationId xmlns:p14="http://schemas.microsoft.com/office/powerpoint/2010/main" val="2301777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NL"/>
          </a:p>
        </p:txBody>
      </p:sp>
      <p:sp>
        <p:nvSpPr>
          <p:cNvPr id="3" name="Tijdelijke aanduiding voor inhoud 2"/>
          <p:cNvSpPr>
            <a:spLocks noGrp="1"/>
          </p:cNvSpPr>
          <p:nvPr>
            <p:ph idx="1"/>
          </p:nvPr>
        </p:nvSpPr>
        <p:spPr/>
        <p:txBody>
          <a:bodyPr/>
          <a:lstStyle/>
          <a:p>
            <a:endParaRPr lang="nl-NL"/>
          </a:p>
        </p:txBody>
      </p:sp>
      <p:pic>
        <p:nvPicPr>
          <p:cNvPr id="5122" name="Picture 2" descr="http://www.brood.net/public/recepten/lunch/hollandse-uitsmijter.jpg"/>
          <p:cNvPicPr>
            <a:picLocks noChangeAspect="1" noChangeArrowheads="1"/>
          </p:cNvPicPr>
          <p:nvPr/>
        </p:nvPicPr>
        <p:blipFill rotWithShape="1">
          <a:blip r:embed="rId3">
            <a:extLst>
              <a:ext uri="{28A0092B-C50C-407E-A947-70E740481C1C}">
                <a14:useLocalDpi xmlns:a14="http://schemas.microsoft.com/office/drawing/2010/main" val="0"/>
              </a:ext>
            </a:extLst>
          </a:blip>
          <a:srcRect b="5997"/>
          <a:stretch/>
        </p:blipFill>
        <p:spPr bwMode="auto">
          <a:xfrm>
            <a:off x="-1" y="0"/>
            <a:ext cx="916713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p:cNvSpPr/>
          <p:nvPr/>
        </p:nvSpPr>
        <p:spPr>
          <a:xfrm>
            <a:off x="4595134" y="6581001"/>
            <a:ext cx="4572000" cy="276999"/>
          </a:xfrm>
          <a:prstGeom prst="rect">
            <a:avLst/>
          </a:prstGeom>
        </p:spPr>
        <p:txBody>
          <a:bodyPr>
            <a:spAutoFit/>
          </a:bodyPr>
          <a:lstStyle/>
          <a:p>
            <a:pPr algn="r"/>
            <a:r>
              <a:rPr lang="nl-NL" sz="1200" dirty="0">
                <a:hlinkClick r:id="rId4"/>
              </a:rPr>
              <a:t>http://www.brood.net/public/recepten/lunch/hollandse-uitsmijter.jpg</a:t>
            </a:r>
            <a:r>
              <a:rPr lang="nl-NL" sz="1200" dirty="0"/>
              <a:t> </a:t>
            </a:r>
          </a:p>
        </p:txBody>
      </p:sp>
      <p:pic>
        <p:nvPicPr>
          <p:cNvPr id="2050" name="Picture 2" descr="Licensing for Security Texa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5681" y="1552021"/>
            <a:ext cx="6099174" cy="4726859"/>
          </a:xfrm>
          <a:prstGeom prst="rect">
            <a:avLst/>
          </a:prstGeom>
          <a:noFill/>
          <a:extLst>
            <a:ext uri="{909E8E84-426E-40DD-AFC4-6F175D3DCCD1}">
              <a14:hiddenFill xmlns:a14="http://schemas.microsoft.com/office/drawing/2010/main">
                <a:solidFill>
                  <a:srgbClr val="FFFFFF"/>
                </a:solidFill>
              </a14:hiddenFill>
            </a:ext>
          </a:extLst>
        </p:spPr>
      </p:pic>
      <p:sp>
        <p:nvSpPr>
          <p:cNvPr id="5" name="Rechthoek 4"/>
          <p:cNvSpPr/>
          <p:nvPr/>
        </p:nvSpPr>
        <p:spPr>
          <a:xfrm>
            <a:off x="-20319" y="6396335"/>
            <a:ext cx="4572000" cy="461665"/>
          </a:xfrm>
          <a:prstGeom prst="rect">
            <a:avLst/>
          </a:prstGeom>
        </p:spPr>
        <p:txBody>
          <a:bodyPr>
            <a:spAutoFit/>
          </a:bodyPr>
          <a:lstStyle/>
          <a:p>
            <a:r>
              <a:rPr lang="en-GB" sz="1200" dirty="0">
                <a:hlinkClick r:id="rId6"/>
              </a:rPr>
              <a:t>http://securityservicenews.com/wp-content/uploads/2016/02/Security-License-Requirements-Texas-1.png</a:t>
            </a:r>
            <a:r>
              <a:rPr lang="en-GB" sz="1200" dirty="0"/>
              <a:t> </a:t>
            </a:r>
          </a:p>
        </p:txBody>
      </p:sp>
    </p:spTree>
    <p:extLst>
      <p:ext uri="{BB962C8B-B14F-4D97-AF65-F5344CB8AC3E}">
        <p14:creationId xmlns:p14="http://schemas.microsoft.com/office/powerpoint/2010/main" val="35048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739" y="185308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Introduction</a:t>
            </a:r>
            <a:r>
              <a:rPr lang="nl-NL" sz="2400" dirty="0"/>
              <a:t> </a:t>
            </a:r>
            <a:r>
              <a:rPr lang="nl-NL" sz="2400" dirty="0" err="1"/>
              <a:t>paragraph</a:t>
            </a:r>
            <a:endParaRPr lang="en-US" sz="2400" dirty="0"/>
          </a:p>
        </p:txBody>
      </p:sp>
      <p:sp>
        <p:nvSpPr>
          <p:cNvPr id="3" name="TextBox 2"/>
          <p:cNvSpPr txBox="1"/>
          <p:nvPr/>
        </p:nvSpPr>
        <p:spPr>
          <a:xfrm>
            <a:off x="1825739" y="308825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2</a:t>
            </a:r>
            <a:endParaRPr lang="en-US" sz="2400" dirty="0"/>
          </a:p>
        </p:txBody>
      </p:sp>
      <p:sp>
        <p:nvSpPr>
          <p:cNvPr id="4" name="TextBox 3"/>
          <p:cNvSpPr txBox="1"/>
          <p:nvPr/>
        </p:nvSpPr>
        <p:spPr>
          <a:xfrm>
            <a:off x="1825739" y="432342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Conclusion</a:t>
            </a:r>
            <a:endParaRPr lang="en-US" sz="2400" dirty="0"/>
          </a:p>
        </p:txBody>
      </p:sp>
      <p:sp>
        <p:nvSpPr>
          <p:cNvPr id="8" name="TextBox 7"/>
          <p:cNvSpPr txBox="1"/>
          <p:nvPr/>
        </p:nvSpPr>
        <p:spPr>
          <a:xfrm>
            <a:off x="1825739" y="890872"/>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Title</a:t>
            </a:r>
            <a:endParaRPr lang="en-US" sz="2400" dirty="0"/>
          </a:p>
        </p:txBody>
      </p:sp>
      <p:sp>
        <p:nvSpPr>
          <p:cNvPr id="9" name="TextBox 2"/>
          <p:cNvSpPr txBox="1"/>
          <p:nvPr/>
        </p:nvSpPr>
        <p:spPr>
          <a:xfrm>
            <a:off x="1802481" y="2465920"/>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1</a:t>
            </a:r>
            <a:endParaRPr lang="en-US" sz="2400" dirty="0"/>
          </a:p>
        </p:txBody>
      </p:sp>
      <p:sp>
        <p:nvSpPr>
          <p:cNvPr id="10" name="TextBox 2"/>
          <p:cNvSpPr txBox="1"/>
          <p:nvPr/>
        </p:nvSpPr>
        <p:spPr>
          <a:xfrm>
            <a:off x="1802481" y="3701090"/>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3</a:t>
            </a:r>
            <a:endParaRPr lang="en-US" sz="2400" dirty="0"/>
          </a:p>
        </p:txBody>
      </p:sp>
      <p:sp>
        <p:nvSpPr>
          <p:cNvPr id="11" name="TextBox 7"/>
          <p:cNvSpPr txBox="1"/>
          <p:nvPr/>
        </p:nvSpPr>
        <p:spPr>
          <a:xfrm>
            <a:off x="1825739" y="5413566"/>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List of </a:t>
            </a:r>
            <a:r>
              <a:rPr lang="nl-NL" sz="2400" dirty="0" err="1"/>
              <a:t>references</a:t>
            </a:r>
            <a:endParaRPr lang="en-US" sz="2400" dirty="0"/>
          </a:p>
        </p:txBody>
      </p:sp>
    </p:spTree>
    <p:extLst>
      <p:ext uri="{BB962C8B-B14F-4D97-AF65-F5344CB8AC3E}">
        <p14:creationId xmlns:p14="http://schemas.microsoft.com/office/powerpoint/2010/main" val="1622120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739" y="185308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Introduction</a:t>
            </a:r>
            <a:r>
              <a:rPr lang="nl-NL" sz="2400" dirty="0"/>
              <a:t> </a:t>
            </a:r>
            <a:r>
              <a:rPr lang="nl-NL" sz="2400" dirty="0" err="1"/>
              <a:t>paragraph</a:t>
            </a:r>
            <a:endParaRPr lang="en-US" sz="2400" dirty="0"/>
          </a:p>
        </p:txBody>
      </p:sp>
      <p:sp>
        <p:nvSpPr>
          <p:cNvPr id="3" name="TextBox 2"/>
          <p:cNvSpPr txBox="1"/>
          <p:nvPr/>
        </p:nvSpPr>
        <p:spPr>
          <a:xfrm>
            <a:off x="1825739" y="308825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2</a:t>
            </a:r>
            <a:endParaRPr lang="en-US" sz="2400" dirty="0"/>
          </a:p>
        </p:txBody>
      </p:sp>
      <p:sp>
        <p:nvSpPr>
          <p:cNvPr id="4" name="TextBox 3"/>
          <p:cNvSpPr txBox="1"/>
          <p:nvPr/>
        </p:nvSpPr>
        <p:spPr>
          <a:xfrm>
            <a:off x="1825739" y="4323423"/>
            <a:ext cx="5400600" cy="510778"/>
          </a:xfrm>
          <a:prstGeom prst="roundRect">
            <a:avLst/>
          </a:prstGeom>
          <a:solidFill>
            <a:srgbClr val="7030A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Conclusion</a:t>
            </a:r>
            <a:endParaRPr lang="en-US" sz="2400" dirty="0"/>
          </a:p>
        </p:txBody>
      </p:sp>
      <p:sp>
        <p:nvSpPr>
          <p:cNvPr id="8" name="TextBox 7"/>
          <p:cNvSpPr txBox="1"/>
          <p:nvPr/>
        </p:nvSpPr>
        <p:spPr>
          <a:xfrm>
            <a:off x="1825739" y="890872"/>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Title</a:t>
            </a:r>
            <a:endParaRPr lang="en-US" sz="2400" dirty="0"/>
          </a:p>
        </p:txBody>
      </p:sp>
      <p:sp>
        <p:nvSpPr>
          <p:cNvPr id="9" name="TextBox 2"/>
          <p:cNvSpPr txBox="1"/>
          <p:nvPr/>
        </p:nvSpPr>
        <p:spPr>
          <a:xfrm>
            <a:off x="1802481" y="2465920"/>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1</a:t>
            </a:r>
            <a:endParaRPr lang="en-US" sz="2400" dirty="0"/>
          </a:p>
        </p:txBody>
      </p:sp>
      <p:sp>
        <p:nvSpPr>
          <p:cNvPr id="10" name="TextBox 2"/>
          <p:cNvSpPr txBox="1"/>
          <p:nvPr/>
        </p:nvSpPr>
        <p:spPr>
          <a:xfrm>
            <a:off x="1802481" y="3701090"/>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3</a:t>
            </a:r>
            <a:endParaRPr lang="en-US" sz="2400" dirty="0"/>
          </a:p>
        </p:txBody>
      </p:sp>
      <p:sp>
        <p:nvSpPr>
          <p:cNvPr id="11" name="TextBox 7"/>
          <p:cNvSpPr txBox="1"/>
          <p:nvPr/>
        </p:nvSpPr>
        <p:spPr>
          <a:xfrm>
            <a:off x="1825739" y="5413566"/>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List of </a:t>
            </a:r>
            <a:r>
              <a:rPr lang="nl-NL" sz="2400" dirty="0" err="1"/>
              <a:t>references</a:t>
            </a:r>
            <a:endParaRPr lang="en-US" sz="2400" dirty="0"/>
          </a:p>
        </p:txBody>
      </p:sp>
    </p:spTree>
    <p:extLst>
      <p:ext uri="{BB962C8B-B14F-4D97-AF65-F5344CB8AC3E}">
        <p14:creationId xmlns:p14="http://schemas.microsoft.com/office/powerpoint/2010/main" val="2959280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a:t>Today</a:t>
            </a:r>
            <a:r>
              <a:rPr lang="nl-NL" dirty="0"/>
              <a:t>: </a:t>
            </a:r>
            <a:r>
              <a:rPr lang="nl-NL" dirty="0" err="1"/>
              <a:t>Conclusions</a:t>
            </a:r>
            <a:endParaRPr lang="en-US"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nl-NL" sz="2400" dirty="0"/>
              <a:t>How do </a:t>
            </a:r>
            <a:r>
              <a:rPr lang="nl-NL" sz="2400" dirty="0" err="1"/>
              <a:t>you</a:t>
            </a:r>
            <a:r>
              <a:rPr lang="nl-NL" sz="2400" dirty="0"/>
              <a:t> start?</a:t>
            </a:r>
          </a:p>
          <a:p>
            <a:pPr marL="457200" indent="-457200">
              <a:buFont typeface="+mj-lt"/>
              <a:buAutoNum type="arabicPeriod"/>
            </a:pPr>
            <a:endParaRPr lang="nl-NL" sz="2400" dirty="0"/>
          </a:p>
          <a:p>
            <a:pPr marL="457200" indent="-457200">
              <a:buFont typeface="+mj-lt"/>
              <a:buAutoNum type="arabicPeriod"/>
            </a:pPr>
            <a:r>
              <a:rPr lang="nl-NL" sz="2400" dirty="0" err="1"/>
              <a:t>What</a:t>
            </a:r>
            <a:r>
              <a:rPr lang="nl-NL" sz="2400" dirty="0"/>
              <a:t> </a:t>
            </a:r>
            <a:r>
              <a:rPr lang="nl-NL" sz="2400" dirty="0" err="1"/>
              <a:t>goes</a:t>
            </a:r>
            <a:r>
              <a:rPr lang="nl-NL" sz="2400" dirty="0"/>
              <a:t> in </a:t>
            </a:r>
            <a:r>
              <a:rPr lang="nl-NL" sz="2400" dirty="0" err="1"/>
              <a:t>the</a:t>
            </a:r>
            <a:r>
              <a:rPr lang="nl-NL" sz="2400" dirty="0"/>
              <a:t> </a:t>
            </a:r>
            <a:r>
              <a:rPr lang="nl-NL" sz="2400" dirty="0" err="1"/>
              <a:t>middle</a:t>
            </a:r>
            <a:r>
              <a:rPr lang="nl-NL" sz="2400" dirty="0"/>
              <a:t>?</a:t>
            </a:r>
            <a:endParaRPr lang="en-US" sz="2400" dirty="0"/>
          </a:p>
          <a:p>
            <a:pPr marL="457200" indent="-457200">
              <a:buFont typeface="+mj-lt"/>
              <a:buAutoNum type="arabicPeriod"/>
            </a:pPr>
            <a:endParaRPr lang="nl-NL" sz="2400" dirty="0"/>
          </a:p>
          <a:p>
            <a:pPr marL="457200" indent="-457200">
              <a:buFont typeface="+mj-lt"/>
              <a:buAutoNum type="arabicPeriod"/>
            </a:pPr>
            <a:r>
              <a:rPr lang="nl-NL" sz="2400" dirty="0"/>
              <a:t>How do </a:t>
            </a:r>
            <a:r>
              <a:rPr lang="nl-NL" sz="2400" dirty="0" err="1"/>
              <a:t>you</a:t>
            </a:r>
            <a:r>
              <a:rPr lang="nl-NL" sz="2400" dirty="0"/>
              <a:t> end? </a:t>
            </a:r>
          </a:p>
          <a:p>
            <a:pPr marL="457200" indent="-457200">
              <a:buFont typeface="+mj-lt"/>
              <a:buAutoNum type="arabicPeriod"/>
            </a:pPr>
            <a:endParaRPr lang="nl-NL" sz="2400" dirty="0"/>
          </a:p>
        </p:txBody>
      </p:sp>
    </p:spTree>
    <p:extLst>
      <p:ext uri="{BB962C8B-B14F-4D97-AF65-F5344CB8AC3E}">
        <p14:creationId xmlns:p14="http://schemas.microsoft.com/office/powerpoint/2010/main" val="975133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How do </a:t>
            </a:r>
            <a:r>
              <a:rPr lang="nl-NL" dirty="0" err="1"/>
              <a:t>you</a:t>
            </a:r>
            <a:r>
              <a:rPr lang="nl-NL" dirty="0"/>
              <a:t> start?</a:t>
            </a:r>
            <a:endParaRPr lang="en-US" dirty="0"/>
          </a:p>
        </p:txBody>
      </p:sp>
    </p:spTree>
    <p:extLst>
      <p:ext uri="{BB962C8B-B14F-4D97-AF65-F5344CB8AC3E}">
        <p14:creationId xmlns:p14="http://schemas.microsoft.com/office/powerpoint/2010/main" val="2714274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Sample </a:t>
            </a:r>
            <a:r>
              <a:rPr lang="nl-NL" dirty="0" err="1"/>
              <a:t>text</a:t>
            </a:r>
            <a:r>
              <a:rPr lang="nl-NL" dirty="0"/>
              <a:t> 1</a:t>
            </a:r>
          </a:p>
        </p:txBody>
      </p:sp>
      <p:sp>
        <p:nvSpPr>
          <p:cNvPr id="3" name="Tijdelijke aanduiding voor inhoud 2"/>
          <p:cNvSpPr>
            <a:spLocks noGrp="1"/>
          </p:cNvSpPr>
          <p:nvPr>
            <p:ph idx="1"/>
          </p:nvPr>
        </p:nvSpPr>
        <p:spPr/>
        <p:txBody>
          <a:bodyPr>
            <a:normAutofit/>
          </a:bodyPr>
          <a:lstStyle/>
          <a:p>
            <a:r>
              <a:rPr lang="en-US" sz="2200" dirty="0"/>
              <a:t>In this paper we have introduced our emotion engine based on modern appraisal theory.</a:t>
            </a:r>
            <a:endParaRPr lang="nl-NL" sz="2200" dirty="0"/>
          </a:p>
        </p:txBody>
      </p:sp>
      <p:sp>
        <p:nvSpPr>
          <p:cNvPr id="4" name="Rechthoek 3"/>
          <p:cNvSpPr/>
          <p:nvPr/>
        </p:nvSpPr>
        <p:spPr>
          <a:xfrm>
            <a:off x="0" y="6233646"/>
            <a:ext cx="9144000" cy="646331"/>
          </a:xfrm>
          <a:prstGeom prst="rect">
            <a:avLst/>
          </a:prstGeom>
        </p:spPr>
        <p:txBody>
          <a:bodyPr wrap="square">
            <a:spAutoFit/>
          </a:bodyPr>
          <a:lstStyle/>
          <a:p>
            <a:r>
              <a:rPr lang="en-GB" i="1" dirty="0">
                <a:solidFill>
                  <a:schemeClr val="bg1">
                    <a:lumMod val="50000"/>
                  </a:schemeClr>
                </a:solidFill>
              </a:rPr>
              <a:t>From: </a:t>
            </a:r>
            <a:r>
              <a:rPr lang="en-GB" i="1" dirty="0" err="1">
                <a:solidFill>
                  <a:schemeClr val="bg1">
                    <a:lumMod val="50000"/>
                  </a:schemeClr>
                </a:solidFill>
              </a:rPr>
              <a:t>Aydt</a:t>
            </a:r>
            <a:r>
              <a:rPr lang="en-GB" i="1" dirty="0">
                <a:solidFill>
                  <a:schemeClr val="bg1">
                    <a:lumMod val="50000"/>
                  </a:schemeClr>
                </a:solidFill>
              </a:rPr>
              <a:t> et al. (2011). </a:t>
            </a:r>
            <a:r>
              <a:rPr lang="en-US" i="1" dirty="0">
                <a:solidFill>
                  <a:schemeClr val="bg1">
                    <a:lumMod val="50000"/>
                  </a:schemeClr>
                </a:solidFill>
              </a:rPr>
              <a:t>A Computational Model of Emotions for Agent-based Crowds in Serious Games</a:t>
            </a:r>
            <a:endParaRPr lang="en-GB" i="1" dirty="0">
              <a:solidFill>
                <a:schemeClr val="bg1">
                  <a:lumMod val="50000"/>
                </a:schemeClr>
              </a:solidFill>
            </a:endParaRPr>
          </a:p>
        </p:txBody>
      </p:sp>
    </p:spTree>
    <p:extLst>
      <p:ext uri="{BB962C8B-B14F-4D97-AF65-F5344CB8AC3E}">
        <p14:creationId xmlns:p14="http://schemas.microsoft.com/office/powerpoint/2010/main" val="2191458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Sample </a:t>
            </a:r>
            <a:r>
              <a:rPr lang="nl-NL" dirty="0" err="1"/>
              <a:t>text</a:t>
            </a:r>
            <a:r>
              <a:rPr lang="nl-NL" dirty="0"/>
              <a:t> 2</a:t>
            </a:r>
          </a:p>
        </p:txBody>
      </p:sp>
      <p:sp>
        <p:nvSpPr>
          <p:cNvPr id="3" name="Tijdelijke aanduiding voor inhoud 2"/>
          <p:cNvSpPr>
            <a:spLocks noGrp="1"/>
          </p:cNvSpPr>
          <p:nvPr>
            <p:ph idx="1"/>
          </p:nvPr>
        </p:nvSpPr>
        <p:spPr/>
        <p:txBody>
          <a:bodyPr>
            <a:normAutofit/>
          </a:bodyPr>
          <a:lstStyle/>
          <a:p>
            <a:r>
              <a:rPr lang="en-US" sz="2200" dirty="0"/>
              <a:t>This paper has reviewed the potential impact of energy-saving strategies for the management of integrated systems that include computer systems and networks.</a:t>
            </a:r>
            <a:endParaRPr lang="nl-NL" sz="2200" dirty="0"/>
          </a:p>
        </p:txBody>
      </p:sp>
      <p:sp>
        <p:nvSpPr>
          <p:cNvPr id="4" name="Rechthoek 3"/>
          <p:cNvSpPr/>
          <p:nvPr/>
        </p:nvSpPr>
        <p:spPr>
          <a:xfrm>
            <a:off x="0" y="6495484"/>
            <a:ext cx="9144000" cy="369332"/>
          </a:xfrm>
          <a:prstGeom prst="rect">
            <a:avLst/>
          </a:prstGeom>
        </p:spPr>
        <p:txBody>
          <a:bodyPr wrap="square">
            <a:spAutoFit/>
          </a:bodyPr>
          <a:lstStyle/>
          <a:p>
            <a:r>
              <a:rPr lang="nl-NL" i="1" dirty="0" err="1">
                <a:solidFill>
                  <a:schemeClr val="bg1">
                    <a:lumMod val="50000"/>
                  </a:schemeClr>
                </a:solidFill>
              </a:rPr>
              <a:t>From</a:t>
            </a:r>
            <a:r>
              <a:rPr lang="nl-NL" i="1" dirty="0">
                <a:solidFill>
                  <a:schemeClr val="bg1">
                    <a:lumMod val="50000"/>
                  </a:schemeClr>
                </a:solidFill>
              </a:rPr>
              <a:t>: </a:t>
            </a:r>
            <a:r>
              <a:rPr lang="nl-NL" i="1" dirty="0" err="1">
                <a:solidFill>
                  <a:schemeClr val="bg1">
                    <a:lumMod val="50000"/>
                  </a:schemeClr>
                </a:solidFill>
              </a:rPr>
              <a:t>Berl</a:t>
            </a:r>
            <a:r>
              <a:rPr lang="nl-NL" i="1" dirty="0">
                <a:solidFill>
                  <a:schemeClr val="bg1">
                    <a:lumMod val="50000"/>
                  </a:schemeClr>
                </a:solidFill>
              </a:rPr>
              <a:t> et al. (2009). Energy-</a:t>
            </a:r>
            <a:r>
              <a:rPr lang="nl-NL" i="1" dirty="0" err="1">
                <a:solidFill>
                  <a:schemeClr val="bg1">
                    <a:lumMod val="50000"/>
                  </a:schemeClr>
                </a:solidFill>
              </a:rPr>
              <a:t>Efficient</a:t>
            </a:r>
            <a:r>
              <a:rPr lang="nl-NL" i="1" dirty="0">
                <a:solidFill>
                  <a:schemeClr val="bg1">
                    <a:lumMod val="50000"/>
                  </a:schemeClr>
                </a:solidFill>
              </a:rPr>
              <a:t> Cloud Computing</a:t>
            </a:r>
          </a:p>
        </p:txBody>
      </p:sp>
    </p:spTree>
    <p:extLst>
      <p:ext uri="{BB962C8B-B14F-4D97-AF65-F5344CB8AC3E}">
        <p14:creationId xmlns:p14="http://schemas.microsoft.com/office/powerpoint/2010/main" val="1534783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FOR </a:t>
            </a:r>
            <a:r>
              <a:rPr lang="nl-NL" dirty="0" err="1"/>
              <a:t>Your</a:t>
            </a:r>
            <a:r>
              <a:rPr lang="nl-NL" dirty="0"/>
              <a:t> </a:t>
            </a:r>
            <a:r>
              <a:rPr lang="nl-NL" dirty="0" err="1"/>
              <a:t>assignment</a:t>
            </a:r>
            <a:r>
              <a:rPr lang="nl-NL" dirty="0"/>
              <a:t>: </a:t>
            </a:r>
            <a:r>
              <a:rPr lang="nl-NL" dirty="0" err="1"/>
              <a:t>example</a:t>
            </a:r>
            <a:r>
              <a:rPr lang="nl-NL" dirty="0"/>
              <a:t> 1 (Student paper)</a:t>
            </a:r>
            <a:endParaRPr lang="en-GB" dirty="0"/>
          </a:p>
        </p:txBody>
      </p:sp>
      <p:sp>
        <p:nvSpPr>
          <p:cNvPr id="3" name="Tijdelijke aanduiding voor inhoud 2"/>
          <p:cNvSpPr>
            <a:spLocks noGrp="1"/>
          </p:cNvSpPr>
          <p:nvPr>
            <p:ph idx="1"/>
          </p:nvPr>
        </p:nvSpPr>
        <p:spPr/>
        <p:txBody>
          <a:bodyPr>
            <a:normAutofit/>
          </a:bodyPr>
          <a:lstStyle/>
          <a:p>
            <a:pPr>
              <a:buFont typeface="Arial" panose="020B0604020202020204" pitchFamily="34" charset="0"/>
              <a:buChar char="•"/>
            </a:pPr>
            <a:r>
              <a:rPr lang="en-GB" sz="2400" dirty="0"/>
              <a:t> </a:t>
            </a:r>
            <a:r>
              <a:rPr lang="en-GB" sz="2400" i="1" dirty="0"/>
              <a:t>Thesis statement: </a:t>
            </a:r>
            <a:r>
              <a:rPr lang="en-GB" sz="2400" dirty="0"/>
              <a:t>This paper describes the potential security risks many users are not aware of when using their computer.</a:t>
            </a:r>
          </a:p>
          <a:p>
            <a:pPr>
              <a:buFont typeface="Arial" panose="020B0604020202020204" pitchFamily="34" charset="0"/>
              <a:buChar char="•"/>
            </a:pPr>
            <a:r>
              <a:rPr lang="en-GB" sz="2400" dirty="0"/>
              <a:t> </a:t>
            </a:r>
            <a:r>
              <a:rPr lang="en-GB" sz="2400" i="1" dirty="0"/>
              <a:t>Opening sentence of conclusion: </a:t>
            </a:r>
            <a:r>
              <a:rPr lang="en-GB" sz="2400" dirty="0"/>
              <a:t>In this article the potential security risks of using a computer have been described. </a:t>
            </a:r>
          </a:p>
          <a:p>
            <a:pPr>
              <a:buFont typeface="Arial" panose="020B0604020202020204" pitchFamily="34" charset="0"/>
              <a:buChar char="•"/>
            </a:pPr>
            <a:endParaRPr lang="nl-NL" sz="2400" dirty="0"/>
          </a:p>
          <a:p>
            <a:pPr>
              <a:buFont typeface="Arial" panose="020B0604020202020204" pitchFamily="34" charset="0"/>
              <a:buChar char="•"/>
            </a:pPr>
            <a:r>
              <a:rPr lang="nl-NL" sz="2400" dirty="0"/>
              <a:t> </a:t>
            </a:r>
            <a:r>
              <a:rPr lang="nl-NL" sz="2400" dirty="0" err="1"/>
              <a:t>Avoid</a:t>
            </a:r>
            <a:r>
              <a:rPr lang="nl-NL" sz="2400" dirty="0"/>
              <a:t>: “the </a:t>
            </a:r>
            <a:r>
              <a:rPr lang="nl-NL" sz="2400" dirty="0" err="1"/>
              <a:t>three</a:t>
            </a:r>
            <a:r>
              <a:rPr lang="nl-NL" sz="2400" dirty="0"/>
              <a:t> papers </a:t>
            </a:r>
            <a:r>
              <a:rPr lang="nl-NL" sz="2400" dirty="0" err="1"/>
              <a:t>discussed</a:t>
            </a:r>
            <a:r>
              <a:rPr lang="nl-NL" sz="2400" dirty="0"/>
              <a:t>” or “the </a:t>
            </a:r>
            <a:r>
              <a:rPr lang="nl-NL" sz="2400" dirty="0" err="1"/>
              <a:t>three</a:t>
            </a:r>
            <a:r>
              <a:rPr lang="nl-NL" sz="2400" dirty="0"/>
              <a:t> </a:t>
            </a:r>
            <a:r>
              <a:rPr lang="nl-NL" sz="2400" dirty="0" err="1"/>
              <a:t>paragraphs</a:t>
            </a:r>
            <a:r>
              <a:rPr lang="nl-NL" sz="2400" dirty="0"/>
              <a:t> </a:t>
            </a:r>
            <a:r>
              <a:rPr lang="nl-NL" sz="2400" dirty="0" err="1"/>
              <a:t>above</a:t>
            </a:r>
            <a:r>
              <a:rPr lang="nl-NL" sz="2400" dirty="0"/>
              <a:t>”</a:t>
            </a:r>
            <a:endParaRPr lang="en-GB" sz="2400" dirty="0"/>
          </a:p>
        </p:txBody>
      </p:sp>
    </p:spTree>
    <p:extLst>
      <p:ext uri="{BB962C8B-B14F-4D97-AF65-F5344CB8AC3E}">
        <p14:creationId xmlns:p14="http://schemas.microsoft.com/office/powerpoint/2010/main" val="1948690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For </a:t>
            </a:r>
            <a:r>
              <a:rPr lang="nl-NL" dirty="0" err="1"/>
              <a:t>your</a:t>
            </a:r>
            <a:r>
              <a:rPr lang="nl-NL" dirty="0"/>
              <a:t> </a:t>
            </a:r>
            <a:r>
              <a:rPr lang="nl-NL" dirty="0" err="1"/>
              <a:t>assignment</a:t>
            </a:r>
            <a:r>
              <a:rPr lang="nl-NL" dirty="0"/>
              <a:t>: </a:t>
            </a:r>
            <a:r>
              <a:rPr lang="nl-NL" dirty="0" err="1"/>
              <a:t>example</a:t>
            </a:r>
            <a:r>
              <a:rPr lang="nl-NL" dirty="0"/>
              <a:t> 2 (student paper)</a:t>
            </a:r>
            <a:endParaRPr lang="en-GB" dirty="0"/>
          </a:p>
        </p:txBody>
      </p:sp>
      <p:sp>
        <p:nvSpPr>
          <p:cNvPr id="3" name="Tijdelijke aanduiding voor inhoud 2"/>
          <p:cNvSpPr>
            <a:spLocks noGrp="1"/>
          </p:cNvSpPr>
          <p:nvPr>
            <p:ph idx="1"/>
          </p:nvPr>
        </p:nvSpPr>
        <p:spPr/>
        <p:txBody>
          <a:bodyPr>
            <a:normAutofit/>
          </a:bodyPr>
          <a:lstStyle/>
          <a:p>
            <a:pPr>
              <a:buFont typeface="Arial" panose="020B0604020202020204" pitchFamily="34" charset="0"/>
              <a:buChar char="•"/>
            </a:pPr>
            <a:r>
              <a:rPr lang="en-GB" sz="2400" dirty="0"/>
              <a:t> </a:t>
            </a:r>
            <a:r>
              <a:rPr lang="en-GB" sz="2400" i="1" dirty="0"/>
              <a:t>Thesis statement: </a:t>
            </a:r>
            <a:r>
              <a:rPr lang="en-GB" sz="2400" dirty="0"/>
              <a:t>This paper examines what role online intervention programmes can take in the treatment of patients with substance use disorder.		</a:t>
            </a:r>
          </a:p>
          <a:p>
            <a:pPr>
              <a:buFont typeface="Arial" panose="020B0604020202020204" pitchFamily="34" charset="0"/>
              <a:buChar char="•"/>
            </a:pPr>
            <a:r>
              <a:rPr lang="en-GB" sz="2400" dirty="0"/>
              <a:t> </a:t>
            </a:r>
            <a:r>
              <a:rPr lang="en-GB" sz="2400" i="1" dirty="0"/>
              <a:t>Opening sentence of conclusion: </a:t>
            </a:r>
            <a:r>
              <a:rPr lang="en-GB" sz="2400" dirty="0"/>
              <a:t>In conclusion, online intervention programmes can take many roles in the treatment of substance use disorders, although their main focus is not yet to replace the therapy sessions provided by therapists. 				</a:t>
            </a:r>
          </a:p>
        </p:txBody>
      </p:sp>
      <p:sp>
        <p:nvSpPr>
          <p:cNvPr id="4" name="TextBox 3"/>
          <p:cNvSpPr txBox="1"/>
          <p:nvPr/>
        </p:nvSpPr>
        <p:spPr>
          <a:xfrm>
            <a:off x="622300" y="5607566"/>
            <a:ext cx="8102600" cy="919401"/>
          </a:xfrm>
          <a:prstGeom prst="round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GB" sz="2400" dirty="0"/>
              <a:t> So: open with signal and some sort of recap of the thesis statement (and/or the main point of the text)</a:t>
            </a:r>
            <a:endParaRPr lang="en-US" sz="2400" dirty="0"/>
          </a:p>
        </p:txBody>
      </p:sp>
    </p:spTree>
    <p:extLst>
      <p:ext uri="{BB962C8B-B14F-4D97-AF65-F5344CB8AC3E}">
        <p14:creationId xmlns:p14="http://schemas.microsoft.com/office/powerpoint/2010/main" val="205909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goes in the middle?</a:t>
            </a:r>
          </a:p>
        </p:txBody>
      </p:sp>
      <p:sp>
        <p:nvSpPr>
          <p:cNvPr id="4" name="Rechthoek 3"/>
          <p:cNvSpPr/>
          <p:nvPr/>
        </p:nvSpPr>
        <p:spPr>
          <a:xfrm>
            <a:off x="1818639" y="6633944"/>
            <a:ext cx="7325039" cy="246221"/>
          </a:xfrm>
          <a:prstGeom prst="rect">
            <a:avLst/>
          </a:prstGeom>
        </p:spPr>
        <p:txBody>
          <a:bodyPr wrap="square">
            <a:spAutoFit/>
          </a:bodyPr>
          <a:lstStyle/>
          <a:p>
            <a:pPr algn="r"/>
            <a:r>
              <a:rPr lang="nl-NL" sz="1000" dirty="0">
                <a:hlinkClick r:id="rId3"/>
              </a:rPr>
              <a:t>http://entnet5.com/~c94904x1/wp-content/uploads/2015/08/stack-of-papers-300x199-300x199.jpg</a:t>
            </a:r>
            <a:r>
              <a:rPr lang="nl-NL" sz="1000" dirty="0"/>
              <a:t> </a:t>
            </a:r>
          </a:p>
        </p:txBody>
      </p:sp>
    </p:spTree>
    <p:extLst>
      <p:ext uri="{BB962C8B-B14F-4D97-AF65-F5344CB8AC3E}">
        <p14:creationId xmlns:p14="http://schemas.microsoft.com/office/powerpoint/2010/main" val="279841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3825"/>
            <a:ext cx="4410710" cy="61220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9258" y="236539"/>
            <a:ext cx="4481551" cy="6009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hthoek 4"/>
          <p:cNvSpPr/>
          <p:nvPr/>
        </p:nvSpPr>
        <p:spPr>
          <a:xfrm>
            <a:off x="0" y="6233646"/>
            <a:ext cx="9144000" cy="646331"/>
          </a:xfrm>
          <a:prstGeom prst="rect">
            <a:avLst/>
          </a:prstGeom>
        </p:spPr>
        <p:txBody>
          <a:bodyPr wrap="square">
            <a:spAutoFit/>
          </a:bodyPr>
          <a:lstStyle/>
          <a:p>
            <a:r>
              <a:rPr lang="en-GB" i="1" dirty="0">
                <a:solidFill>
                  <a:schemeClr val="bg1">
                    <a:lumMod val="50000"/>
                  </a:schemeClr>
                </a:solidFill>
              </a:rPr>
              <a:t>From: </a:t>
            </a:r>
            <a:r>
              <a:rPr lang="en-GB" i="1" dirty="0" err="1">
                <a:solidFill>
                  <a:schemeClr val="bg1">
                    <a:lumMod val="50000"/>
                  </a:schemeClr>
                </a:solidFill>
              </a:rPr>
              <a:t>Aydt</a:t>
            </a:r>
            <a:r>
              <a:rPr lang="en-GB" i="1" dirty="0">
                <a:solidFill>
                  <a:schemeClr val="bg1">
                    <a:lumMod val="50000"/>
                  </a:schemeClr>
                </a:solidFill>
              </a:rPr>
              <a:t> et al. (2011). </a:t>
            </a:r>
            <a:r>
              <a:rPr lang="en-US" i="1" dirty="0">
                <a:solidFill>
                  <a:schemeClr val="bg1">
                    <a:lumMod val="50000"/>
                  </a:schemeClr>
                </a:solidFill>
              </a:rPr>
              <a:t>A Computational Model of Emotions for Agent-based Crowds in Serious Games</a:t>
            </a:r>
            <a:endParaRPr lang="en-GB" i="1" dirty="0">
              <a:solidFill>
                <a:schemeClr val="bg1">
                  <a:lumMod val="50000"/>
                </a:schemeClr>
              </a:solidFill>
            </a:endParaRPr>
          </a:p>
        </p:txBody>
      </p:sp>
    </p:spTree>
    <p:extLst>
      <p:ext uri="{BB962C8B-B14F-4D97-AF65-F5344CB8AC3E}">
        <p14:creationId xmlns:p14="http://schemas.microsoft.com/office/powerpoint/2010/main" val="2421826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54304"/>
            <a:ext cx="4073424" cy="5763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hthoek 2"/>
          <p:cNvSpPr/>
          <p:nvPr/>
        </p:nvSpPr>
        <p:spPr>
          <a:xfrm>
            <a:off x="0" y="6495484"/>
            <a:ext cx="9144000" cy="369332"/>
          </a:xfrm>
          <a:prstGeom prst="rect">
            <a:avLst/>
          </a:prstGeom>
        </p:spPr>
        <p:txBody>
          <a:bodyPr wrap="square">
            <a:spAutoFit/>
          </a:bodyPr>
          <a:lstStyle/>
          <a:p>
            <a:r>
              <a:rPr lang="nl-NL" i="1" dirty="0" err="1">
                <a:solidFill>
                  <a:schemeClr val="bg1">
                    <a:lumMod val="50000"/>
                  </a:schemeClr>
                </a:solidFill>
              </a:rPr>
              <a:t>From</a:t>
            </a:r>
            <a:r>
              <a:rPr lang="nl-NL" i="1" dirty="0">
                <a:solidFill>
                  <a:schemeClr val="bg1">
                    <a:lumMod val="50000"/>
                  </a:schemeClr>
                </a:solidFill>
              </a:rPr>
              <a:t>: </a:t>
            </a:r>
            <a:r>
              <a:rPr lang="nl-NL" i="1" dirty="0" err="1">
                <a:solidFill>
                  <a:schemeClr val="bg1">
                    <a:lumMod val="50000"/>
                  </a:schemeClr>
                </a:solidFill>
              </a:rPr>
              <a:t>Berl</a:t>
            </a:r>
            <a:r>
              <a:rPr lang="nl-NL" i="1" dirty="0">
                <a:solidFill>
                  <a:schemeClr val="bg1">
                    <a:lumMod val="50000"/>
                  </a:schemeClr>
                </a:solidFill>
              </a:rPr>
              <a:t> et al. (2009). Energy-</a:t>
            </a:r>
            <a:r>
              <a:rPr lang="nl-NL" i="1" dirty="0" err="1">
                <a:solidFill>
                  <a:schemeClr val="bg1">
                    <a:lumMod val="50000"/>
                  </a:schemeClr>
                </a:solidFill>
              </a:rPr>
              <a:t>Efficient</a:t>
            </a:r>
            <a:r>
              <a:rPr lang="nl-NL" i="1" dirty="0">
                <a:solidFill>
                  <a:schemeClr val="bg1">
                    <a:lumMod val="50000"/>
                  </a:schemeClr>
                </a:solidFill>
              </a:rPr>
              <a:t> Cloud Computing</a:t>
            </a:r>
          </a:p>
        </p:txBody>
      </p:sp>
    </p:spTree>
    <p:extLst>
      <p:ext uri="{BB962C8B-B14F-4D97-AF65-F5344CB8AC3E}">
        <p14:creationId xmlns:p14="http://schemas.microsoft.com/office/powerpoint/2010/main" val="71517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74" y="2519363"/>
            <a:ext cx="5265927" cy="2052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hthoek 1"/>
          <p:cNvSpPr/>
          <p:nvPr/>
        </p:nvSpPr>
        <p:spPr>
          <a:xfrm>
            <a:off x="0" y="6488668"/>
            <a:ext cx="9144000" cy="369332"/>
          </a:xfrm>
          <a:prstGeom prst="rect">
            <a:avLst/>
          </a:prstGeom>
        </p:spPr>
        <p:txBody>
          <a:bodyPr wrap="square">
            <a:spAutoFit/>
          </a:bodyPr>
          <a:lstStyle/>
          <a:p>
            <a:r>
              <a:rPr lang="en-US" i="1" dirty="0">
                <a:solidFill>
                  <a:schemeClr val="bg1">
                    <a:lumMod val="50000"/>
                  </a:schemeClr>
                </a:solidFill>
              </a:rPr>
              <a:t>From: </a:t>
            </a:r>
            <a:r>
              <a:rPr lang="en-US" i="1" dirty="0" err="1">
                <a:solidFill>
                  <a:schemeClr val="bg1">
                    <a:lumMod val="50000"/>
                  </a:schemeClr>
                </a:solidFill>
              </a:rPr>
              <a:t>Sprott</a:t>
            </a:r>
            <a:r>
              <a:rPr lang="en-US" i="1" dirty="0">
                <a:solidFill>
                  <a:schemeClr val="bg1">
                    <a:lumMod val="50000"/>
                  </a:schemeClr>
                </a:solidFill>
              </a:rPr>
              <a:t> (2004). Dynamical Models of Love. </a:t>
            </a:r>
            <a:endParaRPr lang="nl-NL" dirty="0">
              <a:solidFill>
                <a:schemeClr val="bg1">
                  <a:lumMod val="50000"/>
                </a:schemeClr>
              </a:solidFill>
            </a:endParaRPr>
          </a:p>
        </p:txBody>
      </p:sp>
    </p:spTree>
    <p:extLst>
      <p:ext uri="{BB962C8B-B14F-4D97-AF65-F5344CB8AC3E}">
        <p14:creationId xmlns:p14="http://schemas.microsoft.com/office/powerpoint/2010/main" val="284476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of content</a:t>
            </a:r>
          </a:p>
        </p:txBody>
      </p:sp>
      <p:sp>
        <p:nvSpPr>
          <p:cNvPr id="3" name="Tijdelijke aanduiding voor inhoud 2"/>
          <p:cNvSpPr>
            <a:spLocks noGrp="1"/>
          </p:cNvSpPr>
          <p:nvPr>
            <p:ph idx="1"/>
          </p:nvPr>
        </p:nvSpPr>
        <p:spPr/>
        <p:txBody>
          <a:bodyPr>
            <a:normAutofit/>
          </a:bodyPr>
          <a:lstStyle/>
          <a:p>
            <a:r>
              <a:rPr lang="en-US" sz="2400" dirty="0"/>
              <a:t>This paper has reviewed the potential impact of energy-saving strategies for the management of integrated systems that include computer systems and networks. </a:t>
            </a:r>
          </a:p>
          <a:p>
            <a:r>
              <a:rPr lang="nl-NL" sz="2400" dirty="0"/>
              <a:t>We have </a:t>
            </a:r>
            <a:r>
              <a:rPr lang="nl-NL" sz="2400" dirty="0" err="1"/>
              <a:t>surveyed</a:t>
            </a:r>
            <a:r>
              <a:rPr lang="nl-NL" sz="2400" dirty="0"/>
              <a:t> </a:t>
            </a:r>
            <a:r>
              <a:rPr lang="nl-NL" sz="2400" dirty="0" err="1"/>
              <a:t>the</a:t>
            </a:r>
            <a:r>
              <a:rPr lang="nl-NL" sz="2400" dirty="0"/>
              <a:t> </a:t>
            </a:r>
            <a:r>
              <a:rPr lang="en-US" sz="2400" dirty="0"/>
              <a:t>contributions that are available in this area from recent research.</a:t>
            </a:r>
            <a:endParaRPr lang="nl-NL" sz="2400" dirty="0"/>
          </a:p>
        </p:txBody>
      </p:sp>
      <p:sp>
        <p:nvSpPr>
          <p:cNvPr id="4" name="Rechthoek 3"/>
          <p:cNvSpPr/>
          <p:nvPr/>
        </p:nvSpPr>
        <p:spPr>
          <a:xfrm>
            <a:off x="0" y="6495484"/>
            <a:ext cx="9144000" cy="369332"/>
          </a:xfrm>
          <a:prstGeom prst="rect">
            <a:avLst/>
          </a:prstGeom>
        </p:spPr>
        <p:txBody>
          <a:bodyPr wrap="square">
            <a:spAutoFit/>
          </a:bodyPr>
          <a:lstStyle/>
          <a:p>
            <a:r>
              <a:rPr lang="nl-NL" i="1" dirty="0" err="1">
                <a:solidFill>
                  <a:schemeClr val="bg1">
                    <a:lumMod val="50000"/>
                  </a:schemeClr>
                </a:solidFill>
              </a:rPr>
              <a:t>From</a:t>
            </a:r>
            <a:r>
              <a:rPr lang="nl-NL" i="1" dirty="0">
                <a:solidFill>
                  <a:schemeClr val="bg1">
                    <a:lumMod val="50000"/>
                  </a:schemeClr>
                </a:solidFill>
              </a:rPr>
              <a:t>: </a:t>
            </a:r>
            <a:r>
              <a:rPr lang="nl-NL" i="1" dirty="0" err="1">
                <a:solidFill>
                  <a:schemeClr val="bg1">
                    <a:lumMod val="50000"/>
                  </a:schemeClr>
                </a:solidFill>
              </a:rPr>
              <a:t>Berl</a:t>
            </a:r>
            <a:r>
              <a:rPr lang="nl-NL" i="1" dirty="0">
                <a:solidFill>
                  <a:schemeClr val="bg1">
                    <a:lumMod val="50000"/>
                  </a:schemeClr>
                </a:solidFill>
              </a:rPr>
              <a:t> et al. (2009). Energy-</a:t>
            </a:r>
            <a:r>
              <a:rPr lang="nl-NL" i="1" dirty="0" err="1">
                <a:solidFill>
                  <a:schemeClr val="bg1">
                    <a:lumMod val="50000"/>
                  </a:schemeClr>
                </a:solidFill>
              </a:rPr>
              <a:t>Efficient</a:t>
            </a:r>
            <a:r>
              <a:rPr lang="nl-NL" i="1" dirty="0">
                <a:solidFill>
                  <a:schemeClr val="bg1">
                    <a:lumMod val="50000"/>
                  </a:schemeClr>
                </a:solidFill>
              </a:rPr>
              <a:t> Cloud Computing</a:t>
            </a:r>
          </a:p>
        </p:txBody>
      </p:sp>
    </p:spTree>
    <p:extLst>
      <p:ext uri="{BB962C8B-B14F-4D97-AF65-F5344CB8AC3E}">
        <p14:creationId xmlns:p14="http://schemas.microsoft.com/office/powerpoint/2010/main" val="3068611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of content</a:t>
            </a:r>
          </a:p>
        </p:txBody>
      </p:sp>
      <p:sp>
        <p:nvSpPr>
          <p:cNvPr id="3" name="Tijdelijke aanduiding voor inhoud 2"/>
          <p:cNvSpPr>
            <a:spLocks noGrp="1"/>
          </p:cNvSpPr>
          <p:nvPr>
            <p:ph idx="1"/>
          </p:nvPr>
        </p:nvSpPr>
        <p:spPr/>
        <p:txBody>
          <a:bodyPr>
            <a:normAutofit/>
          </a:bodyPr>
          <a:lstStyle/>
          <a:p>
            <a:r>
              <a:rPr lang="en-US" sz="2400" dirty="0"/>
              <a:t>Our experimental results have indicated a clear relationship between the difficulty of the game and the characteristics of </a:t>
            </a:r>
            <a:r>
              <a:rPr lang="nl-NL" sz="2400" dirty="0" err="1"/>
              <a:t>the</a:t>
            </a:r>
            <a:r>
              <a:rPr lang="nl-NL" sz="2400" dirty="0"/>
              <a:t> </a:t>
            </a:r>
            <a:r>
              <a:rPr lang="nl-NL" sz="2400" dirty="0" err="1"/>
              <a:t>crowd</a:t>
            </a:r>
            <a:r>
              <a:rPr lang="nl-NL" sz="2400" dirty="0"/>
              <a:t>.</a:t>
            </a:r>
          </a:p>
        </p:txBody>
      </p:sp>
      <p:sp>
        <p:nvSpPr>
          <p:cNvPr id="4" name="Rechthoek 3"/>
          <p:cNvSpPr/>
          <p:nvPr/>
        </p:nvSpPr>
        <p:spPr>
          <a:xfrm>
            <a:off x="0" y="6233646"/>
            <a:ext cx="9144000" cy="646331"/>
          </a:xfrm>
          <a:prstGeom prst="rect">
            <a:avLst/>
          </a:prstGeom>
        </p:spPr>
        <p:txBody>
          <a:bodyPr wrap="square">
            <a:spAutoFit/>
          </a:bodyPr>
          <a:lstStyle/>
          <a:p>
            <a:r>
              <a:rPr lang="en-GB" i="1" dirty="0">
                <a:solidFill>
                  <a:schemeClr val="bg1">
                    <a:lumMod val="50000"/>
                  </a:schemeClr>
                </a:solidFill>
              </a:rPr>
              <a:t>From: </a:t>
            </a:r>
            <a:r>
              <a:rPr lang="en-GB" i="1" dirty="0" err="1">
                <a:solidFill>
                  <a:schemeClr val="bg1">
                    <a:lumMod val="50000"/>
                  </a:schemeClr>
                </a:solidFill>
              </a:rPr>
              <a:t>Aydt</a:t>
            </a:r>
            <a:r>
              <a:rPr lang="en-GB" i="1" dirty="0">
                <a:solidFill>
                  <a:schemeClr val="bg1">
                    <a:lumMod val="50000"/>
                  </a:schemeClr>
                </a:solidFill>
              </a:rPr>
              <a:t> et al. (2011). </a:t>
            </a:r>
            <a:r>
              <a:rPr lang="en-US" i="1" dirty="0">
                <a:solidFill>
                  <a:schemeClr val="bg1">
                    <a:lumMod val="50000"/>
                  </a:schemeClr>
                </a:solidFill>
              </a:rPr>
              <a:t>A Computational Model of Emotions for Agent-based Crowds in Serious Games</a:t>
            </a:r>
            <a:endParaRPr lang="en-GB" i="1" dirty="0">
              <a:solidFill>
                <a:schemeClr val="bg1">
                  <a:lumMod val="50000"/>
                </a:schemeClr>
              </a:solidFill>
            </a:endParaRPr>
          </a:p>
        </p:txBody>
      </p:sp>
    </p:spTree>
    <p:extLst>
      <p:ext uri="{BB962C8B-B14F-4D97-AF65-F5344CB8AC3E}">
        <p14:creationId xmlns:p14="http://schemas.microsoft.com/office/powerpoint/2010/main" val="1522033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of content</a:t>
            </a:r>
          </a:p>
        </p:txBody>
      </p:sp>
      <p:sp>
        <p:nvSpPr>
          <p:cNvPr id="3" name="Tijdelijke aanduiding voor inhoud 2"/>
          <p:cNvSpPr>
            <a:spLocks noGrp="1"/>
          </p:cNvSpPr>
          <p:nvPr>
            <p:ph idx="1"/>
          </p:nvPr>
        </p:nvSpPr>
        <p:spPr/>
        <p:txBody>
          <a:bodyPr>
            <a:normAutofit/>
          </a:bodyPr>
          <a:lstStyle/>
          <a:p>
            <a:r>
              <a:rPr lang="en-US" sz="2400" dirty="0"/>
              <a:t>We propose that cloud computing with virtualization is a way forward to (</a:t>
            </a:r>
            <a:r>
              <a:rPr lang="en-US" sz="2400" dirty="0" err="1"/>
              <a:t>i</a:t>
            </a:r>
            <a:r>
              <a:rPr lang="en-US" sz="2400" dirty="0"/>
              <a:t>) identify the main sources of energy consumption, and the significant trade-offs between performance, </a:t>
            </a:r>
            <a:r>
              <a:rPr lang="en-US" sz="2400" dirty="0" err="1"/>
              <a:t>QoS</a:t>
            </a:r>
            <a:r>
              <a:rPr lang="en-US" sz="2400" dirty="0"/>
              <a:t> and energy efficiency and (ii) offer insight into the manner in which energy savings can be achieved in large-scale computer services </a:t>
            </a:r>
            <a:r>
              <a:rPr lang="nl-NL" sz="2400" dirty="0" err="1"/>
              <a:t>that</a:t>
            </a:r>
            <a:r>
              <a:rPr lang="nl-NL" sz="2400" dirty="0"/>
              <a:t> </a:t>
            </a:r>
            <a:r>
              <a:rPr lang="nl-NL" sz="2400" dirty="0" err="1"/>
              <a:t>integrate</a:t>
            </a:r>
            <a:r>
              <a:rPr lang="nl-NL" sz="2400" dirty="0"/>
              <a:t> </a:t>
            </a:r>
            <a:r>
              <a:rPr lang="nl-NL" sz="2400" dirty="0" err="1"/>
              <a:t>communication</a:t>
            </a:r>
            <a:r>
              <a:rPr lang="nl-NL" sz="2400" dirty="0"/>
              <a:t> </a:t>
            </a:r>
            <a:r>
              <a:rPr lang="nl-NL" sz="2400" dirty="0" err="1"/>
              <a:t>needs</a:t>
            </a:r>
            <a:r>
              <a:rPr lang="nl-NL" sz="2400" dirty="0"/>
              <a:t>.</a:t>
            </a:r>
          </a:p>
        </p:txBody>
      </p:sp>
      <p:sp>
        <p:nvSpPr>
          <p:cNvPr id="4" name="Rechthoek 3"/>
          <p:cNvSpPr/>
          <p:nvPr/>
        </p:nvSpPr>
        <p:spPr>
          <a:xfrm>
            <a:off x="0" y="6495484"/>
            <a:ext cx="9144000" cy="369332"/>
          </a:xfrm>
          <a:prstGeom prst="rect">
            <a:avLst/>
          </a:prstGeom>
        </p:spPr>
        <p:txBody>
          <a:bodyPr wrap="square">
            <a:spAutoFit/>
          </a:bodyPr>
          <a:lstStyle/>
          <a:p>
            <a:r>
              <a:rPr lang="nl-NL" i="1" dirty="0" err="1">
                <a:solidFill>
                  <a:schemeClr val="bg1">
                    <a:lumMod val="50000"/>
                  </a:schemeClr>
                </a:solidFill>
              </a:rPr>
              <a:t>From</a:t>
            </a:r>
            <a:r>
              <a:rPr lang="nl-NL" i="1" dirty="0">
                <a:solidFill>
                  <a:schemeClr val="bg1">
                    <a:lumMod val="50000"/>
                  </a:schemeClr>
                </a:solidFill>
              </a:rPr>
              <a:t>: </a:t>
            </a:r>
            <a:r>
              <a:rPr lang="nl-NL" i="1" dirty="0" err="1">
                <a:solidFill>
                  <a:schemeClr val="bg1">
                    <a:lumMod val="50000"/>
                  </a:schemeClr>
                </a:solidFill>
              </a:rPr>
              <a:t>Berl</a:t>
            </a:r>
            <a:r>
              <a:rPr lang="nl-NL" i="1" dirty="0">
                <a:solidFill>
                  <a:schemeClr val="bg1">
                    <a:lumMod val="50000"/>
                  </a:schemeClr>
                </a:solidFill>
              </a:rPr>
              <a:t> et al. (2009). Energy-</a:t>
            </a:r>
            <a:r>
              <a:rPr lang="nl-NL" i="1" dirty="0" err="1">
                <a:solidFill>
                  <a:schemeClr val="bg1">
                    <a:lumMod val="50000"/>
                  </a:schemeClr>
                </a:solidFill>
              </a:rPr>
              <a:t>Efficient</a:t>
            </a:r>
            <a:r>
              <a:rPr lang="nl-NL" i="1" dirty="0">
                <a:solidFill>
                  <a:schemeClr val="bg1">
                    <a:lumMod val="50000"/>
                  </a:schemeClr>
                </a:solidFill>
              </a:rPr>
              <a:t> Cloud Computing</a:t>
            </a:r>
          </a:p>
        </p:txBody>
      </p:sp>
    </p:spTree>
    <p:extLst>
      <p:ext uri="{BB962C8B-B14F-4D97-AF65-F5344CB8AC3E}">
        <p14:creationId xmlns:p14="http://schemas.microsoft.com/office/powerpoint/2010/main" val="3125605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of content</a:t>
            </a:r>
          </a:p>
        </p:txBody>
      </p:sp>
      <p:sp>
        <p:nvSpPr>
          <p:cNvPr id="3" name="Tijdelijke aanduiding voor inhoud 2"/>
          <p:cNvSpPr>
            <a:spLocks noGrp="1"/>
          </p:cNvSpPr>
          <p:nvPr>
            <p:ph idx="1"/>
          </p:nvPr>
        </p:nvSpPr>
        <p:spPr/>
        <p:txBody>
          <a:bodyPr>
            <a:normAutofit/>
          </a:bodyPr>
          <a:lstStyle/>
          <a:p>
            <a:r>
              <a:rPr lang="en-US" sz="2400" dirty="0"/>
              <a:t>Although our emotion engine can handle all common emotions, the only emotion that we have been concerned with in the experiments described here, is anger. In general, future work will be concerned with applications where several emotions play an important role.</a:t>
            </a:r>
            <a:endParaRPr lang="nl-NL" sz="2400" dirty="0"/>
          </a:p>
        </p:txBody>
      </p:sp>
      <p:sp>
        <p:nvSpPr>
          <p:cNvPr id="4" name="Rechthoek 3"/>
          <p:cNvSpPr/>
          <p:nvPr/>
        </p:nvSpPr>
        <p:spPr>
          <a:xfrm>
            <a:off x="0" y="6233646"/>
            <a:ext cx="9144000" cy="646331"/>
          </a:xfrm>
          <a:prstGeom prst="rect">
            <a:avLst/>
          </a:prstGeom>
        </p:spPr>
        <p:txBody>
          <a:bodyPr wrap="square">
            <a:spAutoFit/>
          </a:bodyPr>
          <a:lstStyle/>
          <a:p>
            <a:r>
              <a:rPr lang="en-GB" i="1" dirty="0">
                <a:solidFill>
                  <a:schemeClr val="bg1">
                    <a:lumMod val="50000"/>
                  </a:schemeClr>
                </a:solidFill>
              </a:rPr>
              <a:t>From: </a:t>
            </a:r>
            <a:r>
              <a:rPr lang="en-GB" i="1" dirty="0" err="1">
                <a:solidFill>
                  <a:schemeClr val="bg1">
                    <a:lumMod val="50000"/>
                  </a:schemeClr>
                </a:solidFill>
              </a:rPr>
              <a:t>Aydt</a:t>
            </a:r>
            <a:r>
              <a:rPr lang="en-GB" i="1" dirty="0">
                <a:solidFill>
                  <a:schemeClr val="bg1">
                    <a:lumMod val="50000"/>
                  </a:schemeClr>
                </a:solidFill>
              </a:rPr>
              <a:t> et al. (2011). </a:t>
            </a:r>
            <a:r>
              <a:rPr lang="en-US" i="1" dirty="0">
                <a:solidFill>
                  <a:schemeClr val="bg1">
                    <a:lumMod val="50000"/>
                  </a:schemeClr>
                </a:solidFill>
              </a:rPr>
              <a:t>A Computational Model of Emotions for Agent-based Crowds in Serious Games</a:t>
            </a:r>
            <a:endParaRPr lang="en-GB" i="1" dirty="0">
              <a:solidFill>
                <a:schemeClr val="bg1">
                  <a:lumMod val="50000"/>
                </a:schemeClr>
              </a:solidFill>
            </a:endParaRPr>
          </a:p>
        </p:txBody>
      </p:sp>
    </p:spTree>
    <p:extLst>
      <p:ext uri="{BB962C8B-B14F-4D97-AF65-F5344CB8AC3E}">
        <p14:creationId xmlns:p14="http://schemas.microsoft.com/office/powerpoint/2010/main" val="4088406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For </a:t>
            </a:r>
            <a:r>
              <a:rPr lang="nl-NL" dirty="0" err="1"/>
              <a:t>your</a:t>
            </a:r>
            <a:r>
              <a:rPr lang="nl-NL" dirty="0"/>
              <a:t> </a:t>
            </a:r>
            <a:r>
              <a:rPr lang="nl-NL" dirty="0" err="1"/>
              <a:t>assignment</a:t>
            </a:r>
            <a:r>
              <a:rPr lang="nl-NL" dirty="0"/>
              <a:t>:</a:t>
            </a:r>
          </a:p>
        </p:txBody>
      </p:sp>
      <p:sp>
        <p:nvSpPr>
          <p:cNvPr id="3" name="Tijdelijke aanduiding voor inhoud 2"/>
          <p:cNvSpPr>
            <a:spLocks noGrp="1"/>
          </p:cNvSpPr>
          <p:nvPr>
            <p:ph idx="1"/>
          </p:nvPr>
        </p:nvSpPr>
        <p:spPr/>
        <p:txBody>
          <a:bodyPr>
            <a:normAutofit/>
          </a:bodyPr>
          <a:lstStyle/>
          <a:p>
            <a:pPr>
              <a:buFont typeface="Arial" panose="020B0604020202020204" pitchFamily="34" charset="0"/>
              <a:buChar char="•"/>
            </a:pPr>
            <a:r>
              <a:rPr lang="nl-NL" sz="2400" dirty="0"/>
              <a:t> </a:t>
            </a:r>
            <a:r>
              <a:rPr lang="nl-NL" sz="2400" dirty="0" err="1"/>
              <a:t>Conclusion</a:t>
            </a:r>
            <a:r>
              <a:rPr lang="nl-NL" sz="2400" dirty="0"/>
              <a:t> of </a:t>
            </a:r>
            <a:r>
              <a:rPr lang="nl-NL" sz="2400" dirty="0" err="1"/>
              <a:t>just</a:t>
            </a:r>
            <a:r>
              <a:rPr lang="nl-NL" sz="2400" dirty="0"/>
              <a:t> </a:t>
            </a:r>
            <a:r>
              <a:rPr lang="nl-NL" sz="2400" dirty="0" err="1"/>
              <a:t>one</a:t>
            </a:r>
            <a:r>
              <a:rPr lang="nl-NL" sz="2400" dirty="0"/>
              <a:t> </a:t>
            </a:r>
            <a:r>
              <a:rPr lang="nl-NL" sz="2400" dirty="0" err="1"/>
              <a:t>paragraph</a:t>
            </a:r>
            <a:r>
              <a:rPr lang="nl-NL" sz="2400" dirty="0"/>
              <a:t> (</a:t>
            </a:r>
            <a:r>
              <a:rPr lang="nl-NL" sz="2400" dirty="0" err="1"/>
              <a:t>roughly</a:t>
            </a:r>
            <a:r>
              <a:rPr lang="nl-NL" sz="2400" dirty="0"/>
              <a:t> 200 </a:t>
            </a:r>
            <a:r>
              <a:rPr lang="nl-NL" sz="2400" dirty="0" err="1"/>
              <a:t>words</a:t>
            </a:r>
            <a:r>
              <a:rPr lang="nl-NL" sz="2400" dirty="0"/>
              <a:t>)</a:t>
            </a:r>
          </a:p>
          <a:p>
            <a:pPr>
              <a:buFont typeface="Arial" panose="020B0604020202020204" pitchFamily="34" charset="0"/>
              <a:buChar char="•"/>
            </a:pPr>
            <a:endParaRPr lang="nl-NL" sz="2400" dirty="0"/>
          </a:p>
          <a:p>
            <a:pPr>
              <a:buFont typeface="Arial" panose="020B0604020202020204" pitchFamily="34" charset="0"/>
              <a:buChar char="•"/>
            </a:pPr>
            <a:r>
              <a:rPr lang="nl-NL" sz="2400" dirty="0"/>
              <a:t> </a:t>
            </a:r>
            <a:r>
              <a:rPr lang="nl-NL" sz="2400" dirty="0" err="1"/>
              <a:t>What</a:t>
            </a:r>
            <a:r>
              <a:rPr lang="nl-NL" sz="2400" dirty="0"/>
              <a:t> </a:t>
            </a:r>
            <a:r>
              <a:rPr lang="nl-NL" sz="2400" dirty="0" err="1"/>
              <a:t>can</a:t>
            </a:r>
            <a:r>
              <a:rPr lang="nl-NL" sz="2400" dirty="0"/>
              <a:t> </a:t>
            </a:r>
            <a:r>
              <a:rPr lang="nl-NL" sz="2400" dirty="0" err="1"/>
              <a:t>you</a:t>
            </a:r>
            <a:r>
              <a:rPr lang="nl-NL" sz="2400" dirty="0"/>
              <a:t> do in </a:t>
            </a:r>
            <a:r>
              <a:rPr lang="nl-NL" sz="2400" dirty="0" err="1"/>
              <a:t>those</a:t>
            </a:r>
            <a:r>
              <a:rPr lang="nl-NL" sz="2400" dirty="0"/>
              <a:t> 200 </a:t>
            </a:r>
            <a:r>
              <a:rPr lang="nl-NL" sz="2400" dirty="0" err="1"/>
              <a:t>words</a:t>
            </a:r>
            <a:r>
              <a:rPr lang="nl-NL" sz="2400" dirty="0"/>
              <a:t>?</a:t>
            </a:r>
          </a:p>
          <a:p>
            <a:pPr>
              <a:buFont typeface="Arial" panose="020B0604020202020204" pitchFamily="34" charset="0"/>
              <a:buChar char="•"/>
            </a:pPr>
            <a:r>
              <a:rPr lang="nl-NL" sz="2400" dirty="0"/>
              <a:t> </a:t>
            </a:r>
            <a:r>
              <a:rPr lang="nl-NL" sz="2400" dirty="0" err="1"/>
              <a:t>What</a:t>
            </a:r>
            <a:r>
              <a:rPr lang="nl-NL" sz="2400" dirty="0"/>
              <a:t> is </a:t>
            </a:r>
            <a:r>
              <a:rPr lang="nl-NL" sz="2400" dirty="0" err="1"/>
              <a:t>suitable</a:t>
            </a:r>
            <a:r>
              <a:rPr lang="nl-NL" sz="2400" dirty="0"/>
              <a:t> </a:t>
            </a:r>
            <a:r>
              <a:rPr lang="nl-NL" sz="2400" dirty="0" err="1"/>
              <a:t>for</a:t>
            </a:r>
            <a:r>
              <a:rPr lang="nl-NL" sz="2400" dirty="0"/>
              <a:t> a </a:t>
            </a:r>
            <a:r>
              <a:rPr lang="nl-NL" sz="2400" dirty="0" err="1"/>
              <a:t>literature</a:t>
            </a:r>
            <a:r>
              <a:rPr lang="nl-NL" sz="2400" dirty="0"/>
              <a:t> review essay?</a:t>
            </a:r>
          </a:p>
        </p:txBody>
      </p:sp>
    </p:spTree>
    <p:extLst>
      <p:ext uri="{BB962C8B-B14F-4D97-AF65-F5344CB8AC3E}">
        <p14:creationId xmlns:p14="http://schemas.microsoft.com/office/powerpoint/2010/main" val="2512252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Do’s </a:t>
            </a:r>
            <a:r>
              <a:rPr lang="nl-NL" dirty="0" err="1"/>
              <a:t>and</a:t>
            </a:r>
            <a:r>
              <a:rPr lang="nl-NL" dirty="0"/>
              <a:t> </a:t>
            </a:r>
            <a:r>
              <a:rPr lang="nl-NL" dirty="0" err="1"/>
              <a:t>don’ts</a:t>
            </a:r>
            <a:r>
              <a:rPr lang="nl-NL" dirty="0"/>
              <a:t> </a:t>
            </a:r>
            <a:r>
              <a:rPr lang="nl-NL" dirty="0" err="1"/>
              <a:t>And</a:t>
            </a:r>
            <a:r>
              <a:rPr lang="nl-NL" dirty="0"/>
              <a:t> Buts</a:t>
            </a:r>
            <a:endParaRPr lang="en-GB" dirty="0"/>
          </a:p>
        </p:txBody>
      </p:sp>
      <p:sp>
        <p:nvSpPr>
          <p:cNvPr id="3" name="Tijdelijke aanduiding voor inhoud 2"/>
          <p:cNvSpPr>
            <a:spLocks noGrp="1"/>
          </p:cNvSpPr>
          <p:nvPr>
            <p:ph idx="1"/>
          </p:nvPr>
        </p:nvSpPr>
        <p:spPr>
          <a:xfrm>
            <a:off x="152400" y="1930400"/>
            <a:ext cx="8648700" cy="4378960"/>
          </a:xfrm>
        </p:spPr>
        <p:txBody>
          <a:bodyPr>
            <a:noAutofit/>
          </a:bodyPr>
          <a:lstStyle/>
          <a:p>
            <a:pPr>
              <a:buFont typeface="Arial" panose="020B0604020202020204" pitchFamily="34" charset="0"/>
              <a:buChar char="•"/>
            </a:pPr>
            <a:r>
              <a:rPr lang="nl-NL" sz="2400" dirty="0"/>
              <a:t> Do </a:t>
            </a:r>
            <a:r>
              <a:rPr lang="nl-NL" sz="2400" dirty="0" err="1"/>
              <a:t>synthesize</a:t>
            </a:r>
            <a:r>
              <a:rPr lang="nl-NL" sz="2400" dirty="0"/>
              <a:t> </a:t>
            </a:r>
            <a:r>
              <a:rPr lang="nl-NL" sz="2400" dirty="0" err="1"/>
              <a:t>findings</a:t>
            </a:r>
            <a:r>
              <a:rPr lang="nl-NL" sz="2400" dirty="0"/>
              <a:t>…</a:t>
            </a:r>
          </a:p>
          <a:p>
            <a:pPr marL="0" indent="0">
              <a:buNone/>
            </a:pPr>
            <a:r>
              <a:rPr lang="nl-NL" sz="2400" dirty="0"/>
              <a:t>		but </a:t>
            </a:r>
            <a:r>
              <a:rPr lang="nl-NL" sz="2400" dirty="0" err="1"/>
              <a:t>don’t</a:t>
            </a:r>
            <a:r>
              <a:rPr lang="nl-NL" sz="2400" dirty="0"/>
              <a:t> </a:t>
            </a:r>
            <a:r>
              <a:rPr lang="nl-NL" sz="2400" dirty="0" err="1"/>
              <a:t>repeat</a:t>
            </a:r>
            <a:r>
              <a:rPr lang="nl-NL" sz="2400" dirty="0"/>
              <a:t> </a:t>
            </a:r>
            <a:r>
              <a:rPr lang="nl-NL" sz="2400" dirty="0" err="1"/>
              <a:t>everything</a:t>
            </a:r>
            <a:r>
              <a:rPr lang="nl-NL" sz="2400" dirty="0"/>
              <a:t> </a:t>
            </a:r>
            <a:r>
              <a:rPr lang="nl-NL" sz="2400" dirty="0" err="1"/>
              <a:t>you’ve</a:t>
            </a:r>
            <a:r>
              <a:rPr lang="nl-NL" sz="2400" dirty="0"/>
              <a:t> </a:t>
            </a:r>
            <a:r>
              <a:rPr lang="nl-NL" sz="2400" dirty="0" err="1"/>
              <a:t>just</a:t>
            </a:r>
            <a:r>
              <a:rPr lang="nl-NL" sz="2400" dirty="0"/>
              <a:t> </a:t>
            </a:r>
            <a:r>
              <a:rPr lang="nl-NL" sz="2400" dirty="0" err="1"/>
              <a:t>said</a:t>
            </a:r>
            <a:r>
              <a:rPr lang="nl-NL" sz="2400" dirty="0"/>
              <a:t> (we 			</a:t>
            </a:r>
            <a:r>
              <a:rPr lang="nl-NL" sz="2400" dirty="0" err="1"/>
              <a:t>remember</a:t>
            </a:r>
            <a:r>
              <a:rPr lang="nl-NL" sz="2400" dirty="0"/>
              <a:t>)</a:t>
            </a:r>
          </a:p>
          <a:p>
            <a:pPr>
              <a:buFont typeface="Arial" panose="020B0604020202020204" pitchFamily="34" charset="0"/>
              <a:buChar char="•"/>
            </a:pPr>
            <a:r>
              <a:rPr lang="nl-NL" sz="2400" dirty="0"/>
              <a:t> Do </a:t>
            </a:r>
            <a:r>
              <a:rPr lang="nl-NL" sz="2400" dirty="0" err="1"/>
              <a:t>give</a:t>
            </a:r>
            <a:r>
              <a:rPr lang="nl-NL" sz="2400" dirty="0"/>
              <a:t> </a:t>
            </a:r>
            <a:r>
              <a:rPr lang="nl-NL" sz="2400" dirty="0" err="1"/>
              <a:t>one</a:t>
            </a:r>
            <a:r>
              <a:rPr lang="nl-NL" sz="2400" dirty="0"/>
              <a:t> or </a:t>
            </a:r>
            <a:r>
              <a:rPr lang="nl-NL" sz="2400" dirty="0" err="1"/>
              <a:t>two</a:t>
            </a:r>
            <a:r>
              <a:rPr lang="nl-NL" sz="2400" dirty="0"/>
              <a:t> </a:t>
            </a:r>
            <a:r>
              <a:rPr lang="nl-NL" sz="2400" dirty="0" err="1"/>
              <a:t>sentences</a:t>
            </a:r>
            <a:r>
              <a:rPr lang="nl-NL" sz="2400" dirty="0"/>
              <a:t> </a:t>
            </a:r>
            <a:r>
              <a:rPr lang="nl-NL" sz="2400" dirty="0" err="1"/>
              <a:t>which</a:t>
            </a:r>
            <a:r>
              <a:rPr lang="nl-NL" sz="2400" dirty="0"/>
              <a:t> </a:t>
            </a:r>
            <a:r>
              <a:rPr lang="nl-NL" sz="2400" dirty="0" err="1"/>
              <a:t>provide</a:t>
            </a:r>
            <a:r>
              <a:rPr lang="nl-NL" sz="2400" dirty="0"/>
              <a:t> </a:t>
            </a:r>
            <a:r>
              <a:rPr lang="nl-NL" sz="2400" dirty="0" err="1"/>
              <a:t>an</a:t>
            </a:r>
            <a:r>
              <a:rPr lang="nl-NL" sz="2400" dirty="0"/>
              <a:t> </a:t>
            </a:r>
            <a:r>
              <a:rPr lang="nl-NL" sz="2400" dirty="0" err="1"/>
              <a:t>answer</a:t>
            </a:r>
            <a:r>
              <a:rPr lang="nl-NL" sz="2400" dirty="0"/>
              <a:t> </a:t>
            </a:r>
            <a:r>
              <a:rPr lang="nl-NL" sz="2400" dirty="0" err="1"/>
              <a:t>to</a:t>
            </a:r>
            <a:r>
              <a:rPr lang="nl-NL" sz="2400" dirty="0"/>
              <a:t> </a:t>
            </a:r>
            <a:r>
              <a:rPr lang="nl-NL" sz="2400" dirty="0" err="1"/>
              <a:t>your</a:t>
            </a:r>
            <a:r>
              <a:rPr lang="nl-NL" sz="2400" dirty="0"/>
              <a:t> thesis statement (even </a:t>
            </a:r>
            <a:r>
              <a:rPr lang="nl-NL" sz="2400" dirty="0" err="1"/>
              <a:t>if</a:t>
            </a:r>
            <a:r>
              <a:rPr lang="nl-NL" sz="2400" dirty="0"/>
              <a:t> </a:t>
            </a:r>
            <a:r>
              <a:rPr lang="nl-NL" sz="2400" dirty="0" err="1"/>
              <a:t>it</a:t>
            </a:r>
            <a:r>
              <a:rPr lang="nl-NL" sz="2400" dirty="0"/>
              <a:t> is </a:t>
            </a:r>
            <a:r>
              <a:rPr lang="nl-NL" sz="2400" dirty="0" err="1"/>
              <a:t>not</a:t>
            </a:r>
            <a:r>
              <a:rPr lang="nl-NL" sz="2400" dirty="0"/>
              <a:t> a question)</a:t>
            </a:r>
          </a:p>
          <a:p>
            <a:pPr marL="0" indent="0">
              <a:buNone/>
            </a:pPr>
            <a:r>
              <a:rPr lang="nl-NL" sz="2400" dirty="0"/>
              <a:t>		but make </a:t>
            </a:r>
            <a:r>
              <a:rPr lang="nl-NL" sz="2400" dirty="0" err="1"/>
              <a:t>sure</a:t>
            </a:r>
            <a:r>
              <a:rPr lang="nl-NL" sz="2400" dirty="0"/>
              <a:t> </a:t>
            </a:r>
            <a:r>
              <a:rPr lang="nl-NL" sz="2400" dirty="0" err="1"/>
              <a:t>it’s</a:t>
            </a:r>
            <a:r>
              <a:rPr lang="nl-NL" sz="2400" dirty="0"/>
              <a:t> </a:t>
            </a:r>
            <a:r>
              <a:rPr lang="nl-NL" sz="2400" dirty="0" err="1"/>
              <a:t>based</a:t>
            </a:r>
            <a:r>
              <a:rPr lang="nl-NL" sz="2400" dirty="0"/>
              <a:t> on </a:t>
            </a:r>
            <a:r>
              <a:rPr lang="nl-NL" sz="2400" dirty="0" err="1"/>
              <a:t>what</a:t>
            </a:r>
            <a:r>
              <a:rPr lang="nl-NL" sz="2400" dirty="0"/>
              <a:t> </a:t>
            </a:r>
            <a:r>
              <a:rPr lang="nl-NL" sz="2400" dirty="0" err="1"/>
              <a:t>you</a:t>
            </a:r>
            <a:r>
              <a:rPr lang="nl-NL" sz="2400" dirty="0"/>
              <a:t> </a:t>
            </a:r>
            <a:r>
              <a:rPr lang="nl-NL" sz="2400" dirty="0" err="1"/>
              <a:t>actually</a:t>
            </a:r>
            <a:r>
              <a:rPr lang="nl-NL" sz="2400" dirty="0"/>
              <a:t> 			</a:t>
            </a:r>
            <a:r>
              <a:rPr lang="nl-NL" sz="2400" dirty="0" err="1"/>
              <a:t>discuss</a:t>
            </a:r>
            <a:r>
              <a:rPr lang="nl-NL" sz="2400" dirty="0"/>
              <a:t>.</a:t>
            </a:r>
          </a:p>
          <a:p>
            <a:pPr>
              <a:buFont typeface="Arial" panose="020B0604020202020204" pitchFamily="34" charset="0"/>
              <a:buChar char="•"/>
            </a:pPr>
            <a:r>
              <a:rPr lang="nl-NL" sz="2400" dirty="0"/>
              <a:t> Do talk </a:t>
            </a:r>
            <a:r>
              <a:rPr lang="nl-NL" sz="2400" dirty="0" err="1"/>
              <a:t>about</a:t>
            </a:r>
            <a:r>
              <a:rPr lang="nl-NL" sz="2400" dirty="0"/>
              <a:t> </a:t>
            </a:r>
            <a:r>
              <a:rPr lang="nl-NL" sz="2400" dirty="0" err="1"/>
              <a:t>implications</a:t>
            </a:r>
            <a:r>
              <a:rPr lang="nl-NL" sz="2400" dirty="0"/>
              <a:t>. </a:t>
            </a:r>
            <a:r>
              <a:rPr lang="nl-NL" sz="2400" dirty="0" err="1"/>
              <a:t>What</a:t>
            </a:r>
            <a:r>
              <a:rPr lang="nl-NL" sz="2400" dirty="0"/>
              <a:t> do </a:t>
            </a:r>
            <a:r>
              <a:rPr lang="nl-NL" sz="2400" dirty="0" err="1"/>
              <a:t>your</a:t>
            </a:r>
            <a:r>
              <a:rPr lang="nl-NL" sz="2400" dirty="0"/>
              <a:t> ‘</a:t>
            </a:r>
            <a:r>
              <a:rPr lang="nl-NL" sz="2400" dirty="0" err="1"/>
              <a:t>findings</a:t>
            </a:r>
            <a:r>
              <a:rPr lang="nl-NL" sz="2400" dirty="0"/>
              <a:t>’ </a:t>
            </a:r>
            <a:r>
              <a:rPr lang="nl-NL" sz="2400" dirty="0" err="1"/>
              <a:t>mean</a:t>
            </a:r>
            <a:r>
              <a:rPr lang="nl-NL" sz="2400" dirty="0"/>
              <a:t>? …</a:t>
            </a:r>
          </a:p>
          <a:p>
            <a:pPr marL="0" indent="0">
              <a:buNone/>
            </a:pPr>
            <a:r>
              <a:rPr lang="nl-NL" sz="2400" dirty="0"/>
              <a:t>		but </a:t>
            </a:r>
            <a:r>
              <a:rPr lang="nl-NL" sz="2400" dirty="0" err="1"/>
              <a:t>don’t</a:t>
            </a:r>
            <a:r>
              <a:rPr lang="nl-NL" sz="2400" dirty="0"/>
              <a:t> make claims </a:t>
            </a:r>
            <a:r>
              <a:rPr lang="nl-NL" sz="2400" dirty="0" err="1"/>
              <a:t>that</a:t>
            </a:r>
            <a:r>
              <a:rPr lang="nl-NL" sz="2400" dirty="0"/>
              <a:t> are </a:t>
            </a:r>
            <a:r>
              <a:rPr lang="nl-NL" sz="2400" dirty="0" err="1"/>
              <a:t>too</a:t>
            </a:r>
            <a:r>
              <a:rPr lang="nl-NL" sz="2400" dirty="0"/>
              <a:t> big.</a:t>
            </a:r>
          </a:p>
          <a:p>
            <a:pPr>
              <a:buFont typeface="Arial" panose="020B0604020202020204" pitchFamily="34" charset="0"/>
              <a:buChar char="•"/>
            </a:pPr>
            <a:r>
              <a:rPr lang="nl-NL" sz="2400" dirty="0"/>
              <a:t> Do talk </a:t>
            </a:r>
            <a:r>
              <a:rPr lang="nl-NL" sz="2400" dirty="0" err="1"/>
              <a:t>about</a:t>
            </a:r>
            <a:r>
              <a:rPr lang="nl-NL" sz="2400" dirty="0"/>
              <a:t> </a:t>
            </a:r>
            <a:r>
              <a:rPr lang="nl-NL" sz="2400" dirty="0" err="1"/>
              <a:t>further</a:t>
            </a:r>
            <a:r>
              <a:rPr lang="nl-NL" sz="2400" dirty="0"/>
              <a:t> research, </a:t>
            </a:r>
            <a:r>
              <a:rPr lang="nl-NL" sz="2400" dirty="0" err="1"/>
              <a:t>if</a:t>
            </a:r>
            <a:r>
              <a:rPr lang="nl-NL" sz="2400" dirty="0"/>
              <a:t> relevant...</a:t>
            </a:r>
          </a:p>
          <a:p>
            <a:pPr marL="0" indent="0">
              <a:buNone/>
            </a:pPr>
            <a:r>
              <a:rPr lang="nl-NL" sz="2400" dirty="0"/>
              <a:t>		but </a:t>
            </a:r>
            <a:r>
              <a:rPr lang="nl-NL" sz="2400" dirty="0" err="1"/>
              <a:t>try</a:t>
            </a:r>
            <a:r>
              <a:rPr lang="nl-NL" sz="2400" dirty="0"/>
              <a:t> </a:t>
            </a:r>
            <a:r>
              <a:rPr lang="nl-NL" sz="2400" dirty="0" err="1"/>
              <a:t>to</a:t>
            </a:r>
            <a:r>
              <a:rPr lang="nl-NL" sz="2400" dirty="0"/>
              <a:t> make </a:t>
            </a:r>
            <a:r>
              <a:rPr lang="nl-NL" sz="2400" dirty="0" err="1"/>
              <a:t>it</a:t>
            </a:r>
            <a:r>
              <a:rPr lang="nl-NL" sz="2400" dirty="0"/>
              <a:t> </a:t>
            </a:r>
            <a:r>
              <a:rPr lang="nl-NL" sz="2400" dirty="0" err="1"/>
              <a:t>specific</a:t>
            </a:r>
            <a:r>
              <a:rPr lang="nl-NL" sz="2400" dirty="0"/>
              <a:t>.</a:t>
            </a:r>
          </a:p>
        </p:txBody>
      </p:sp>
    </p:spTree>
    <p:extLst>
      <p:ext uri="{BB962C8B-B14F-4D97-AF65-F5344CB8AC3E}">
        <p14:creationId xmlns:p14="http://schemas.microsoft.com/office/powerpoint/2010/main" val="214295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END?</a:t>
            </a:r>
          </a:p>
        </p:txBody>
      </p:sp>
    </p:spTree>
    <p:extLst>
      <p:ext uri="{BB962C8B-B14F-4D97-AF65-F5344CB8AC3E}">
        <p14:creationId xmlns:p14="http://schemas.microsoft.com/office/powerpoint/2010/main" val="3669183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NL"/>
          </a:p>
        </p:txBody>
      </p:sp>
      <p:sp>
        <p:nvSpPr>
          <p:cNvPr id="3" name="Tijdelijke aanduiding voor inhoud 2"/>
          <p:cNvSpPr>
            <a:spLocks noGrp="1"/>
          </p:cNvSpPr>
          <p:nvPr>
            <p:ph idx="1"/>
          </p:nvPr>
        </p:nvSpPr>
        <p:spPr/>
        <p:txBody>
          <a:bodyPr/>
          <a:lstStyle/>
          <a:p>
            <a:endParaRPr lang="nl-NL"/>
          </a:p>
        </p:txBody>
      </p:sp>
      <p:pic>
        <p:nvPicPr>
          <p:cNvPr id="5122" name="Picture 2" descr="http://www.brood.net/public/recepten/lunch/hollandse-uitsmijter.jpg"/>
          <p:cNvPicPr>
            <a:picLocks noChangeAspect="1" noChangeArrowheads="1"/>
          </p:cNvPicPr>
          <p:nvPr/>
        </p:nvPicPr>
        <p:blipFill rotWithShape="1">
          <a:blip r:embed="rId3">
            <a:extLst>
              <a:ext uri="{28A0092B-C50C-407E-A947-70E740481C1C}">
                <a14:useLocalDpi xmlns:a14="http://schemas.microsoft.com/office/drawing/2010/main" val="0"/>
              </a:ext>
            </a:extLst>
          </a:blip>
          <a:srcRect b="5997"/>
          <a:stretch/>
        </p:blipFill>
        <p:spPr bwMode="auto">
          <a:xfrm>
            <a:off x="-1" y="0"/>
            <a:ext cx="916713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p:cNvSpPr/>
          <p:nvPr/>
        </p:nvSpPr>
        <p:spPr>
          <a:xfrm>
            <a:off x="4595134" y="6581001"/>
            <a:ext cx="4572000" cy="276999"/>
          </a:xfrm>
          <a:prstGeom prst="rect">
            <a:avLst/>
          </a:prstGeom>
        </p:spPr>
        <p:txBody>
          <a:bodyPr>
            <a:spAutoFit/>
          </a:bodyPr>
          <a:lstStyle/>
          <a:p>
            <a:pPr algn="r"/>
            <a:r>
              <a:rPr lang="nl-NL" sz="1200" dirty="0">
                <a:hlinkClick r:id="rId4"/>
              </a:rPr>
              <a:t>http://www.brood.net/public/recepten/lunch/hollandse-uitsmijter.jpg</a:t>
            </a:r>
            <a:r>
              <a:rPr lang="nl-NL" sz="1200" dirty="0"/>
              <a:t> </a:t>
            </a:r>
          </a:p>
        </p:txBody>
      </p:sp>
      <p:pic>
        <p:nvPicPr>
          <p:cNvPr id="2050" name="Picture 2" descr="Licensing for Security Texa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29100" y="3031024"/>
            <a:ext cx="4938034" cy="3826976"/>
          </a:xfrm>
          <a:prstGeom prst="rect">
            <a:avLst/>
          </a:prstGeom>
          <a:noFill/>
          <a:extLst>
            <a:ext uri="{909E8E84-426E-40DD-AFC4-6F175D3DCCD1}">
              <a14:hiddenFill xmlns:a14="http://schemas.microsoft.com/office/drawing/2010/main">
                <a:solidFill>
                  <a:srgbClr val="FFFFFF"/>
                </a:solidFill>
              </a14:hiddenFill>
            </a:ext>
          </a:extLst>
        </p:spPr>
      </p:pic>
      <p:sp>
        <p:nvSpPr>
          <p:cNvPr id="5" name="Rechthoek 4"/>
          <p:cNvSpPr/>
          <p:nvPr/>
        </p:nvSpPr>
        <p:spPr>
          <a:xfrm>
            <a:off x="-20319" y="6396335"/>
            <a:ext cx="4572000" cy="461665"/>
          </a:xfrm>
          <a:prstGeom prst="rect">
            <a:avLst/>
          </a:prstGeom>
        </p:spPr>
        <p:txBody>
          <a:bodyPr>
            <a:spAutoFit/>
          </a:bodyPr>
          <a:lstStyle/>
          <a:p>
            <a:r>
              <a:rPr lang="en-GB" sz="1200" dirty="0">
                <a:hlinkClick r:id="rId6"/>
              </a:rPr>
              <a:t>http://securityservicenews.com/wp-content/uploads/2016/02/Security-License-Requirements-Texas-1.png</a:t>
            </a:r>
            <a:r>
              <a:rPr lang="en-GB" sz="1200" dirty="0"/>
              <a:t> </a:t>
            </a:r>
          </a:p>
        </p:txBody>
      </p:sp>
    </p:spTree>
    <p:extLst>
      <p:ext uri="{BB962C8B-B14F-4D97-AF65-F5344CB8AC3E}">
        <p14:creationId xmlns:p14="http://schemas.microsoft.com/office/powerpoint/2010/main" val="3206934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Final</a:t>
            </a:r>
            <a:r>
              <a:rPr lang="nl-NL" dirty="0"/>
              <a:t> </a:t>
            </a:r>
            <a:r>
              <a:rPr lang="nl-NL" dirty="0" err="1"/>
              <a:t>words</a:t>
            </a:r>
            <a:r>
              <a:rPr lang="nl-NL" dirty="0"/>
              <a:t> (uitsmijter/</a:t>
            </a:r>
            <a:r>
              <a:rPr lang="nl-NL" dirty="0" err="1"/>
              <a:t>bouncer</a:t>
            </a:r>
            <a:r>
              <a:rPr lang="nl-NL" dirty="0"/>
              <a:t>)</a:t>
            </a:r>
          </a:p>
        </p:txBody>
      </p:sp>
      <p:sp>
        <p:nvSpPr>
          <p:cNvPr id="3" name="Tijdelijke aanduiding voor inhoud 2"/>
          <p:cNvSpPr>
            <a:spLocks noGrp="1"/>
          </p:cNvSpPr>
          <p:nvPr>
            <p:ph idx="1"/>
          </p:nvPr>
        </p:nvSpPr>
        <p:spPr/>
        <p:txBody>
          <a:bodyPr>
            <a:normAutofit/>
          </a:bodyPr>
          <a:lstStyle/>
          <a:p>
            <a:pPr>
              <a:buFont typeface="Arial" panose="020B0604020202020204" pitchFamily="34" charset="0"/>
              <a:buChar char="•"/>
            </a:pPr>
            <a:r>
              <a:rPr lang="en-US" sz="2400" dirty="0"/>
              <a:t> Future work would involve finding ways that this new NFR could be defined and achieved.</a:t>
            </a:r>
          </a:p>
          <a:p>
            <a:pPr>
              <a:buFont typeface="Arial" panose="020B0604020202020204" pitchFamily="34" charset="0"/>
              <a:buChar char="•"/>
            </a:pPr>
            <a:r>
              <a:rPr lang="en-US" sz="2400" dirty="0"/>
              <a:t> With the inevitable bugs and potential for manipulation, our elections need to generate the most accurate tallies possible. This can only be achieved with election systems that are, by design, not dependent on the correctness of their software.</a:t>
            </a:r>
          </a:p>
          <a:p>
            <a:pPr>
              <a:buFont typeface="Arial" panose="020B0604020202020204" pitchFamily="34" charset="0"/>
              <a:buChar char="•"/>
            </a:pPr>
            <a:r>
              <a:rPr lang="en-US" sz="2400" dirty="0"/>
              <a:t> We plan to adapt our formalizations to the new platform, as soon as it will be available. </a:t>
            </a:r>
            <a:endParaRPr lang="nl-NL" sz="2400" dirty="0"/>
          </a:p>
        </p:txBody>
      </p:sp>
    </p:spTree>
    <p:extLst>
      <p:ext uri="{BB962C8B-B14F-4D97-AF65-F5344CB8AC3E}">
        <p14:creationId xmlns:p14="http://schemas.microsoft.com/office/powerpoint/2010/main" val="91406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If</a:t>
            </a:r>
            <a:r>
              <a:rPr lang="nl-NL" dirty="0"/>
              <a:t> </a:t>
            </a:r>
            <a:r>
              <a:rPr lang="nl-NL" dirty="0" err="1"/>
              <a:t>you’re</a:t>
            </a:r>
            <a:r>
              <a:rPr lang="nl-NL" dirty="0"/>
              <a:t> lost </a:t>
            </a:r>
            <a:r>
              <a:rPr lang="nl-NL" dirty="0" err="1"/>
              <a:t>for</a:t>
            </a:r>
            <a:r>
              <a:rPr lang="nl-NL" dirty="0"/>
              <a:t> </a:t>
            </a:r>
            <a:r>
              <a:rPr lang="nl-NL" dirty="0" err="1"/>
              <a:t>words</a:t>
            </a:r>
            <a:endParaRPr lang="en-GB" dirty="0"/>
          </a:p>
        </p:txBody>
      </p:sp>
      <p:sp>
        <p:nvSpPr>
          <p:cNvPr id="3" name="Tijdelijke aanduiding voor inhoud 2"/>
          <p:cNvSpPr>
            <a:spLocks noGrp="1"/>
          </p:cNvSpPr>
          <p:nvPr>
            <p:ph idx="1"/>
          </p:nvPr>
        </p:nvSpPr>
        <p:spPr/>
        <p:txBody>
          <a:bodyPr/>
          <a:lstStyle/>
          <a:p>
            <a:r>
              <a:rPr lang="en-GB" dirty="0">
                <a:hlinkClick r:id="rId2"/>
              </a:rPr>
              <a:t>http://www.phrasebank.manchester.ac.uk/writing-conclusions/</a:t>
            </a:r>
            <a:r>
              <a:rPr lang="en-GB" dirty="0"/>
              <a:t> </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988" y="2916238"/>
            <a:ext cx="7441145" cy="32915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9809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If</a:t>
            </a:r>
            <a:r>
              <a:rPr lang="nl-NL" dirty="0"/>
              <a:t> </a:t>
            </a:r>
            <a:r>
              <a:rPr lang="nl-NL" dirty="0" err="1"/>
              <a:t>you’re</a:t>
            </a:r>
            <a:r>
              <a:rPr lang="nl-NL" dirty="0"/>
              <a:t> lost </a:t>
            </a:r>
            <a:r>
              <a:rPr lang="nl-NL" dirty="0" err="1"/>
              <a:t>for</a:t>
            </a:r>
            <a:r>
              <a:rPr lang="nl-NL" dirty="0"/>
              <a:t> </a:t>
            </a:r>
            <a:r>
              <a:rPr lang="nl-NL" dirty="0" err="1"/>
              <a:t>words</a:t>
            </a:r>
            <a:endParaRPr lang="en-GB" dirty="0"/>
          </a:p>
        </p:txBody>
      </p:sp>
      <p:sp>
        <p:nvSpPr>
          <p:cNvPr id="3" name="Tijdelijke aanduiding voor inhoud 2"/>
          <p:cNvSpPr>
            <a:spLocks noGrp="1"/>
          </p:cNvSpPr>
          <p:nvPr>
            <p:ph idx="1"/>
          </p:nvPr>
        </p:nvSpPr>
        <p:spPr/>
        <p:txBody>
          <a:bodyPr/>
          <a:lstStyle/>
          <a:p>
            <a:r>
              <a:rPr lang="en-GB" dirty="0">
                <a:hlinkClick r:id="rId2"/>
              </a:rPr>
              <a:t>http://www.phrasebank.manchester.ac.uk/writing-conclusions/</a:t>
            </a:r>
            <a:r>
              <a:rPr lang="en-GB" dirty="0"/>
              <a:t> </a:t>
            </a: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934"/>
          <a:stretch/>
        </p:blipFill>
        <p:spPr bwMode="auto">
          <a:xfrm>
            <a:off x="0" y="3241040"/>
            <a:ext cx="9144000" cy="3017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0501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a:t>Today</a:t>
            </a:r>
            <a:r>
              <a:rPr lang="nl-NL" dirty="0"/>
              <a:t>: </a:t>
            </a:r>
            <a:r>
              <a:rPr lang="nl-NL" dirty="0" err="1"/>
              <a:t>Conclusions</a:t>
            </a:r>
            <a:endParaRPr lang="en-US"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nl-NL" sz="2400" dirty="0"/>
              <a:t>How do </a:t>
            </a:r>
            <a:r>
              <a:rPr lang="nl-NL" sz="2400" dirty="0" err="1"/>
              <a:t>you</a:t>
            </a:r>
            <a:r>
              <a:rPr lang="nl-NL" sz="2400" dirty="0"/>
              <a:t> start?</a:t>
            </a:r>
          </a:p>
          <a:p>
            <a:pPr marL="457200" indent="-457200">
              <a:buFont typeface="+mj-lt"/>
              <a:buAutoNum type="arabicPeriod"/>
            </a:pPr>
            <a:endParaRPr lang="nl-NL" sz="2400" dirty="0"/>
          </a:p>
          <a:p>
            <a:pPr marL="457200" indent="-457200">
              <a:buFont typeface="+mj-lt"/>
              <a:buAutoNum type="arabicPeriod"/>
            </a:pPr>
            <a:r>
              <a:rPr lang="nl-NL" sz="2400" dirty="0" err="1"/>
              <a:t>What</a:t>
            </a:r>
            <a:r>
              <a:rPr lang="nl-NL" sz="2400" dirty="0"/>
              <a:t> </a:t>
            </a:r>
            <a:r>
              <a:rPr lang="nl-NL" sz="2400" dirty="0" err="1"/>
              <a:t>goes</a:t>
            </a:r>
            <a:r>
              <a:rPr lang="nl-NL" sz="2400" dirty="0"/>
              <a:t> in </a:t>
            </a:r>
            <a:r>
              <a:rPr lang="nl-NL" sz="2400" dirty="0" err="1"/>
              <a:t>the</a:t>
            </a:r>
            <a:r>
              <a:rPr lang="nl-NL" sz="2400" dirty="0"/>
              <a:t> </a:t>
            </a:r>
            <a:r>
              <a:rPr lang="nl-NL" sz="2400" dirty="0" err="1"/>
              <a:t>middle</a:t>
            </a:r>
            <a:r>
              <a:rPr lang="nl-NL" sz="2400" dirty="0"/>
              <a:t>?</a:t>
            </a:r>
            <a:endParaRPr lang="en-US" sz="2400" dirty="0"/>
          </a:p>
          <a:p>
            <a:pPr marL="457200" indent="-457200">
              <a:buFont typeface="+mj-lt"/>
              <a:buAutoNum type="arabicPeriod"/>
            </a:pPr>
            <a:endParaRPr lang="nl-NL" sz="2400" dirty="0"/>
          </a:p>
          <a:p>
            <a:pPr marL="457200" indent="-457200">
              <a:buFont typeface="+mj-lt"/>
              <a:buAutoNum type="arabicPeriod"/>
            </a:pPr>
            <a:r>
              <a:rPr lang="nl-NL" sz="2400" dirty="0"/>
              <a:t>How do </a:t>
            </a:r>
            <a:r>
              <a:rPr lang="nl-NL" sz="2400" dirty="0" err="1"/>
              <a:t>you</a:t>
            </a:r>
            <a:r>
              <a:rPr lang="nl-NL" sz="2400" dirty="0"/>
              <a:t> end? </a:t>
            </a:r>
          </a:p>
          <a:p>
            <a:pPr marL="457200" indent="-457200">
              <a:buFont typeface="+mj-lt"/>
              <a:buAutoNum type="arabicPeriod"/>
            </a:pPr>
            <a:endParaRPr lang="nl-NL" sz="2400" dirty="0"/>
          </a:p>
        </p:txBody>
      </p:sp>
    </p:spTree>
    <p:extLst>
      <p:ext uri="{BB962C8B-B14F-4D97-AF65-F5344CB8AC3E}">
        <p14:creationId xmlns:p14="http://schemas.microsoft.com/office/powerpoint/2010/main" val="2472023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BA1AB-5B4D-F212-D764-C35617C8FF8D}"/>
              </a:ext>
            </a:extLst>
          </p:cNvPr>
          <p:cNvSpPr>
            <a:spLocks noGrp="1"/>
          </p:cNvSpPr>
          <p:nvPr>
            <p:ph type="title"/>
          </p:nvPr>
        </p:nvSpPr>
        <p:spPr/>
        <p:txBody>
          <a:bodyPr/>
          <a:lstStyle/>
          <a:p>
            <a:endParaRPr lang="en-NL"/>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6BD20423-0D44-7D15-23D2-3EF57D680083}"/>
                  </a:ext>
                </a:extLst>
              </p:cNvPr>
              <p:cNvGraphicFramePr>
                <a:graphicFrameLocks noGrp="1"/>
              </p:cNvGraphicFramePr>
              <p:nvPr>
                <p:ph idx="1"/>
              </p:nvPr>
            </p:nvGraphicFramePr>
            <p:xfrm>
              <a:off x="768350" y="2286000"/>
              <a:ext cx="7289800" cy="40227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6BD20423-0D44-7D15-23D2-3EF57D680083}"/>
                  </a:ext>
                </a:extLst>
              </p:cNvPr>
              <p:cNvPicPr>
                <a:picLocks noGrp="1" noRot="1" noChangeAspect="1" noMove="1" noResize="1" noEditPoints="1" noAdjustHandles="1" noChangeArrowheads="1" noChangeShapeType="1"/>
              </p:cNvPicPr>
              <p:nvPr/>
            </p:nvPicPr>
            <p:blipFill>
              <a:blip r:embed="rId3"/>
              <a:stretch>
                <a:fillRect/>
              </a:stretch>
            </p:blipFill>
            <p:spPr>
              <a:xfrm>
                <a:off x="768350" y="2286000"/>
                <a:ext cx="7289800" cy="4022725"/>
              </a:xfrm>
              <a:prstGeom prst="rect">
                <a:avLst/>
              </a:prstGeom>
            </p:spPr>
          </p:pic>
        </mc:Fallback>
      </mc:AlternateContent>
    </p:spTree>
    <p:extLst>
      <p:ext uri="{BB962C8B-B14F-4D97-AF65-F5344CB8AC3E}">
        <p14:creationId xmlns:p14="http://schemas.microsoft.com/office/powerpoint/2010/main" val="6056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QUIZTIME</a:t>
            </a:r>
          </a:p>
        </p:txBody>
      </p:sp>
      <p:sp>
        <p:nvSpPr>
          <p:cNvPr id="3" name="Tijdelijke aanduiding voor inhoud 2"/>
          <p:cNvSpPr>
            <a:spLocks noGrp="1"/>
          </p:cNvSpPr>
          <p:nvPr>
            <p:ph idx="1"/>
          </p:nvPr>
        </p:nvSpPr>
        <p:spPr/>
        <p:txBody>
          <a:bodyPr/>
          <a:lstStyle/>
          <a:p>
            <a:pPr marL="0" indent="0">
              <a:buNone/>
            </a:pPr>
            <a:r>
              <a:rPr lang="nl-NL" dirty="0"/>
              <a:t>Take a pen </a:t>
            </a:r>
            <a:r>
              <a:rPr lang="nl-NL" dirty="0" err="1"/>
              <a:t>and</a:t>
            </a:r>
            <a:r>
              <a:rPr lang="nl-NL" dirty="0"/>
              <a:t> paper, or </a:t>
            </a:r>
            <a:r>
              <a:rPr lang="nl-NL" dirty="0" err="1"/>
              <a:t>your</a:t>
            </a:r>
            <a:r>
              <a:rPr lang="nl-NL" dirty="0"/>
              <a:t> laptop, </a:t>
            </a:r>
            <a:r>
              <a:rPr lang="nl-NL" dirty="0" err="1"/>
              <a:t>and</a:t>
            </a:r>
            <a:r>
              <a:rPr lang="nl-NL" dirty="0"/>
              <a:t> </a:t>
            </a:r>
            <a:r>
              <a:rPr lang="nl-NL" dirty="0" err="1"/>
              <a:t>write</a:t>
            </a:r>
            <a:r>
              <a:rPr lang="nl-NL" dirty="0"/>
              <a:t> down </a:t>
            </a:r>
            <a:r>
              <a:rPr lang="nl-NL" dirty="0" err="1"/>
              <a:t>the</a:t>
            </a:r>
            <a:r>
              <a:rPr lang="nl-NL" dirty="0"/>
              <a:t> </a:t>
            </a:r>
            <a:r>
              <a:rPr lang="nl-NL" dirty="0" err="1"/>
              <a:t>answers</a:t>
            </a:r>
            <a:r>
              <a:rPr lang="nl-NL" dirty="0"/>
              <a:t> </a:t>
            </a:r>
            <a:r>
              <a:rPr lang="nl-NL" dirty="0" err="1"/>
              <a:t>to</a:t>
            </a:r>
            <a:r>
              <a:rPr lang="nl-NL" dirty="0"/>
              <a:t> </a:t>
            </a:r>
            <a:r>
              <a:rPr lang="nl-NL" dirty="0" err="1"/>
              <a:t>the</a:t>
            </a:r>
            <a:r>
              <a:rPr lang="nl-NL" dirty="0"/>
              <a:t> </a:t>
            </a:r>
            <a:r>
              <a:rPr lang="nl-NL" dirty="0" err="1"/>
              <a:t>following</a:t>
            </a:r>
            <a:r>
              <a:rPr lang="nl-NL" dirty="0"/>
              <a:t> </a:t>
            </a:r>
            <a:r>
              <a:rPr lang="nl-NL" dirty="0" err="1"/>
              <a:t>questions</a:t>
            </a:r>
            <a:r>
              <a:rPr lang="nl-NL" dirty="0"/>
              <a:t>:</a:t>
            </a:r>
          </a:p>
          <a:p>
            <a:pPr marL="457200" indent="-457200">
              <a:buFont typeface="+mj-lt"/>
              <a:buAutoNum type="arabicPeriod"/>
            </a:pPr>
            <a:r>
              <a:rPr lang="nl-NL" dirty="0" err="1"/>
              <a:t>What</a:t>
            </a:r>
            <a:r>
              <a:rPr lang="nl-NL" dirty="0"/>
              <a:t> </a:t>
            </a:r>
            <a:r>
              <a:rPr lang="nl-NL" dirty="0" err="1"/>
              <a:t>should</a:t>
            </a:r>
            <a:r>
              <a:rPr lang="nl-NL" dirty="0"/>
              <a:t> </a:t>
            </a:r>
            <a:r>
              <a:rPr lang="nl-NL" dirty="0" err="1"/>
              <a:t>you</a:t>
            </a:r>
            <a:r>
              <a:rPr lang="nl-NL" dirty="0"/>
              <a:t> do in </a:t>
            </a:r>
            <a:r>
              <a:rPr lang="nl-NL" dirty="0" err="1"/>
              <a:t>the</a:t>
            </a:r>
            <a:r>
              <a:rPr lang="nl-NL" dirty="0"/>
              <a:t> first </a:t>
            </a:r>
            <a:r>
              <a:rPr lang="nl-NL" dirty="0" err="1"/>
              <a:t>sentence</a:t>
            </a:r>
            <a:r>
              <a:rPr lang="nl-NL" dirty="0"/>
              <a:t> of </a:t>
            </a:r>
            <a:r>
              <a:rPr lang="nl-NL" dirty="0" err="1"/>
              <a:t>the</a:t>
            </a:r>
            <a:r>
              <a:rPr lang="nl-NL" dirty="0"/>
              <a:t> </a:t>
            </a:r>
            <a:r>
              <a:rPr lang="nl-NL" dirty="0" err="1"/>
              <a:t>conclusion</a:t>
            </a:r>
            <a:r>
              <a:rPr lang="nl-NL" dirty="0"/>
              <a:t>?</a:t>
            </a:r>
          </a:p>
          <a:p>
            <a:pPr marL="173736" lvl="1" indent="0">
              <a:buNone/>
            </a:pPr>
            <a:r>
              <a:rPr lang="nl-NL" dirty="0"/>
              <a:t>	</a:t>
            </a:r>
            <a:r>
              <a:rPr lang="nl-NL" dirty="0" err="1"/>
              <a:t>Signal</a:t>
            </a:r>
            <a:r>
              <a:rPr lang="nl-NL" dirty="0"/>
              <a:t> </a:t>
            </a:r>
            <a:r>
              <a:rPr lang="nl-NL" dirty="0" err="1"/>
              <a:t>to</a:t>
            </a:r>
            <a:r>
              <a:rPr lang="nl-NL" dirty="0"/>
              <a:t> </a:t>
            </a:r>
            <a:r>
              <a:rPr lang="nl-NL" dirty="0" err="1"/>
              <a:t>the</a:t>
            </a:r>
            <a:r>
              <a:rPr lang="nl-NL" dirty="0"/>
              <a:t> reader </a:t>
            </a:r>
            <a:r>
              <a:rPr lang="nl-NL" dirty="0" err="1"/>
              <a:t>that</a:t>
            </a:r>
            <a:r>
              <a:rPr lang="nl-NL" dirty="0"/>
              <a:t> </a:t>
            </a:r>
            <a:r>
              <a:rPr lang="nl-NL" dirty="0" err="1"/>
              <a:t>this</a:t>
            </a:r>
            <a:r>
              <a:rPr lang="nl-NL" dirty="0"/>
              <a:t> is </a:t>
            </a:r>
            <a:r>
              <a:rPr lang="nl-NL" dirty="0" err="1"/>
              <a:t>the</a:t>
            </a:r>
            <a:r>
              <a:rPr lang="nl-NL" dirty="0"/>
              <a:t> start of </a:t>
            </a:r>
            <a:r>
              <a:rPr lang="nl-NL" dirty="0" err="1"/>
              <a:t>the</a:t>
            </a:r>
            <a:r>
              <a:rPr lang="nl-NL" dirty="0"/>
              <a:t> </a:t>
            </a:r>
            <a:r>
              <a:rPr lang="nl-NL" dirty="0" err="1"/>
              <a:t>conclusion</a:t>
            </a:r>
            <a:r>
              <a:rPr lang="nl-NL" dirty="0"/>
              <a:t> (</a:t>
            </a:r>
            <a:r>
              <a:rPr lang="nl-NL" dirty="0" err="1"/>
              <a:t>for</a:t>
            </a:r>
            <a:r>
              <a:rPr lang="nl-NL" dirty="0"/>
              <a:t> </a:t>
            </a:r>
            <a:r>
              <a:rPr lang="nl-NL" dirty="0" err="1"/>
              <a:t>instance</a:t>
            </a:r>
            <a:r>
              <a:rPr lang="nl-NL" dirty="0"/>
              <a:t>, </a:t>
            </a:r>
            <a:r>
              <a:rPr lang="nl-NL" i="1" dirty="0"/>
              <a:t>in 	</a:t>
            </a:r>
            <a:r>
              <a:rPr lang="nl-NL" i="1" dirty="0" err="1"/>
              <a:t>conclusion</a:t>
            </a:r>
            <a:r>
              <a:rPr lang="nl-NL" i="1" dirty="0"/>
              <a:t>)</a:t>
            </a:r>
            <a:r>
              <a:rPr lang="nl-NL" dirty="0"/>
              <a:t> </a:t>
            </a:r>
            <a:r>
              <a:rPr lang="nl-NL" dirty="0" err="1"/>
              <a:t>and</a:t>
            </a:r>
            <a:r>
              <a:rPr lang="nl-NL" dirty="0"/>
              <a:t> </a:t>
            </a:r>
            <a:r>
              <a:rPr lang="nl-NL" dirty="0" err="1"/>
              <a:t>remind</a:t>
            </a:r>
            <a:r>
              <a:rPr lang="nl-NL" dirty="0"/>
              <a:t> </a:t>
            </a:r>
            <a:r>
              <a:rPr lang="nl-NL" dirty="0" err="1"/>
              <a:t>the</a:t>
            </a:r>
            <a:r>
              <a:rPr lang="nl-NL" dirty="0"/>
              <a:t> reader of </a:t>
            </a:r>
            <a:r>
              <a:rPr lang="nl-NL" dirty="0" err="1"/>
              <a:t>the</a:t>
            </a:r>
            <a:r>
              <a:rPr lang="nl-NL" dirty="0"/>
              <a:t> goal </a:t>
            </a:r>
            <a:r>
              <a:rPr lang="nl-NL" dirty="0" err="1"/>
              <a:t>you</a:t>
            </a:r>
            <a:r>
              <a:rPr lang="nl-NL" dirty="0"/>
              <a:t> </a:t>
            </a:r>
            <a:r>
              <a:rPr lang="nl-NL" dirty="0" err="1"/>
              <a:t>started</a:t>
            </a:r>
            <a:r>
              <a:rPr lang="nl-NL" dirty="0"/>
              <a:t> out </a:t>
            </a:r>
            <a:r>
              <a:rPr lang="nl-NL" dirty="0" err="1"/>
              <a:t>with</a:t>
            </a:r>
            <a:r>
              <a:rPr lang="nl-NL" dirty="0"/>
              <a:t> (</a:t>
            </a:r>
            <a:r>
              <a:rPr lang="nl-NL" dirty="0" err="1"/>
              <a:t>your</a:t>
            </a:r>
            <a:r>
              <a:rPr lang="nl-NL" dirty="0"/>
              <a:t> 	thesis statement). </a:t>
            </a:r>
          </a:p>
          <a:p>
            <a:pPr marL="457200" indent="-457200">
              <a:buFont typeface="+mj-lt"/>
              <a:buAutoNum type="arabicPeriod"/>
            </a:pPr>
            <a:r>
              <a:rPr lang="nl-NL" dirty="0" err="1"/>
              <a:t>What</a:t>
            </a:r>
            <a:r>
              <a:rPr lang="nl-NL" dirty="0"/>
              <a:t> </a:t>
            </a:r>
            <a:r>
              <a:rPr lang="nl-NL" dirty="0" err="1"/>
              <a:t>should</a:t>
            </a:r>
            <a:r>
              <a:rPr lang="nl-NL" dirty="0"/>
              <a:t> </a:t>
            </a:r>
            <a:r>
              <a:rPr lang="nl-NL" dirty="0" err="1"/>
              <a:t>your</a:t>
            </a:r>
            <a:r>
              <a:rPr lang="nl-NL" dirty="0"/>
              <a:t> </a:t>
            </a:r>
            <a:r>
              <a:rPr lang="nl-NL" dirty="0" err="1"/>
              <a:t>conclusion</a:t>
            </a:r>
            <a:r>
              <a:rPr lang="nl-NL" dirty="0"/>
              <a:t> in </a:t>
            </a:r>
            <a:r>
              <a:rPr lang="nl-NL" dirty="0" err="1"/>
              <a:t>any</a:t>
            </a:r>
            <a:r>
              <a:rPr lang="nl-NL" dirty="0"/>
              <a:t> case </a:t>
            </a:r>
            <a:r>
              <a:rPr lang="nl-NL" dirty="0" err="1"/>
              <a:t>contain</a:t>
            </a:r>
            <a:r>
              <a:rPr lang="nl-NL" dirty="0"/>
              <a:t>?</a:t>
            </a:r>
          </a:p>
          <a:p>
            <a:pPr marL="173736" lvl="1" indent="0">
              <a:buNone/>
            </a:pPr>
            <a:r>
              <a:rPr lang="nl-NL" dirty="0"/>
              <a:t>	An </a:t>
            </a:r>
            <a:r>
              <a:rPr lang="nl-NL" dirty="0" err="1"/>
              <a:t>answer</a:t>
            </a:r>
            <a:r>
              <a:rPr lang="nl-NL" dirty="0"/>
              <a:t> </a:t>
            </a:r>
            <a:r>
              <a:rPr lang="nl-NL" dirty="0" err="1"/>
              <a:t>to</a:t>
            </a:r>
            <a:r>
              <a:rPr lang="nl-NL" dirty="0"/>
              <a:t> </a:t>
            </a:r>
            <a:r>
              <a:rPr lang="nl-NL" dirty="0" err="1"/>
              <a:t>your</a:t>
            </a:r>
            <a:r>
              <a:rPr lang="nl-NL" dirty="0"/>
              <a:t> thesis statement/research question: </a:t>
            </a:r>
            <a:r>
              <a:rPr lang="nl-NL" dirty="0" err="1"/>
              <a:t>after</a:t>
            </a:r>
            <a:r>
              <a:rPr lang="nl-NL" dirty="0"/>
              <a:t> </a:t>
            </a:r>
            <a:r>
              <a:rPr lang="nl-NL" dirty="0" err="1"/>
              <a:t>discussing</a:t>
            </a:r>
            <a:r>
              <a:rPr lang="nl-NL" dirty="0"/>
              <a:t> these 	</a:t>
            </a:r>
            <a:r>
              <a:rPr lang="nl-NL" dirty="0" err="1"/>
              <a:t>articles</a:t>
            </a:r>
            <a:r>
              <a:rPr lang="nl-NL" dirty="0"/>
              <a:t>, </a:t>
            </a:r>
            <a:r>
              <a:rPr lang="nl-NL" dirty="0" err="1"/>
              <a:t>what</a:t>
            </a:r>
            <a:r>
              <a:rPr lang="nl-NL" dirty="0"/>
              <a:t> </a:t>
            </a:r>
            <a:r>
              <a:rPr lang="nl-NL" dirty="0" err="1"/>
              <a:t>can</a:t>
            </a:r>
            <a:r>
              <a:rPr lang="nl-NL" dirty="0"/>
              <a:t> </a:t>
            </a:r>
            <a:r>
              <a:rPr lang="nl-NL" dirty="0" err="1"/>
              <a:t>you</a:t>
            </a:r>
            <a:r>
              <a:rPr lang="nl-NL" dirty="0"/>
              <a:t> </a:t>
            </a:r>
            <a:r>
              <a:rPr lang="nl-NL" dirty="0" err="1"/>
              <a:t>now</a:t>
            </a:r>
            <a:r>
              <a:rPr lang="nl-NL" dirty="0"/>
              <a:t> say </a:t>
            </a:r>
            <a:r>
              <a:rPr lang="nl-NL" dirty="0" err="1"/>
              <a:t>about</a:t>
            </a:r>
            <a:r>
              <a:rPr lang="nl-NL" dirty="0"/>
              <a:t> </a:t>
            </a:r>
            <a:r>
              <a:rPr lang="nl-NL" dirty="0" err="1"/>
              <a:t>this</a:t>
            </a:r>
            <a:r>
              <a:rPr lang="nl-NL" dirty="0"/>
              <a:t> topic?</a:t>
            </a:r>
          </a:p>
          <a:p>
            <a:pPr marL="457200" indent="-457200">
              <a:buFont typeface="+mj-lt"/>
              <a:buAutoNum type="arabicPeriod"/>
            </a:pPr>
            <a:r>
              <a:rPr lang="nl-NL" dirty="0" err="1"/>
              <a:t>Give</a:t>
            </a:r>
            <a:r>
              <a:rPr lang="nl-NL" dirty="0"/>
              <a:t> </a:t>
            </a:r>
            <a:r>
              <a:rPr lang="nl-NL" dirty="0" err="1"/>
              <a:t>two</a:t>
            </a:r>
            <a:r>
              <a:rPr lang="nl-NL" dirty="0"/>
              <a:t> </a:t>
            </a:r>
            <a:r>
              <a:rPr lang="nl-NL" dirty="0" err="1"/>
              <a:t>other</a:t>
            </a:r>
            <a:r>
              <a:rPr lang="nl-NL" dirty="0"/>
              <a:t> </a:t>
            </a:r>
            <a:r>
              <a:rPr lang="nl-NL" dirty="0" err="1"/>
              <a:t>components</a:t>
            </a:r>
            <a:r>
              <a:rPr lang="nl-NL" dirty="0"/>
              <a:t> </a:t>
            </a:r>
            <a:r>
              <a:rPr lang="nl-NL" dirty="0" err="1"/>
              <a:t>that</a:t>
            </a:r>
            <a:r>
              <a:rPr lang="nl-NL" dirty="0"/>
              <a:t> </a:t>
            </a:r>
            <a:r>
              <a:rPr lang="nl-NL" dirty="0" err="1"/>
              <a:t>you</a:t>
            </a:r>
            <a:r>
              <a:rPr lang="nl-NL" dirty="0"/>
              <a:t> </a:t>
            </a:r>
            <a:r>
              <a:rPr lang="nl-NL" dirty="0" err="1"/>
              <a:t>can</a:t>
            </a:r>
            <a:r>
              <a:rPr lang="nl-NL" dirty="0"/>
              <a:t> </a:t>
            </a:r>
            <a:r>
              <a:rPr lang="nl-NL" dirty="0" err="1"/>
              <a:t>include</a:t>
            </a:r>
            <a:r>
              <a:rPr lang="nl-NL" dirty="0"/>
              <a:t> in </a:t>
            </a:r>
            <a:r>
              <a:rPr lang="nl-NL" dirty="0" err="1"/>
              <a:t>the</a:t>
            </a:r>
            <a:r>
              <a:rPr lang="nl-NL" dirty="0"/>
              <a:t> </a:t>
            </a:r>
            <a:r>
              <a:rPr lang="nl-NL" dirty="0" err="1"/>
              <a:t>conclusion</a:t>
            </a:r>
            <a:r>
              <a:rPr lang="nl-NL" dirty="0"/>
              <a:t>.</a:t>
            </a:r>
          </a:p>
          <a:p>
            <a:pPr marL="173736" lvl="1" indent="0">
              <a:buNone/>
            </a:pPr>
            <a:r>
              <a:rPr lang="nl-NL" dirty="0"/>
              <a:t>	</a:t>
            </a:r>
            <a:r>
              <a:rPr lang="nl-NL" dirty="0" err="1"/>
              <a:t>Discuss</a:t>
            </a:r>
            <a:r>
              <a:rPr lang="nl-NL" dirty="0"/>
              <a:t> </a:t>
            </a:r>
            <a:r>
              <a:rPr lang="nl-NL" dirty="0" err="1"/>
              <a:t>the</a:t>
            </a:r>
            <a:r>
              <a:rPr lang="nl-NL" dirty="0"/>
              <a:t> </a:t>
            </a:r>
            <a:r>
              <a:rPr lang="nl-NL" dirty="0" err="1"/>
              <a:t>implications</a:t>
            </a:r>
            <a:r>
              <a:rPr lang="nl-NL" dirty="0"/>
              <a:t> of </a:t>
            </a:r>
            <a:r>
              <a:rPr lang="nl-NL" dirty="0" err="1"/>
              <a:t>the</a:t>
            </a:r>
            <a:r>
              <a:rPr lang="nl-NL" dirty="0"/>
              <a:t> </a:t>
            </a:r>
            <a:r>
              <a:rPr lang="nl-NL" dirty="0" err="1"/>
              <a:t>discussion</a:t>
            </a:r>
            <a:r>
              <a:rPr lang="nl-NL" dirty="0"/>
              <a:t> in </a:t>
            </a:r>
            <a:r>
              <a:rPr lang="nl-NL" dirty="0" err="1"/>
              <a:t>your</a:t>
            </a:r>
            <a:r>
              <a:rPr lang="nl-NL" dirty="0"/>
              <a:t> body </a:t>
            </a:r>
            <a:r>
              <a:rPr lang="nl-NL" dirty="0" err="1"/>
              <a:t>paragraphs</a:t>
            </a:r>
            <a:r>
              <a:rPr lang="nl-NL" dirty="0"/>
              <a:t>, </a:t>
            </a:r>
            <a:r>
              <a:rPr lang="nl-NL" dirty="0" err="1"/>
              <a:t>briefly</a:t>
            </a:r>
            <a:r>
              <a:rPr lang="nl-NL" dirty="0"/>
              <a:t> 	</a:t>
            </a:r>
            <a:r>
              <a:rPr lang="nl-NL" dirty="0" err="1"/>
              <a:t>summarize</a:t>
            </a:r>
            <a:r>
              <a:rPr lang="nl-NL" dirty="0"/>
              <a:t> </a:t>
            </a:r>
            <a:r>
              <a:rPr lang="nl-NL" dirty="0" err="1"/>
              <a:t>the</a:t>
            </a:r>
            <a:r>
              <a:rPr lang="nl-NL" dirty="0"/>
              <a:t> </a:t>
            </a:r>
            <a:r>
              <a:rPr lang="nl-NL" dirty="0" err="1"/>
              <a:t>main</a:t>
            </a:r>
            <a:r>
              <a:rPr lang="nl-NL" dirty="0"/>
              <a:t> points, point out </a:t>
            </a:r>
            <a:r>
              <a:rPr lang="nl-NL" dirty="0" err="1"/>
              <a:t>limitations</a:t>
            </a:r>
            <a:r>
              <a:rPr lang="nl-NL" dirty="0"/>
              <a:t>.</a:t>
            </a:r>
          </a:p>
          <a:p>
            <a:endParaRPr lang="nl-NL" dirty="0"/>
          </a:p>
        </p:txBody>
      </p:sp>
    </p:spTree>
    <p:extLst>
      <p:ext uri="{BB962C8B-B14F-4D97-AF65-F5344CB8AC3E}">
        <p14:creationId xmlns:p14="http://schemas.microsoft.com/office/powerpoint/2010/main" val="1989731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Coming</a:t>
            </a:r>
            <a:r>
              <a:rPr lang="nl-NL" dirty="0"/>
              <a:t> up next…</a:t>
            </a:r>
          </a:p>
        </p:txBody>
      </p:sp>
      <p:sp>
        <p:nvSpPr>
          <p:cNvPr id="3" name="Tijdelijke aanduiding voor inhoud 2"/>
          <p:cNvSpPr>
            <a:spLocks noGrp="1"/>
          </p:cNvSpPr>
          <p:nvPr>
            <p:ph idx="1"/>
          </p:nvPr>
        </p:nvSpPr>
        <p:spPr/>
        <p:txBody>
          <a:bodyPr>
            <a:normAutofit/>
          </a:bodyPr>
          <a:lstStyle/>
          <a:p>
            <a:pPr marL="457200" indent="-457200">
              <a:buFont typeface="+mj-lt"/>
              <a:buAutoNum type="arabicPeriod"/>
            </a:pPr>
            <a:r>
              <a:rPr lang="nl-NL" sz="2400" dirty="0" err="1"/>
              <a:t>This</a:t>
            </a:r>
            <a:r>
              <a:rPr lang="nl-NL" sz="2400" dirty="0"/>
              <a:t> </a:t>
            </a:r>
            <a:r>
              <a:rPr lang="nl-NL" sz="2400" dirty="0" err="1"/>
              <a:t>week’s</a:t>
            </a:r>
            <a:r>
              <a:rPr lang="nl-NL" sz="2400" dirty="0"/>
              <a:t> seminar:</a:t>
            </a:r>
          </a:p>
          <a:p>
            <a:pPr marL="892175" lvl="1" indent="-173038">
              <a:buFont typeface="Arial" panose="020B0604020202020204" pitchFamily="34" charset="0"/>
              <a:buChar char="•"/>
            </a:pPr>
            <a:r>
              <a:rPr lang="nl-NL" sz="2400" dirty="0" err="1"/>
              <a:t>Practising</a:t>
            </a:r>
            <a:r>
              <a:rPr lang="nl-NL" sz="2400" dirty="0"/>
              <a:t> </a:t>
            </a:r>
            <a:r>
              <a:rPr lang="nl-NL" sz="2400" dirty="0" err="1"/>
              <a:t>with</a:t>
            </a:r>
            <a:r>
              <a:rPr lang="nl-NL" sz="2400" dirty="0"/>
              <a:t> </a:t>
            </a:r>
            <a:r>
              <a:rPr lang="nl-NL" sz="2400" dirty="0" err="1"/>
              <a:t>conclusions</a:t>
            </a:r>
            <a:endParaRPr lang="nl-NL" sz="2400" dirty="0"/>
          </a:p>
          <a:p>
            <a:pPr marL="892175" lvl="1" indent="-173038">
              <a:buFont typeface="Arial" panose="020B0604020202020204" pitchFamily="34" charset="0"/>
              <a:buChar char="•"/>
            </a:pPr>
            <a:r>
              <a:rPr lang="nl-NL" sz="2400" dirty="0" err="1"/>
              <a:t>Punctuation</a:t>
            </a:r>
            <a:r>
              <a:rPr lang="nl-NL" sz="2400" dirty="0"/>
              <a:t> . , ; :-)</a:t>
            </a:r>
          </a:p>
          <a:p>
            <a:pPr marL="457200" indent="-457200">
              <a:buFont typeface="+mj-lt"/>
              <a:buAutoNum type="arabicPeriod"/>
            </a:pPr>
            <a:r>
              <a:rPr lang="nl-NL" sz="2400" dirty="0" err="1"/>
              <a:t>This</a:t>
            </a:r>
            <a:r>
              <a:rPr lang="nl-NL" sz="2400" dirty="0"/>
              <a:t> week: deadline </a:t>
            </a:r>
            <a:r>
              <a:rPr lang="nl-NL" sz="2400" dirty="0" err="1"/>
              <a:t>Assignment</a:t>
            </a:r>
            <a:r>
              <a:rPr lang="nl-NL" sz="2400" dirty="0"/>
              <a:t> 3 (Friday 9 May)</a:t>
            </a:r>
          </a:p>
          <a:p>
            <a:pPr marL="457200" indent="-457200">
              <a:buFont typeface="+mj-lt"/>
              <a:buAutoNum type="arabicPeriod"/>
            </a:pPr>
            <a:r>
              <a:rPr lang="nl-NL" sz="2400" dirty="0"/>
              <a:t>Next week: </a:t>
            </a:r>
            <a:r>
              <a:rPr lang="nl-NL" sz="2400" dirty="0" err="1"/>
              <a:t>final</a:t>
            </a:r>
            <a:r>
              <a:rPr lang="nl-NL" sz="2400" dirty="0"/>
              <a:t> </a:t>
            </a:r>
            <a:r>
              <a:rPr lang="nl-NL" sz="2400" dirty="0" err="1"/>
              <a:t>lecture</a:t>
            </a:r>
            <a:r>
              <a:rPr lang="nl-NL" sz="2400" dirty="0"/>
              <a:t> </a:t>
            </a:r>
            <a:r>
              <a:rPr lang="nl-NL" sz="2400" dirty="0" err="1"/>
              <a:t>and</a:t>
            </a:r>
            <a:r>
              <a:rPr lang="nl-NL" sz="2400"/>
              <a:t> seminars</a:t>
            </a:r>
            <a:endParaRPr lang="en-US" sz="2400" dirty="0"/>
          </a:p>
          <a:p>
            <a:pPr marL="457200" indent="-457200">
              <a:buFont typeface="+mj-lt"/>
              <a:buAutoNum type="arabicPeriod"/>
            </a:pPr>
            <a:r>
              <a:rPr lang="en-US" sz="2400" dirty="0"/>
              <a:t>23 May: deadline final assignment</a:t>
            </a:r>
            <a:endParaRPr lang="nl-NL" sz="2400" dirty="0"/>
          </a:p>
        </p:txBody>
      </p:sp>
    </p:spTree>
    <p:extLst>
      <p:ext uri="{BB962C8B-B14F-4D97-AF65-F5344CB8AC3E}">
        <p14:creationId xmlns:p14="http://schemas.microsoft.com/office/powerpoint/2010/main" val="3739368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Academic Writing (FEW) &amp;#x0D;&amp;#x0A;&amp;#x0D;&amp;#x0A;Week 7, Lecture&amp;quot;&quot;/&gt;&lt;property id=&quot;20307&quot; value=&quot;256&quot;/&gt;&lt;/object&gt;&lt;object type=&quot;3&quot; unique_id=&quot;10186&quot;&gt;&lt;property id=&quot;20148&quot; value=&quot;5&quot;/&gt;&lt;property id=&quot;20300&quot; value=&quot;Slide 27 - &amp;quot;Coming up next…&amp;quot;&quot;/&gt;&lt;property id=&quot;20307&quot; value=&quot;280&quot;/&gt;&lt;/object&gt;&lt;object type=&quot;3&quot; unique_id=&quot;10203&quot;&gt;&lt;property id=&quot;20148&quot; value=&quot;5&quot;/&gt;&lt;property id=&quot;20300&quot; value=&quot;Slide 25 - &amp;quot;The two-minute paper&amp;quot;&quot;/&gt;&lt;property id=&quot;20307&quot; value=&quot;297&quot;/&gt;&lt;/object&gt;&lt;object type=&quot;3&quot; unique_id=&quot;10399&quot;&gt;&lt;property id=&quot;20148&quot; value=&quot;5&quot;/&gt;&lt;property id=&quot;20300&quot; value=&quot;Slide 9 - &amp;quot;What goes in the middle?&amp;quot;&quot;/&gt;&lt;property id=&quot;20307&quot; value=&quot;321&quot;/&gt;&lt;/object&gt;&lt;object type=&quot;3&quot; unique_id=&quot;10500&quot;&gt;&lt;property id=&quot;20148&quot; value=&quot;5&quot;/&gt;&lt;property id=&quot;20300&quot; value=&quot;Slide 26 - &amp;quot;The two-minute paper - answers&amp;quot;&quot;/&gt;&lt;property id=&quot;20307&quot; value=&quot;323&quot;/&gt;&lt;/object&gt;&lt;object type=&quot;3&quot; unique_id=&quot;11002&quot;&gt;&lt;property id=&quot;20148&quot; value=&quot;5&quot;/&gt;&lt;property id=&quot;20300&quot; value=&quot;Slide 17 - &amp;quot;For your assignment:&amp;quot;&quot;/&gt;&lt;property id=&quot;20307&quot; value=&quot;324&quot;/&gt;&lt;/object&gt;&lt;object type=&quot;3&quot; unique_id=&quot;11004&quot;&gt;&lt;property id=&quot;20148&quot; value=&quot;5&quot;/&gt;&lt;property id=&quot;20300&quot; value=&quot;Slide 10&quot;/&gt;&lt;property id=&quot;20307&quot; value=&quot;328&quot;/&gt;&lt;/object&gt;&lt;object type=&quot;3&quot; unique_id=&quot;11005&quot;&gt;&lt;property id=&quot;20148&quot; value=&quot;5&quot;/&gt;&lt;property id=&quot;20300&quot; value=&quot;Slide 16 - &amp;quot;Example of content&amp;quot;&quot;/&gt;&lt;property id=&quot;20307&quot; value=&quot;329&quot;/&gt;&lt;/object&gt;&lt;object type=&quot;3&quot; unique_id=&quot;11524&quot;&gt;&lt;property id=&quot;20148&quot; value=&quot;5&quot;/&gt;&lt;property id=&quot;20300&quot; value=&quot;Slide 6 - &amp;quot;Sample text 2&amp;quot;&quot;/&gt;&lt;property id=&quot;20307&quot; value=&quot;335&quot;/&gt;&lt;/object&gt;&lt;object type=&quot;3&quot; unique_id=&quot;11525&quot;&gt;&lt;property id=&quot;20148&quot; value=&quot;5&quot;/&gt;&lt;property id=&quot;20300&quot; value=&quot;Slide 11&quot;/&gt;&lt;property id=&quot;20307&quot; value=&quot;334&quot;/&gt;&lt;/object&gt;&lt;object type=&quot;3&quot; unique_id=&quot;11526&quot;&gt;&lt;property id=&quot;20148&quot; value=&quot;5&quot;/&gt;&lt;property id=&quot;20300&quot; value=&quot;Slide 14 - &amp;quot;Example of content&amp;quot;&quot;/&gt;&lt;property id=&quot;20307&quot; value=&quot;330&quot;/&gt;&lt;/object&gt;&lt;object type=&quot;3&quot; unique_id=&quot;11530&quot;&gt;&lt;property id=&quot;20148&quot; value=&quot;5&quot;/&gt;&lt;property id=&quot;20300&quot; value=&quot;Slide 13 - &amp;quot;Example of content&amp;quot;&quot;/&gt;&lt;property id=&quot;20307&quot; value=&quot;336&quot;/&gt;&lt;/object&gt;&lt;object type=&quot;3&quot; unique_id=&quot;11531&quot;&gt;&lt;property id=&quot;20148&quot; value=&quot;5&quot;/&gt;&lt;property id=&quot;20300&quot; value=&quot;Slide 12&quot;/&gt;&lt;property id=&quot;20307&quot; value=&quot;337&quot;/&gt;&lt;/object&gt;&lt;object type=&quot;3&quot; unique_id=&quot;11532&quot;&gt;&lt;property id=&quot;20148&quot; value=&quot;5&quot;/&gt;&lt;property id=&quot;20300&quot; value=&quot;Slide 15 - &amp;quot;Example of content&amp;quot;&quot;/&gt;&lt;property id=&quot;20307&quot; value=&quot;338&quot;/&gt;&lt;/object&gt;&lt;object type=&quot;3&quot; unique_id=&quot;11533&quot;&gt;&lt;property id=&quot;20148&quot; value=&quot;5&quot;/&gt;&lt;property id=&quot;20300&quot; value=&quot;Slide 20 - &amp;quot;Final words (uitsmijter/bouncer)&amp;quot;&quot;/&gt;&lt;property id=&quot;20307&quot; value=&quot;339&quot;/&gt;&lt;/object&gt;&lt;object type=&quot;3&quot; unique_id=&quot;11832&quot;&gt;&lt;property id=&quot;20148&quot; value=&quot;5&quot;/&gt;&lt;property id=&quot;20300&quot; value=&quot;Slide 2&quot;/&gt;&lt;property id=&quot;20307&quot; value=&quot;340&quot;/&gt;&lt;/object&gt;&lt;object type=&quot;3&quot; unique_id=&quot;11887&quot;&gt;&lt;property id=&quot;20148&quot; value=&quot;5&quot;/&gt;&lt;property id=&quot;20300&quot; value=&quot;Slide 3 - &amp;quot;Today: Conclusions&amp;quot;&quot;/&gt;&lt;property id=&quot;20307&quot; value=&quot;261&quot;/&gt;&lt;/object&gt;&lt;object type=&quot;3&quot; unique_id=&quot;11888&quot;&gt;&lt;property id=&quot;20148&quot; value=&quot;5&quot;/&gt;&lt;property id=&quot;20300&quot; value=&quot;Slide 4 - &amp;quot;How do you start?&amp;quot;&quot;/&gt;&lt;property id=&quot;20307&quot; value=&quot;262&quot;/&gt;&lt;/object&gt;&lt;object type=&quot;3&quot; unique_id=&quot;11889&quot;&gt;&lt;property id=&quot;20148&quot; value=&quot;5&quot;/&gt;&lt;property id=&quot;20300&quot; value=&quot;Slide 5 - &amp;quot;Sample text 1&amp;quot;&quot;/&gt;&lt;property id=&quot;20307&quot; value=&quot;308&quot;/&gt;&lt;/object&gt;&lt;object type=&quot;3&quot; unique_id=&quot;11890&quot;&gt;&lt;property id=&quot;20148&quot; value=&quot;5&quot;/&gt;&lt;property id=&quot;20300&quot; value=&quot;Slide 7 - &amp;quot;FOR Your assignment: example 1 (Student paper)&amp;quot;&quot;/&gt;&lt;property id=&quot;20307&quot; value=&quot;344&quot;/&gt;&lt;/object&gt;&lt;object type=&quot;3&quot; unique_id=&quot;11891&quot;&gt;&lt;property id=&quot;20148&quot; value=&quot;5&quot;/&gt;&lt;property id=&quot;20300&quot; value=&quot;Slide 8 - &amp;quot;For your assignment: example 2 (student paper)&amp;quot;&quot;/&gt;&lt;property id=&quot;20307&quot; value=&quot;345&quot;/&gt;&lt;/object&gt;&lt;object type=&quot;3&quot; unique_id=&quot;11892&quot;&gt;&lt;property id=&quot;20148&quot; value=&quot;5&quot;/&gt;&lt;property id=&quot;20300&quot; value=&quot;Slide 18 - &amp;quot;Do’s and don’ts And But’s&amp;quot;&quot;/&gt;&lt;property id=&quot;20307&quot; value=&quot;348&quot;/&gt;&lt;/object&gt;&lt;object type=&quot;3&quot; unique_id=&quot;11893&quot;&gt;&lt;property id=&quot;20148&quot; value=&quot;5&quot;/&gt;&lt;property id=&quot;20300&quot; value=&quot;Slide 19 - &amp;quot;How do you END?&amp;quot;&quot;/&gt;&lt;property id=&quot;20307&quot; value=&quot;273&quot;/&gt;&lt;/object&gt;&lt;object type=&quot;3&quot; unique_id=&quot;11894&quot;&gt;&lt;property id=&quot;20148&quot; value=&quot;5&quot;/&gt;&lt;property id=&quot;20300&quot; value=&quot;Slide 22 - &amp;quot;If you’re lost for words&amp;quot;&quot;/&gt;&lt;property id=&quot;20307&quot; value=&quot;346&quot;/&gt;&lt;/object&gt;&lt;object type=&quot;3&quot; unique_id=&quot;11895&quot;&gt;&lt;property id=&quot;20148&quot; value=&quot;5&quot;/&gt;&lt;property id=&quot;20300&quot; value=&quot;Slide 23 - &amp;quot;If you’re lost for words&amp;quot;&quot;/&gt;&lt;property id=&quot;20307&quot; value=&quot;349&quot;/&gt;&lt;/object&gt;&lt;object type=&quot;3&quot; unique_id=&quot;11896&quot;&gt;&lt;property id=&quot;20148&quot; value=&quot;5&quot;/&gt;&lt;property id=&quot;20300&quot; value=&quot;Slide 24 - &amp;quot;To conclude&amp;quot;&quot;/&gt;&lt;property id=&quot;20307&quot; value=&quot;347&quot;/&gt;&lt;/object&gt;&lt;object type=&quot;3&quot; unique_id=&quot;11897&quot;&gt;&lt;property id=&quot;20148&quot; value=&quot;5&quot;/&gt;&lt;property id=&quot;20300&quot; value=&quot;Slide 21&quot;/&gt;&lt;property id=&quot;20307&quot; value=&quot;350&quot;/&gt;&lt;/object&gt;&lt;/object&gt;&lt;/object&gt;&lt;/database&gt;"/>
  <p:tag name="SECTOMILLISECCONVERTED" val="1"/>
  <p:tag name="MENTIMETER_SERIES_ID_KEY" val="aldhmwxsu8zi5cfahxus4afbp2hw1b7v"/>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al">
  <a:themeElements>
    <a:clrScheme name="Integra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12.png"/></Relationships>
</file>

<file path=ppt/webextensions/webextension1.xml><?xml version="1.0" encoding="utf-8"?>
<we:webextension xmlns:we="http://schemas.microsoft.com/office/webextensions/webextension/2010/11" id="{4468FDCE-D696-46AE-AEAC-7D9203EE445D}">
  <we:reference id="wa104379261" version="4.3.0.0" store="en-US" storeType="OMEX"/>
  <we:alternateReferences>
    <we:reference id="WA104379261" version="4.3.0.0" store="WA104379261" storeType="OMEX"/>
  </we:alternateReferences>
  <we:properties>
    <we:property name="MENTIMETER_QUESTION_ID_KEY" value="&quot;uffc1as47qka&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Integral</Template>
  <TotalTime>885</TotalTime>
  <Words>1625</Words>
  <Application>Microsoft Office PowerPoint</Application>
  <PresentationFormat>On-screen Show (4:3)</PresentationFormat>
  <Paragraphs>134</Paragraphs>
  <Slides>30</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Tw Cen MT</vt:lpstr>
      <vt:lpstr>Tw Cen MT Condensed</vt:lpstr>
      <vt:lpstr>Wingdings 3</vt:lpstr>
      <vt:lpstr>Integraal</vt:lpstr>
      <vt:lpstr>Academic Writing (BETA)  Week 6, Lecture</vt:lpstr>
      <vt:lpstr>PowerPoint Presentation</vt:lpstr>
      <vt:lpstr>PowerPoint Presentation</vt:lpstr>
      <vt:lpstr>PowerPoint Presentation</vt:lpstr>
      <vt:lpstr>PowerPoint Presentation</vt:lpstr>
      <vt:lpstr>Today: Conclusions</vt:lpstr>
      <vt:lpstr>How do you start?</vt:lpstr>
      <vt:lpstr>Sample text 1</vt:lpstr>
      <vt:lpstr>Sample text 2</vt:lpstr>
      <vt:lpstr>FOR Your assignment: example 1 (Student paper)</vt:lpstr>
      <vt:lpstr>For your assignment: example 2 (student paper)</vt:lpstr>
      <vt:lpstr>What goes in the middle?</vt:lpstr>
      <vt:lpstr>PowerPoint Presentation</vt:lpstr>
      <vt:lpstr>PowerPoint Presentation</vt:lpstr>
      <vt:lpstr>PowerPoint Presentation</vt:lpstr>
      <vt:lpstr>Example of content</vt:lpstr>
      <vt:lpstr>Example of content</vt:lpstr>
      <vt:lpstr>Example of content</vt:lpstr>
      <vt:lpstr>Example of content</vt:lpstr>
      <vt:lpstr>For your assignment:</vt:lpstr>
      <vt:lpstr>Do’s and don’ts And Buts</vt:lpstr>
      <vt:lpstr>How do you END?</vt:lpstr>
      <vt:lpstr>PowerPoint Presentation</vt:lpstr>
      <vt:lpstr>Final words (uitsmijter/bouncer)</vt:lpstr>
      <vt:lpstr>If you’re lost for words</vt:lpstr>
      <vt:lpstr>If you’re lost for words</vt:lpstr>
      <vt:lpstr>Today: Conclusions</vt:lpstr>
      <vt:lpstr>PowerPoint Presentation</vt:lpstr>
      <vt:lpstr>QUIZTIME</vt:lpstr>
      <vt:lpstr>Coming up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English: Grammar</dc:title>
  <dc:creator>Packard Bell</dc:creator>
  <cp:lastModifiedBy>Martonfi, A. (Anna)</cp:lastModifiedBy>
  <cp:revision>110</cp:revision>
  <cp:lastPrinted>2016-04-05T07:33:54Z</cp:lastPrinted>
  <dcterms:created xsi:type="dcterms:W3CDTF">2014-08-31T10:23:06Z</dcterms:created>
  <dcterms:modified xsi:type="dcterms:W3CDTF">2025-05-06T08:31:35Z</dcterms:modified>
</cp:coreProperties>
</file>