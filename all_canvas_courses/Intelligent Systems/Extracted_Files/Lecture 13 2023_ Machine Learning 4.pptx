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Lst>
  <p:sldSz cy="5143500" cx="9144000"/>
  <p:notesSz cx="6858000" cy="9144000"/>
  <p:embeddedFontLst>
    <p:embeddedFont>
      <p:font typeface="Lato"/>
      <p:regular r:id="rId53"/>
      <p:bold r:id="rId54"/>
      <p:italic r:id="rId55"/>
      <p:boldItalic r:id="rId56"/>
    </p:embeddedFont>
    <p:embeddedFont>
      <p:font typeface="Fira Code"/>
      <p:regular r:id="rId57"/>
      <p:bold r:id="rId58"/>
    </p:embeddedFont>
    <p:embeddedFont>
      <p:font typeface="Cambria Math"/>
      <p:regular r:id="rId5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8C6CA05-93D3-412A-BF3C-99E95FF51B30}">
  <a:tblStyle styleId="{98C6CA05-93D3-412A-BF3C-99E95FF51B30}"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font" Target="fonts/Lato-regular.fntdata"/><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font" Target="fonts/Lato-italic.fntdata"/><Relationship Id="rId10" Type="http://schemas.openxmlformats.org/officeDocument/2006/relationships/slide" Target="slides/slide4.xml"/><Relationship Id="rId54" Type="http://schemas.openxmlformats.org/officeDocument/2006/relationships/font" Target="fonts/Lato-bold.fntdata"/><Relationship Id="rId13" Type="http://schemas.openxmlformats.org/officeDocument/2006/relationships/slide" Target="slides/slide7.xml"/><Relationship Id="rId57" Type="http://schemas.openxmlformats.org/officeDocument/2006/relationships/font" Target="fonts/FiraCode-regular.fntdata"/><Relationship Id="rId12" Type="http://schemas.openxmlformats.org/officeDocument/2006/relationships/slide" Target="slides/slide6.xml"/><Relationship Id="rId56" Type="http://schemas.openxmlformats.org/officeDocument/2006/relationships/font" Target="fonts/Lato-boldItalic.fntdata"/><Relationship Id="rId15" Type="http://schemas.openxmlformats.org/officeDocument/2006/relationships/slide" Target="slides/slide9.xml"/><Relationship Id="rId59" Type="http://schemas.openxmlformats.org/officeDocument/2006/relationships/font" Target="fonts/CambriaMath-regular.fntdata"/><Relationship Id="rId14" Type="http://schemas.openxmlformats.org/officeDocument/2006/relationships/slide" Target="slides/slide8.xml"/><Relationship Id="rId58" Type="http://schemas.openxmlformats.org/officeDocument/2006/relationships/font" Target="fonts/FiraCode-bold.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scikit-learn.org/stable/auto_examples/cluster/plot_kmeans_silhouette_analysis.html" TargetMode="Externa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scikit-learn.org/stable/auto_examples/cluster/plot_kmeans_silhouette_analysis.html" TargetMode="Externa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scikit-learn.org/stable/auto_examples/cluster/plot_kmeans_silhouette_analysis.html" TargetMode="Externa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scikit-learn.org/stable/auto_examples/cluster/plot_kmeans_silhouette_analysis.html" TargetMode="Externa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scikit-learn.org/stable/auto_examples/cluster/plot_kmeans_silhouette_analysis.html" TargetMode="Externa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283c2d5daf6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283c2d5daf6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283c2d5daf6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283c2d5daf6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This lecture will begin with a recap on regression and how to find a model class.</a:t>
            </a:r>
            <a:endParaRPr sz="1200">
              <a:solidFill>
                <a:schemeClr val="dk1"/>
              </a:solidFill>
              <a:latin typeface="Calibri"/>
              <a:ea typeface="Calibri"/>
              <a:cs typeface="Calibri"/>
              <a:sym typeface="Calibri"/>
            </a:endParaRPr>
          </a:p>
          <a:p>
            <a:pPr indent="0" lvl="0" marL="0" rtl="0" algn="l">
              <a:spcBef>
                <a:spcPts val="0"/>
              </a:spcBef>
              <a:spcAft>
                <a:spcPts val="0"/>
              </a:spcAft>
              <a:buNone/>
            </a:pPr>
            <a:r>
              <a:t/>
            </a:r>
            <a:endParaRPr sz="1200">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2842dd85bbf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2842dd85bbf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Calibri"/>
                <a:ea typeface="Calibri"/>
                <a:cs typeface="Calibri"/>
                <a:sym typeface="Calibri"/>
              </a:rPr>
              <a:t>Last week we discussed choosing the right model </a:t>
            </a:r>
            <a:r>
              <a:rPr lang="en" sz="1200">
                <a:latin typeface="Calibri"/>
                <a:ea typeface="Calibri"/>
                <a:cs typeface="Calibri"/>
                <a:sym typeface="Calibri"/>
              </a:rPr>
              <a:t>class</a:t>
            </a:r>
            <a:r>
              <a:rPr lang="en" sz="1200">
                <a:latin typeface="Calibri"/>
                <a:ea typeface="Calibri"/>
                <a:cs typeface="Calibri"/>
                <a:sym typeface="Calibri"/>
              </a:rPr>
              <a:t> for classification and regression. For classification, recall that the number of features we choose will the change the dimension in which we are modeling. For example, given a single feature of “size” to determine whether they belong to the price&gt;100 class or price&lt;100 class, we can model this on a line where every instance with an size above 25 has an price&gt;100. We try to find a model that </a:t>
            </a:r>
            <a:r>
              <a:rPr b="1" lang="en" sz="1200">
                <a:latin typeface="Calibri"/>
                <a:ea typeface="Calibri"/>
                <a:cs typeface="Calibri"/>
                <a:sym typeface="Calibri"/>
              </a:rPr>
              <a:t>separates</a:t>
            </a:r>
            <a:r>
              <a:rPr lang="en" sz="1200">
                <a:latin typeface="Calibri"/>
                <a:ea typeface="Calibri"/>
                <a:cs typeface="Calibri"/>
                <a:sym typeface="Calibri"/>
              </a:rPr>
              <a:t> the classes.</a:t>
            </a:r>
            <a:endParaRPr sz="1200">
              <a:latin typeface="Calibri"/>
              <a:ea typeface="Calibri"/>
              <a:cs typeface="Calibri"/>
              <a:sym typeface="Calibri"/>
            </a:endParaRPr>
          </a:p>
          <a:p>
            <a:pPr indent="0" lvl="0" marL="0" rtl="0" algn="l">
              <a:spcBef>
                <a:spcPts val="0"/>
              </a:spcBef>
              <a:spcAft>
                <a:spcPts val="0"/>
              </a:spcAft>
              <a:buNone/>
            </a:pPr>
            <a:r>
              <a:t/>
            </a:r>
            <a:endParaRPr sz="1200">
              <a:latin typeface="Calibri"/>
              <a:ea typeface="Calibri"/>
              <a:cs typeface="Calibri"/>
              <a:sym typeface="Calibri"/>
            </a:endParaRPr>
          </a:p>
          <a:p>
            <a:pPr indent="0" lvl="0" marL="0" rtl="0" algn="l">
              <a:spcBef>
                <a:spcPts val="0"/>
              </a:spcBef>
              <a:spcAft>
                <a:spcPts val="0"/>
              </a:spcAft>
              <a:buNone/>
            </a:pPr>
            <a:r>
              <a:rPr lang="en" sz="1200">
                <a:latin typeface="Calibri"/>
                <a:ea typeface="Calibri"/>
                <a:cs typeface="Calibri"/>
                <a:sym typeface="Calibri"/>
              </a:rPr>
              <a:t>For regression we may choose different lines to model our data, looking for one that is </a:t>
            </a:r>
            <a:r>
              <a:rPr b="1" lang="en" sz="1200">
                <a:latin typeface="Calibri"/>
                <a:ea typeface="Calibri"/>
                <a:cs typeface="Calibri"/>
                <a:sym typeface="Calibri"/>
              </a:rPr>
              <a:t>consistent</a:t>
            </a:r>
            <a:r>
              <a:rPr lang="en" sz="1200">
                <a:latin typeface="Calibri"/>
                <a:ea typeface="Calibri"/>
                <a:cs typeface="Calibri"/>
                <a:sym typeface="Calibri"/>
              </a:rPr>
              <a:t> with the data.</a:t>
            </a:r>
            <a:endParaRPr sz="1200">
              <a:latin typeface="Calibri"/>
              <a:ea typeface="Calibri"/>
              <a:cs typeface="Calibri"/>
              <a:sym typeface="Calibri"/>
            </a:endParaRPr>
          </a:p>
          <a:p>
            <a:pPr indent="0" lvl="0" marL="0" rtl="0" algn="l">
              <a:spcBef>
                <a:spcPts val="0"/>
              </a:spcBef>
              <a:spcAft>
                <a:spcPts val="0"/>
              </a:spcAft>
              <a:buNone/>
            </a:pPr>
            <a:r>
              <a:t/>
            </a:r>
            <a:endParaRPr sz="1200">
              <a:latin typeface="Calibri"/>
              <a:ea typeface="Calibri"/>
              <a:cs typeface="Calibri"/>
              <a:sym typeface="Calibri"/>
            </a:endParaRPr>
          </a:p>
          <a:p>
            <a:pPr indent="0" lvl="0" marL="0" rtl="0" algn="l">
              <a:spcBef>
                <a:spcPts val="0"/>
              </a:spcBef>
              <a:spcAft>
                <a:spcPts val="0"/>
              </a:spcAft>
              <a:buNone/>
            </a:pPr>
            <a:r>
              <a:rPr lang="en" sz="1200">
                <a:latin typeface="Calibri"/>
                <a:ea typeface="Calibri"/>
                <a:cs typeface="Calibri"/>
                <a:sym typeface="Calibri"/>
              </a:rPr>
              <a:t>Recall that a model too ‘simple’ for the data means it is </a:t>
            </a:r>
            <a:r>
              <a:rPr b="1" lang="en" sz="1200">
                <a:latin typeface="Calibri"/>
                <a:ea typeface="Calibri"/>
                <a:cs typeface="Calibri"/>
                <a:sym typeface="Calibri"/>
              </a:rPr>
              <a:t>underfitted</a:t>
            </a:r>
            <a:r>
              <a:rPr lang="en" sz="1200">
                <a:latin typeface="Calibri"/>
                <a:ea typeface="Calibri"/>
                <a:cs typeface="Calibri"/>
                <a:sym typeface="Calibri"/>
              </a:rPr>
              <a:t> and a model too complex and customised to the training data is </a:t>
            </a:r>
            <a:r>
              <a:rPr b="1" lang="en" sz="1200">
                <a:latin typeface="Calibri"/>
                <a:ea typeface="Calibri"/>
                <a:cs typeface="Calibri"/>
                <a:sym typeface="Calibri"/>
              </a:rPr>
              <a:t>overfitted. </a:t>
            </a:r>
            <a:endParaRPr b="1" sz="1200">
              <a:latin typeface="Calibri"/>
              <a:ea typeface="Calibri"/>
              <a:cs typeface="Calibri"/>
              <a:sym typeface="Calibri"/>
            </a:endParaRPr>
          </a:p>
          <a:p>
            <a:pPr indent="0" lvl="0" marL="0" rtl="0" algn="l">
              <a:spcBef>
                <a:spcPts val="0"/>
              </a:spcBef>
              <a:spcAft>
                <a:spcPts val="0"/>
              </a:spcAft>
              <a:buNone/>
            </a:pPr>
            <a:r>
              <a:t/>
            </a:r>
            <a:endParaRPr b="1" sz="1200">
              <a:latin typeface="Calibri"/>
              <a:ea typeface="Calibri"/>
              <a:cs typeface="Calibri"/>
              <a:sym typeface="Calibri"/>
            </a:endParaRPr>
          </a:p>
          <a:p>
            <a:pPr indent="0" lvl="0" marL="0" rtl="0" algn="l">
              <a:spcBef>
                <a:spcPts val="0"/>
              </a:spcBef>
              <a:spcAft>
                <a:spcPts val="0"/>
              </a:spcAft>
              <a:buNone/>
            </a:pPr>
            <a:r>
              <a:t/>
            </a:r>
            <a:endParaRPr b="1" sz="1200">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1cd63623e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1cd63623e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Calibri"/>
                <a:ea typeface="Calibri"/>
                <a:cs typeface="Calibri"/>
                <a:sym typeface="Calibri"/>
              </a:rPr>
              <a:t>Now we will look at an unsupervised method. </a:t>
            </a:r>
            <a:endParaRPr sz="1200">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1cd63623e4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1cd63623e4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Calibri"/>
                <a:ea typeface="Calibri"/>
                <a:cs typeface="Calibri"/>
                <a:sym typeface="Calibri"/>
              </a:rPr>
              <a:t>In unsupervised learning tasks, like clustering, there are no labels on the training data. This means that we have values for the features we want to use but there is no ‘class’ or ‘label’ that we know to be correct that is given to the model. The features go through a learner to the model, which then predicts which cluster a new example belongs to.</a:t>
            </a:r>
            <a:endParaRPr sz="1200">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1cd63623e4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1cd63623e4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Calibri"/>
                <a:ea typeface="Calibri"/>
                <a:cs typeface="Calibri"/>
                <a:sym typeface="Calibri"/>
              </a:rPr>
              <a:t>Given the bill length and depth of a collection of penguins, we can cluster the penguins into different types.</a:t>
            </a:r>
            <a:endParaRPr sz="1200">
              <a:latin typeface="Calibri"/>
              <a:ea typeface="Calibri"/>
              <a:cs typeface="Calibri"/>
              <a:sym typeface="Calibri"/>
            </a:endParaRPr>
          </a:p>
          <a:p>
            <a:pPr indent="0" lvl="0" marL="0" rtl="0" algn="l">
              <a:spcBef>
                <a:spcPts val="0"/>
              </a:spcBef>
              <a:spcAft>
                <a:spcPts val="0"/>
              </a:spcAft>
              <a:buNone/>
            </a:pPr>
            <a:r>
              <a:t/>
            </a:r>
            <a:endParaRPr sz="1200">
              <a:latin typeface="Calibri"/>
              <a:ea typeface="Calibri"/>
              <a:cs typeface="Calibri"/>
              <a:sym typeface="Calibri"/>
            </a:endParaRPr>
          </a:p>
          <a:p>
            <a:pPr indent="0" lvl="0" marL="0" rtl="0" algn="l">
              <a:spcBef>
                <a:spcPts val="0"/>
              </a:spcBef>
              <a:spcAft>
                <a:spcPts val="0"/>
              </a:spcAft>
              <a:buNone/>
            </a:pPr>
            <a:r>
              <a:rPr lang="en" sz="1200">
                <a:latin typeface="Calibri"/>
                <a:ea typeface="Calibri"/>
                <a:cs typeface="Calibri"/>
                <a:sym typeface="Calibri"/>
              </a:rPr>
              <a:t>image source: https://allisonhorst.github.io/palmerpenguins/</a:t>
            </a:r>
            <a:endParaRPr sz="1200">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1cd63623e4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1cd63623e4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 sz="1200">
                <a:latin typeface="Calibri"/>
                <a:ea typeface="Calibri"/>
                <a:cs typeface="Calibri"/>
                <a:sym typeface="Calibri"/>
              </a:rPr>
              <a:t>K</a:t>
            </a:r>
            <a:r>
              <a:rPr lang="en" sz="1200">
                <a:latin typeface="Calibri"/>
                <a:ea typeface="Calibri"/>
                <a:cs typeface="Calibri"/>
                <a:sym typeface="Calibri"/>
              </a:rPr>
              <a:t>-means is the simplest algorithm for clustering. The first step for the user or engineer is to choose a </a:t>
            </a:r>
            <a:r>
              <a:rPr i="1" lang="en" sz="1200">
                <a:latin typeface="Calibri"/>
                <a:ea typeface="Calibri"/>
                <a:cs typeface="Calibri"/>
                <a:sym typeface="Calibri"/>
              </a:rPr>
              <a:t>k</a:t>
            </a:r>
            <a:r>
              <a:rPr lang="en" sz="1200">
                <a:latin typeface="Calibri"/>
                <a:ea typeface="Calibri"/>
                <a:cs typeface="Calibri"/>
                <a:sym typeface="Calibri"/>
              </a:rPr>
              <a:t> value, which is the number of clusters we are interested in. In this case we know that there are 3 types of penguins in this collection so </a:t>
            </a:r>
            <a:r>
              <a:rPr i="1" lang="en" sz="1200">
                <a:latin typeface="Calibri"/>
                <a:ea typeface="Calibri"/>
                <a:cs typeface="Calibri"/>
                <a:sym typeface="Calibri"/>
              </a:rPr>
              <a:t>k</a:t>
            </a:r>
            <a:r>
              <a:rPr lang="en" sz="1200">
                <a:latin typeface="Calibri"/>
                <a:ea typeface="Calibri"/>
                <a:cs typeface="Calibri"/>
                <a:sym typeface="Calibri"/>
              </a:rPr>
              <a:t> = 3. If the user does not know how many clusters is ideal, the user should try the model with different </a:t>
            </a:r>
            <a:r>
              <a:rPr i="1" lang="en" sz="1200">
                <a:latin typeface="Calibri"/>
                <a:ea typeface="Calibri"/>
                <a:cs typeface="Calibri"/>
                <a:sym typeface="Calibri"/>
              </a:rPr>
              <a:t>k </a:t>
            </a:r>
            <a:r>
              <a:rPr lang="en" sz="1200">
                <a:latin typeface="Calibri"/>
                <a:ea typeface="Calibri"/>
                <a:cs typeface="Calibri"/>
                <a:sym typeface="Calibri"/>
              </a:rPr>
              <a:t>values and evaluate their performance.</a:t>
            </a:r>
            <a:endParaRPr sz="1200">
              <a:latin typeface="Calibri"/>
              <a:ea typeface="Calibri"/>
              <a:cs typeface="Calibri"/>
              <a:sym typeface="Calibri"/>
            </a:endParaRPr>
          </a:p>
          <a:p>
            <a:pPr indent="0" lvl="0" marL="0" rtl="0" algn="l">
              <a:spcBef>
                <a:spcPts val="0"/>
              </a:spcBef>
              <a:spcAft>
                <a:spcPts val="0"/>
              </a:spcAft>
              <a:buNone/>
            </a:pPr>
            <a:r>
              <a:rPr lang="en" sz="1200">
                <a:latin typeface="Calibri"/>
                <a:ea typeface="Calibri"/>
                <a:cs typeface="Calibri"/>
                <a:sym typeface="Calibri"/>
              </a:rPr>
              <a:t>	</a:t>
            </a:r>
            <a:r>
              <a:rPr i="1" lang="en" sz="1200">
                <a:latin typeface="Calibri"/>
                <a:ea typeface="Calibri"/>
                <a:cs typeface="Calibri"/>
                <a:sym typeface="Calibri"/>
              </a:rPr>
              <a:t>K</a:t>
            </a:r>
            <a:r>
              <a:rPr lang="en" sz="1200">
                <a:latin typeface="Calibri"/>
                <a:ea typeface="Calibri"/>
                <a:cs typeface="Calibri"/>
                <a:sym typeface="Calibri"/>
              </a:rPr>
              <a:t> random data points are chosen to be the first </a:t>
            </a:r>
            <a:r>
              <a:rPr i="1" lang="en" sz="1200">
                <a:latin typeface="Calibri"/>
                <a:ea typeface="Calibri"/>
                <a:cs typeface="Calibri"/>
                <a:sym typeface="Calibri"/>
              </a:rPr>
              <a:t>seeds</a:t>
            </a:r>
            <a:r>
              <a:rPr lang="en" sz="1200">
                <a:latin typeface="Calibri"/>
                <a:ea typeface="Calibri"/>
                <a:cs typeface="Calibri"/>
                <a:sym typeface="Calibri"/>
              </a:rPr>
              <a:t>.</a:t>
            </a:r>
            <a:endParaRPr sz="1200">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1cd63623e4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1cd63623e4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Calibri"/>
                <a:ea typeface="Calibri"/>
                <a:cs typeface="Calibri"/>
                <a:sym typeface="Calibri"/>
              </a:rPr>
              <a:t>Each data point is assigned to the cluster of the nearest random seed.</a:t>
            </a:r>
            <a:endParaRPr sz="1200">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1cd63623e4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1cd63623e4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Calibri"/>
                <a:ea typeface="Calibri"/>
                <a:cs typeface="Calibri"/>
                <a:sym typeface="Calibri"/>
              </a:rPr>
              <a:t>Next, the seed is changed to the average point in each cluster that was created in the second step.</a:t>
            </a:r>
            <a:endParaRPr sz="1200">
              <a:latin typeface="Calibri"/>
              <a:ea typeface="Calibri"/>
              <a:cs typeface="Calibri"/>
              <a:sym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1cd63623e4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1cd63623e4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Calibri"/>
                <a:ea typeface="Calibri"/>
                <a:cs typeface="Calibri"/>
                <a:sym typeface="Calibri"/>
              </a:rPr>
              <a:t>Now, each data point is reassigned to the cluster of the mean that is closest to it.</a:t>
            </a:r>
            <a:endParaRPr sz="1200">
              <a:latin typeface="Calibri"/>
              <a:ea typeface="Calibri"/>
              <a:cs typeface="Calibri"/>
              <a:sym typeface="Calibri"/>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1cd63623e4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1cd63623e4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Calibri"/>
                <a:ea typeface="Calibri"/>
                <a:cs typeface="Calibri"/>
                <a:sym typeface="Calibri"/>
              </a:rPr>
              <a:t>This cycle is iterated until the mean point of each cluster hardly moves or does not move. After every shift of the mean, the points are reassigned to the cluster of the nearest mean.</a:t>
            </a:r>
            <a:endParaRPr sz="1200">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1cd63623e4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31cd63623e4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Calibri"/>
                <a:ea typeface="Calibri"/>
                <a:cs typeface="Calibri"/>
                <a:sym typeface="Calibri"/>
              </a:rPr>
              <a:t>This is the final comparison to the actual data.</a:t>
            </a:r>
            <a:endParaRPr sz="1200">
              <a:latin typeface="Calibri"/>
              <a:ea typeface="Calibri"/>
              <a:cs typeface="Calibri"/>
              <a:sym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1cd63623e4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31cd63623e4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 sz="1200">
                <a:latin typeface="Calibri"/>
                <a:ea typeface="Calibri"/>
                <a:cs typeface="Calibri"/>
                <a:sym typeface="Calibri"/>
              </a:rPr>
              <a:t>K</a:t>
            </a:r>
            <a:r>
              <a:rPr lang="en" sz="1200">
                <a:latin typeface="Calibri"/>
                <a:ea typeface="Calibri"/>
                <a:cs typeface="Calibri"/>
                <a:sym typeface="Calibri"/>
              </a:rPr>
              <a:t>-means is a very fast algorithm that can work well in many different cases, including ones in high-dimensional space. The biggest issues are that </a:t>
            </a:r>
            <a:r>
              <a:rPr i="1" lang="en" sz="1200">
                <a:latin typeface="Calibri"/>
                <a:ea typeface="Calibri"/>
                <a:cs typeface="Calibri"/>
                <a:sym typeface="Calibri"/>
              </a:rPr>
              <a:t>k</a:t>
            </a:r>
            <a:r>
              <a:rPr lang="en" sz="1200">
                <a:latin typeface="Calibri"/>
                <a:ea typeface="Calibri"/>
                <a:cs typeface="Calibri"/>
                <a:sym typeface="Calibri"/>
              </a:rPr>
              <a:t> can be difficult to choose and that </a:t>
            </a:r>
            <a:r>
              <a:rPr i="1" lang="en" sz="1200">
                <a:latin typeface="Calibri"/>
                <a:ea typeface="Calibri"/>
                <a:cs typeface="Calibri"/>
                <a:sym typeface="Calibri"/>
              </a:rPr>
              <a:t>k</a:t>
            </a:r>
            <a:r>
              <a:rPr lang="en" sz="1200">
                <a:latin typeface="Calibri"/>
                <a:ea typeface="Calibri"/>
                <a:cs typeface="Calibri"/>
                <a:sym typeface="Calibri"/>
              </a:rPr>
              <a:t> may get stuck in local minima. That is, once a certain mean has been found, the cluster will not change again even if there may be a slightly better mean. Outliers can change the average value of a cluster significantly and may throw off the accuracy of a cluster.</a:t>
            </a:r>
            <a:endParaRPr sz="1200">
              <a:latin typeface="Calibri"/>
              <a:ea typeface="Calibri"/>
              <a:cs typeface="Calibri"/>
              <a:sym typeface="Calibri"/>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1cd63623e4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31cd63623e4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cases where the actual labels are known, as in the penguin example, evaluation can be performed similarly to classification. Each data point is either correctly or incorrectly clustered. However in practice there are often no correct labels for the clusters and the number of clusters might even be unspecified. In this case, we measure the similarity of points within clusters as compared to the similarity of points in different clusters.</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1cd63623e4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31cd63623e4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Calibri"/>
                <a:ea typeface="Calibri"/>
                <a:cs typeface="Calibri"/>
                <a:sym typeface="Calibri"/>
              </a:rPr>
              <a:t>Silhouette coefficient is a metric for comparing cluster similarity. The goal is to maximise the silhouette coefficient, meaning that data points within a cluster are similar.</a:t>
            </a:r>
            <a:endParaRPr sz="1200">
              <a:latin typeface="Calibri"/>
              <a:ea typeface="Calibri"/>
              <a:cs typeface="Calibri"/>
              <a:sym typeface="Calibri"/>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1cd63623e4_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31cd63623e4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Calibri"/>
                <a:ea typeface="Calibri"/>
                <a:cs typeface="Calibri"/>
                <a:sym typeface="Calibri"/>
              </a:rPr>
              <a:t>Let’s look at one example. The data does not change, but the </a:t>
            </a:r>
            <a:r>
              <a:rPr i="1" lang="en" sz="1200">
                <a:latin typeface="Calibri"/>
                <a:ea typeface="Calibri"/>
                <a:cs typeface="Calibri"/>
                <a:sym typeface="Calibri"/>
              </a:rPr>
              <a:t>k</a:t>
            </a:r>
            <a:r>
              <a:rPr lang="en" sz="1200">
                <a:latin typeface="Calibri"/>
                <a:ea typeface="Calibri"/>
                <a:cs typeface="Calibri"/>
                <a:sym typeface="Calibri"/>
              </a:rPr>
              <a:t>-value does. The calculated silhouette coefficient is indicative of which </a:t>
            </a:r>
            <a:r>
              <a:rPr i="1" lang="en" sz="1200">
                <a:latin typeface="Calibri"/>
                <a:ea typeface="Calibri"/>
                <a:cs typeface="Calibri"/>
                <a:sym typeface="Calibri"/>
              </a:rPr>
              <a:t>k</a:t>
            </a:r>
            <a:r>
              <a:rPr lang="en" sz="1200">
                <a:latin typeface="Calibri"/>
                <a:ea typeface="Calibri"/>
                <a:cs typeface="Calibri"/>
                <a:sym typeface="Calibri"/>
              </a:rPr>
              <a:t> is the best. The red dotted line indicates the average silhouette coefficient of all the different clusters.</a:t>
            </a:r>
            <a:endParaRPr sz="1200">
              <a:latin typeface="Calibri"/>
              <a:ea typeface="Calibri"/>
              <a:cs typeface="Calibri"/>
              <a:sym typeface="Calibri"/>
            </a:endParaRPr>
          </a:p>
          <a:p>
            <a:pPr indent="0" lvl="0" marL="0" rtl="0" algn="l">
              <a:spcBef>
                <a:spcPts val="0"/>
              </a:spcBef>
              <a:spcAft>
                <a:spcPts val="0"/>
              </a:spcAft>
              <a:buNone/>
            </a:pPr>
            <a:r>
              <a:rPr lang="en" sz="1200" u="sng">
                <a:solidFill>
                  <a:schemeClr val="hlink"/>
                </a:solidFill>
                <a:latin typeface="Calibri"/>
                <a:ea typeface="Calibri"/>
                <a:cs typeface="Calibri"/>
                <a:sym typeface="Calibri"/>
                <a:hlinkClick r:id="rId2"/>
              </a:rPr>
              <a:t>https://scikit-learn.org/stable/auto_examples/cluster/plot_kmeans_silhouette_analysis.html</a:t>
            </a:r>
            <a:r>
              <a:rPr lang="en" sz="1200">
                <a:latin typeface="Calibri"/>
                <a:ea typeface="Calibri"/>
                <a:cs typeface="Calibri"/>
                <a:sym typeface="Calibri"/>
              </a:rPr>
              <a:t> </a:t>
            </a:r>
            <a:endParaRPr sz="1200">
              <a:latin typeface="Calibri"/>
              <a:ea typeface="Calibri"/>
              <a:cs typeface="Calibri"/>
              <a:sym typeface="Calibri"/>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1cd63623e4_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31cd63623e4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https://scikit-learn.org/stable/auto_examples/cluster/plot_kmeans_silhouette_analysis.html</a:t>
            </a:r>
            <a:r>
              <a:rPr lang="en"/>
              <a:t>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1cd63623e4_0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31cd63623e4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https://scikit-learn.org/stable/auto_examples/cluster/plot_kmeans_silhouette_analysis.html</a:t>
            </a:r>
            <a:r>
              <a:rPr lang="en"/>
              <a:t>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31cd63623e4_0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31cd63623e4_0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https://scikit-learn.org/stable/auto_examples/cluster/plot_kmeans_silhouette_analysis.html</a:t>
            </a:r>
            <a:r>
              <a:rPr lang="en"/>
              <a:t>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1cd63623e4_0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31cd63623e4_0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https://scikit-learn.org/stable/auto_examples/cluster/plot_kmeans_silhouette_analysis.html</a:t>
            </a:r>
            <a:r>
              <a:rPr lang="en"/>
              <a:t>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1cd63623e4_0_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31cd63623e4_0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Calibri"/>
                <a:ea typeface="Calibri"/>
                <a:cs typeface="Calibri"/>
                <a:sym typeface="Calibri"/>
              </a:rPr>
              <a:t>Choosing </a:t>
            </a:r>
            <a:r>
              <a:rPr i="1" lang="en" sz="1200">
                <a:latin typeface="Calibri"/>
                <a:ea typeface="Calibri"/>
                <a:cs typeface="Calibri"/>
                <a:sym typeface="Calibri"/>
              </a:rPr>
              <a:t>k</a:t>
            </a:r>
            <a:r>
              <a:rPr lang="en" sz="1200">
                <a:latin typeface="Calibri"/>
                <a:ea typeface="Calibri"/>
                <a:cs typeface="Calibri"/>
                <a:sym typeface="Calibri"/>
              </a:rPr>
              <a:t> with the highest silhouette coefficient is not always the best choice. Although </a:t>
            </a:r>
            <a:r>
              <a:rPr i="1" lang="en" sz="1200">
                <a:latin typeface="Calibri"/>
                <a:ea typeface="Calibri"/>
                <a:cs typeface="Calibri"/>
                <a:sym typeface="Calibri"/>
              </a:rPr>
              <a:t>k</a:t>
            </a:r>
            <a:r>
              <a:rPr lang="en" sz="1200">
                <a:latin typeface="Calibri"/>
                <a:ea typeface="Calibri"/>
                <a:cs typeface="Calibri"/>
                <a:sym typeface="Calibri"/>
              </a:rPr>
              <a:t> = 2 had the best performance, the size of the two clusters were very different, whereas the cluster in </a:t>
            </a:r>
            <a:r>
              <a:rPr i="1" lang="en" sz="1200">
                <a:latin typeface="Calibri"/>
                <a:ea typeface="Calibri"/>
                <a:cs typeface="Calibri"/>
                <a:sym typeface="Calibri"/>
              </a:rPr>
              <a:t>k</a:t>
            </a:r>
            <a:r>
              <a:rPr lang="en" sz="1200">
                <a:latin typeface="Calibri"/>
                <a:ea typeface="Calibri"/>
                <a:cs typeface="Calibri"/>
                <a:sym typeface="Calibri"/>
              </a:rPr>
              <a:t> = 4 were of very similar size, which we may prefer depending on the goal.</a:t>
            </a:r>
            <a:endParaRPr sz="1200">
              <a:latin typeface="Calibri"/>
              <a:ea typeface="Calibri"/>
              <a:cs typeface="Calibri"/>
              <a:sym typeface="Calibri"/>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283c2d5daf6_0_3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283c2d5daf6_0_3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Calibri"/>
                <a:ea typeface="Calibri"/>
                <a:cs typeface="Calibri"/>
                <a:sym typeface="Calibri"/>
              </a:rPr>
              <a:t>Now we will switch gears and have an introduction to neural networks.</a:t>
            </a:r>
            <a:endParaRPr sz="1200">
              <a:latin typeface="Calibri"/>
              <a:ea typeface="Calibri"/>
              <a:cs typeface="Calibri"/>
              <a:sym typeface="Calibri"/>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2843c0c44ef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2843c0c44ef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Calibri"/>
                <a:ea typeface="Calibri"/>
                <a:cs typeface="Calibri"/>
                <a:sym typeface="Calibri"/>
              </a:rPr>
              <a:t>The artificial neural network is inspired by and designed similarly to the human brain. Human neurons inspired the first </a:t>
            </a:r>
            <a:r>
              <a:rPr b="1" lang="en" sz="1200">
                <a:latin typeface="Calibri"/>
                <a:ea typeface="Calibri"/>
                <a:cs typeface="Calibri"/>
                <a:sym typeface="Calibri"/>
              </a:rPr>
              <a:t>perceptron</a:t>
            </a:r>
            <a:r>
              <a:rPr lang="en" sz="1200">
                <a:latin typeface="Calibri"/>
                <a:ea typeface="Calibri"/>
                <a:cs typeface="Calibri"/>
                <a:sym typeface="Calibri"/>
              </a:rPr>
              <a:t> created in 1957, which is simply several </a:t>
            </a:r>
            <a:r>
              <a:rPr b="1" lang="en" sz="1200">
                <a:latin typeface="Calibri"/>
                <a:ea typeface="Calibri"/>
                <a:cs typeface="Calibri"/>
                <a:sym typeface="Calibri"/>
              </a:rPr>
              <a:t>weights</a:t>
            </a:r>
            <a:r>
              <a:rPr lang="en" sz="1200">
                <a:latin typeface="Calibri"/>
                <a:ea typeface="Calibri"/>
                <a:cs typeface="Calibri"/>
                <a:sym typeface="Calibri"/>
              </a:rPr>
              <a:t> </a:t>
            </a:r>
            <a:r>
              <a:rPr i="1" lang="en" sz="1200">
                <a:latin typeface="Calibri"/>
                <a:ea typeface="Calibri"/>
                <a:cs typeface="Calibri"/>
                <a:sym typeface="Calibri"/>
              </a:rPr>
              <a:t>w</a:t>
            </a:r>
            <a:r>
              <a:rPr lang="en" sz="1200">
                <a:latin typeface="Calibri"/>
                <a:ea typeface="Calibri"/>
                <a:cs typeface="Calibri"/>
                <a:sym typeface="Calibri"/>
              </a:rPr>
              <a:t> and a </a:t>
            </a:r>
            <a:r>
              <a:rPr b="1" lang="en" sz="1200">
                <a:latin typeface="Calibri"/>
                <a:ea typeface="Calibri"/>
                <a:cs typeface="Calibri"/>
                <a:sym typeface="Calibri"/>
              </a:rPr>
              <a:t>bias</a:t>
            </a:r>
            <a:r>
              <a:rPr lang="en" sz="1200">
                <a:latin typeface="Calibri"/>
                <a:ea typeface="Calibri"/>
                <a:cs typeface="Calibri"/>
                <a:sym typeface="Calibri"/>
              </a:rPr>
              <a:t> </a:t>
            </a:r>
            <a:r>
              <a:rPr i="1" lang="en" sz="1200">
                <a:latin typeface="Calibri"/>
                <a:ea typeface="Calibri"/>
                <a:cs typeface="Calibri"/>
                <a:sym typeface="Calibri"/>
              </a:rPr>
              <a:t>b</a:t>
            </a:r>
            <a:r>
              <a:rPr lang="en" sz="1200">
                <a:latin typeface="Calibri"/>
                <a:ea typeface="Calibri"/>
                <a:cs typeface="Calibri"/>
                <a:sym typeface="Calibri"/>
              </a:rPr>
              <a:t> term as input features leading to some output. Note that this is just a visualisation of a mathematical function which can be used for classification or regression tasks. For example, if </a:t>
            </a:r>
            <a:r>
              <a:rPr i="1" lang="en" sz="1200">
                <a:latin typeface="Calibri"/>
                <a:ea typeface="Calibri"/>
                <a:cs typeface="Calibri"/>
                <a:sym typeface="Calibri"/>
              </a:rPr>
              <a:t>y</a:t>
            </a:r>
            <a:r>
              <a:rPr lang="en" sz="1200">
                <a:latin typeface="Calibri"/>
                <a:ea typeface="Calibri"/>
                <a:cs typeface="Calibri"/>
                <a:sym typeface="Calibri"/>
              </a:rPr>
              <a:t> is &gt; 0, then an instance is positive, and otherwise it is negative.</a:t>
            </a:r>
            <a:endParaRPr sz="1200">
              <a:latin typeface="Calibri"/>
              <a:ea typeface="Calibri"/>
              <a:cs typeface="Calibri"/>
              <a:sym typeface="Calibri"/>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2843c0c44ef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2843c0c44ef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Calibri"/>
                <a:ea typeface="Calibri"/>
                <a:cs typeface="Calibri"/>
                <a:sym typeface="Calibri"/>
              </a:rPr>
              <a:t>In the 1990s computers were too slow to use neural networks in practice. Few research was dedicated to the field as a result and it was more a theoretical exercise. In the last 10 to 15 years the increase in computing power has led to its promise.</a:t>
            </a:r>
            <a:endParaRPr sz="1200">
              <a:latin typeface="Calibri"/>
              <a:ea typeface="Calibri"/>
              <a:cs typeface="Calibri"/>
              <a:sym typeface="Calibri"/>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2843c0c44ef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2843c0c44ef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Calibri"/>
                <a:ea typeface="Calibri"/>
                <a:cs typeface="Calibri"/>
                <a:sym typeface="Calibri"/>
              </a:rPr>
              <a:t>Today we use very very deep </a:t>
            </a:r>
            <a:r>
              <a:rPr lang="en" sz="1200">
                <a:latin typeface="Calibri"/>
                <a:ea typeface="Calibri"/>
                <a:cs typeface="Calibri"/>
                <a:sym typeface="Calibri"/>
              </a:rPr>
              <a:t>neural</a:t>
            </a:r>
            <a:r>
              <a:rPr lang="en" sz="1200">
                <a:latin typeface="Calibri"/>
                <a:ea typeface="Calibri"/>
                <a:cs typeface="Calibri"/>
                <a:sym typeface="Calibri"/>
              </a:rPr>
              <a:t> networks, which simply means there are many layers, which we refer to as </a:t>
            </a:r>
            <a:r>
              <a:rPr b="1" lang="en" sz="1200">
                <a:latin typeface="Calibri"/>
                <a:ea typeface="Calibri"/>
                <a:cs typeface="Calibri"/>
                <a:sym typeface="Calibri"/>
              </a:rPr>
              <a:t>deep learning</a:t>
            </a:r>
            <a:r>
              <a:rPr lang="en" sz="1200">
                <a:latin typeface="Calibri"/>
                <a:ea typeface="Calibri"/>
                <a:cs typeface="Calibri"/>
                <a:sym typeface="Calibri"/>
              </a:rPr>
              <a:t>. These networks can capture much more complex features than other methods. For example, an image is dissected into its pixels, which each have a complex set of features that can lead to semantic detection of objects.</a:t>
            </a:r>
            <a:endParaRPr sz="1200">
              <a:latin typeface="Calibri"/>
              <a:ea typeface="Calibri"/>
              <a:cs typeface="Calibri"/>
              <a:sym typeface="Calibri"/>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2843c0c44ef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3" name="Google Shape;333;g2843c0c44ef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Calibri"/>
                <a:ea typeface="Calibri"/>
                <a:cs typeface="Calibri"/>
                <a:sym typeface="Calibri"/>
              </a:rPr>
              <a:t>The problem with </a:t>
            </a:r>
            <a:r>
              <a:rPr lang="en" sz="1200">
                <a:latin typeface="Calibri"/>
                <a:ea typeface="Calibri"/>
                <a:cs typeface="Calibri"/>
                <a:sym typeface="Calibri"/>
              </a:rPr>
              <a:t>building</a:t>
            </a:r>
            <a:r>
              <a:rPr lang="en" sz="1200">
                <a:latin typeface="Calibri"/>
                <a:ea typeface="Calibri"/>
                <a:cs typeface="Calibri"/>
                <a:sym typeface="Calibri"/>
              </a:rPr>
              <a:t> deep networks with perceptrons is that these functions will always be linear. Even if we add many layers and end up with a more complex function, we can simplify this and end up with a simple network again.</a:t>
            </a:r>
            <a:endParaRPr sz="1200">
              <a:latin typeface="Calibri"/>
              <a:ea typeface="Calibri"/>
              <a:cs typeface="Calibri"/>
              <a:sym typeface="Calibri"/>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2843c0c44ef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2843c0c44ef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Calibri"/>
                <a:ea typeface="Calibri"/>
                <a:cs typeface="Calibri"/>
                <a:sym typeface="Calibri"/>
              </a:rPr>
              <a:t>The solution to this problem is </a:t>
            </a:r>
            <a:r>
              <a:rPr b="1" lang="en" sz="1200">
                <a:latin typeface="Calibri"/>
                <a:ea typeface="Calibri"/>
                <a:cs typeface="Calibri"/>
                <a:sym typeface="Calibri"/>
              </a:rPr>
              <a:t>activation functions</a:t>
            </a:r>
            <a:r>
              <a:rPr lang="en" sz="1200">
                <a:latin typeface="Calibri"/>
                <a:ea typeface="Calibri"/>
                <a:cs typeface="Calibri"/>
                <a:sym typeface="Calibri"/>
              </a:rPr>
              <a:t>, or nonlinearities, which are other functions added to the nodes of a neural network. For example, the sigmoid function with its characteristic S shape changes each value to be between 0 and 1. You should know what an activation function is, but the mathematical details are not important for now.</a:t>
            </a:r>
            <a:endParaRPr sz="1200">
              <a:latin typeface="Calibri"/>
              <a:ea typeface="Calibri"/>
              <a:cs typeface="Calibri"/>
              <a:sym typeface="Calibri"/>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2843c0c44ef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6" name="Google Shape;356;g2843c0c44ef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Calibri"/>
                <a:ea typeface="Calibri"/>
                <a:cs typeface="Calibri"/>
                <a:sym typeface="Calibri"/>
              </a:rPr>
              <a:t>A feedforward network is a neural network in which the information only flows in one direction. Starting from the bottom of this diagram, the input layer is fed to a hidden layer and gives one output. Normally, neural networks have many hidden layers. The more hidden layers, the deeper the network. This is also called a multilayer perceptron.</a:t>
            </a:r>
            <a:endParaRPr sz="1200">
              <a:latin typeface="Calibri"/>
              <a:ea typeface="Calibri"/>
              <a:cs typeface="Calibri"/>
              <a:sym typeface="Calibri"/>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2843c0c44ef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0" name="Google Shape;370;g2843c0c44ef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Calibri"/>
                <a:ea typeface="Calibri"/>
                <a:cs typeface="Calibri"/>
                <a:sym typeface="Calibri"/>
              </a:rPr>
              <a:t>We could, for example, use a network for regression…</a:t>
            </a:r>
            <a:endParaRPr sz="1200">
              <a:latin typeface="Calibri"/>
              <a:ea typeface="Calibri"/>
              <a:cs typeface="Calibri"/>
              <a:sym typeface="Calibri"/>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2843c0c44ef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4" name="Google Shape;384;g2843c0c44ef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Calibri"/>
                <a:ea typeface="Calibri"/>
                <a:cs typeface="Calibri"/>
                <a:sym typeface="Calibri"/>
              </a:rPr>
              <a:t>…binary </a:t>
            </a:r>
            <a:r>
              <a:rPr lang="en" sz="1200">
                <a:latin typeface="Calibri"/>
                <a:ea typeface="Calibri"/>
                <a:cs typeface="Calibri"/>
                <a:sym typeface="Calibri"/>
              </a:rPr>
              <a:t>classification</a:t>
            </a:r>
            <a:r>
              <a:rPr lang="en" sz="1200">
                <a:latin typeface="Calibri"/>
                <a:ea typeface="Calibri"/>
                <a:cs typeface="Calibri"/>
                <a:sym typeface="Calibri"/>
              </a:rPr>
              <a:t> where a positive result means </a:t>
            </a:r>
            <a:r>
              <a:rPr lang="en" sz="1200">
                <a:latin typeface="Calibri"/>
                <a:ea typeface="Calibri"/>
                <a:cs typeface="Calibri"/>
                <a:sym typeface="Calibri"/>
              </a:rPr>
              <a:t>membership</a:t>
            </a:r>
            <a:r>
              <a:rPr lang="en" sz="1200">
                <a:latin typeface="Calibri"/>
                <a:ea typeface="Calibri"/>
                <a:cs typeface="Calibri"/>
                <a:sym typeface="Calibri"/>
              </a:rPr>
              <a:t> of a certain class. We use the sigmoid function to create a </a:t>
            </a:r>
            <a:r>
              <a:rPr b="1" lang="en" sz="1200">
                <a:latin typeface="Calibri"/>
                <a:ea typeface="Calibri"/>
                <a:cs typeface="Calibri"/>
                <a:sym typeface="Calibri"/>
              </a:rPr>
              <a:t>probability</a:t>
            </a:r>
            <a:r>
              <a:rPr lang="en" sz="1200">
                <a:latin typeface="Calibri"/>
                <a:ea typeface="Calibri"/>
                <a:cs typeface="Calibri"/>
                <a:sym typeface="Calibri"/>
              </a:rPr>
              <a:t> between 0 and 1.</a:t>
            </a:r>
            <a:endParaRPr sz="1200">
              <a:latin typeface="Calibri"/>
              <a:ea typeface="Calibri"/>
              <a:cs typeface="Calibri"/>
              <a:sym typeface="Calibri"/>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2843c0c44ef_0_1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0" name="Google Shape;400;g2843c0c44ef_0_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Calibri"/>
                <a:ea typeface="Calibri"/>
                <a:cs typeface="Calibri"/>
                <a:sym typeface="Calibri"/>
              </a:rPr>
              <a:t>…or multiclass classification where there are multiple nodes in the output layer. For multiclass classification there is a softmax activation function which assigns a probability to each class, classifying an instance as the class with the highest probability (you don’t need to know the math).</a:t>
            </a:r>
            <a:endParaRPr sz="1200">
              <a:latin typeface="Calibri"/>
              <a:ea typeface="Calibri"/>
              <a:cs typeface="Calibri"/>
              <a:sym typeface="Calibri"/>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g2843c0c44ef_0_2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9" name="Google Shape;429;g2843c0c44ef_0_2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Calibri"/>
                <a:ea typeface="Calibri"/>
                <a:cs typeface="Calibri"/>
                <a:sym typeface="Calibri"/>
              </a:rPr>
              <a:t>In this example, we are using age and height as the two features for a binary classification problem with two output nodes. </a:t>
            </a:r>
            <a:endParaRPr sz="1200">
              <a:latin typeface="Calibri"/>
              <a:ea typeface="Calibri"/>
              <a:cs typeface="Calibri"/>
              <a:sym typeface="Calibri"/>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g2843c0c44ef_0_2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1" name="Google Shape;441;g2843c0c44ef_0_2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Calibri"/>
                <a:ea typeface="Calibri"/>
                <a:cs typeface="Calibri"/>
                <a:sym typeface="Calibri"/>
              </a:rPr>
              <a:t>In this case the instance has an age of 21 and a height of 180, which leads to weights 0.1 and 0.3 in this example.</a:t>
            </a:r>
            <a:endParaRPr sz="1200">
              <a:latin typeface="Calibri"/>
              <a:ea typeface="Calibri"/>
              <a:cs typeface="Calibri"/>
              <a:sym typeface="Calibri"/>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2843c0c44ef_0_2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0" name="Google Shape;450;g2843c0c44ef_0_2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Calibri"/>
                <a:ea typeface="Calibri"/>
                <a:cs typeface="Calibri"/>
                <a:sym typeface="Calibri"/>
              </a:rPr>
              <a:t>In this example the instance has an age of 31 and a height of 165 cm. When we want to learn a neural network, we find the output values and </a:t>
            </a:r>
            <a:r>
              <a:rPr lang="en" sz="1200">
                <a:latin typeface="Calibri"/>
                <a:ea typeface="Calibri"/>
                <a:cs typeface="Calibri"/>
                <a:sym typeface="Calibri"/>
              </a:rPr>
              <a:t>find</a:t>
            </a:r>
            <a:r>
              <a:rPr lang="en" sz="1200">
                <a:latin typeface="Calibri"/>
                <a:ea typeface="Calibri"/>
                <a:cs typeface="Calibri"/>
                <a:sym typeface="Calibri"/>
              </a:rPr>
              <a:t> the error by comparing to the actual value. We can build an error </a:t>
            </a:r>
            <a:r>
              <a:rPr lang="en" sz="1200">
                <a:latin typeface="Calibri"/>
                <a:ea typeface="Calibri"/>
                <a:cs typeface="Calibri"/>
                <a:sym typeface="Calibri"/>
              </a:rPr>
              <a:t>function</a:t>
            </a:r>
            <a:r>
              <a:rPr lang="en" sz="1200">
                <a:latin typeface="Calibri"/>
                <a:ea typeface="Calibri"/>
                <a:cs typeface="Calibri"/>
                <a:sym typeface="Calibri"/>
              </a:rPr>
              <a:t> and use it to adjust the weights through backpropagation and adjust the model. You will learn all about the specifics in the course Machine Learning.</a:t>
            </a:r>
            <a:endParaRPr sz="1200">
              <a:latin typeface="Calibri"/>
              <a:ea typeface="Calibri"/>
              <a:cs typeface="Calibri"/>
              <a:sym typeface="Calibri"/>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g2843c0c44ef_0_2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0" name="Google Shape;470;g2843c0c44ef_0_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Calibri"/>
                <a:ea typeface="Calibri"/>
                <a:cs typeface="Calibri"/>
                <a:sym typeface="Calibri"/>
              </a:rPr>
              <a:t>Neural network methodology, like other methods, always start by collecting enough data to train the model. Then we work out a loss function in order to adjust the parameters of the network and decrease the error rate.</a:t>
            </a:r>
            <a:endParaRPr sz="1200">
              <a:latin typeface="Calibri"/>
              <a:ea typeface="Calibri"/>
              <a:cs typeface="Calibri"/>
              <a:sym typeface="Calibri"/>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g2a5fa453342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7" name="Google Shape;477;g2a5fa453342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200">
              <a:latin typeface="Calibri"/>
              <a:ea typeface="Calibri"/>
              <a:cs typeface="Calibri"/>
              <a:sym typeface="Calibri"/>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g2a5fa453342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3" name="Google Shape;483;g2a5fa453342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Every layer in the network is described by an equation.</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g2a5fa453342_0_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7" name="Google Shape;527;g2a5fa453342_0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It’s convenient to write these equations with vector notation.</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g2a5fa453342_0_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4" name="Google Shape;544;g2a5fa453342_0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network can be viewed in different forms: equations, a network visualization, or using the shapes of its vectors and matrices.</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g2a5fa453342_0_2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0" name="Google Shape;580;g2a5fa453342_0_2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network visualization is often simplified into an </a:t>
            </a:r>
            <a:r>
              <a:rPr b="1" lang="en"/>
              <a:t>architecture diagram</a:t>
            </a:r>
            <a:r>
              <a:rPr lang="en"/>
              <a:t>, which shows the different types of layers. Here, we have two </a:t>
            </a:r>
            <a:r>
              <a:rPr b="1" lang="en"/>
              <a:t>feed-forward</a:t>
            </a:r>
            <a:r>
              <a:rPr lang="en"/>
              <a:t> layers.</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g2a5fa453342_0_2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2" name="Google Shape;602;g2a5fa453342_0_2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One recently popular architecture is called </a:t>
            </a:r>
            <a:r>
              <a:rPr lang="en"/>
              <a:t>the</a:t>
            </a:r>
            <a:r>
              <a:rPr lang="en"/>
              <a:t> </a:t>
            </a:r>
            <a:r>
              <a:rPr b="1" lang="en"/>
              <a:t>Transformer</a:t>
            </a:r>
            <a:r>
              <a:rPr lang="en"/>
              <a:t>. Even though it may look complex, you might recognize some parts of it already: the Feed-forward layers, the linear transformation, and the softmax output. Every layer is an equation that has a derivative, so the whole network can be trained by </a:t>
            </a:r>
            <a:r>
              <a:rPr b="1" lang="en"/>
              <a:t>stochastic gradient descent.</a:t>
            </a:r>
            <a:r>
              <a:rPr lang="en"/>
              <a:t> Often, this model is trained on next-word prediction in text, making it a </a:t>
            </a:r>
            <a:r>
              <a:rPr b="1" lang="en"/>
              <a:t>language model</a:t>
            </a:r>
            <a:r>
              <a:rPr lang="en"/>
              <a:t>.</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0" name="Shape 630"/>
        <p:cNvGrpSpPr/>
        <p:nvPr/>
      </p:nvGrpSpPr>
      <p:grpSpPr>
        <a:xfrm>
          <a:off x="0" y="0"/>
          <a:ext cx="0" cy="0"/>
          <a:chOff x="0" y="0"/>
          <a:chExt cx="0" cy="0"/>
        </a:xfrm>
      </p:grpSpPr>
      <p:sp>
        <p:nvSpPr>
          <p:cNvPr id="631" name="Google Shape;631;g2a5fa453342_0_2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2" name="Google Shape;632;g2a5fa453342_0_2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g2a5fa453342_0_2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1" name="Google Shape;661;g2a5fa453342_0_2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famous </a:t>
            </a:r>
            <a:r>
              <a:rPr b="1" lang="en"/>
              <a:t>ChatGPT</a:t>
            </a:r>
            <a:r>
              <a:rPr lang="en"/>
              <a:t> (Generative Pre-trained Transformer) is trained with two steps: first unsupervised, then supervised.</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g283c2d5daf6_0_2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6" name="Google Shape;676;g283c2d5daf6_0_2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33000"/>
              </a:lnSpc>
              <a:spcBef>
                <a:spcPts val="0"/>
              </a:spcBef>
              <a:spcAft>
                <a:spcPts val="0"/>
              </a:spcAft>
              <a:buClr>
                <a:schemeClr val="dk1"/>
              </a:buClr>
              <a:buSzPts val="1100"/>
              <a:buFont typeface="Arial"/>
              <a:buNone/>
            </a:pPr>
            <a:r>
              <a:rPr lang="en" sz="1200">
                <a:latin typeface="Calibri"/>
                <a:ea typeface="Calibri"/>
                <a:cs typeface="Calibri"/>
                <a:sym typeface="Calibri"/>
              </a:rPr>
              <a:t>Progress in the intelligent systems framework.</a:t>
            </a:r>
            <a:endParaRPr sz="1200">
              <a:latin typeface="Calibri"/>
              <a:ea typeface="Calibri"/>
              <a:cs typeface="Calibri"/>
              <a:sym typeface="Calibri"/>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g283c2d5daf6_0_1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3" name="Google Shape;683;g283c2d5daf6_0_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Calibri"/>
                <a:ea typeface="Calibri"/>
                <a:cs typeface="Calibri"/>
                <a:sym typeface="Calibri"/>
              </a:rPr>
              <a:t>Thank you for your attention and have a great day.</a:t>
            </a:r>
            <a:endParaRPr sz="1200">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lligent Systems" type="title">
  <p:cSld name="TITLE">
    <p:bg>
      <p:bgPr>
        <a:solidFill>
          <a:srgbClr val="1155CC"/>
        </a:solidFill>
      </p:bgPr>
    </p:bg>
    <p:spTree>
      <p:nvGrpSpPr>
        <p:cNvPr id="10" name="Shape 10"/>
        <p:cNvGrpSpPr/>
        <p:nvPr/>
      </p:nvGrpSpPr>
      <p:grpSpPr>
        <a:xfrm>
          <a:off x="0" y="0"/>
          <a:ext cx="0" cy="0"/>
          <a:chOff x="0" y="0"/>
          <a:chExt cx="0" cy="0"/>
        </a:xfrm>
      </p:grpSpPr>
      <p:sp>
        <p:nvSpPr>
          <p:cNvPr id="11" name="Google Shape;11;p2"/>
          <p:cNvSpPr txBox="1"/>
          <p:nvPr>
            <p:ph type="ctrTitle"/>
          </p:nvPr>
        </p:nvSpPr>
        <p:spPr>
          <a:xfrm>
            <a:off x="311708" y="62522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2500"/>
              <a:buFont typeface="Lato"/>
              <a:buNone/>
              <a:defRPr b="1">
                <a:solidFill>
                  <a:schemeClr val="lt1"/>
                </a:solidFill>
                <a:latin typeface="Lato"/>
                <a:ea typeface="Lato"/>
                <a:cs typeface="Lato"/>
                <a:sym typeface="Lato"/>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2" name="Google Shape;12;p2"/>
          <p:cNvSpPr txBox="1"/>
          <p:nvPr>
            <p:ph idx="1" type="subTitle"/>
          </p:nvPr>
        </p:nvSpPr>
        <p:spPr>
          <a:xfrm>
            <a:off x="2350200" y="2604600"/>
            <a:ext cx="4443600" cy="544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rgbClr val="C9DAF8"/>
              </a:buClr>
              <a:buSzPts val="2000"/>
              <a:buFont typeface="Lato"/>
              <a:buNone/>
              <a:defRPr sz="2000">
                <a:solidFill>
                  <a:srgbClr val="C9DAF8"/>
                </a:solidFill>
                <a:latin typeface="Lato"/>
                <a:ea typeface="Lato"/>
                <a:cs typeface="Lato"/>
                <a:sym typeface="Lato"/>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rgbClr val="A4C2F4"/>
                </a:solidFill>
              </a:defRPr>
            </a:lvl1pPr>
            <a:lvl2pPr lvl="1">
              <a:buNone/>
              <a:defRPr>
                <a:solidFill>
                  <a:srgbClr val="A4C2F4"/>
                </a:solidFill>
              </a:defRPr>
            </a:lvl2pPr>
            <a:lvl3pPr lvl="2">
              <a:buNone/>
              <a:defRPr>
                <a:solidFill>
                  <a:srgbClr val="A4C2F4"/>
                </a:solidFill>
              </a:defRPr>
            </a:lvl3pPr>
            <a:lvl4pPr lvl="3">
              <a:buNone/>
              <a:defRPr>
                <a:solidFill>
                  <a:srgbClr val="A4C2F4"/>
                </a:solidFill>
              </a:defRPr>
            </a:lvl4pPr>
            <a:lvl5pPr lvl="4">
              <a:buNone/>
              <a:defRPr>
                <a:solidFill>
                  <a:srgbClr val="A4C2F4"/>
                </a:solidFill>
              </a:defRPr>
            </a:lvl5pPr>
            <a:lvl6pPr lvl="5">
              <a:buNone/>
              <a:defRPr>
                <a:solidFill>
                  <a:srgbClr val="A4C2F4"/>
                </a:solidFill>
              </a:defRPr>
            </a:lvl6pPr>
            <a:lvl7pPr lvl="6">
              <a:buNone/>
              <a:defRPr>
                <a:solidFill>
                  <a:srgbClr val="A4C2F4"/>
                </a:solidFill>
              </a:defRPr>
            </a:lvl7pPr>
            <a:lvl8pPr lvl="7">
              <a:buNone/>
              <a:defRPr>
                <a:solidFill>
                  <a:srgbClr val="A4C2F4"/>
                </a:solidFill>
              </a:defRPr>
            </a:lvl8pPr>
            <a:lvl9pPr lvl="8">
              <a:buNone/>
              <a:defRPr>
                <a:solidFill>
                  <a:srgbClr val="A4C2F4"/>
                </a:solidFill>
              </a:defRPr>
            </a:lvl9pPr>
          </a:lstStyle>
          <a:p>
            <a:pPr indent="0" lvl="0" marL="0" rtl="0" algn="r">
              <a:spcBef>
                <a:spcPts val="0"/>
              </a:spcBef>
              <a:spcAft>
                <a:spcPts val="0"/>
              </a:spcAft>
              <a:buNone/>
            </a:pPr>
            <a:fld id="{00000000-1234-1234-1234-123412341234}" type="slidenum">
              <a:rPr lang="en"/>
              <a:t>‹#›</a:t>
            </a:fld>
            <a:endParaRPr/>
          </a:p>
        </p:txBody>
      </p:sp>
      <p:sp>
        <p:nvSpPr>
          <p:cNvPr id="14" name="Google Shape;14;p2"/>
          <p:cNvSpPr txBox="1"/>
          <p:nvPr/>
        </p:nvSpPr>
        <p:spPr>
          <a:xfrm>
            <a:off x="2933250" y="4299850"/>
            <a:ext cx="3277500" cy="692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700">
                <a:solidFill>
                  <a:srgbClr val="6D9EEB"/>
                </a:solidFill>
                <a:latin typeface="Calibri"/>
                <a:ea typeface="Calibri"/>
                <a:cs typeface="Calibri"/>
                <a:sym typeface="Calibri"/>
              </a:rPr>
              <a:t>Intelligent Systems</a:t>
            </a:r>
            <a:endParaRPr sz="1700">
              <a:solidFill>
                <a:srgbClr val="6D9EEB"/>
              </a:solidFill>
              <a:latin typeface="Calibri"/>
              <a:ea typeface="Calibri"/>
              <a:cs typeface="Calibri"/>
              <a:sym typeface="Calibri"/>
            </a:endParaRPr>
          </a:p>
          <a:p>
            <a:pPr indent="0" lvl="0" marL="0" rtl="0" algn="ctr">
              <a:spcBef>
                <a:spcPts val="0"/>
              </a:spcBef>
              <a:spcAft>
                <a:spcPts val="0"/>
              </a:spcAft>
              <a:buNone/>
            </a:pPr>
            <a:r>
              <a:rPr lang="en" sz="1600">
                <a:solidFill>
                  <a:srgbClr val="6D9EEB"/>
                </a:solidFill>
                <a:latin typeface="Calibri"/>
                <a:ea typeface="Calibri"/>
                <a:cs typeface="Calibri"/>
                <a:sym typeface="Calibri"/>
              </a:rPr>
              <a:t>Vrije Universiteit</a:t>
            </a:r>
            <a:endParaRPr sz="1600">
              <a:solidFill>
                <a:srgbClr val="6D9EEB"/>
              </a:solidFill>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rgbClr val="1155CC"/>
        </a:solidFill>
      </p:bgPr>
    </p:bg>
    <p:spTree>
      <p:nvGrpSpPr>
        <p:cNvPr id="15" name="Shape 15"/>
        <p:cNvGrpSpPr/>
        <p:nvPr/>
      </p:nvGrpSpPr>
      <p:grpSpPr>
        <a:xfrm>
          <a:off x="0" y="0"/>
          <a:ext cx="0" cy="0"/>
          <a:chOff x="0" y="0"/>
          <a:chExt cx="0" cy="0"/>
        </a:xfrm>
      </p:grpSpPr>
      <p:sp>
        <p:nvSpPr>
          <p:cNvPr id="16" name="Google Shape;16;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Clr>
                <a:srgbClr val="C9DAF8"/>
              </a:buClr>
              <a:buSzPts val="2000"/>
              <a:buFont typeface="Lato"/>
              <a:buNone/>
              <a:defRPr sz="2000">
                <a:solidFill>
                  <a:srgbClr val="C9DAF8"/>
                </a:solidFill>
                <a:latin typeface="Lato"/>
                <a:ea typeface="Lato"/>
                <a:cs typeface="Lato"/>
                <a:sym typeface="Lato"/>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7" name="Google Shape;17;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rgbClr val="A4C2F4"/>
                </a:solidFill>
              </a:defRPr>
            </a:lvl1pPr>
            <a:lvl2pPr lvl="1">
              <a:buNone/>
              <a:defRPr>
                <a:solidFill>
                  <a:srgbClr val="A4C2F4"/>
                </a:solidFill>
              </a:defRPr>
            </a:lvl2pPr>
            <a:lvl3pPr lvl="2">
              <a:buNone/>
              <a:defRPr>
                <a:solidFill>
                  <a:srgbClr val="A4C2F4"/>
                </a:solidFill>
              </a:defRPr>
            </a:lvl3pPr>
            <a:lvl4pPr lvl="3">
              <a:buNone/>
              <a:defRPr>
                <a:solidFill>
                  <a:srgbClr val="A4C2F4"/>
                </a:solidFill>
              </a:defRPr>
            </a:lvl4pPr>
            <a:lvl5pPr lvl="4">
              <a:buNone/>
              <a:defRPr>
                <a:solidFill>
                  <a:srgbClr val="A4C2F4"/>
                </a:solidFill>
              </a:defRPr>
            </a:lvl5pPr>
            <a:lvl6pPr lvl="5">
              <a:buNone/>
              <a:defRPr>
                <a:solidFill>
                  <a:srgbClr val="A4C2F4"/>
                </a:solidFill>
              </a:defRPr>
            </a:lvl6pPr>
            <a:lvl7pPr lvl="6">
              <a:buNone/>
              <a:defRPr>
                <a:solidFill>
                  <a:srgbClr val="A4C2F4"/>
                </a:solidFill>
              </a:defRPr>
            </a:lvl7pPr>
            <a:lvl8pPr lvl="7">
              <a:buNone/>
              <a:defRPr>
                <a:solidFill>
                  <a:srgbClr val="A4C2F4"/>
                </a:solidFill>
              </a:defRPr>
            </a:lvl8pPr>
            <a:lvl9pPr lvl="8">
              <a:buNone/>
              <a:defRPr>
                <a:solidFill>
                  <a:srgbClr val="A4C2F4"/>
                </a:solidFill>
              </a:defRPr>
            </a:lvl9pPr>
          </a:lstStyle>
          <a:p>
            <a:pPr indent="0" lvl="0" marL="0" rtl="0" algn="r">
              <a:spcBef>
                <a:spcPts val="0"/>
              </a:spcBef>
              <a:spcAft>
                <a:spcPts val="0"/>
              </a:spcAft>
              <a:buNone/>
            </a:pPr>
            <a:fld id="{00000000-1234-1234-1234-123412341234}" type="slidenum">
              <a:rPr lang="en"/>
              <a:t>‹#›</a:t>
            </a:fld>
            <a:endParaRPr/>
          </a:p>
        </p:txBody>
      </p:sp>
      <p:sp>
        <p:nvSpPr>
          <p:cNvPr id="18" name="Google Shape;18;p3"/>
          <p:cNvSpPr txBox="1"/>
          <p:nvPr/>
        </p:nvSpPr>
        <p:spPr>
          <a:xfrm>
            <a:off x="2933250" y="4299850"/>
            <a:ext cx="3277500" cy="692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700">
                <a:solidFill>
                  <a:srgbClr val="6D9EEB"/>
                </a:solidFill>
                <a:latin typeface="Calibri"/>
                <a:ea typeface="Calibri"/>
                <a:cs typeface="Calibri"/>
                <a:sym typeface="Calibri"/>
              </a:rPr>
              <a:t>Intelligent Systems</a:t>
            </a:r>
            <a:endParaRPr sz="1700">
              <a:solidFill>
                <a:srgbClr val="6D9EEB"/>
              </a:solidFill>
              <a:latin typeface="Calibri"/>
              <a:ea typeface="Calibri"/>
              <a:cs typeface="Calibri"/>
              <a:sym typeface="Calibri"/>
            </a:endParaRPr>
          </a:p>
          <a:p>
            <a:pPr indent="0" lvl="0" marL="0" rtl="0" algn="ctr">
              <a:spcBef>
                <a:spcPts val="0"/>
              </a:spcBef>
              <a:spcAft>
                <a:spcPts val="0"/>
              </a:spcAft>
              <a:buNone/>
            </a:pPr>
            <a:r>
              <a:rPr lang="en" sz="1600">
                <a:solidFill>
                  <a:srgbClr val="6D9EEB"/>
                </a:solidFill>
                <a:latin typeface="Calibri"/>
                <a:ea typeface="Calibri"/>
                <a:cs typeface="Calibri"/>
                <a:sym typeface="Calibri"/>
              </a:rPr>
              <a:t>Vrije Universiteit</a:t>
            </a:r>
            <a:endParaRPr sz="1600">
              <a:solidFill>
                <a:srgbClr val="6D9EEB"/>
              </a:solidFill>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lligent Systems" type="tx">
  <p:cSld name="TITLE_AND_BODY">
    <p:spTree>
      <p:nvGrpSpPr>
        <p:cNvPr id="19" name="Shape 19"/>
        <p:cNvGrpSpPr/>
        <p:nvPr/>
      </p:nvGrpSpPr>
      <p:grpSpPr>
        <a:xfrm>
          <a:off x="0" y="0"/>
          <a:ext cx="0" cy="0"/>
          <a:chOff x="0" y="0"/>
          <a:chExt cx="0" cy="0"/>
        </a:xfrm>
      </p:grpSpPr>
      <p:sp>
        <p:nvSpPr>
          <p:cNvPr id="20" name="Google Shape;20;p4"/>
          <p:cNvSpPr/>
          <p:nvPr/>
        </p:nvSpPr>
        <p:spPr>
          <a:xfrm>
            <a:off x="0" y="247400"/>
            <a:ext cx="8409600" cy="698100"/>
          </a:xfrm>
          <a:prstGeom prst="rect">
            <a:avLst/>
          </a:prstGeom>
          <a:solidFill>
            <a:srgbClr val="1155CC"/>
          </a:solidFill>
          <a:ln cap="flat" cmpd="sng" w="9525">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229075" y="372800"/>
            <a:ext cx="67392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200"/>
              <a:buFont typeface="Lato"/>
              <a:buNone/>
              <a:defRPr sz="2200">
                <a:latin typeface="Lato"/>
                <a:ea typeface="Lato"/>
                <a:cs typeface="Lato"/>
                <a:sym typeface="Lato"/>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4"/>
          <p:cNvSpPr txBox="1"/>
          <p:nvPr>
            <p:ph idx="1" type="body"/>
          </p:nvPr>
        </p:nvSpPr>
        <p:spPr>
          <a:xfrm>
            <a:off x="699350" y="1317725"/>
            <a:ext cx="77103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Clr>
                <a:schemeClr val="dk1"/>
              </a:buClr>
              <a:buSzPts val="1800"/>
              <a:buFont typeface="Calibri"/>
              <a:buChar char="●"/>
              <a:defRPr>
                <a:solidFill>
                  <a:schemeClr val="dk1"/>
                </a:solidFill>
                <a:latin typeface="Calibri"/>
                <a:ea typeface="Calibri"/>
                <a:cs typeface="Calibri"/>
                <a:sym typeface="Calibri"/>
              </a:defRPr>
            </a:lvl1pPr>
            <a:lvl2pPr indent="-317500" lvl="1" marL="914400">
              <a:spcBef>
                <a:spcPts val="0"/>
              </a:spcBef>
              <a:spcAft>
                <a:spcPts val="0"/>
              </a:spcAft>
              <a:buClr>
                <a:schemeClr val="dk1"/>
              </a:buClr>
              <a:buSzPts val="1400"/>
              <a:buChar char="∙"/>
              <a:defRPr>
                <a:solidFill>
                  <a:schemeClr val="dk1"/>
                </a:solidFill>
              </a:defRPr>
            </a:lvl2pPr>
            <a:lvl3pPr indent="-317500" lvl="2" marL="1371600">
              <a:spcBef>
                <a:spcPts val="0"/>
              </a:spcBef>
              <a:spcAft>
                <a:spcPts val="0"/>
              </a:spcAft>
              <a:buClr>
                <a:schemeClr val="dk1"/>
              </a:buClr>
              <a:buSzPts val="1400"/>
              <a:buChar char="■"/>
              <a:defRPr>
                <a:solidFill>
                  <a:schemeClr val="dk1"/>
                </a:solidFill>
              </a:defRPr>
            </a:lvl3pPr>
            <a:lvl4pPr indent="-317500" lvl="3" marL="1828800">
              <a:spcBef>
                <a:spcPts val="0"/>
              </a:spcBef>
              <a:spcAft>
                <a:spcPts val="0"/>
              </a:spcAft>
              <a:buClr>
                <a:schemeClr val="dk1"/>
              </a:buClr>
              <a:buSzPts val="1400"/>
              <a:buChar char="●"/>
              <a:defRPr>
                <a:solidFill>
                  <a:schemeClr val="dk1"/>
                </a:solidFill>
              </a:defRPr>
            </a:lvl4pPr>
            <a:lvl5pPr indent="-317500" lvl="4" marL="2286000">
              <a:spcBef>
                <a:spcPts val="0"/>
              </a:spcBef>
              <a:spcAft>
                <a:spcPts val="0"/>
              </a:spcAft>
              <a:buClr>
                <a:schemeClr val="dk1"/>
              </a:buClr>
              <a:buSzPts val="1400"/>
              <a:buChar char="○"/>
              <a:defRPr>
                <a:solidFill>
                  <a:schemeClr val="dk1"/>
                </a:solidFill>
              </a:defRPr>
            </a:lvl5pPr>
            <a:lvl6pPr indent="-317500" lvl="5" marL="2743200">
              <a:spcBef>
                <a:spcPts val="0"/>
              </a:spcBef>
              <a:spcAft>
                <a:spcPts val="0"/>
              </a:spcAft>
              <a:buClr>
                <a:schemeClr val="dk1"/>
              </a:buClr>
              <a:buSzPts val="1400"/>
              <a:buChar char="■"/>
              <a:defRPr>
                <a:solidFill>
                  <a:schemeClr val="dk1"/>
                </a:solidFill>
              </a:defRPr>
            </a:lvl6pPr>
            <a:lvl7pPr indent="-317500" lvl="6" marL="3200400">
              <a:spcBef>
                <a:spcPts val="0"/>
              </a:spcBef>
              <a:spcAft>
                <a:spcPts val="0"/>
              </a:spcAft>
              <a:buClr>
                <a:schemeClr val="dk1"/>
              </a:buClr>
              <a:buSzPts val="1400"/>
              <a:buChar char="●"/>
              <a:defRPr>
                <a:solidFill>
                  <a:schemeClr val="dk1"/>
                </a:solidFill>
              </a:defRPr>
            </a:lvl7pPr>
            <a:lvl8pPr indent="-317500" lvl="7" marL="3657600">
              <a:spcBef>
                <a:spcPts val="0"/>
              </a:spcBef>
              <a:spcAft>
                <a:spcPts val="0"/>
              </a:spcAft>
              <a:buClr>
                <a:schemeClr val="dk1"/>
              </a:buClr>
              <a:buSzPts val="1400"/>
              <a:buChar char="○"/>
              <a:defRPr>
                <a:solidFill>
                  <a:schemeClr val="dk1"/>
                </a:solidFill>
              </a:defRPr>
            </a:lvl8pPr>
            <a:lvl9pPr indent="-317500" lvl="8" marL="4114800">
              <a:spcBef>
                <a:spcPts val="0"/>
              </a:spcBef>
              <a:spcAft>
                <a:spcPts val="0"/>
              </a:spcAft>
              <a:buClr>
                <a:schemeClr val="dk1"/>
              </a:buClr>
              <a:buSzPts val="1400"/>
              <a:buChar char="■"/>
              <a:defRPr>
                <a:solidFill>
                  <a:schemeClr val="dk1"/>
                </a:solidFill>
              </a:defRPr>
            </a:lvl9pPr>
          </a:lstStyle>
          <a:p/>
        </p:txBody>
      </p:sp>
      <p:sp>
        <p:nvSpPr>
          <p:cNvPr id="23" name="Google Shape;23;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rgbClr val="1155CC"/>
                </a:solidFill>
              </a:defRPr>
            </a:lvl1pPr>
            <a:lvl2pPr lvl="1">
              <a:buNone/>
              <a:defRPr>
                <a:solidFill>
                  <a:srgbClr val="1155CC"/>
                </a:solidFill>
              </a:defRPr>
            </a:lvl2pPr>
            <a:lvl3pPr lvl="2">
              <a:buNone/>
              <a:defRPr>
                <a:solidFill>
                  <a:srgbClr val="1155CC"/>
                </a:solidFill>
              </a:defRPr>
            </a:lvl3pPr>
            <a:lvl4pPr lvl="3">
              <a:buNone/>
              <a:defRPr>
                <a:solidFill>
                  <a:srgbClr val="1155CC"/>
                </a:solidFill>
              </a:defRPr>
            </a:lvl4pPr>
            <a:lvl5pPr lvl="4">
              <a:buNone/>
              <a:defRPr>
                <a:solidFill>
                  <a:srgbClr val="1155CC"/>
                </a:solidFill>
              </a:defRPr>
            </a:lvl5pPr>
            <a:lvl6pPr lvl="5">
              <a:buNone/>
              <a:defRPr>
                <a:solidFill>
                  <a:srgbClr val="1155CC"/>
                </a:solidFill>
              </a:defRPr>
            </a:lvl6pPr>
            <a:lvl7pPr lvl="6">
              <a:buNone/>
              <a:defRPr>
                <a:solidFill>
                  <a:srgbClr val="1155CC"/>
                </a:solidFill>
              </a:defRPr>
            </a:lvl7pPr>
            <a:lvl8pPr lvl="7">
              <a:buNone/>
              <a:defRPr>
                <a:solidFill>
                  <a:srgbClr val="1155CC"/>
                </a:solidFill>
              </a:defRPr>
            </a:lvl8pPr>
            <a:lvl9pPr lvl="8">
              <a:buNone/>
              <a:defRPr>
                <a:solidFill>
                  <a:srgbClr val="1155CC"/>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100550" y="310100"/>
            <a:ext cx="81897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5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6" name="Google Shape;26;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100550" y="310100"/>
            <a:ext cx="81897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5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1" name="Google Shape;3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5" name="Google Shape;35;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6" name="Shape 36"/>
        <p:cNvGrpSpPr/>
        <p:nvPr/>
      </p:nvGrpSpPr>
      <p:grpSpPr>
        <a:xfrm>
          <a:off x="0" y="0"/>
          <a:ext cx="0" cy="0"/>
          <a:chOff x="0" y="0"/>
          <a:chExt cx="0" cy="0"/>
        </a:xfrm>
      </p:grpSpPr>
      <p:sp>
        <p:nvSpPr>
          <p:cNvPr id="37" name="Google Shape;37;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8" name="Google Shape;38;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2" name="Google Shape;42;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4" name="Google Shape;44;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7" name="Google Shape;47;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0" name="Google Shape;50;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1" name="Google Shape;51;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
        <p:nvSpPr>
          <p:cNvPr id="53" name="Google Shape;53;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el en object" type="obj">
  <p:cSld name="OBJECT">
    <p:spTree>
      <p:nvGrpSpPr>
        <p:cNvPr id="54" name="Shape 54"/>
        <p:cNvGrpSpPr/>
        <p:nvPr/>
      </p:nvGrpSpPr>
      <p:grpSpPr>
        <a:xfrm>
          <a:off x="0" y="0"/>
          <a:ext cx="0" cy="0"/>
          <a:chOff x="0" y="0"/>
          <a:chExt cx="0" cy="0"/>
        </a:xfrm>
      </p:grpSpPr>
      <p:sp>
        <p:nvSpPr>
          <p:cNvPr id="55" name="Google Shape;55;p13"/>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rmAutofit/>
          </a:bodyPr>
          <a:lstStyle>
            <a:lvl1pPr lvl="0" rtl="0" algn="ctr">
              <a:spcBef>
                <a:spcPts val="0"/>
              </a:spcBef>
              <a:spcAft>
                <a:spcPts val="0"/>
              </a:spcAft>
              <a:buClr>
                <a:schemeClr val="dk1"/>
              </a:buClr>
              <a:buSzPts val="1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6" name="Google Shape;56;p13"/>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rmAutofit/>
          </a:bodyPr>
          <a:lstStyle>
            <a:lvl1pPr indent="-342900" lvl="0" marL="457200" rtl="0" algn="l">
              <a:spcBef>
                <a:spcPts val="360"/>
              </a:spcBef>
              <a:spcAft>
                <a:spcPts val="0"/>
              </a:spcAft>
              <a:buClr>
                <a:schemeClr val="dk1"/>
              </a:buClr>
              <a:buSzPts val="1800"/>
              <a:buChar char="●"/>
              <a:defRPr/>
            </a:lvl1pPr>
            <a:lvl2pPr indent="-342900" lvl="1" marL="914400" rtl="0" algn="l">
              <a:spcBef>
                <a:spcPts val="1200"/>
              </a:spcBef>
              <a:spcAft>
                <a:spcPts val="0"/>
              </a:spcAft>
              <a:buClr>
                <a:schemeClr val="dk1"/>
              </a:buClr>
              <a:buSzPts val="1800"/>
              <a:buChar char="○"/>
              <a:defRPr/>
            </a:lvl2pPr>
            <a:lvl3pPr indent="-342900" lvl="2" marL="1371600" rtl="0" algn="l">
              <a:spcBef>
                <a:spcPts val="1200"/>
              </a:spcBef>
              <a:spcAft>
                <a:spcPts val="0"/>
              </a:spcAft>
              <a:buClr>
                <a:schemeClr val="dk1"/>
              </a:buClr>
              <a:buSzPts val="1800"/>
              <a:buChar char="■"/>
              <a:defRPr/>
            </a:lvl3pPr>
            <a:lvl4pPr indent="-342900" lvl="3" marL="1828800" rtl="0" algn="l">
              <a:spcBef>
                <a:spcPts val="1200"/>
              </a:spcBef>
              <a:spcAft>
                <a:spcPts val="0"/>
              </a:spcAft>
              <a:buClr>
                <a:schemeClr val="dk1"/>
              </a:buClr>
              <a:buSzPts val="1800"/>
              <a:buChar char="●"/>
              <a:defRPr/>
            </a:lvl4pPr>
            <a:lvl5pPr indent="-342900" lvl="4" marL="2286000" rtl="0" algn="l">
              <a:spcBef>
                <a:spcPts val="1200"/>
              </a:spcBef>
              <a:spcAft>
                <a:spcPts val="0"/>
              </a:spcAft>
              <a:buClr>
                <a:schemeClr val="dk1"/>
              </a:buClr>
              <a:buSzPts val="1800"/>
              <a:buChar char="○"/>
              <a:defRPr/>
            </a:lvl5pPr>
            <a:lvl6pPr indent="-342900" lvl="5" marL="2743200" rtl="0" algn="l">
              <a:spcBef>
                <a:spcPts val="1200"/>
              </a:spcBef>
              <a:spcAft>
                <a:spcPts val="0"/>
              </a:spcAft>
              <a:buClr>
                <a:schemeClr val="dk1"/>
              </a:buClr>
              <a:buSzPts val="1800"/>
              <a:buChar char="■"/>
              <a:defRPr/>
            </a:lvl6pPr>
            <a:lvl7pPr indent="-342900" lvl="6" marL="3200400" rtl="0" algn="l">
              <a:spcBef>
                <a:spcPts val="1200"/>
              </a:spcBef>
              <a:spcAft>
                <a:spcPts val="0"/>
              </a:spcAft>
              <a:buClr>
                <a:schemeClr val="dk1"/>
              </a:buClr>
              <a:buSzPts val="1800"/>
              <a:buChar char="●"/>
              <a:defRPr/>
            </a:lvl7pPr>
            <a:lvl8pPr indent="-342900" lvl="7" marL="3657600" rtl="0" algn="l">
              <a:spcBef>
                <a:spcPts val="1200"/>
              </a:spcBef>
              <a:spcAft>
                <a:spcPts val="0"/>
              </a:spcAft>
              <a:buClr>
                <a:schemeClr val="dk1"/>
              </a:buClr>
              <a:buSzPts val="1800"/>
              <a:buChar char="○"/>
              <a:defRPr/>
            </a:lvl8pPr>
            <a:lvl9pPr indent="-342900" lvl="8" marL="4114800" rtl="0" algn="l">
              <a:spcBef>
                <a:spcPts val="1200"/>
              </a:spcBef>
              <a:spcAft>
                <a:spcPts val="1200"/>
              </a:spcAft>
              <a:buClr>
                <a:schemeClr val="dk1"/>
              </a:buClr>
              <a:buSzPts val="1800"/>
              <a:buChar char="■"/>
              <a:defRPr/>
            </a:lvl9pPr>
          </a:lstStyle>
          <a:p/>
        </p:txBody>
      </p:sp>
      <p:sp>
        <p:nvSpPr>
          <p:cNvPr id="57" name="Google Shape;57;p13"/>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58" name="Google Shape;58;p13"/>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59" name="Google Shape;59;p13"/>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rm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1"/>
              </a:buClr>
              <a:buSzPts val="1800"/>
              <a:buFont typeface="Calibri"/>
              <a:buChar char="●"/>
              <a:defRPr sz="1800">
                <a:solidFill>
                  <a:schemeClr val="dk1"/>
                </a:solidFill>
                <a:latin typeface="Calibri"/>
                <a:ea typeface="Calibri"/>
                <a:cs typeface="Calibri"/>
                <a:sym typeface="Calibri"/>
              </a:defRPr>
            </a:lvl1pPr>
            <a:lvl2pPr indent="-317500" lvl="1" marL="914400">
              <a:lnSpc>
                <a:spcPct val="115000"/>
              </a:lnSpc>
              <a:spcBef>
                <a:spcPts val="0"/>
              </a:spcBef>
              <a:spcAft>
                <a:spcPts val="0"/>
              </a:spcAft>
              <a:buClr>
                <a:schemeClr val="dk1"/>
              </a:buClr>
              <a:buSzPts val="1400"/>
              <a:buFont typeface="Calibri"/>
              <a:buChar char="○"/>
              <a:defRPr>
                <a:solidFill>
                  <a:schemeClr val="dk1"/>
                </a:solidFill>
                <a:latin typeface="Calibri"/>
                <a:ea typeface="Calibri"/>
                <a:cs typeface="Calibri"/>
                <a:sym typeface="Calibri"/>
              </a:defRPr>
            </a:lvl2pPr>
            <a:lvl3pPr indent="-317500" lvl="2" marL="1371600">
              <a:lnSpc>
                <a:spcPct val="115000"/>
              </a:lnSpc>
              <a:spcBef>
                <a:spcPts val="0"/>
              </a:spcBef>
              <a:spcAft>
                <a:spcPts val="0"/>
              </a:spcAft>
              <a:buClr>
                <a:schemeClr val="dk1"/>
              </a:buClr>
              <a:buSzPts val="1400"/>
              <a:buFont typeface="Calibri"/>
              <a:buChar char="■"/>
              <a:defRPr>
                <a:solidFill>
                  <a:schemeClr val="dk1"/>
                </a:solidFill>
                <a:latin typeface="Calibri"/>
                <a:ea typeface="Calibri"/>
                <a:cs typeface="Calibri"/>
                <a:sym typeface="Calibri"/>
              </a:defRPr>
            </a:lvl3pPr>
            <a:lvl4pPr indent="-317500" lvl="3" marL="1828800">
              <a:lnSpc>
                <a:spcPct val="115000"/>
              </a:lnSpc>
              <a:spcBef>
                <a:spcPts val="0"/>
              </a:spcBef>
              <a:spcAft>
                <a:spcPts val="0"/>
              </a:spcAft>
              <a:buClr>
                <a:schemeClr val="dk1"/>
              </a:buClr>
              <a:buSzPts val="1400"/>
              <a:buFont typeface="Calibri"/>
              <a:buChar char="●"/>
              <a:defRPr>
                <a:solidFill>
                  <a:schemeClr val="dk1"/>
                </a:solidFill>
                <a:latin typeface="Calibri"/>
                <a:ea typeface="Calibri"/>
                <a:cs typeface="Calibri"/>
                <a:sym typeface="Calibri"/>
              </a:defRPr>
            </a:lvl4pPr>
            <a:lvl5pPr indent="-317500" lvl="4" marL="2286000">
              <a:lnSpc>
                <a:spcPct val="115000"/>
              </a:lnSpc>
              <a:spcBef>
                <a:spcPts val="0"/>
              </a:spcBef>
              <a:spcAft>
                <a:spcPts val="0"/>
              </a:spcAft>
              <a:buClr>
                <a:schemeClr val="dk1"/>
              </a:buClr>
              <a:buSzPts val="1400"/>
              <a:buFont typeface="Calibri"/>
              <a:buChar char="○"/>
              <a:defRPr>
                <a:solidFill>
                  <a:schemeClr val="dk1"/>
                </a:solidFill>
                <a:latin typeface="Calibri"/>
                <a:ea typeface="Calibri"/>
                <a:cs typeface="Calibri"/>
                <a:sym typeface="Calibri"/>
              </a:defRPr>
            </a:lvl5pPr>
            <a:lvl6pPr indent="-317500" lvl="5" marL="2743200">
              <a:lnSpc>
                <a:spcPct val="115000"/>
              </a:lnSpc>
              <a:spcBef>
                <a:spcPts val="0"/>
              </a:spcBef>
              <a:spcAft>
                <a:spcPts val="0"/>
              </a:spcAft>
              <a:buClr>
                <a:schemeClr val="dk1"/>
              </a:buClr>
              <a:buSzPts val="1400"/>
              <a:buFont typeface="Calibri"/>
              <a:buChar char="■"/>
              <a:defRPr>
                <a:solidFill>
                  <a:schemeClr val="dk1"/>
                </a:solidFill>
                <a:latin typeface="Calibri"/>
                <a:ea typeface="Calibri"/>
                <a:cs typeface="Calibri"/>
                <a:sym typeface="Calibri"/>
              </a:defRPr>
            </a:lvl6pPr>
            <a:lvl7pPr indent="-317500" lvl="6" marL="3200400">
              <a:lnSpc>
                <a:spcPct val="115000"/>
              </a:lnSpc>
              <a:spcBef>
                <a:spcPts val="0"/>
              </a:spcBef>
              <a:spcAft>
                <a:spcPts val="0"/>
              </a:spcAft>
              <a:buClr>
                <a:schemeClr val="dk1"/>
              </a:buClr>
              <a:buSzPts val="1400"/>
              <a:buFont typeface="Calibri"/>
              <a:buChar char="●"/>
              <a:defRPr>
                <a:solidFill>
                  <a:schemeClr val="dk1"/>
                </a:solidFill>
                <a:latin typeface="Calibri"/>
                <a:ea typeface="Calibri"/>
                <a:cs typeface="Calibri"/>
                <a:sym typeface="Calibri"/>
              </a:defRPr>
            </a:lvl7pPr>
            <a:lvl8pPr indent="-317500" lvl="7" marL="3657600">
              <a:lnSpc>
                <a:spcPct val="115000"/>
              </a:lnSpc>
              <a:spcBef>
                <a:spcPts val="0"/>
              </a:spcBef>
              <a:spcAft>
                <a:spcPts val="0"/>
              </a:spcAft>
              <a:buClr>
                <a:schemeClr val="dk1"/>
              </a:buClr>
              <a:buSzPts val="1400"/>
              <a:buFont typeface="Calibri"/>
              <a:buChar char="○"/>
              <a:defRPr>
                <a:solidFill>
                  <a:schemeClr val="dk1"/>
                </a:solidFill>
                <a:latin typeface="Calibri"/>
                <a:ea typeface="Calibri"/>
                <a:cs typeface="Calibri"/>
                <a:sym typeface="Calibri"/>
              </a:defRPr>
            </a:lvl8pPr>
            <a:lvl9pPr indent="-317500" lvl="8" marL="4114800">
              <a:lnSpc>
                <a:spcPct val="115000"/>
              </a:lnSpc>
              <a:spcBef>
                <a:spcPts val="0"/>
              </a:spcBef>
              <a:spcAft>
                <a:spcPts val="0"/>
              </a:spcAft>
              <a:buClr>
                <a:schemeClr val="dk1"/>
              </a:buClr>
              <a:buSzPts val="1400"/>
              <a:buFont typeface="Calibri"/>
              <a:buChar char="■"/>
              <a:defRPr>
                <a:solidFill>
                  <a:schemeClr val="dk1"/>
                </a:solidFill>
                <a:latin typeface="Calibri"/>
                <a:ea typeface="Calibri"/>
                <a:cs typeface="Calibri"/>
                <a:sym typeface="Calibri"/>
              </a:defRPr>
            </a:lvl9pPr>
          </a:lstStyle>
          <a:p/>
        </p:txBody>
      </p:sp>
      <p:sp>
        <p:nvSpPr>
          <p:cNvPr id="7" name="Google Shape;7;p1"/>
          <p:cNvSpPr/>
          <p:nvPr/>
        </p:nvSpPr>
        <p:spPr>
          <a:xfrm>
            <a:off x="0" y="247400"/>
            <a:ext cx="8409600" cy="698100"/>
          </a:xfrm>
          <a:prstGeom prst="rect">
            <a:avLst/>
          </a:prstGeom>
          <a:solidFill>
            <a:srgbClr val="1155CC"/>
          </a:solidFill>
          <a:ln cap="flat" cmpd="sng" w="9525">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 name="Google Shape;8;p1"/>
          <p:cNvSpPr txBox="1"/>
          <p:nvPr>
            <p:ph type="title"/>
          </p:nvPr>
        </p:nvSpPr>
        <p:spPr>
          <a:xfrm>
            <a:off x="100550" y="310100"/>
            <a:ext cx="81897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rgbClr val="C9DAF8"/>
              </a:buClr>
              <a:buSzPts val="2500"/>
              <a:buNone/>
              <a:defRPr sz="2500">
                <a:solidFill>
                  <a:srgbClr val="C9DAF8"/>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9" name="Google Shape;9;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41.png"/><Relationship Id="rId4" Type="http://schemas.openxmlformats.org/officeDocument/2006/relationships/image" Target="../media/image4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4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5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4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2.png"/><Relationship Id="rId4" Type="http://schemas.openxmlformats.org/officeDocument/2006/relationships/image" Target="../media/image27.png"/><Relationship Id="rId5" Type="http://schemas.openxmlformats.org/officeDocument/2006/relationships/image" Target="../media/image32.png"/><Relationship Id="rId6" Type="http://schemas.openxmlformats.org/officeDocument/2006/relationships/image" Target="../media/image21.png"/><Relationship Id="rId7" Type="http://schemas.openxmlformats.org/officeDocument/2006/relationships/image" Target="../media/image18.png"/><Relationship Id="rId8" Type="http://schemas.openxmlformats.org/officeDocument/2006/relationships/image" Target="../media/image3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49.png"/><Relationship Id="rId4" Type="http://schemas.openxmlformats.org/officeDocument/2006/relationships/image" Target="../media/image3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7.png"/><Relationship Id="rId4" Type="http://schemas.openxmlformats.org/officeDocument/2006/relationships/image" Target="../media/image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5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2.png"/><Relationship Id="rId4" Type="http://schemas.openxmlformats.org/officeDocument/2006/relationships/image" Target="../media/image10.png"/><Relationship Id="rId9" Type="http://schemas.openxmlformats.org/officeDocument/2006/relationships/image" Target="../media/image16.png"/><Relationship Id="rId5" Type="http://schemas.openxmlformats.org/officeDocument/2006/relationships/image" Target="../media/image11.png"/><Relationship Id="rId6" Type="http://schemas.openxmlformats.org/officeDocument/2006/relationships/image" Target="../media/image13.png"/><Relationship Id="rId7" Type="http://schemas.openxmlformats.org/officeDocument/2006/relationships/image" Target="../media/image15.png"/><Relationship Id="rId8" Type="http://schemas.openxmlformats.org/officeDocument/2006/relationships/image" Target="../media/image1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24.png"/><Relationship Id="rId4" Type="http://schemas.openxmlformats.org/officeDocument/2006/relationships/image" Target="../media/image1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20.png"/><Relationship Id="rId4" Type="http://schemas.openxmlformats.org/officeDocument/2006/relationships/image" Target="../media/image23.png"/><Relationship Id="rId5" Type="http://schemas.openxmlformats.org/officeDocument/2006/relationships/image" Target="../media/image3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2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2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28.png"/><Relationship Id="rId4" Type="http://schemas.openxmlformats.org/officeDocument/2006/relationships/image" Target="../media/image20.png"/><Relationship Id="rId5" Type="http://schemas.openxmlformats.org/officeDocument/2006/relationships/image" Target="../media/image2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28.png"/><Relationship Id="rId4" Type="http://schemas.openxmlformats.org/officeDocument/2006/relationships/image" Target="../media/image2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4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4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4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29.png"/><Relationship Id="rId4" Type="http://schemas.openxmlformats.org/officeDocument/2006/relationships/image" Target="../media/image33.png"/><Relationship Id="rId5" Type="http://schemas.openxmlformats.org/officeDocument/2006/relationships/image" Target="../media/image2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3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30.png"/><Relationship Id="rId4" Type="http://schemas.openxmlformats.org/officeDocument/2006/relationships/image" Target="../media/image28.png"/><Relationship Id="rId5" Type="http://schemas.openxmlformats.org/officeDocument/2006/relationships/image" Target="../media/image40.png"/><Relationship Id="rId6" Type="http://schemas.openxmlformats.org/officeDocument/2006/relationships/image" Target="../media/image3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30.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47.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4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39.png"/><Relationship Id="rId4" Type="http://schemas.openxmlformats.org/officeDocument/2006/relationships/image" Target="../media/image52.png"/><Relationship Id="rId5" Type="http://schemas.openxmlformats.org/officeDocument/2006/relationships/image" Target="../media/image38.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4"/>
          <p:cNvSpPr txBox="1"/>
          <p:nvPr/>
        </p:nvSpPr>
        <p:spPr>
          <a:xfrm>
            <a:off x="311700" y="1993800"/>
            <a:ext cx="8520600" cy="1155900"/>
          </a:xfrm>
          <a:prstGeom prst="rect">
            <a:avLst/>
          </a:prstGeom>
          <a:noFill/>
          <a:ln>
            <a:noFill/>
          </a:ln>
        </p:spPr>
        <p:txBody>
          <a:bodyPr anchorCtr="0" anchor="b" bIns="91425" lIns="91425" spcFirstLastPara="1" rIns="91425" wrap="square" tIns="91425">
            <a:normAutofit/>
          </a:bodyPr>
          <a:lstStyle/>
          <a:p>
            <a:pPr indent="0" lvl="0" marL="0" rtl="0" algn="ctr">
              <a:lnSpc>
                <a:spcPct val="125000"/>
              </a:lnSpc>
              <a:spcBef>
                <a:spcPts val="0"/>
              </a:spcBef>
              <a:spcAft>
                <a:spcPts val="0"/>
              </a:spcAft>
              <a:buNone/>
            </a:pPr>
            <a:r>
              <a:rPr lang="en" sz="2100">
                <a:solidFill>
                  <a:srgbClr val="A4C2F4"/>
                </a:solidFill>
                <a:latin typeface="Lato"/>
                <a:ea typeface="Lato"/>
                <a:cs typeface="Lato"/>
                <a:sym typeface="Lato"/>
              </a:rPr>
              <a:t>Lecture 13</a:t>
            </a:r>
            <a:endParaRPr b="1" sz="2500">
              <a:solidFill>
                <a:srgbClr val="FFFFFF"/>
              </a:solidFill>
              <a:latin typeface="Lato"/>
              <a:ea typeface="Lato"/>
              <a:cs typeface="Lato"/>
              <a:sym typeface="Lato"/>
            </a:endParaRPr>
          </a:p>
          <a:p>
            <a:pPr indent="0" lvl="0" marL="0" rtl="0" algn="ctr">
              <a:spcBef>
                <a:spcPts val="0"/>
              </a:spcBef>
              <a:spcAft>
                <a:spcPts val="0"/>
              </a:spcAft>
              <a:buNone/>
            </a:pPr>
            <a:r>
              <a:rPr b="1" lang="en" sz="2500">
                <a:solidFill>
                  <a:srgbClr val="FFFFFF"/>
                </a:solidFill>
                <a:latin typeface="Lato"/>
                <a:ea typeface="Lato"/>
                <a:cs typeface="Lato"/>
                <a:sym typeface="Lato"/>
              </a:rPr>
              <a:t>Machine Learning 4</a:t>
            </a:r>
            <a:endParaRPr b="1" sz="2500">
              <a:solidFill>
                <a:srgbClr val="FFFFFF"/>
              </a:solidFill>
              <a:latin typeface="Lato"/>
              <a:ea typeface="Lato"/>
              <a:cs typeface="Lato"/>
              <a:sym typeface="Lato"/>
            </a:endParaRPr>
          </a:p>
        </p:txBody>
      </p:sp>
      <p:sp>
        <p:nvSpPr>
          <p:cNvPr id="65" name="Google Shape;65;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5"/>
          <p:cNvSpPr txBox="1"/>
          <p:nvPr>
            <p:ph type="title"/>
          </p:nvPr>
        </p:nvSpPr>
        <p:spPr>
          <a:xfrm>
            <a:off x="229075" y="372800"/>
            <a:ext cx="67392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Overview</a:t>
            </a:r>
            <a:endParaRPr/>
          </a:p>
        </p:txBody>
      </p:sp>
      <p:sp>
        <p:nvSpPr>
          <p:cNvPr id="71" name="Google Shape;71;p15"/>
          <p:cNvSpPr txBox="1"/>
          <p:nvPr/>
        </p:nvSpPr>
        <p:spPr>
          <a:xfrm>
            <a:off x="795500" y="1388750"/>
            <a:ext cx="5793000" cy="3437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2200">
                <a:solidFill>
                  <a:srgbClr val="1155CC"/>
                </a:solidFill>
                <a:latin typeface="Calibri"/>
                <a:ea typeface="Calibri"/>
                <a:cs typeface="Calibri"/>
                <a:sym typeface="Calibri"/>
              </a:rPr>
              <a:t>1  </a:t>
            </a:r>
            <a:r>
              <a:rPr lang="en" sz="2200">
                <a:solidFill>
                  <a:srgbClr val="000000"/>
                </a:solidFill>
                <a:latin typeface="Calibri"/>
                <a:ea typeface="Calibri"/>
                <a:cs typeface="Calibri"/>
                <a:sym typeface="Calibri"/>
              </a:rPr>
              <a:t>Recap</a:t>
            </a:r>
            <a:endParaRPr sz="2200">
              <a:solidFill>
                <a:srgbClr val="000000"/>
              </a:solidFill>
              <a:latin typeface="Calibri"/>
              <a:ea typeface="Calibri"/>
              <a:cs typeface="Calibri"/>
              <a:sym typeface="Calibri"/>
            </a:endParaRPr>
          </a:p>
          <a:p>
            <a:pPr indent="0" lvl="0" marL="0" rtl="0" algn="l">
              <a:lnSpc>
                <a:spcPct val="115000"/>
              </a:lnSpc>
              <a:spcBef>
                <a:spcPts val="1200"/>
              </a:spcBef>
              <a:spcAft>
                <a:spcPts val="0"/>
              </a:spcAft>
              <a:buNone/>
            </a:pPr>
            <a:r>
              <a:rPr b="1" lang="en" sz="2200">
                <a:solidFill>
                  <a:srgbClr val="1155CC"/>
                </a:solidFill>
                <a:latin typeface="Calibri"/>
                <a:ea typeface="Calibri"/>
                <a:cs typeface="Calibri"/>
                <a:sym typeface="Calibri"/>
              </a:rPr>
              <a:t>2  </a:t>
            </a:r>
            <a:r>
              <a:rPr lang="en" sz="2200">
                <a:latin typeface="Calibri"/>
                <a:ea typeface="Calibri"/>
                <a:cs typeface="Calibri"/>
                <a:sym typeface="Calibri"/>
              </a:rPr>
              <a:t>Model Selection for Clutering</a:t>
            </a:r>
            <a:endParaRPr b="1" sz="2200">
              <a:solidFill>
                <a:srgbClr val="1155CC"/>
              </a:solidFill>
              <a:latin typeface="Calibri"/>
              <a:ea typeface="Calibri"/>
              <a:cs typeface="Calibri"/>
              <a:sym typeface="Calibri"/>
            </a:endParaRPr>
          </a:p>
          <a:p>
            <a:pPr indent="0" lvl="0" marL="0" rtl="0" algn="l">
              <a:lnSpc>
                <a:spcPct val="115000"/>
              </a:lnSpc>
              <a:spcBef>
                <a:spcPts val="1200"/>
              </a:spcBef>
              <a:spcAft>
                <a:spcPts val="0"/>
              </a:spcAft>
              <a:buNone/>
            </a:pPr>
            <a:r>
              <a:rPr b="1" lang="en" sz="2200">
                <a:solidFill>
                  <a:srgbClr val="1155CC"/>
                </a:solidFill>
                <a:latin typeface="Calibri"/>
                <a:ea typeface="Calibri"/>
                <a:cs typeface="Calibri"/>
                <a:sym typeface="Calibri"/>
              </a:rPr>
              <a:t>3  </a:t>
            </a:r>
            <a:r>
              <a:rPr lang="en" sz="2200">
                <a:solidFill>
                  <a:srgbClr val="000000"/>
                </a:solidFill>
                <a:latin typeface="Calibri"/>
                <a:ea typeface="Calibri"/>
                <a:cs typeface="Calibri"/>
                <a:sym typeface="Calibri"/>
              </a:rPr>
              <a:t>Artificial Neural Networks</a:t>
            </a:r>
            <a:endParaRPr sz="2200">
              <a:solidFill>
                <a:srgbClr val="000000"/>
              </a:solidFill>
              <a:latin typeface="Calibri"/>
              <a:ea typeface="Calibri"/>
              <a:cs typeface="Calibri"/>
              <a:sym typeface="Calibri"/>
            </a:endParaRPr>
          </a:p>
          <a:p>
            <a:pPr indent="0" lvl="0" marL="0" rtl="0" algn="l">
              <a:lnSpc>
                <a:spcPct val="115000"/>
              </a:lnSpc>
              <a:spcBef>
                <a:spcPts val="1200"/>
              </a:spcBef>
              <a:spcAft>
                <a:spcPts val="1200"/>
              </a:spcAft>
              <a:buNone/>
            </a:pPr>
            <a:r>
              <a:rPr b="1" lang="en" sz="2200">
                <a:solidFill>
                  <a:srgbClr val="1155CC"/>
                </a:solidFill>
                <a:latin typeface="Calibri"/>
                <a:ea typeface="Calibri"/>
                <a:cs typeface="Calibri"/>
                <a:sym typeface="Calibri"/>
              </a:rPr>
              <a:t>4 </a:t>
            </a:r>
            <a:r>
              <a:rPr lang="en" sz="2200">
                <a:latin typeface="Calibri"/>
                <a:ea typeface="Calibri"/>
                <a:cs typeface="Calibri"/>
                <a:sym typeface="Calibri"/>
              </a:rPr>
              <a:t> Generative Pre-trained Transformer (GPT)</a:t>
            </a:r>
            <a:endParaRPr sz="2200">
              <a:solidFill>
                <a:srgbClr val="000000"/>
              </a:solidFill>
              <a:latin typeface="Calibri"/>
              <a:ea typeface="Calibri"/>
              <a:cs typeface="Calibri"/>
              <a:sym typeface="Calibri"/>
            </a:endParaRPr>
          </a:p>
        </p:txBody>
      </p:sp>
      <p:sp>
        <p:nvSpPr>
          <p:cNvPr id="72" name="Google Shape;72;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6"/>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Clr>
                <a:schemeClr val="dk1"/>
              </a:buClr>
              <a:buSzPts val="1100"/>
              <a:buFont typeface="Arial"/>
              <a:buNone/>
            </a:pPr>
            <a:r>
              <a:rPr lang="en"/>
              <a:t>Part 1: </a:t>
            </a:r>
            <a:r>
              <a:rPr lang="en">
                <a:solidFill>
                  <a:schemeClr val="lt1"/>
                </a:solidFill>
              </a:rPr>
              <a:t>Recap</a:t>
            </a:r>
            <a:endParaRPr/>
          </a:p>
        </p:txBody>
      </p:sp>
      <p:sp>
        <p:nvSpPr>
          <p:cNvPr id="78" name="Google Shape;78;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7"/>
          <p:cNvSpPr txBox="1"/>
          <p:nvPr>
            <p:ph type="title"/>
          </p:nvPr>
        </p:nvSpPr>
        <p:spPr>
          <a:xfrm>
            <a:off x="229075" y="372800"/>
            <a:ext cx="67392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Recap</a:t>
            </a:r>
            <a:endParaRPr/>
          </a:p>
        </p:txBody>
      </p:sp>
      <p:sp>
        <p:nvSpPr>
          <p:cNvPr id="84" name="Google Shape;84;p17"/>
          <p:cNvSpPr txBox="1"/>
          <p:nvPr>
            <p:ph idx="1" type="body"/>
          </p:nvPr>
        </p:nvSpPr>
        <p:spPr>
          <a:xfrm>
            <a:off x="699350" y="1317725"/>
            <a:ext cx="40893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900"/>
              <a:t>Choosing the right model class</a:t>
            </a:r>
            <a:endParaRPr sz="1900"/>
          </a:p>
          <a:p>
            <a:pPr indent="0" lvl="0" marL="0" rtl="0" algn="l">
              <a:spcBef>
                <a:spcPts val="1200"/>
              </a:spcBef>
              <a:spcAft>
                <a:spcPts val="0"/>
              </a:spcAft>
              <a:buNone/>
            </a:pPr>
            <a:r>
              <a:rPr lang="en"/>
              <a:t>	For classification</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457200" lvl="0" marL="0" rtl="0" algn="l">
              <a:spcBef>
                <a:spcPts val="1200"/>
              </a:spcBef>
              <a:spcAft>
                <a:spcPts val="1200"/>
              </a:spcAft>
              <a:buNone/>
            </a:pPr>
            <a:r>
              <a:t/>
            </a:r>
            <a:endParaRPr/>
          </a:p>
        </p:txBody>
      </p:sp>
      <p:pic>
        <p:nvPicPr>
          <p:cNvPr descr="Image" id="85" name="Google Shape;85;p17"/>
          <p:cNvPicPr preferRelativeResize="0"/>
          <p:nvPr/>
        </p:nvPicPr>
        <p:blipFill rotWithShape="1">
          <a:blip r:embed="rId3">
            <a:alphaModFix/>
          </a:blip>
          <a:srcRect b="27896" l="0" r="24789" t="0"/>
          <a:stretch/>
        </p:blipFill>
        <p:spPr>
          <a:xfrm>
            <a:off x="821650" y="2437125"/>
            <a:ext cx="3112951" cy="1550675"/>
          </a:xfrm>
          <a:prstGeom prst="rect">
            <a:avLst/>
          </a:prstGeom>
          <a:noFill/>
          <a:ln>
            <a:noFill/>
          </a:ln>
        </p:spPr>
      </p:pic>
      <p:pic>
        <p:nvPicPr>
          <p:cNvPr descr="curve-fitting5c" id="86" name="Google Shape;86;p17"/>
          <p:cNvPicPr preferRelativeResize="0"/>
          <p:nvPr/>
        </p:nvPicPr>
        <p:blipFill rotWithShape="1">
          <a:blip r:embed="rId4">
            <a:alphaModFix/>
          </a:blip>
          <a:srcRect b="10007" l="0" r="0" t="0"/>
          <a:stretch/>
        </p:blipFill>
        <p:spPr>
          <a:xfrm>
            <a:off x="5429475" y="2287475"/>
            <a:ext cx="1822225" cy="1615325"/>
          </a:xfrm>
          <a:prstGeom prst="rect">
            <a:avLst/>
          </a:prstGeom>
          <a:noFill/>
          <a:ln>
            <a:noFill/>
          </a:ln>
        </p:spPr>
      </p:pic>
      <p:sp>
        <p:nvSpPr>
          <p:cNvPr id="87" name="Google Shape;87;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88" name="Google Shape;88;p17"/>
          <p:cNvSpPr txBox="1"/>
          <p:nvPr/>
        </p:nvSpPr>
        <p:spPr>
          <a:xfrm>
            <a:off x="4899000" y="1784475"/>
            <a:ext cx="3000000" cy="461700"/>
          </a:xfrm>
          <a:prstGeom prst="rect">
            <a:avLst/>
          </a:prstGeom>
          <a:noFill/>
          <a:ln>
            <a:noFill/>
          </a:ln>
        </p:spPr>
        <p:txBody>
          <a:bodyPr anchorCtr="0" anchor="t" bIns="91425" lIns="91425" spcFirstLastPara="1" rIns="91425" wrap="square" tIns="91425">
            <a:spAutoFit/>
          </a:bodyPr>
          <a:lstStyle/>
          <a:p>
            <a:pPr indent="457200" lvl="0" marL="0" rtl="0" algn="l">
              <a:lnSpc>
                <a:spcPct val="115000"/>
              </a:lnSpc>
              <a:spcBef>
                <a:spcPts val="0"/>
              </a:spcBef>
              <a:spcAft>
                <a:spcPts val="1200"/>
              </a:spcAft>
              <a:buNone/>
            </a:pPr>
            <a:r>
              <a:rPr lang="en" sz="1800">
                <a:solidFill>
                  <a:schemeClr val="dk1"/>
                </a:solidFill>
                <a:latin typeface="Calibri"/>
                <a:ea typeface="Calibri"/>
                <a:cs typeface="Calibri"/>
                <a:sym typeface="Calibri"/>
              </a:rPr>
              <a:t>For regression</a:t>
            </a:r>
            <a:endParaRPr sz="1800">
              <a:solidFill>
                <a:schemeClr val="dk1"/>
              </a:solidFill>
              <a:latin typeface="Calibri"/>
              <a:ea typeface="Calibri"/>
              <a:cs typeface="Calibri"/>
              <a:sym typeface="Calibri"/>
            </a:endParaRPr>
          </a:p>
        </p:txBody>
      </p:sp>
      <p:sp>
        <p:nvSpPr>
          <p:cNvPr id="89" name="Google Shape;89;p17"/>
          <p:cNvSpPr txBox="1"/>
          <p:nvPr/>
        </p:nvSpPr>
        <p:spPr>
          <a:xfrm>
            <a:off x="1097213" y="4282300"/>
            <a:ext cx="3000000" cy="461700"/>
          </a:xfrm>
          <a:prstGeom prst="rect">
            <a:avLst/>
          </a:prstGeom>
          <a:noFill/>
          <a:ln>
            <a:noFill/>
          </a:ln>
        </p:spPr>
        <p:txBody>
          <a:bodyPr anchorCtr="0" anchor="t" bIns="91425" lIns="91425" spcFirstLastPara="1" rIns="91425" wrap="square" tIns="91425">
            <a:spAutoFit/>
          </a:bodyPr>
          <a:lstStyle/>
          <a:p>
            <a:pPr indent="457200" lvl="0" marL="0" rtl="0" algn="l">
              <a:lnSpc>
                <a:spcPct val="115000"/>
              </a:lnSpc>
              <a:spcBef>
                <a:spcPts val="0"/>
              </a:spcBef>
              <a:spcAft>
                <a:spcPts val="1200"/>
              </a:spcAft>
              <a:buNone/>
            </a:pPr>
            <a:r>
              <a:rPr lang="en" sz="1800">
                <a:solidFill>
                  <a:srgbClr val="007ACA"/>
                </a:solidFill>
                <a:latin typeface="Calibri"/>
                <a:ea typeface="Calibri"/>
                <a:cs typeface="Calibri"/>
                <a:sym typeface="Calibri"/>
              </a:rPr>
              <a:t>Separation</a:t>
            </a:r>
            <a:endParaRPr sz="1800">
              <a:solidFill>
                <a:srgbClr val="007ACA"/>
              </a:solidFill>
              <a:latin typeface="Calibri"/>
              <a:ea typeface="Calibri"/>
              <a:cs typeface="Calibri"/>
              <a:sym typeface="Calibri"/>
            </a:endParaRPr>
          </a:p>
        </p:txBody>
      </p:sp>
      <p:sp>
        <p:nvSpPr>
          <p:cNvPr id="90" name="Google Shape;90;p17"/>
          <p:cNvSpPr txBox="1"/>
          <p:nvPr/>
        </p:nvSpPr>
        <p:spPr>
          <a:xfrm>
            <a:off x="5245850" y="4282300"/>
            <a:ext cx="3000000" cy="461700"/>
          </a:xfrm>
          <a:prstGeom prst="rect">
            <a:avLst/>
          </a:prstGeom>
          <a:noFill/>
          <a:ln>
            <a:noFill/>
          </a:ln>
        </p:spPr>
        <p:txBody>
          <a:bodyPr anchorCtr="0" anchor="t" bIns="91425" lIns="91425" spcFirstLastPara="1" rIns="91425" wrap="square" tIns="91425">
            <a:spAutoFit/>
          </a:bodyPr>
          <a:lstStyle/>
          <a:p>
            <a:pPr indent="457200" lvl="0" marL="0" rtl="0" algn="l">
              <a:lnSpc>
                <a:spcPct val="115000"/>
              </a:lnSpc>
              <a:spcBef>
                <a:spcPts val="0"/>
              </a:spcBef>
              <a:spcAft>
                <a:spcPts val="1200"/>
              </a:spcAft>
              <a:buNone/>
            </a:pPr>
            <a:r>
              <a:rPr lang="en" sz="1800">
                <a:solidFill>
                  <a:srgbClr val="007ACA"/>
                </a:solidFill>
                <a:latin typeface="Calibri"/>
                <a:ea typeface="Calibri"/>
                <a:cs typeface="Calibri"/>
                <a:sym typeface="Calibri"/>
              </a:rPr>
              <a:t>Consistence</a:t>
            </a:r>
            <a:endParaRPr sz="1800">
              <a:solidFill>
                <a:srgbClr val="007ACA"/>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8"/>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Clr>
                <a:schemeClr val="dk1"/>
              </a:buClr>
              <a:buSzPts val="1100"/>
              <a:buFont typeface="Arial"/>
              <a:buNone/>
            </a:pPr>
            <a:r>
              <a:rPr lang="en"/>
              <a:t>Part 2.3: </a:t>
            </a:r>
            <a:r>
              <a:rPr lang="en">
                <a:solidFill>
                  <a:schemeClr val="lt1"/>
                </a:solidFill>
              </a:rPr>
              <a:t>Model selection for Clustering</a:t>
            </a:r>
            <a:endParaRPr/>
          </a:p>
        </p:txBody>
      </p:sp>
      <p:sp>
        <p:nvSpPr>
          <p:cNvPr id="96" name="Google Shape;96;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9"/>
          <p:cNvSpPr txBox="1"/>
          <p:nvPr>
            <p:ph type="title"/>
          </p:nvPr>
        </p:nvSpPr>
        <p:spPr>
          <a:xfrm>
            <a:off x="229075" y="372800"/>
            <a:ext cx="67392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Clustering</a:t>
            </a:r>
            <a:endParaRPr/>
          </a:p>
        </p:txBody>
      </p:sp>
      <p:sp>
        <p:nvSpPr>
          <p:cNvPr id="102" name="Google Shape;102;p19"/>
          <p:cNvSpPr txBox="1"/>
          <p:nvPr/>
        </p:nvSpPr>
        <p:spPr>
          <a:xfrm>
            <a:off x="1199401" y="4485625"/>
            <a:ext cx="934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Fira Code"/>
                <a:ea typeface="Fira Code"/>
                <a:cs typeface="Fira Code"/>
                <a:sym typeface="Fira Code"/>
              </a:rPr>
              <a:t>feature</a:t>
            </a:r>
            <a:endParaRPr>
              <a:latin typeface="Fira Code"/>
              <a:ea typeface="Fira Code"/>
              <a:cs typeface="Fira Code"/>
              <a:sym typeface="Fira Code"/>
            </a:endParaRPr>
          </a:p>
        </p:txBody>
      </p:sp>
      <p:sp>
        <p:nvSpPr>
          <p:cNvPr id="103" name="Google Shape;103;p19"/>
          <p:cNvSpPr txBox="1"/>
          <p:nvPr/>
        </p:nvSpPr>
        <p:spPr>
          <a:xfrm>
            <a:off x="2835975" y="4485625"/>
            <a:ext cx="934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Fira Code"/>
                <a:ea typeface="Fira Code"/>
                <a:cs typeface="Fira Code"/>
                <a:sym typeface="Fira Code"/>
              </a:rPr>
              <a:t>feature</a:t>
            </a:r>
            <a:endParaRPr>
              <a:latin typeface="Fira Code"/>
              <a:ea typeface="Fira Code"/>
              <a:cs typeface="Fira Code"/>
              <a:sym typeface="Fira Code"/>
            </a:endParaRPr>
          </a:p>
        </p:txBody>
      </p:sp>
      <p:sp>
        <p:nvSpPr>
          <p:cNvPr id="104" name="Google Shape;104;p19"/>
          <p:cNvSpPr txBox="1"/>
          <p:nvPr/>
        </p:nvSpPr>
        <p:spPr>
          <a:xfrm>
            <a:off x="4160079" y="4085417"/>
            <a:ext cx="1425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Fira Code"/>
                <a:ea typeface="Fira Code"/>
                <a:cs typeface="Fira Code"/>
                <a:sym typeface="Fira Code"/>
              </a:rPr>
              <a:t>&lt; instance</a:t>
            </a:r>
            <a:endParaRPr>
              <a:latin typeface="Fira Code"/>
              <a:ea typeface="Fira Code"/>
              <a:cs typeface="Fira Code"/>
              <a:sym typeface="Fira Code"/>
            </a:endParaRPr>
          </a:p>
        </p:txBody>
      </p:sp>
      <p:cxnSp>
        <p:nvCxnSpPr>
          <p:cNvPr id="105" name="Google Shape;105;p19"/>
          <p:cNvCxnSpPr/>
          <p:nvPr/>
        </p:nvCxnSpPr>
        <p:spPr>
          <a:xfrm>
            <a:off x="4160080" y="2852504"/>
            <a:ext cx="1999200" cy="31800"/>
          </a:xfrm>
          <a:prstGeom prst="straightConnector1">
            <a:avLst/>
          </a:prstGeom>
          <a:noFill/>
          <a:ln cap="flat" cmpd="sng" w="76200">
            <a:solidFill>
              <a:srgbClr val="D9EAD3"/>
            </a:solidFill>
            <a:prstDash val="solid"/>
            <a:round/>
            <a:headEnd len="med" w="med" type="none"/>
            <a:tailEnd len="med" w="med" type="triangle"/>
          </a:ln>
        </p:spPr>
      </p:cxnSp>
      <p:sp>
        <p:nvSpPr>
          <p:cNvPr id="106" name="Google Shape;106;p19"/>
          <p:cNvSpPr/>
          <p:nvPr/>
        </p:nvSpPr>
        <p:spPr>
          <a:xfrm>
            <a:off x="4314631" y="2576502"/>
            <a:ext cx="1230600" cy="569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LEARNER</a:t>
            </a:r>
            <a:endParaRPr>
              <a:latin typeface="Calibri"/>
              <a:ea typeface="Calibri"/>
              <a:cs typeface="Calibri"/>
              <a:sym typeface="Calibri"/>
            </a:endParaRPr>
          </a:p>
        </p:txBody>
      </p:sp>
      <p:graphicFrame>
        <p:nvGraphicFramePr>
          <p:cNvPr id="107" name="Google Shape;107;p19"/>
          <p:cNvGraphicFramePr/>
          <p:nvPr/>
        </p:nvGraphicFramePr>
        <p:xfrm>
          <a:off x="5585675" y="1465175"/>
          <a:ext cx="3000000" cy="3000000"/>
        </p:xfrm>
        <a:graphic>
          <a:graphicData uri="http://schemas.openxmlformats.org/drawingml/2006/table">
            <a:tbl>
              <a:tblPr>
                <a:noFill/>
                <a:tableStyleId>{98C6CA05-93D3-412A-BF3C-99E95FF51B30}</a:tableStyleId>
              </a:tblPr>
              <a:tblGrid>
                <a:gridCol w="783375"/>
                <a:gridCol w="783375"/>
                <a:gridCol w="783375"/>
              </a:tblGrid>
              <a:tr h="381000">
                <a:tc>
                  <a:txBody>
                    <a:bodyPr/>
                    <a:lstStyle/>
                    <a:p>
                      <a:pPr indent="0" lvl="0" marL="0" rtl="0" algn="l">
                        <a:spcBef>
                          <a:spcPts val="0"/>
                        </a:spcBef>
                        <a:spcAft>
                          <a:spcPts val="0"/>
                        </a:spcAft>
                        <a:buNone/>
                      </a:pPr>
                      <a:r>
                        <a:rPr lang="en"/>
                        <a:t>5</a:t>
                      </a:r>
                      <a:endParaRPr/>
                    </a:p>
                  </a:txBody>
                  <a:tcPr marT="91425" marB="91425" marR="91425" marL="91425">
                    <a:lnL cap="flat" cmpd="sng" w="9525">
                      <a:solidFill>
                        <a:srgbClr val="1155CC"/>
                      </a:solidFill>
                      <a:prstDash val="solid"/>
                      <a:round/>
                      <a:headEnd len="sm" w="sm" type="none"/>
                      <a:tailEnd len="sm" w="sm" type="none"/>
                    </a:lnL>
                    <a:lnR cap="flat" cmpd="sng" w="9525">
                      <a:solidFill>
                        <a:srgbClr val="1155CC"/>
                      </a:solidFill>
                      <a:prstDash val="solid"/>
                      <a:round/>
                      <a:headEnd len="sm" w="sm" type="none"/>
                      <a:tailEnd len="sm" w="sm" type="none"/>
                    </a:lnR>
                    <a:lnT cap="flat" cmpd="sng" w="9525">
                      <a:solidFill>
                        <a:srgbClr val="1155CC"/>
                      </a:solidFill>
                      <a:prstDash val="solid"/>
                      <a:round/>
                      <a:headEnd len="sm" w="sm" type="none"/>
                      <a:tailEnd len="sm" w="sm" type="none"/>
                    </a:lnT>
                    <a:lnB cap="flat" cmpd="sng" w="9525">
                      <a:solidFill>
                        <a:srgbClr val="1155CC"/>
                      </a:solidFill>
                      <a:prstDash val="solid"/>
                      <a:round/>
                      <a:headEnd len="sm" w="sm" type="none"/>
                      <a:tailEnd len="sm" w="sm" type="none"/>
                    </a:lnB>
                  </a:tcPr>
                </a:tc>
                <a:tc>
                  <a:txBody>
                    <a:bodyPr/>
                    <a:lstStyle/>
                    <a:p>
                      <a:pPr indent="0" lvl="0" marL="0" rtl="0" algn="l">
                        <a:spcBef>
                          <a:spcPts val="0"/>
                        </a:spcBef>
                        <a:spcAft>
                          <a:spcPts val="0"/>
                        </a:spcAft>
                        <a:buNone/>
                      </a:pPr>
                      <a:r>
                        <a:rPr lang="en"/>
                        <a:t>0</a:t>
                      </a:r>
                      <a:endParaRPr/>
                    </a:p>
                  </a:txBody>
                  <a:tcPr marT="91425" marB="91425" marR="91425" marL="91425">
                    <a:lnL cap="flat" cmpd="sng" w="9525">
                      <a:solidFill>
                        <a:srgbClr val="1155CC"/>
                      </a:solidFill>
                      <a:prstDash val="solid"/>
                      <a:round/>
                      <a:headEnd len="sm" w="sm" type="none"/>
                      <a:tailEnd len="sm" w="sm" type="none"/>
                    </a:lnL>
                    <a:lnR cap="flat" cmpd="sng" w="9525">
                      <a:solidFill>
                        <a:srgbClr val="1155CC"/>
                      </a:solidFill>
                      <a:prstDash val="solid"/>
                      <a:round/>
                      <a:headEnd len="sm" w="sm" type="none"/>
                      <a:tailEnd len="sm" w="sm" type="none"/>
                    </a:lnR>
                    <a:lnT cap="flat" cmpd="sng" w="9525">
                      <a:solidFill>
                        <a:srgbClr val="1155CC"/>
                      </a:solidFill>
                      <a:prstDash val="solid"/>
                      <a:round/>
                      <a:headEnd len="sm" w="sm" type="none"/>
                      <a:tailEnd len="sm" w="sm" type="none"/>
                    </a:lnT>
                    <a:lnB cap="flat" cmpd="sng" w="9525">
                      <a:solidFill>
                        <a:srgbClr val="1155CC"/>
                      </a:solidFill>
                      <a:prstDash val="solid"/>
                      <a:round/>
                      <a:headEnd len="sm" w="sm" type="none"/>
                      <a:tailEnd len="sm" w="sm" type="none"/>
                    </a:lnB>
                  </a:tcPr>
                </a:tc>
                <a:tc>
                  <a:txBody>
                    <a:bodyPr/>
                    <a:lstStyle/>
                    <a:p>
                      <a:pPr indent="0" lvl="0" marL="0" rtl="0" algn="l">
                        <a:spcBef>
                          <a:spcPts val="0"/>
                        </a:spcBef>
                        <a:spcAft>
                          <a:spcPts val="0"/>
                        </a:spcAft>
                        <a:buNone/>
                      </a:pPr>
                      <a:r>
                        <a:rPr lang="en"/>
                        <a:t>?</a:t>
                      </a:r>
                      <a:endParaRPr/>
                    </a:p>
                  </a:txBody>
                  <a:tcPr marT="91425" marB="91425" marR="91425" marL="91425">
                    <a:lnL cap="flat" cmpd="sng" w="9525">
                      <a:solidFill>
                        <a:srgbClr val="1155CC"/>
                      </a:solidFill>
                      <a:prstDash val="solid"/>
                      <a:round/>
                      <a:headEnd len="sm" w="sm" type="none"/>
                      <a:tailEnd len="sm" w="sm" type="none"/>
                    </a:lnL>
                    <a:lnR cap="flat" cmpd="sng" w="9525">
                      <a:solidFill>
                        <a:srgbClr val="1155CC"/>
                      </a:solidFill>
                      <a:prstDash val="solid"/>
                      <a:round/>
                      <a:headEnd len="sm" w="sm" type="none"/>
                      <a:tailEnd len="sm" w="sm" type="none"/>
                    </a:lnR>
                    <a:lnT cap="flat" cmpd="sng" w="9525">
                      <a:solidFill>
                        <a:srgbClr val="1155CC"/>
                      </a:solidFill>
                      <a:prstDash val="solid"/>
                      <a:round/>
                      <a:headEnd len="sm" w="sm" type="none"/>
                      <a:tailEnd len="sm" w="sm" type="none"/>
                    </a:lnT>
                    <a:lnB cap="flat" cmpd="sng" w="9525">
                      <a:solidFill>
                        <a:srgbClr val="1155CC"/>
                      </a:solidFill>
                      <a:prstDash val="solid"/>
                      <a:round/>
                      <a:headEnd len="sm" w="sm" type="none"/>
                      <a:tailEnd len="sm" w="sm" type="none"/>
                    </a:lnB>
                  </a:tcPr>
                </a:tc>
              </a:tr>
            </a:tbl>
          </a:graphicData>
        </a:graphic>
      </p:graphicFrame>
      <p:cxnSp>
        <p:nvCxnSpPr>
          <p:cNvPr id="108" name="Google Shape;108;p19"/>
          <p:cNvCxnSpPr/>
          <p:nvPr/>
        </p:nvCxnSpPr>
        <p:spPr>
          <a:xfrm>
            <a:off x="6915525" y="1872675"/>
            <a:ext cx="9900" cy="2416200"/>
          </a:xfrm>
          <a:prstGeom prst="straightConnector1">
            <a:avLst/>
          </a:prstGeom>
          <a:noFill/>
          <a:ln cap="flat" cmpd="sng" w="76200">
            <a:solidFill>
              <a:srgbClr val="D9EAD3"/>
            </a:solidFill>
            <a:prstDash val="solid"/>
            <a:round/>
            <a:headEnd len="med" w="med" type="none"/>
            <a:tailEnd len="med" w="med" type="triangle"/>
          </a:ln>
        </p:spPr>
      </p:cxnSp>
      <p:sp>
        <p:nvSpPr>
          <p:cNvPr id="109" name="Google Shape;109;p19"/>
          <p:cNvSpPr/>
          <p:nvPr/>
        </p:nvSpPr>
        <p:spPr>
          <a:xfrm>
            <a:off x="6100425" y="2173575"/>
            <a:ext cx="1640100" cy="1492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latin typeface="Calibri"/>
                <a:ea typeface="Calibri"/>
                <a:cs typeface="Calibri"/>
                <a:sym typeface="Calibri"/>
              </a:rPr>
              <a:t>MODEL</a:t>
            </a:r>
            <a:endParaRPr sz="1600">
              <a:latin typeface="Calibri"/>
              <a:ea typeface="Calibri"/>
              <a:cs typeface="Calibri"/>
              <a:sym typeface="Calibri"/>
            </a:endParaRPr>
          </a:p>
          <a:p>
            <a:pPr indent="0" lvl="0" marL="0" rtl="0" algn="ctr">
              <a:spcBef>
                <a:spcPts val="0"/>
              </a:spcBef>
              <a:spcAft>
                <a:spcPts val="0"/>
              </a:spcAft>
              <a:buNone/>
            </a:pPr>
            <a:r>
              <a:rPr lang="en" sz="1600">
                <a:latin typeface="Calibri"/>
                <a:ea typeface="Calibri"/>
                <a:cs typeface="Calibri"/>
                <a:sym typeface="Calibri"/>
              </a:rPr>
              <a:t>(clustering)</a:t>
            </a:r>
            <a:endParaRPr sz="1600">
              <a:latin typeface="Calibri"/>
              <a:ea typeface="Calibri"/>
              <a:cs typeface="Calibri"/>
              <a:sym typeface="Calibri"/>
            </a:endParaRPr>
          </a:p>
        </p:txBody>
      </p:sp>
      <p:sp>
        <p:nvSpPr>
          <p:cNvPr id="110" name="Google Shape;110;p19"/>
          <p:cNvSpPr txBox="1"/>
          <p:nvPr/>
        </p:nvSpPr>
        <p:spPr>
          <a:xfrm>
            <a:off x="6220425" y="4300175"/>
            <a:ext cx="15201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900">
                <a:latin typeface="Calibri"/>
                <a:ea typeface="Calibri"/>
                <a:cs typeface="Calibri"/>
                <a:sym typeface="Calibri"/>
              </a:rPr>
              <a:t>Cluster id = 3</a:t>
            </a:r>
            <a:endParaRPr sz="1900">
              <a:latin typeface="Calibri"/>
              <a:ea typeface="Calibri"/>
              <a:cs typeface="Calibri"/>
              <a:sym typeface="Calibri"/>
            </a:endParaRPr>
          </a:p>
        </p:txBody>
      </p:sp>
      <p:sp>
        <p:nvSpPr>
          <p:cNvPr id="111" name="Google Shape;111;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aphicFrame>
        <p:nvGraphicFramePr>
          <p:cNvPr id="112" name="Google Shape;112;p19"/>
          <p:cNvGraphicFramePr/>
          <p:nvPr/>
        </p:nvGraphicFramePr>
        <p:xfrm>
          <a:off x="852625" y="1306688"/>
          <a:ext cx="3000000" cy="3000000"/>
        </p:xfrm>
        <a:graphic>
          <a:graphicData uri="http://schemas.openxmlformats.org/drawingml/2006/table">
            <a:tbl>
              <a:tblPr>
                <a:noFill/>
                <a:tableStyleId>{98C6CA05-93D3-412A-BF3C-99E95FF51B30}</a:tableStyleId>
              </a:tblPr>
              <a:tblGrid>
                <a:gridCol w="1653725"/>
                <a:gridCol w="1653725"/>
              </a:tblGrid>
              <a:tr h="391825">
                <a:tc>
                  <a:txBody>
                    <a:bodyPr/>
                    <a:lstStyle/>
                    <a:p>
                      <a:pPr indent="0" lvl="0" marL="0" rtl="0" algn="l">
                        <a:spcBef>
                          <a:spcPts val="0"/>
                        </a:spcBef>
                        <a:spcAft>
                          <a:spcPts val="0"/>
                        </a:spcAft>
                        <a:buNone/>
                      </a:pPr>
                      <a:r>
                        <a:rPr lang="en"/>
                        <a:t>1</a:t>
                      </a:r>
                      <a:endParaRPr/>
                    </a:p>
                  </a:txBody>
                  <a:tcPr marT="91425" marB="91425" marR="91425" marL="91425">
                    <a:lnL cap="flat" cmpd="sng" w="9525">
                      <a:solidFill>
                        <a:srgbClr val="1155CC"/>
                      </a:solidFill>
                      <a:prstDash val="solid"/>
                      <a:round/>
                      <a:headEnd len="sm" w="sm" type="none"/>
                      <a:tailEnd len="sm" w="sm" type="none"/>
                    </a:lnL>
                    <a:lnR cap="flat" cmpd="sng" w="9525">
                      <a:solidFill>
                        <a:srgbClr val="1155CC"/>
                      </a:solidFill>
                      <a:prstDash val="solid"/>
                      <a:round/>
                      <a:headEnd len="sm" w="sm" type="none"/>
                      <a:tailEnd len="sm" w="sm" type="none"/>
                    </a:lnR>
                    <a:lnT cap="flat" cmpd="sng" w="9525">
                      <a:solidFill>
                        <a:srgbClr val="1155CC"/>
                      </a:solidFill>
                      <a:prstDash val="solid"/>
                      <a:round/>
                      <a:headEnd len="sm" w="sm" type="none"/>
                      <a:tailEnd len="sm" w="sm" type="none"/>
                    </a:lnT>
                    <a:lnB cap="flat" cmpd="sng" w="9525">
                      <a:solidFill>
                        <a:srgbClr val="1155CC"/>
                      </a:solidFill>
                      <a:prstDash val="solid"/>
                      <a:round/>
                      <a:headEnd len="sm" w="sm" type="none"/>
                      <a:tailEnd len="sm" w="sm" type="none"/>
                    </a:lnB>
                  </a:tcPr>
                </a:tc>
                <a:tc>
                  <a:txBody>
                    <a:bodyPr/>
                    <a:lstStyle/>
                    <a:p>
                      <a:pPr indent="0" lvl="0" marL="0" rtl="0" algn="l">
                        <a:spcBef>
                          <a:spcPts val="0"/>
                        </a:spcBef>
                        <a:spcAft>
                          <a:spcPts val="0"/>
                        </a:spcAft>
                        <a:buNone/>
                      </a:pPr>
                      <a:r>
                        <a:rPr lang="en"/>
                        <a:t>0</a:t>
                      </a:r>
                      <a:endParaRPr/>
                    </a:p>
                  </a:txBody>
                  <a:tcPr marT="91425" marB="91425" marR="91425" marL="91425">
                    <a:lnL cap="flat" cmpd="sng" w="9525">
                      <a:solidFill>
                        <a:srgbClr val="1155CC"/>
                      </a:solidFill>
                      <a:prstDash val="solid"/>
                      <a:round/>
                      <a:headEnd len="sm" w="sm" type="none"/>
                      <a:tailEnd len="sm" w="sm" type="none"/>
                    </a:lnL>
                    <a:lnR cap="flat" cmpd="sng" w="9525">
                      <a:solidFill>
                        <a:srgbClr val="1155CC"/>
                      </a:solidFill>
                      <a:prstDash val="solid"/>
                      <a:round/>
                      <a:headEnd len="sm" w="sm" type="none"/>
                      <a:tailEnd len="sm" w="sm" type="none"/>
                    </a:lnR>
                    <a:lnT cap="flat" cmpd="sng" w="9525">
                      <a:solidFill>
                        <a:srgbClr val="1155CC"/>
                      </a:solidFill>
                      <a:prstDash val="solid"/>
                      <a:round/>
                      <a:headEnd len="sm" w="sm" type="none"/>
                      <a:tailEnd len="sm" w="sm" type="none"/>
                    </a:lnT>
                    <a:lnB cap="flat" cmpd="sng" w="9525">
                      <a:solidFill>
                        <a:srgbClr val="1155CC"/>
                      </a:solidFill>
                      <a:prstDash val="solid"/>
                      <a:round/>
                      <a:headEnd len="sm" w="sm" type="none"/>
                      <a:tailEnd len="sm" w="sm" type="none"/>
                    </a:lnB>
                  </a:tcPr>
                </a:tc>
              </a:tr>
              <a:tr h="391825">
                <a:tc>
                  <a:txBody>
                    <a:bodyPr/>
                    <a:lstStyle/>
                    <a:p>
                      <a:pPr indent="0" lvl="0" marL="0" rtl="0" algn="l">
                        <a:spcBef>
                          <a:spcPts val="0"/>
                        </a:spcBef>
                        <a:spcAft>
                          <a:spcPts val="0"/>
                        </a:spcAft>
                        <a:buNone/>
                      </a:pPr>
                      <a:r>
                        <a:rPr lang="en"/>
                        <a:t>3</a:t>
                      </a:r>
                      <a:endParaRPr/>
                    </a:p>
                  </a:txBody>
                  <a:tcPr marT="91425" marB="91425" marR="91425" marL="91425">
                    <a:lnL cap="flat" cmpd="sng" w="9525">
                      <a:solidFill>
                        <a:srgbClr val="1155CC"/>
                      </a:solidFill>
                      <a:prstDash val="solid"/>
                      <a:round/>
                      <a:headEnd len="sm" w="sm" type="none"/>
                      <a:tailEnd len="sm" w="sm" type="none"/>
                    </a:lnL>
                    <a:lnR cap="flat" cmpd="sng" w="9525">
                      <a:solidFill>
                        <a:srgbClr val="1155CC"/>
                      </a:solidFill>
                      <a:prstDash val="solid"/>
                      <a:round/>
                      <a:headEnd len="sm" w="sm" type="none"/>
                      <a:tailEnd len="sm" w="sm" type="none"/>
                    </a:lnR>
                    <a:lnT cap="flat" cmpd="sng" w="9525">
                      <a:solidFill>
                        <a:srgbClr val="1155CC"/>
                      </a:solidFill>
                      <a:prstDash val="solid"/>
                      <a:round/>
                      <a:headEnd len="sm" w="sm" type="none"/>
                      <a:tailEnd len="sm" w="sm" type="none"/>
                    </a:lnT>
                    <a:lnB cap="flat" cmpd="sng" w="9525">
                      <a:solidFill>
                        <a:srgbClr val="1155CC"/>
                      </a:solidFill>
                      <a:prstDash val="solid"/>
                      <a:round/>
                      <a:headEnd len="sm" w="sm" type="none"/>
                      <a:tailEnd len="sm" w="sm" type="none"/>
                    </a:lnB>
                  </a:tcPr>
                </a:tc>
                <a:tc>
                  <a:txBody>
                    <a:bodyPr/>
                    <a:lstStyle/>
                    <a:p>
                      <a:pPr indent="0" lvl="0" marL="0" rtl="0" algn="l">
                        <a:spcBef>
                          <a:spcPts val="0"/>
                        </a:spcBef>
                        <a:spcAft>
                          <a:spcPts val="0"/>
                        </a:spcAft>
                        <a:buNone/>
                      </a:pPr>
                      <a:r>
                        <a:rPr lang="en"/>
                        <a:t>1</a:t>
                      </a:r>
                      <a:endParaRPr/>
                    </a:p>
                  </a:txBody>
                  <a:tcPr marT="91425" marB="91425" marR="91425" marL="91425">
                    <a:lnL cap="flat" cmpd="sng" w="9525">
                      <a:solidFill>
                        <a:srgbClr val="1155CC"/>
                      </a:solidFill>
                      <a:prstDash val="solid"/>
                      <a:round/>
                      <a:headEnd len="sm" w="sm" type="none"/>
                      <a:tailEnd len="sm" w="sm" type="none"/>
                    </a:lnL>
                    <a:lnR cap="flat" cmpd="sng" w="9525">
                      <a:solidFill>
                        <a:srgbClr val="1155CC"/>
                      </a:solidFill>
                      <a:prstDash val="solid"/>
                      <a:round/>
                      <a:headEnd len="sm" w="sm" type="none"/>
                      <a:tailEnd len="sm" w="sm" type="none"/>
                    </a:lnR>
                    <a:lnT cap="flat" cmpd="sng" w="9525">
                      <a:solidFill>
                        <a:srgbClr val="1155CC"/>
                      </a:solidFill>
                      <a:prstDash val="solid"/>
                      <a:round/>
                      <a:headEnd len="sm" w="sm" type="none"/>
                      <a:tailEnd len="sm" w="sm" type="none"/>
                    </a:lnT>
                    <a:lnB cap="flat" cmpd="sng" w="9525">
                      <a:solidFill>
                        <a:srgbClr val="1155CC"/>
                      </a:solidFill>
                      <a:prstDash val="solid"/>
                      <a:round/>
                      <a:headEnd len="sm" w="sm" type="none"/>
                      <a:tailEnd len="sm" w="sm" type="none"/>
                    </a:lnB>
                  </a:tcPr>
                </a:tc>
              </a:tr>
              <a:tr h="391825">
                <a:tc>
                  <a:txBody>
                    <a:bodyPr/>
                    <a:lstStyle/>
                    <a:p>
                      <a:pPr indent="0" lvl="0" marL="0" rtl="0" algn="l">
                        <a:spcBef>
                          <a:spcPts val="0"/>
                        </a:spcBef>
                        <a:spcAft>
                          <a:spcPts val="0"/>
                        </a:spcAft>
                        <a:buNone/>
                      </a:pPr>
                      <a:r>
                        <a:rPr lang="en"/>
                        <a:t>2</a:t>
                      </a:r>
                      <a:endParaRPr/>
                    </a:p>
                  </a:txBody>
                  <a:tcPr marT="91425" marB="91425" marR="91425" marL="91425">
                    <a:lnL cap="flat" cmpd="sng" w="9525">
                      <a:solidFill>
                        <a:srgbClr val="1155CC"/>
                      </a:solidFill>
                      <a:prstDash val="solid"/>
                      <a:round/>
                      <a:headEnd len="sm" w="sm" type="none"/>
                      <a:tailEnd len="sm" w="sm" type="none"/>
                    </a:lnL>
                    <a:lnR cap="flat" cmpd="sng" w="9525">
                      <a:solidFill>
                        <a:srgbClr val="1155CC"/>
                      </a:solidFill>
                      <a:prstDash val="solid"/>
                      <a:round/>
                      <a:headEnd len="sm" w="sm" type="none"/>
                      <a:tailEnd len="sm" w="sm" type="none"/>
                    </a:lnR>
                    <a:lnT cap="flat" cmpd="sng" w="9525">
                      <a:solidFill>
                        <a:srgbClr val="1155CC"/>
                      </a:solidFill>
                      <a:prstDash val="solid"/>
                      <a:round/>
                      <a:headEnd len="sm" w="sm" type="none"/>
                      <a:tailEnd len="sm" w="sm" type="none"/>
                    </a:lnT>
                    <a:lnB cap="flat" cmpd="sng" w="9525">
                      <a:solidFill>
                        <a:srgbClr val="1155CC"/>
                      </a:solidFill>
                      <a:prstDash val="solid"/>
                      <a:round/>
                      <a:headEnd len="sm" w="sm" type="none"/>
                      <a:tailEnd len="sm" w="sm" type="none"/>
                    </a:lnB>
                  </a:tcPr>
                </a:tc>
                <a:tc>
                  <a:txBody>
                    <a:bodyPr/>
                    <a:lstStyle/>
                    <a:p>
                      <a:pPr indent="0" lvl="0" marL="0" rtl="0" algn="l">
                        <a:spcBef>
                          <a:spcPts val="0"/>
                        </a:spcBef>
                        <a:spcAft>
                          <a:spcPts val="0"/>
                        </a:spcAft>
                        <a:buNone/>
                      </a:pPr>
                      <a:r>
                        <a:rPr lang="en"/>
                        <a:t>0</a:t>
                      </a:r>
                      <a:endParaRPr/>
                    </a:p>
                  </a:txBody>
                  <a:tcPr marT="91425" marB="91425" marR="91425" marL="91425">
                    <a:lnL cap="flat" cmpd="sng" w="9525">
                      <a:solidFill>
                        <a:srgbClr val="1155CC"/>
                      </a:solidFill>
                      <a:prstDash val="solid"/>
                      <a:round/>
                      <a:headEnd len="sm" w="sm" type="none"/>
                      <a:tailEnd len="sm" w="sm" type="none"/>
                    </a:lnL>
                    <a:lnR cap="flat" cmpd="sng" w="9525">
                      <a:solidFill>
                        <a:srgbClr val="1155CC"/>
                      </a:solidFill>
                      <a:prstDash val="solid"/>
                      <a:round/>
                      <a:headEnd len="sm" w="sm" type="none"/>
                      <a:tailEnd len="sm" w="sm" type="none"/>
                    </a:lnR>
                    <a:lnT cap="flat" cmpd="sng" w="9525">
                      <a:solidFill>
                        <a:srgbClr val="1155CC"/>
                      </a:solidFill>
                      <a:prstDash val="solid"/>
                      <a:round/>
                      <a:headEnd len="sm" w="sm" type="none"/>
                      <a:tailEnd len="sm" w="sm" type="none"/>
                    </a:lnT>
                    <a:lnB cap="flat" cmpd="sng" w="9525">
                      <a:solidFill>
                        <a:srgbClr val="1155CC"/>
                      </a:solidFill>
                      <a:prstDash val="solid"/>
                      <a:round/>
                      <a:headEnd len="sm" w="sm" type="none"/>
                      <a:tailEnd len="sm" w="sm" type="none"/>
                    </a:lnB>
                  </a:tcPr>
                </a:tc>
              </a:tr>
              <a:tr h="391825">
                <a:tc>
                  <a:txBody>
                    <a:bodyPr/>
                    <a:lstStyle/>
                    <a:p>
                      <a:pPr indent="0" lvl="0" marL="0" rtl="0" algn="l">
                        <a:spcBef>
                          <a:spcPts val="0"/>
                        </a:spcBef>
                        <a:spcAft>
                          <a:spcPts val="0"/>
                        </a:spcAft>
                        <a:buNone/>
                      </a:pPr>
                      <a:r>
                        <a:rPr lang="en"/>
                        <a:t>4</a:t>
                      </a:r>
                      <a:endParaRPr/>
                    </a:p>
                  </a:txBody>
                  <a:tcPr marT="91425" marB="91425" marR="91425" marL="91425">
                    <a:lnL cap="flat" cmpd="sng" w="9525">
                      <a:solidFill>
                        <a:srgbClr val="1155CC"/>
                      </a:solidFill>
                      <a:prstDash val="solid"/>
                      <a:round/>
                      <a:headEnd len="sm" w="sm" type="none"/>
                      <a:tailEnd len="sm" w="sm" type="none"/>
                    </a:lnL>
                    <a:lnR cap="flat" cmpd="sng" w="9525">
                      <a:solidFill>
                        <a:srgbClr val="1155CC"/>
                      </a:solidFill>
                      <a:prstDash val="solid"/>
                      <a:round/>
                      <a:headEnd len="sm" w="sm" type="none"/>
                      <a:tailEnd len="sm" w="sm" type="none"/>
                    </a:lnR>
                    <a:lnT cap="flat" cmpd="sng" w="9525">
                      <a:solidFill>
                        <a:srgbClr val="1155CC"/>
                      </a:solidFill>
                      <a:prstDash val="solid"/>
                      <a:round/>
                      <a:headEnd len="sm" w="sm" type="none"/>
                      <a:tailEnd len="sm" w="sm" type="none"/>
                    </a:lnT>
                    <a:lnB cap="flat" cmpd="sng" w="9525">
                      <a:solidFill>
                        <a:srgbClr val="1155CC"/>
                      </a:solidFill>
                      <a:prstDash val="solid"/>
                      <a:round/>
                      <a:headEnd len="sm" w="sm" type="none"/>
                      <a:tailEnd len="sm" w="sm" type="none"/>
                    </a:lnB>
                  </a:tcPr>
                </a:tc>
                <a:tc>
                  <a:txBody>
                    <a:bodyPr/>
                    <a:lstStyle/>
                    <a:p>
                      <a:pPr indent="0" lvl="0" marL="0" rtl="0" algn="l">
                        <a:spcBef>
                          <a:spcPts val="0"/>
                        </a:spcBef>
                        <a:spcAft>
                          <a:spcPts val="0"/>
                        </a:spcAft>
                        <a:buNone/>
                      </a:pPr>
                      <a:r>
                        <a:rPr lang="en"/>
                        <a:t>0</a:t>
                      </a:r>
                      <a:endParaRPr/>
                    </a:p>
                  </a:txBody>
                  <a:tcPr marT="91425" marB="91425" marR="91425" marL="91425">
                    <a:lnL cap="flat" cmpd="sng" w="9525">
                      <a:solidFill>
                        <a:srgbClr val="1155CC"/>
                      </a:solidFill>
                      <a:prstDash val="solid"/>
                      <a:round/>
                      <a:headEnd len="sm" w="sm" type="none"/>
                      <a:tailEnd len="sm" w="sm" type="none"/>
                    </a:lnL>
                    <a:lnR cap="flat" cmpd="sng" w="9525">
                      <a:solidFill>
                        <a:srgbClr val="1155CC"/>
                      </a:solidFill>
                      <a:prstDash val="solid"/>
                      <a:round/>
                      <a:headEnd len="sm" w="sm" type="none"/>
                      <a:tailEnd len="sm" w="sm" type="none"/>
                    </a:lnR>
                    <a:lnT cap="flat" cmpd="sng" w="9525">
                      <a:solidFill>
                        <a:srgbClr val="1155CC"/>
                      </a:solidFill>
                      <a:prstDash val="solid"/>
                      <a:round/>
                      <a:headEnd len="sm" w="sm" type="none"/>
                      <a:tailEnd len="sm" w="sm" type="none"/>
                    </a:lnT>
                    <a:lnB cap="flat" cmpd="sng" w="9525">
                      <a:solidFill>
                        <a:srgbClr val="1155CC"/>
                      </a:solidFill>
                      <a:prstDash val="solid"/>
                      <a:round/>
                      <a:headEnd len="sm" w="sm" type="none"/>
                      <a:tailEnd len="sm" w="sm" type="none"/>
                    </a:lnB>
                  </a:tcPr>
                </a:tc>
              </a:tr>
              <a:tr h="391825">
                <a:tc>
                  <a:txBody>
                    <a:bodyPr/>
                    <a:lstStyle/>
                    <a:p>
                      <a:pPr indent="0" lvl="0" marL="0" rtl="0" algn="l">
                        <a:spcBef>
                          <a:spcPts val="0"/>
                        </a:spcBef>
                        <a:spcAft>
                          <a:spcPts val="0"/>
                        </a:spcAft>
                        <a:buNone/>
                      </a:pPr>
                      <a:r>
                        <a:rPr lang="en"/>
                        <a:t>3</a:t>
                      </a:r>
                      <a:endParaRPr/>
                    </a:p>
                  </a:txBody>
                  <a:tcPr marT="91425" marB="91425" marR="91425" marL="91425">
                    <a:lnL cap="flat" cmpd="sng" w="9525">
                      <a:solidFill>
                        <a:srgbClr val="1155CC"/>
                      </a:solidFill>
                      <a:prstDash val="solid"/>
                      <a:round/>
                      <a:headEnd len="sm" w="sm" type="none"/>
                      <a:tailEnd len="sm" w="sm" type="none"/>
                    </a:lnL>
                    <a:lnR cap="flat" cmpd="sng" w="9525">
                      <a:solidFill>
                        <a:srgbClr val="1155CC"/>
                      </a:solidFill>
                      <a:prstDash val="solid"/>
                      <a:round/>
                      <a:headEnd len="sm" w="sm" type="none"/>
                      <a:tailEnd len="sm" w="sm" type="none"/>
                    </a:lnR>
                    <a:lnT cap="flat" cmpd="sng" w="9525">
                      <a:solidFill>
                        <a:srgbClr val="1155CC"/>
                      </a:solidFill>
                      <a:prstDash val="solid"/>
                      <a:round/>
                      <a:headEnd len="sm" w="sm" type="none"/>
                      <a:tailEnd len="sm" w="sm" type="none"/>
                    </a:lnT>
                    <a:lnB cap="flat" cmpd="sng" w="9525">
                      <a:solidFill>
                        <a:srgbClr val="1155CC"/>
                      </a:solidFill>
                      <a:prstDash val="solid"/>
                      <a:round/>
                      <a:headEnd len="sm" w="sm" type="none"/>
                      <a:tailEnd len="sm" w="sm" type="none"/>
                    </a:lnB>
                  </a:tcPr>
                </a:tc>
                <a:tc>
                  <a:txBody>
                    <a:bodyPr/>
                    <a:lstStyle/>
                    <a:p>
                      <a:pPr indent="0" lvl="0" marL="0" rtl="0" algn="l">
                        <a:spcBef>
                          <a:spcPts val="0"/>
                        </a:spcBef>
                        <a:spcAft>
                          <a:spcPts val="0"/>
                        </a:spcAft>
                        <a:buNone/>
                      </a:pPr>
                      <a:r>
                        <a:rPr lang="en"/>
                        <a:t>0</a:t>
                      </a:r>
                      <a:endParaRPr/>
                    </a:p>
                  </a:txBody>
                  <a:tcPr marT="91425" marB="91425" marR="91425" marL="91425">
                    <a:lnL cap="flat" cmpd="sng" w="9525">
                      <a:solidFill>
                        <a:srgbClr val="1155CC"/>
                      </a:solidFill>
                      <a:prstDash val="solid"/>
                      <a:round/>
                      <a:headEnd len="sm" w="sm" type="none"/>
                      <a:tailEnd len="sm" w="sm" type="none"/>
                    </a:lnL>
                    <a:lnR cap="flat" cmpd="sng" w="9525">
                      <a:solidFill>
                        <a:srgbClr val="1155CC"/>
                      </a:solidFill>
                      <a:prstDash val="solid"/>
                      <a:round/>
                      <a:headEnd len="sm" w="sm" type="none"/>
                      <a:tailEnd len="sm" w="sm" type="none"/>
                    </a:lnR>
                    <a:lnT cap="flat" cmpd="sng" w="9525">
                      <a:solidFill>
                        <a:srgbClr val="1155CC"/>
                      </a:solidFill>
                      <a:prstDash val="solid"/>
                      <a:round/>
                      <a:headEnd len="sm" w="sm" type="none"/>
                      <a:tailEnd len="sm" w="sm" type="none"/>
                    </a:lnT>
                    <a:lnB cap="flat" cmpd="sng" w="9525">
                      <a:solidFill>
                        <a:srgbClr val="1155CC"/>
                      </a:solidFill>
                      <a:prstDash val="solid"/>
                      <a:round/>
                      <a:headEnd len="sm" w="sm" type="none"/>
                      <a:tailEnd len="sm" w="sm" type="none"/>
                    </a:lnB>
                  </a:tcPr>
                </a:tc>
              </a:tr>
              <a:tr h="391825">
                <a:tc>
                  <a:txBody>
                    <a:bodyPr/>
                    <a:lstStyle/>
                    <a:p>
                      <a:pPr indent="0" lvl="0" marL="0" rtl="0" algn="l">
                        <a:spcBef>
                          <a:spcPts val="0"/>
                        </a:spcBef>
                        <a:spcAft>
                          <a:spcPts val="0"/>
                        </a:spcAft>
                        <a:buNone/>
                      </a:pPr>
                      <a:r>
                        <a:rPr lang="en"/>
                        <a:t>2</a:t>
                      </a:r>
                      <a:endParaRPr/>
                    </a:p>
                  </a:txBody>
                  <a:tcPr marT="91425" marB="91425" marR="91425" marL="91425">
                    <a:lnL cap="flat" cmpd="sng" w="9525">
                      <a:solidFill>
                        <a:srgbClr val="1155CC"/>
                      </a:solidFill>
                      <a:prstDash val="solid"/>
                      <a:round/>
                      <a:headEnd len="sm" w="sm" type="none"/>
                      <a:tailEnd len="sm" w="sm" type="none"/>
                    </a:lnL>
                    <a:lnR cap="flat" cmpd="sng" w="9525">
                      <a:solidFill>
                        <a:srgbClr val="1155CC"/>
                      </a:solidFill>
                      <a:prstDash val="solid"/>
                      <a:round/>
                      <a:headEnd len="sm" w="sm" type="none"/>
                      <a:tailEnd len="sm" w="sm" type="none"/>
                    </a:lnR>
                    <a:lnT cap="flat" cmpd="sng" w="9525">
                      <a:solidFill>
                        <a:srgbClr val="1155CC"/>
                      </a:solidFill>
                      <a:prstDash val="solid"/>
                      <a:round/>
                      <a:headEnd len="sm" w="sm" type="none"/>
                      <a:tailEnd len="sm" w="sm" type="none"/>
                    </a:lnT>
                    <a:lnB cap="flat" cmpd="sng" w="9525">
                      <a:solidFill>
                        <a:srgbClr val="1155CC"/>
                      </a:solidFill>
                      <a:prstDash val="solid"/>
                      <a:round/>
                      <a:headEnd len="sm" w="sm" type="none"/>
                      <a:tailEnd len="sm" w="sm" type="none"/>
                    </a:lnB>
                  </a:tcPr>
                </a:tc>
                <a:tc>
                  <a:txBody>
                    <a:bodyPr/>
                    <a:lstStyle/>
                    <a:p>
                      <a:pPr indent="0" lvl="0" marL="0" rtl="0" algn="l">
                        <a:spcBef>
                          <a:spcPts val="0"/>
                        </a:spcBef>
                        <a:spcAft>
                          <a:spcPts val="0"/>
                        </a:spcAft>
                        <a:buNone/>
                      </a:pPr>
                      <a:r>
                        <a:rPr lang="en"/>
                        <a:t>1</a:t>
                      </a:r>
                      <a:endParaRPr/>
                    </a:p>
                  </a:txBody>
                  <a:tcPr marT="91425" marB="91425" marR="91425" marL="91425">
                    <a:lnL cap="flat" cmpd="sng" w="9525">
                      <a:solidFill>
                        <a:srgbClr val="1155CC"/>
                      </a:solidFill>
                      <a:prstDash val="solid"/>
                      <a:round/>
                      <a:headEnd len="sm" w="sm" type="none"/>
                      <a:tailEnd len="sm" w="sm" type="none"/>
                    </a:lnL>
                    <a:lnR cap="flat" cmpd="sng" w="9525">
                      <a:solidFill>
                        <a:srgbClr val="1155CC"/>
                      </a:solidFill>
                      <a:prstDash val="solid"/>
                      <a:round/>
                      <a:headEnd len="sm" w="sm" type="none"/>
                      <a:tailEnd len="sm" w="sm" type="none"/>
                    </a:lnR>
                    <a:lnT cap="flat" cmpd="sng" w="9525">
                      <a:solidFill>
                        <a:srgbClr val="1155CC"/>
                      </a:solidFill>
                      <a:prstDash val="solid"/>
                      <a:round/>
                      <a:headEnd len="sm" w="sm" type="none"/>
                      <a:tailEnd len="sm" w="sm" type="none"/>
                    </a:lnT>
                    <a:lnB cap="flat" cmpd="sng" w="9525">
                      <a:solidFill>
                        <a:srgbClr val="1155CC"/>
                      </a:solidFill>
                      <a:prstDash val="solid"/>
                      <a:round/>
                      <a:headEnd len="sm" w="sm" type="none"/>
                      <a:tailEnd len="sm" w="sm" type="none"/>
                    </a:lnB>
                  </a:tcPr>
                </a:tc>
              </a:tr>
              <a:tr h="391825">
                <a:tc>
                  <a:txBody>
                    <a:bodyPr/>
                    <a:lstStyle/>
                    <a:p>
                      <a:pPr indent="0" lvl="0" marL="0" rtl="0" algn="l">
                        <a:spcBef>
                          <a:spcPts val="0"/>
                        </a:spcBef>
                        <a:spcAft>
                          <a:spcPts val="0"/>
                        </a:spcAft>
                        <a:buNone/>
                      </a:pPr>
                      <a:r>
                        <a:rPr lang="en"/>
                        <a:t>6</a:t>
                      </a:r>
                      <a:endParaRPr/>
                    </a:p>
                  </a:txBody>
                  <a:tcPr marT="91425" marB="91425" marR="91425" marL="91425">
                    <a:lnL cap="flat" cmpd="sng" w="9525">
                      <a:solidFill>
                        <a:srgbClr val="1155CC"/>
                      </a:solidFill>
                      <a:prstDash val="solid"/>
                      <a:round/>
                      <a:headEnd len="sm" w="sm" type="none"/>
                      <a:tailEnd len="sm" w="sm" type="none"/>
                    </a:lnL>
                    <a:lnR cap="flat" cmpd="sng" w="9525">
                      <a:solidFill>
                        <a:srgbClr val="1155CC"/>
                      </a:solidFill>
                      <a:prstDash val="solid"/>
                      <a:round/>
                      <a:headEnd len="sm" w="sm" type="none"/>
                      <a:tailEnd len="sm" w="sm" type="none"/>
                    </a:lnR>
                    <a:lnT cap="flat" cmpd="sng" w="9525">
                      <a:solidFill>
                        <a:srgbClr val="1155CC"/>
                      </a:solidFill>
                      <a:prstDash val="solid"/>
                      <a:round/>
                      <a:headEnd len="sm" w="sm" type="none"/>
                      <a:tailEnd len="sm" w="sm" type="none"/>
                    </a:lnT>
                    <a:lnB cap="flat" cmpd="sng" w="9525">
                      <a:solidFill>
                        <a:srgbClr val="1155CC"/>
                      </a:solidFill>
                      <a:prstDash val="solid"/>
                      <a:round/>
                      <a:headEnd len="sm" w="sm" type="none"/>
                      <a:tailEnd len="sm" w="sm" type="none"/>
                    </a:lnB>
                  </a:tcPr>
                </a:tc>
                <a:tc>
                  <a:txBody>
                    <a:bodyPr/>
                    <a:lstStyle/>
                    <a:p>
                      <a:pPr indent="0" lvl="0" marL="0" rtl="0" algn="l">
                        <a:spcBef>
                          <a:spcPts val="0"/>
                        </a:spcBef>
                        <a:spcAft>
                          <a:spcPts val="0"/>
                        </a:spcAft>
                        <a:buNone/>
                      </a:pPr>
                      <a:r>
                        <a:rPr lang="en"/>
                        <a:t>1</a:t>
                      </a:r>
                      <a:endParaRPr/>
                    </a:p>
                  </a:txBody>
                  <a:tcPr marT="91425" marB="91425" marR="91425" marL="91425">
                    <a:lnL cap="flat" cmpd="sng" w="9525">
                      <a:solidFill>
                        <a:srgbClr val="1155CC"/>
                      </a:solidFill>
                      <a:prstDash val="solid"/>
                      <a:round/>
                      <a:headEnd len="sm" w="sm" type="none"/>
                      <a:tailEnd len="sm" w="sm" type="none"/>
                    </a:lnL>
                    <a:lnR cap="flat" cmpd="sng" w="9525">
                      <a:solidFill>
                        <a:srgbClr val="1155CC"/>
                      </a:solidFill>
                      <a:prstDash val="solid"/>
                      <a:round/>
                      <a:headEnd len="sm" w="sm" type="none"/>
                      <a:tailEnd len="sm" w="sm" type="none"/>
                    </a:lnR>
                    <a:lnT cap="flat" cmpd="sng" w="9525">
                      <a:solidFill>
                        <a:srgbClr val="1155CC"/>
                      </a:solidFill>
                      <a:prstDash val="solid"/>
                      <a:round/>
                      <a:headEnd len="sm" w="sm" type="none"/>
                      <a:tailEnd len="sm" w="sm" type="none"/>
                    </a:lnT>
                    <a:lnB cap="flat" cmpd="sng" w="9525">
                      <a:solidFill>
                        <a:srgbClr val="1155CC"/>
                      </a:solidFill>
                      <a:prstDash val="solid"/>
                      <a:round/>
                      <a:headEnd len="sm" w="sm" type="none"/>
                      <a:tailEnd len="sm" w="sm" type="none"/>
                    </a:lnB>
                  </a:tcPr>
                </a:tc>
              </a:tr>
              <a:tr h="391825">
                <a:tc>
                  <a:txBody>
                    <a:bodyPr/>
                    <a:lstStyle/>
                    <a:p>
                      <a:pPr indent="0" lvl="0" marL="0" rtl="0" algn="l">
                        <a:spcBef>
                          <a:spcPts val="0"/>
                        </a:spcBef>
                        <a:spcAft>
                          <a:spcPts val="0"/>
                        </a:spcAft>
                        <a:buNone/>
                      </a:pPr>
                      <a:r>
                        <a:rPr lang="en"/>
                        <a:t>3</a:t>
                      </a:r>
                      <a:endParaRPr/>
                    </a:p>
                  </a:txBody>
                  <a:tcPr marT="91425" marB="91425" marR="91425" marL="91425">
                    <a:lnL cap="flat" cmpd="sng" w="9525">
                      <a:solidFill>
                        <a:srgbClr val="1155CC"/>
                      </a:solidFill>
                      <a:prstDash val="solid"/>
                      <a:round/>
                      <a:headEnd len="sm" w="sm" type="none"/>
                      <a:tailEnd len="sm" w="sm" type="none"/>
                    </a:lnL>
                    <a:lnR cap="flat" cmpd="sng" w="9525">
                      <a:solidFill>
                        <a:srgbClr val="1155CC"/>
                      </a:solidFill>
                      <a:prstDash val="solid"/>
                      <a:round/>
                      <a:headEnd len="sm" w="sm" type="none"/>
                      <a:tailEnd len="sm" w="sm" type="none"/>
                    </a:lnR>
                    <a:lnT cap="flat" cmpd="sng" w="9525">
                      <a:solidFill>
                        <a:srgbClr val="1155CC"/>
                      </a:solidFill>
                      <a:prstDash val="solid"/>
                      <a:round/>
                      <a:headEnd len="sm" w="sm" type="none"/>
                      <a:tailEnd len="sm" w="sm" type="none"/>
                    </a:lnT>
                    <a:lnB cap="flat" cmpd="sng" w="9525">
                      <a:solidFill>
                        <a:srgbClr val="1155CC"/>
                      </a:solidFill>
                      <a:prstDash val="solid"/>
                      <a:round/>
                      <a:headEnd len="sm" w="sm" type="none"/>
                      <a:tailEnd len="sm" w="sm" type="none"/>
                    </a:lnB>
                  </a:tcPr>
                </a:tc>
                <a:tc>
                  <a:txBody>
                    <a:bodyPr/>
                    <a:lstStyle/>
                    <a:p>
                      <a:pPr indent="0" lvl="0" marL="0" rtl="0" algn="l">
                        <a:spcBef>
                          <a:spcPts val="0"/>
                        </a:spcBef>
                        <a:spcAft>
                          <a:spcPts val="0"/>
                        </a:spcAft>
                        <a:buNone/>
                      </a:pPr>
                      <a:r>
                        <a:rPr lang="en"/>
                        <a:t>0</a:t>
                      </a:r>
                      <a:endParaRPr/>
                    </a:p>
                  </a:txBody>
                  <a:tcPr marT="91425" marB="91425" marR="91425" marL="91425">
                    <a:lnL cap="flat" cmpd="sng" w="9525">
                      <a:solidFill>
                        <a:srgbClr val="1155CC"/>
                      </a:solidFill>
                      <a:prstDash val="solid"/>
                      <a:round/>
                      <a:headEnd len="sm" w="sm" type="none"/>
                      <a:tailEnd len="sm" w="sm" type="none"/>
                    </a:lnL>
                    <a:lnR cap="flat" cmpd="sng" w="9525">
                      <a:solidFill>
                        <a:srgbClr val="1155CC"/>
                      </a:solidFill>
                      <a:prstDash val="solid"/>
                      <a:round/>
                      <a:headEnd len="sm" w="sm" type="none"/>
                      <a:tailEnd len="sm" w="sm" type="none"/>
                    </a:lnR>
                    <a:lnT cap="flat" cmpd="sng" w="9525">
                      <a:solidFill>
                        <a:srgbClr val="1155CC"/>
                      </a:solidFill>
                      <a:prstDash val="solid"/>
                      <a:round/>
                      <a:headEnd len="sm" w="sm" type="none"/>
                      <a:tailEnd len="sm" w="sm" type="none"/>
                    </a:lnT>
                    <a:lnB cap="flat" cmpd="sng" w="9525">
                      <a:solidFill>
                        <a:srgbClr val="1155CC"/>
                      </a:solidFill>
                      <a:prstDash val="solid"/>
                      <a:round/>
                      <a:headEnd len="sm" w="sm" type="none"/>
                      <a:tailEnd len="sm" w="sm" type="none"/>
                    </a:lnB>
                  </a:tcPr>
                </a:tc>
              </a:tr>
            </a:tbl>
          </a:graphicData>
        </a:graphic>
      </p:graphicFrame>
      <p:grpSp>
        <p:nvGrpSpPr>
          <p:cNvPr id="113" name="Google Shape;113;p19"/>
          <p:cNvGrpSpPr/>
          <p:nvPr/>
        </p:nvGrpSpPr>
        <p:grpSpPr>
          <a:xfrm>
            <a:off x="7515465" y="3145600"/>
            <a:ext cx="1650660" cy="1445571"/>
            <a:chOff x="7515465" y="3145600"/>
            <a:chExt cx="1650660" cy="1445571"/>
          </a:xfrm>
        </p:grpSpPr>
        <p:sp>
          <p:nvSpPr>
            <p:cNvPr id="114" name="Google Shape;114;p19"/>
            <p:cNvSpPr/>
            <p:nvPr/>
          </p:nvSpPr>
          <p:spPr>
            <a:xfrm rot="1983983">
              <a:off x="7613946" y="4046348"/>
              <a:ext cx="389839" cy="477045"/>
            </a:xfrm>
            <a:prstGeom prst="downArrow">
              <a:avLst>
                <a:gd fmla="val 50000" name="adj1"/>
                <a:gd fmla="val 50000" name="adj2"/>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15" name="Google Shape;115;p19"/>
            <p:cNvSpPr txBox="1"/>
            <p:nvPr/>
          </p:nvSpPr>
          <p:spPr>
            <a:xfrm>
              <a:off x="7740525" y="3145600"/>
              <a:ext cx="1425600" cy="749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Calibri"/>
                  <a:ea typeface="Calibri"/>
                  <a:cs typeface="Calibri"/>
                  <a:sym typeface="Calibri"/>
                </a:rPr>
                <a:t>No descriptive label!</a:t>
              </a:r>
              <a:endParaRPr sz="1800">
                <a:solidFill>
                  <a:schemeClr val="dk1"/>
                </a:solidFill>
                <a:latin typeface="Calibri"/>
                <a:ea typeface="Calibri"/>
                <a:cs typeface="Calibri"/>
                <a:sym typeface="Calibri"/>
              </a:endParaRPr>
            </a:p>
          </p:txBody>
        </p:sp>
      </p:grpSp>
      <p:grpSp>
        <p:nvGrpSpPr>
          <p:cNvPr id="116" name="Google Shape;116;p19"/>
          <p:cNvGrpSpPr/>
          <p:nvPr/>
        </p:nvGrpSpPr>
        <p:grpSpPr>
          <a:xfrm>
            <a:off x="4235494" y="1383275"/>
            <a:ext cx="1197656" cy="857319"/>
            <a:chOff x="7515465" y="3363799"/>
            <a:chExt cx="1197656" cy="1227372"/>
          </a:xfrm>
        </p:grpSpPr>
        <p:sp>
          <p:nvSpPr>
            <p:cNvPr id="117" name="Google Shape;117;p19"/>
            <p:cNvSpPr/>
            <p:nvPr/>
          </p:nvSpPr>
          <p:spPr>
            <a:xfrm rot="1983983">
              <a:off x="7613946" y="4046348"/>
              <a:ext cx="389839" cy="477045"/>
            </a:xfrm>
            <a:prstGeom prst="downArrow">
              <a:avLst>
                <a:gd fmla="val 50000" name="adj1"/>
                <a:gd fmla="val 50000" name="adj2"/>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18" name="Google Shape;118;p19"/>
            <p:cNvSpPr txBox="1"/>
            <p:nvPr/>
          </p:nvSpPr>
          <p:spPr>
            <a:xfrm>
              <a:off x="7588122" y="3363799"/>
              <a:ext cx="1125000" cy="749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Calibri"/>
                  <a:ea typeface="Calibri"/>
                  <a:cs typeface="Calibri"/>
                  <a:sym typeface="Calibri"/>
                </a:rPr>
                <a:t>No labels!</a:t>
              </a:r>
              <a:endParaRPr sz="1800">
                <a:solidFill>
                  <a:schemeClr val="dk1"/>
                </a:solidFill>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0"/>
          <p:cNvSpPr txBox="1"/>
          <p:nvPr>
            <p:ph type="title"/>
          </p:nvPr>
        </p:nvSpPr>
        <p:spPr>
          <a:xfrm>
            <a:off x="229075" y="372800"/>
            <a:ext cx="67392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Clustering </a:t>
            </a:r>
            <a:r>
              <a:rPr i="1" lang="en" sz="2100"/>
              <a:t>Example</a:t>
            </a:r>
            <a:endParaRPr sz="2100"/>
          </a:p>
        </p:txBody>
      </p:sp>
      <p:sp>
        <p:nvSpPr>
          <p:cNvPr id="124" name="Google Shape;124;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25" name="Google Shape;125;p20"/>
          <p:cNvPicPr preferRelativeResize="0"/>
          <p:nvPr/>
        </p:nvPicPr>
        <p:blipFill>
          <a:blip r:embed="rId3">
            <a:alphaModFix/>
          </a:blip>
          <a:stretch>
            <a:fillRect/>
          </a:stretch>
        </p:blipFill>
        <p:spPr>
          <a:xfrm>
            <a:off x="198451" y="1773100"/>
            <a:ext cx="3467050" cy="2101000"/>
          </a:xfrm>
          <a:prstGeom prst="rect">
            <a:avLst/>
          </a:prstGeom>
          <a:noFill/>
          <a:ln>
            <a:noFill/>
          </a:ln>
        </p:spPr>
      </p:pic>
      <p:pic>
        <p:nvPicPr>
          <p:cNvPr id="126" name="Google Shape;126;p20"/>
          <p:cNvPicPr preferRelativeResize="0"/>
          <p:nvPr/>
        </p:nvPicPr>
        <p:blipFill rotWithShape="1">
          <a:blip r:embed="rId4">
            <a:alphaModFix/>
          </a:blip>
          <a:srcRect b="1237" l="1374" r="432" t="540"/>
          <a:stretch/>
        </p:blipFill>
        <p:spPr>
          <a:xfrm>
            <a:off x="3970925" y="1268800"/>
            <a:ext cx="4578648" cy="3352352"/>
          </a:xfrm>
          <a:prstGeom prst="rect">
            <a:avLst/>
          </a:prstGeom>
          <a:noFill/>
          <a:ln>
            <a:noFill/>
          </a:ln>
        </p:spPr>
      </p:pic>
      <p:sp>
        <p:nvSpPr>
          <p:cNvPr id="127" name="Google Shape;127;p20"/>
          <p:cNvSpPr txBox="1"/>
          <p:nvPr/>
        </p:nvSpPr>
        <p:spPr>
          <a:xfrm rot="-5400000">
            <a:off x="3136475" y="2759375"/>
            <a:ext cx="13458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latin typeface="Calibri"/>
                <a:ea typeface="Calibri"/>
                <a:cs typeface="Calibri"/>
                <a:sym typeface="Calibri"/>
              </a:rPr>
              <a:t>Bill depth (mm)</a:t>
            </a:r>
            <a:endParaRPr sz="1300">
              <a:latin typeface="Calibri"/>
              <a:ea typeface="Calibri"/>
              <a:cs typeface="Calibri"/>
              <a:sym typeface="Calibri"/>
            </a:endParaRPr>
          </a:p>
        </p:txBody>
      </p:sp>
      <p:sp>
        <p:nvSpPr>
          <p:cNvPr id="128" name="Google Shape;128;p20"/>
          <p:cNvSpPr txBox="1"/>
          <p:nvPr/>
        </p:nvSpPr>
        <p:spPr>
          <a:xfrm>
            <a:off x="5746450" y="4621150"/>
            <a:ext cx="12828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dk1"/>
                </a:solidFill>
                <a:latin typeface="Calibri"/>
                <a:ea typeface="Calibri"/>
                <a:cs typeface="Calibri"/>
                <a:sym typeface="Calibri"/>
              </a:rPr>
              <a:t>Bill length (mm)</a:t>
            </a:r>
            <a:endParaRPr sz="13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1"/>
          <p:cNvSpPr txBox="1"/>
          <p:nvPr>
            <p:ph type="title"/>
          </p:nvPr>
        </p:nvSpPr>
        <p:spPr>
          <a:xfrm>
            <a:off x="229075" y="372800"/>
            <a:ext cx="67392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i="1" lang="en"/>
              <a:t>K</a:t>
            </a:r>
            <a:r>
              <a:rPr lang="en"/>
              <a:t>-means </a:t>
            </a:r>
            <a:r>
              <a:rPr i="1" lang="en"/>
              <a:t>Example with k = 3</a:t>
            </a:r>
            <a:endParaRPr i="1"/>
          </a:p>
        </p:txBody>
      </p:sp>
      <p:sp>
        <p:nvSpPr>
          <p:cNvPr id="134" name="Google Shape;134;p21"/>
          <p:cNvSpPr txBox="1"/>
          <p:nvPr>
            <p:ph idx="1" type="body"/>
          </p:nvPr>
        </p:nvSpPr>
        <p:spPr>
          <a:xfrm>
            <a:off x="445350" y="1372300"/>
            <a:ext cx="2955300" cy="35772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AutoNum type="arabicPeriod"/>
            </a:pPr>
            <a:r>
              <a:rPr lang="en"/>
              <a:t>Choose random seeds as means, in this case </a:t>
            </a:r>
            <a:r>
              <a:rPr i="1" lang="en"/>
              <a:t>k</a:t>
            </a:r>
            <a:r>
              <a:rPr lang="en"/>
              <a:t> = 3.</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What is </a:t>
            </a:r>
            <a:r>
              <a:rPr i="1" lang="en">
                <a:solidFill>
                  <a:srgbClr val="1155CC"/>
                </a:solidFill>
              </a:rPr>
              <a:t>k</a:t>
            </a:r>
            <a:r>
              <a:rPr lang="en"/>
              <a:t>? An input parameter estimated by the user.</a:t>
            </a:r>
            <a:endParaRPr/>
          </a:p>
          <a:p>
            <a:pPr indent="0" lvl="0" marL="0" rtl="0" algn="l">
              <a:spcBef>
                <a:spcPts val="1200"/>
              </a:spcBef>
              <a:spcAft>
                <a:spcPts val="1200"/>
              </a:spcAft>
              <a:buNone/>
            </a:pPr>
            <a:r>
              <a:rPr lang="en"/>
              <a:t>In practice: evaluate results of different </a:t>
            </a:r>
            <a:r>
              <a:rPr i="1" lang="en"/>
              <a:t>k</a:t>
            </a:r>
            <a:r>
              <a:rPr lang="en"/>
              <a:t> values and choose best performing </a:t>
            </a:r>
            <a:r>
              <a:rPr i="1" lang="en"/>
              <a:t>k</a:t>
            </a:r>
            <a:r>
              <a:rPr lang="en"/>
              <a:t>.</a:t>
            </a:r>
            <a:endParaRPr/>
          </a:p>
        </p:txBody>
      </p:sp>
      <p:sp>
        <p:nvSpPr>
          <p:cNvPr id="135" name="Google Shape;135;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36" name="Google Shape;136;p21"/>
          <p:cNvPicPr preferRelativeResize="0"/>
          <p:nvPr/>
        </p:nvPicPr>
        <p:blipFill>
          <a:blip r:embed="rId3">
            <a:alphaModFix/>
          </a:blip>
          <a:stretch>
            <a:fillRect/>
          </a:stretch>
        </p:blipFill>
        <p:spPr>
          <a:xfrm>
            <a:off x="3760600" y="1280575"/>
            <a:ext cx="4796525" cy="353427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2"/>
          <p:cNvSpPr txBox="1"/>
          <p:nvPr>
            <p:ph type="title"/>
          </p:nvPr>
        </p:nvSpPr>
        <p:spPr>
          <a:xfrm>
            <a:off x="229075" y="372800"/>
            <a:ext cx="67392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i="1" lang="en"/>
              <a:t>K</a:t>
            </a:r>
            <a:r>
              <a:rPr lang="en"/>
              <a:t>-means </a:t>
            </a:r>
            <a:r>
              <a:rPr i="1" lang="en"/>
              <a:t>Example with k = 3</a:t>
            </a:r>
            <a:endParaRPr i="1"/>
          </a:p>
        </p:txBody>
      </p:sp>
      <p:sp>
        <p:nvSpPr>
          <p:cNvPr id="142" name="Google Shape;142;p22"/>
          <p:cNvSpPr txBox="1"/>
          <p:nvPr>
            <p:ph idx="1" type="body"/>
          </p:nvPr>
        </p:nvSpPr>
        <p:spPr>
          <a:xfrm>
            <a:off x="445350" y="1372300"/>
            <a:ext cx="2955300" cy="28575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a:t>2.  Assign each data point to the closest mean.</a:t>
            </a:r>
            <a:endParaRPr/>
          </a:p>
        </p:txBody>
      </p:sp>
      <p:sp>
        <p:nvSpPr>
          <p:cNvPr id="143" name="Google Shape;143;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44" name="Google Shape;144;p22"/>
          <p:cNvPicPr preferRelativeResize="0"/>
          <p:nvPr/>
        </p:nvPicPr>
        <p:blipFill rotWithShape="1">
          <a:blip r:embed="rId3">
            <a:alphaModFix/>
          </a:blip>
          <a:srcRect b="0" l="298" r="298" t="0"/>
          <a:stretch/>
        </p:blipFill>
        <p:spPr>
          <a:xfrm>
            <a:off x="3760600" y="1280575"/>
            <a:ext cx="4796526" cy="353427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3"/>
          <p:cNvSpPr txBox="1"/>
          <p:nvPr>
            <p:ph type="title"/>
          </p:nvPr>
        </p:nvSpPr>
        <p:spPr>
          <a:xfrm>
            <a:off x="229075" y="372800"/>
            <a:ext cx="67392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i="1" lang="en"/>
              <a:t>K</a:t>
            </a:r>
            <a:r>
              <a:rPr lang="en"/>
              <a:t>-means </a:t>
            </a:r>
            <a:r>
              <a:rPr i="1" lang="en"/>
              <a:t>Example with k = 3</a:t>
            </a:r>
            <a:endParaRPr i="1"/>
          </a:p>
        </p:txBody>
      </p:sp>
      <p:sp>
        <p:nvSpPr>
          <p:cNvPr id="150" name="Google Shape;150;p23"/>
          <p:cNvSpPr txBox="1"/>
          <p:nvPr>
            <p:ph idx="1" type="body"/>
          </p:nvPr>
        </p:nvSpPr>
        <p:spPr>
          <a:xfrm>
            <a:off x="445350" y="1372300"/>
            <a:ext cx="2955300" cy="28575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a:t>3.  Recompute the original mean of each cluster as the mean (average) of its data points.</a:t>
            </a:r>
            <a:endParaRPr/>
          </a:p>
        </p:txBody>
      </p:sp>
      <p:sp>
        <p:nvSpPr>
          <p:cNvPr id="151" name="Google Shape;151;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52" name="Google Shape;152;p23"/>
          <p:cNvPicPr preferRelativeResize="0"/>
          <p:nvPr/>
        </p:nvPicPr>
        <p:blipFill rotWithShape="1">
          <a:blip r:embed="rId3">
            <a:alphaModFix/>
          </a:blip>
          <a:srcRect b="0" l="738" r="748" t="0"/>
          <a:stretch/>
        </p:blipFill>
        <p:spPr>
          <a:xfrm>
            <a:off x="3760600" y="1280575"/>
            <a:ext cx="4796526" cy="3534274"/>
          </a:xfrm>
          <a:prstGeom prst="rect">
            <a:avLst/>
          </a:prstGeom>
          <a:noFill/>
          <a:ln>
            <a:noFill/>
          </a:ln>
        </p:spPr>
      </p:pic>
      <p:cxnSp>
        <p:nvCxnSpPr>
          <p:cNvPr id="153" name="Google Shape;153;p23"/>
          <p:cNvCxnSpPr/>
          <p:nvPr/>
        </p:nvCxnSpPr>
        <p:spPr>
          <a:xfrm rot="10800000">
            <a:off x="3792350" y="1287625"/>
            <a:ext cx="0" cy="35031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4"/>
          <p:cNvSpPr txBox="1"/>
          <p:nvPr>
            <p:ph type="title"/>
          </p:nvPr>
        </p:nvSpPr>
        <p:spPr>
          <a:xfrm>
            <a:off x="229075" y="372800"/>
            <a:ext cx="67392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i="1" lang="en"/>
              <a:t>K</a:t>
            </a:r>
            <a:r>
              <a:rPr lang="en"/>
              <a:t>-means </a:t>
            </a:r>
            <a:r>
              <a:rPr i="1" lang="en"/>
              <a:t>Example with k = 3</a:t>
            </a:r>
            <a:endParaRPr i="1"/>
          </a:p>
        </p:txBody>
      </p:sp>
      <p:sp>
        <p:nvSpPr>
          <p:cNvPr id="159" name="Google Shape;159;p24"/>
          <p:cNvSpPr txBox="1"/>
          <p:nvPr>
            <p:ph idx="1" type="body"/>
          </p:nvPr>
        </p:nvSpPr>
        <p:spPr>
          <a:xfrm>
            <a:off x="445350" y="1372300"/>
            <a:ext cx="2955300" cy="28575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a:t>4.   Reassign each data point to the closest mean.</a:t>
            </a:r>
            <a:endParaRPr/>
          </a:p>
        </p:txBody>
      </p:sp>
      <p:sp>
        <p:nvSpPr>
          <p:cNvPr id="160" name="Google Shape;160;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61" name="Google Shape;161;p24"/>
          <p:cNvPicPr preferRelativeResize="0"/>
          <p:nvPr/>
        </p:nvPicPr>
        <p:blipFill rotWithShape="1">
          <a:blip r:embed="rId3">
            <a:alphaModFix/>
          </a:blip>
          <a:srcRect b="0" l="396" r="396" t="0"/>
          <a:stretch/>
        </p:blipFill>
        <p:spPr>
          <a:xfrm>
            <a:off x="3760600" y="1280575"/>
            <a:ext cx="4796524" cy="35342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5"/>
          <p:cNvSpPr txBox="1"/>
          <p:nvPr>
            <p:ph type="title"/>
          </p:nvPr>
        </p:nvSpPr>
        <p:spPr>
          <a:xfrm>
            <a:off x="229075" y="372800"/>
            <a:ext cx="67392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i="1" lang="en"/>
              <a:t>k</a:t>
            </a:r>
            <a:r>
              <a:rPr lang="en"/>
              <a:t>-Means Multiple Iterations</a:t>
            </a:r>
            <a:endParaRPr/>
          </a:p>
        </p:txBody>
      </p:sp>
      <p:sp>
        <p:nvSpPr>
          <p:cNvPr id="167" name="Google Shape;167;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68" name="Google Shape;168;p25"/>
          <p:cNvPicPr preferRelativeResize="0"/>
          <p:nvPr/>
        </p:nvPicPr>
        <p:blipFill>
          <a:blip r:embed="rId3">
            <a:alphaModFix/>
          </a:blip>
          <a:stretch>
            <a:fillRect/>
          </a:stretch>
        </p:blipFill>
        <p:spPr>
          <a:xfrm>
            <a:off x="466500" y="1229475"/>
            <a:ext cx="2542674" cy="1857376"/>
          </a:xfrm>
          <a:prstGeom prst="rect">
            <a:avLst/>
          </a:prstGeom>
          <a:noFill/>
          <a:ln>
            <a:noFill/>
          </a:ln>
        </p:spPr>
      </p:pic>
      <p:pic>
        <p:nvPicPr>
          <p:cNvPr id="169" name="Google Shape;169;p25"/>
          <p:cNvPicPr preferRelativeResize="0"/>
          <p:nvPr/>
        </p:nvPicPr>
        <p:blipFill>
          <a:blip r:embed="rId4">
            <a:alphaModFix/>
          </a:blip>
          <a:stretch>
            <a:fillRect/>
          </a:stretch>
        </p:blipFill>
        <p:spPr>
          <a:xfrm>
            <a:off x="3316077" y="1229475"/>
            <a:ext cx="2542676" cy="1868014"/>
          </a:xfrm>
          <a:prstGeom prst="rect">
            <a:avLst/>
          </a:prstGeom>
          <a:noFill/>
          <a:ln>
            <a:noFill/>
          </a:ln>
        </p:spPr>
      </p:pic>
      <p:pic>
        <p:nvPicPr>
          <p:cNvPr id="170" name="Google Shape;170;p25"/>
          <p:cNvPicPr preferRelativeResize="0"/>
          <p:nvPr/>
        </p:nvPicPr>
        <p:blipFill>
          <a:blip r:embed="rId5">
            <a:alphaModFix/>
          </a:blip>
          <a:stretch>
            <a:fillRect/>
          </a:stretch>
        </p:blipFill>
        <p:spPr>
          <a:xfrm>
            <a:off x="6165650" y="1229475"/>
            <a:ext cx="2542676" cy="1871909"/>
          </a:xfrm>
          <a:prstGeom prst="rect">
            <a:avLst/>
          </a:prstGeom>
          <a:noFill/>
          <a:ln>
            <a:noFill/>
          </a:ln>
        </p:spPr>
      </p:pic>
      <p:pic>
        <p:nvPicPr>
          <p:cNvPr id="171" name="Google Shape;171;p25"/>
          <p:cNvPicPr preferRelativeResize="0"/>
          <p:nvPr/>
        </p:nvPicPr>
        <p:blipFill>
          <a:blip r:embed="rId6">
            <a:alphaModFix/>
          </a:blip>
          <a:stretch>
            <a:fillRect/>
          </a:stretch>
        </p:blipFill>
        <p:spPr>
          <a:xfrm>
            <a:off x="466500" y="3239250"/>
            <a:ext cx="2532083" cy="1857375"/>
          </a:xfrm>
          <a:prstGeom prst="rect">
            <a:avLst/>
          </a:prstGeom>
          <a:noFill/>
          <a:ln>
            <a:noFill/>
          </a:ln>
        </p:spPr>
      </p:pic>
      <p:pic>
        <p:nvPicPr>
          <p:cNvPr id="172" name="Google Shape;172;p25"/>
          <p:cNvPicPr preferRelativeResize="0"/>
          <p:nvPr/>
        </p:nvPicPr>
        <p:blipFill>
          <a:blip r:embed="rId7">
            <a:alphaModFix/>
          </a:blip>
          <a:stretch>
            <a:fillRect/>
          </a:stretch>
        </p:blipFill>
        <p:spPr>
          <a:xfrm>
            <a:off x="3316075" y="3239250"/>
            <a:ext cx="2519090" cy="1857374"/>
          </a:xfrm>
          <a:prstGeom prst="rect">
            <a:avLst/>
          </a:prstGeom>
          <a:noFill/>
          <a:ln>
            <a:noFill/>
          </a:ln>
        </p:spPr>
      </p:pic>
      <p:pic>
        <p:nvPicPr>
          <p:cNvPr id="173" name="Google Shape;173;p25"/>
          <p:cNvPicPr preferRelativeResize="0"/>
          <p:nvPr/>
        </p:nvPicPr>
        <p:blipFill>
          <a:blip r:embed="rId8">
            <a:alphaModFix/>
          </a:blip>
          <a:stretch>
            <a:fillRect/>
          </a:stretch>
        </p:blipFill>
        <p:spPr>
          <a:xfrm>
            <a:off x="6152676" y="3239249"/>
            <a:ext cx="2519101" cy="184401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6"/>
          <p:cNvSpPr txBox="1"/>
          <p:nvPr>
            <p:ph type="title"/>
          </p:nvPr>
        </p:nvSpPr>
        <p:spPr>
          <a:xfrm>
            <a:off x="229075" y="372800"/>
            <a:ext cx="67392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Comparison to Actual Labels</a:t>
            </a:r>
            <a:endParaRPr/>
          </a:p>
        </p:txBody>
      </p:sp>
      <p:sp>
        <p:nvSpPr>
          <p:cNvPr id="179" name="Google Shape;179;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80" name="Google Shape;180;p26"/>
          <p:cNvPicPr preferRelativeResize="0"/>
          <p:nvPr/>
        </p:nvPicPr>
        <p:blipFill rotWithShape="1">
          <a:blip r:embed="rId3">
            <a:alphaModFix/>
          </a:blip>
          <a:srcRect b="1237" l="1374" r="432" t="540"/>
          <a:stretch/>
        </p:blipFill>
        <p:spPr>
          <a:xfrm>
            <a:off x="495720" y="1196825"/>
            <a:ext cx="3981029" cy="2886193"/>
          </a:xfrm>
          <a:prstGeom prst="rect">
            <a:avLst/>
          </a:prstGeom>
          <a:noFill/>
          <a:ln>
            <a:noFill/>
          </a:ln>
        </p:spPr>
      </p:pic>
      <p:sp>
        <p:nvSpPr>
          <p:cNvPr id="181" name="Google Shape;181;p26"/>
          <p:cNvSpPr txBox="1"/>
          <p:nvPr/>
        </p:nvSpPr>
        <p:spPr>
          <a:xfrm rot="-5400000">
            <a:off x="-366275" y="2644950"/>
            <a:ext cx="13851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latin typeface="Calibri"/>
                <a:ea typeface="Calibri"/>
                <a:cs typeface="Calibri"/>
                <a:sym typeface="Calibri"/>
              </a:rPr>
              <a:t>Bill depth (mm)</a:t>
            </a:r>
            <a:endParaRPr sz="1300">
              <a:latin typeface="Calibri"/>
              <a:ea typeface="Calibri"/>
              <a:cs typeface="Calibri"/>
              <a:sym typeface="Calibri"/>
            </a:endParaRPr>
          </a:p>
        </p:txBody>
      </p:sp>
      <p:sp>
        <p:nvSpPr>
          <p:cNvPr id="182" name="Google Shape;182;p26"/>
          <p:cNvSpPr txBox="1"/>
          <p:nvPr/>
        </p:nvSpPr>
        <p:spPr>
          <a:xfrm>
            <a:off x="1749775" y="4083025"/>
            <a:ext cx="14052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dk1"/>
                </a:solidFill>
                <a:latin typeface="Calibri"/>
                <a:ea typeface="Calibri"/>
                <a:cs typeface="Calibri"/>
                <a:sym typeface="Calibri"/>
              </a:rPr>
              <a:t>Bill length (mm)</a:t>
            </a:r>
            <a:endParaRPr sz="1300">
              <a:solidFill>
                <a:schemeClr val="dk1"/>
              </a:solidFill>
              <a:latin typeface="Calibri"/>
              <a:ea typeface="Calibri"/>
              <a:cs typeface="Calibri"/>
              <a:sym typeface="Calibri"/>
            </a:endParaRPr>
          </a:p>
        </p:txBody>
      </p:sp>
      <p:pic>
        <p:nvPicPr>
          <p:cNvPr id="183" name="Google Shape;183;p26"/>
          <p:cNvPicPr preferRelativeResize="0"/>
          <p:nvPr/>
        </p:nvPicPr>
        <p:blipFill>
          <a:blip r:embed="rId4">
            <a:alphaModFix/>
          </a:blip>
          <a:stretch>
            <a:fillRect/>
          </a:stretch>
        </p:blipFill>
        <p:spPr>
          <a:xfrm>
            <a:off x="4778649" y="1196825"/>
            <a:ext cx="3903825" cy="2868685"/>
          </a:xfrm>
          <a:prstGeom prst="rect">
            <a:avLst/>
          </a:prstGeom>
          <a:noFill/>
          <a:ln>
            <a:noFill/>
          </a:ln>
        </p:spPr>
      </p:pic>
      <p:sp>
        <p:nvSpPr>
          <p:cNvPr id="184" name="Google Shape;184;p26"/>
          <p:cNvSpPr txBox="1"/>
          <p:nvPr/>
        </p:nvSpPr>
        <p:spPr>
          <a:xfrm>
            <a:off x="6199000" y="4083025"/>
            <a:ext cx="14052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dk1"/>
                </a:solidFill>
                <a:latin typeface="Calibri"/>
                <a:ea typeface="Calibri"/>
                <a:cs typeface="Calibri"/>
                <a:sym typeface="Calibri"/>
              </a:rPr>
              <a:t>Bill length (mm)</a:t>
            </a:r>
            <a:endParaRPr sz="1300">
              <a:solidFill>
                <a:schemeClr val="dk1"/>
              </a:solidFill>
              <a:latin typeface="Calibri"/>
              <a:ea typeface="Calibri"/>
              <a:cs typeface="Calibri"/>
              <a:sym typeface="Calibri"/>
            </a:endParaRPr>
          </a:p>
        </p:txBody>
      </p:sp>
      <p:sp>
        <p:nvSpPr>
          <p:cNvPr id="185" name="Google Shape;185;p26"/>
          <p:cNvSpPr txBox="1"/>
          <p:nvPr/>
        </p:nvSpPr>
        <p:spPr>
          <a:xfrm rot="-5400000">
            <a:off x="3893650" y="2644938"/>
            <a:ext cx="13851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latin typeface="Calibri"/>
                <a:ea typeface="Calibri"/>
                <a:cs typeface="Calibri"/>
                <a:sym typeface="Calibri"/>
              </a:rPr>
              <a:t>Bill depth (mm)</a:t>
            </a:r>
            <a:endParaRPr sz="1300">
              <a:latin typeface="Calibri"/>
              <a:ea typeface="Calibri"/>
              <a:cs typeface="Calibri"/>
              <a:sym typeface="Calibri"/>
            </a:endParaRPr>
          </a:p>
        </p:txBody>
      </p:sp>
      <p:sp>
        <p:nvSpPr>
          <p:cNvPr id="186" name="Google Shape;186;p26"/>
          <p:cNvSpPr txBox="1"/>
          <p:nvPr/>
        </p:nvSpPr>
        <p:spPr>
          <a:xfrm>
            <a:off x="1268988" y="4358425"/>
            <a:ext cx="24345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100">
                <a:solidFill>
                  <a:schemeClr val="dk1"/>
                </a:solidFill>
                <a:latin typeface="Calibri"/>
                <a:ea typeface="Calibri"/>
                <a:cs typeface="Calibri"/>
                <a:sym typeface="Calibri"/>
              </a:rPr>
              <a:t>Actual labels</a:t>
            </a:r>
            <a:endParaRPr b="1" sz="2100">
              <a:solidFill>
                <a:schemeClr val="dk1"/>
              </a:solidFill>
              <a:latin typeface="Calibri"/>
              <a:ea typeface="Calibri"/>
              <a:cs typeface="Calibri"/>
              <a:sym typeface="Calibri"/>
            </a:endParaRPr>
          </a:p>
        </p:txBody>
      </p:sp>
      <p:sp>
        <p:nvSpPr>
          <p:cNvPr id="187" name="Google Shape;187;p26"/>
          <p:cNvSpPr txBox="1"/>
          <p:nvPr/>
        </p:nvSpPr>
        <p:spPr>
          <a:xfrm>
            <a:off x="5684358" y="4358425"/>
            <a:ext cx="24345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100">
                <a:solidFill>
                  <a:schemeClr val="dk1"/>
                </a:solidFill>
                <a:latin typeface="Calibri"/>
                <a:ea typeface="Calibri"/>
                <a:cs typeface="Calibri"/>
                <a:sym typeface="Calibri"/>
              </a:rPr>
              <a:t>Estimated clusters</a:t>
            </a:r>
            <a:endParaRPr b="1" sz="21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27"/>
          <p:cNvSpPr txBox="1"/>
          <p:nvPr>
            <p:ph type="title"/>
          </p:nvPr>
        </p:nvSpPr>
        <p:spPr>
          <a:xfrm>
            <a:off x="229075" y="372800"/>
            <a:ext cx="67392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Properties of </a:t>
            </a:r>
            <a:r>
              <a:rPr i="1" lang="en"/>
              <a:t>k</a:t>
            </a:r>
            <a:r>
              <a:rPr lang="en"/>
              <a:t>-means</a:t>
            </a:r>
            <a:endParaRPr/>
          </a:p>
        </p:txBody>
      </p:sp>
      <p:sp>
        <p:nvSpPr>
          <p:cNvPr id="193" name="Google Shape;193;p27"/>
          <p:cNvSpPr txBox="1"/>
          <p:nvPr>
            <p:ph idx="1" type="body"/>
          </p:nvPr>
        </p:nvSpPr>
        <p:spPr>
          <a:xfrm>
            <a:off x="699350" y="1317725"/>
            <a:ext cx="7710300" cy="3416400"/>
          </a:xfrm>
          <a:prstGeom prst="rect">
            <a:avLst/>
          </a:prstGeom>
        </p:spPr>
        <p:txBody>
          <a:bodyPr anchorCtr="0" anchor="t" bIns="91425" lIns="91425" spcFirstLastPara="1" rIns="91425" wrap="square" tIns="91425">
            <a:normAutofit/>
          </a:bodyPr>
          <a:lstStyle/>
          <a:p>
            <a:pPr indent="-349250" lvl="0" marL="457200" rtl="0" algn="l">
              <a:spcBef>
                <a:spcPts val="0"/>
              </a:spcBef>
              <a:spcAft>
                <a:spcPts val="0"/>
              </a:spcAft>
              <a:buSzPts val="1900"/>
              <a:buAutoNum type="arabicPeriod"/>
            </a:pPr>
            <a:r>
              <a:rPr i="1" lang="en" sz="1900"/>
              <a:t>K</a:t>
            </a:r>
            <a:r>
              <a:rPr lang="en" sz="1900"/>
              <a:t>-means is a very fast algorithm</a:t>
            </a:r>
            <a:endParaRPr sz="1900"/>
          </a:p>
          <a:p>
            <a:pPr indent="-323850" lvl="1" marL="914400" rtl="0" algn="l">
              <a:spcBef>
                <a:spcPts val="0"/>
              </a:spcBef>
              <a:spcAft>
                <a:spcPts val="0"/>
              </a:spcAft>
              <a:buSzPts val="1500"/>
              <a:buAutoNum type="alphaLcPeriod"/>
            </a:pPr>
            <a:r>
              <a:rPr lang="en" sz="1500"/>
              <a:t>Works well with many examples</a:t>
            </a:r>
            <a:endParaRPr sz="1500"/>
          </a:p>
          <a:p>
            <a:pPr indent="-323850" lvl="1" marL="914400" rtl="0" algn="l">
              <a:spcBef>
                <a:spcPts val="0"/>
              </a:spcBef>
              <a:spcAft>
                <a:spcPts val="0"/>
              </a:spcAft>
              <a:buSzPts val="1500"/>
              <a:buAutoNum type="alphaLcPeriod"/>
            </a:pPr>
            <a:r>
              <a:rPr lang="en" sz="1500"/>
              <a:t>Also in high-dimensional spaces</a:t>
            </a:r>
            <a:endParaRPr sz="1500"/>
          </a:p>
          <a:p>
            <a:pPr indent="-349250" lvl="0" marL="457200" rtl="0" algn="l">
              <a:spcBef>
                <a:spcPts val="1000"/>
              </a:spcBef>
              <a:spcAft>
                <a:spcPts val="0"/>
              </a:spcAft>
              <a:buSzPts val="1900"/>
              <a:buAutoNum type="arabicPeriod"/>
            </a:pPr>
            <a:r>
              <a:rPr lang="en" sz="1900"/>
              <a:t>Disadvantages:</a:t>
            </a:r>
            <a:endParaRPr sz="1900"/>
          </a:p>
          <a:p>
            <a:pPr indent="-323850" lvl="1" marL="914400" rtl="0" algn="l">
              <a:spcBef>
                <a:spcPts val="0"/>
              </a:spcBef>
              <a:spcAft>
                <a:spcPts val="0"/>
              </a:spcAft>
              <a:buSzPts val="1500"/>
              <a:buAutoNum type="alphaLcPeriod"/>
            </a:pPr>
            <a:r>
              <a:rPr i="1" lang="en" sz="1500"/>
              <a:t>K</a:t>
            </a:r>
            <a:r>
              <a:rPr lang="en" sz="1500"/>
              <a:t> is an input parameter, estimating it is difficult</a:t>
            </a:r>
            <a:endParaRPr sz="1500"/>
          </a:p>
          <a:p>
            <a:pPr indent="-323850" lvl="1" marL="914400" rtl="0" algn="l">
              <a:spcBef>
                <a:spcPts val="0"/>
              </a:spcBef>
              <a:spcAft>
                <a:spcPts val="0"/>
              </a:spcAft>
              <a:buSzPts val="1500"/>
              <a:buAutoNum type="alphaLcPeriod"/>
            </a:pPr>
            <a:r>
              <a:rPr lang="en" sz="1500"/>
              <a:t>Gets stuck in local minima</a:t>
            </a:r>
            <a:endParaRPr sz="1500"/>
          </a:p>
          <a:p>
            <a:pPr indent="-323850" lvl="2" marL="1371600" rtl="0" algn="l">
              <a:spcBef>
                <a:spcPts val="0"/>
              </a:spcBef>
              <a:spcAft>
                <a:spcPts val="0"/>
              </a:spcAft>
              <a:buSzPts val="1500"/>
              <a:buAutoNum type="romanLcPeriod"/>
            </a:pPr>
            <a:r>
              <a:rPr lang="en" sz="1500"/>
              <a:t>Often no optimal cluster if found</a:t>
            </a:r>
            <a:endParaRPr sz="1500"/>
          </a:p>
          <a:p>
            <a:pPr indent="-323850" lvl="1" marL="914400" rtl="0" algn="l">
              <a:spcBef>
                <a:spcPts val="0"/>
              </a:spcBef>
              <a:spcAft>
                <a:spcPts val="0"/>
              </a:spcAft>
              <a:buSzPts val="1500"/>
              <a:buAutoNum type="alphaLcPeriod"/>
            </a:pPr>
            <a:r>
              <a:rPr lang="en" sz="1500"/>
              <a:t>Can not find non-convex clusters</a:t>
            </a:r>
            <a:endParaRPr sz="1500"/>
          </a:p>
          <a:p>
            <a:pPr indent="-323850" lvl="1" marL="914400" rtl="0" algn="l">
              <a:spcBef>
                <a:spcPts val="0"/>
              </a:spcBef>
              <a:spcAft>
                <a:spcPts val="0"/>
              </a:spcAft>
              <a:buSzPts val="1500"/>
              <a:buAutoNum type="alphaLcPeriod"/>
            </a:pPr>
            <a:r>
              <a:rPr lang="en" sz="1500"/>
              <a:t>Outliers might lead to problems</a:t>
            </a:r>
            <a:endParaRPr sz="1500"/>
          </a:p>
        </p:txBody>
      </p:sp>
      <p:sp>
        <p:nvSpPr>
          <p:cNvPr id="194" name="Google Shape;194;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28"/>
          <p:cNvSpPr txBox="1"/>
          <p:nvPr>
            <p:ph idx="1" type="body"/>
          </p:nvPr>
        </p:nvSpPr>
        <p:spPr>
          <a:xfrm>
            <a:off x="476250" y="1129400"/>
            <a:ext cx="4843200" cy="3793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Two scenarios: </a:t>
            </a:r>
            <a:endParaRPr/>
          </a:p>
          <a:p>
            <a:pPr indent="-342900" lvl="0" marL="457200" rtl="0" algn="l">
              <a:spcBef>
                <a:spcPts val="1200"/>
              </a:spcBef>
              <a:spcAft>
                <a:spcPts val="0"/>
              </a:spcAft>
              <a:buSzPts val="1800"/>
              <a:buAutoNum type="arabicPeriod"/>
            </a:pPr>
            <a:r>
              <a:rPr lang="en">
                <a:solidFill>
                  <a:srgbClr val="1155CC"/>
                </a:solidFill>
              </a:rPr>
              <a:t>External criterion</a:t>
            </a:r>
            <a:r>
              <a:rPr lang="en"/>
              <a:t>: Actual labels are known</a:t>
            </a:r>
            <a:endParaRPr/>
          </a:p>
          <a:p>
            <a:pPr indent="-317500" lvl="1" marL="914400" rtl="0" algn="l">
              <a:spcBef>
                <a:spcPts val="0"/>
              </a:spcBef>
              <a:spcAft>
                <a:spcPts val="0"/>
              </a:spcAft>
              <a:buSzPts val="1400"/>
              <a:buChar char="∙"/>
            </a:pPr>
            <a:r>
              <a:rPr lang="en"/>
              <a:t>Evaluation can be similar to classification</a:t>
            </a:r>
            <a:endParaRPr/>
          </a:p>
          <a:p>
            <a:pPr indent="-342900" lvl="0" marL="457200" rtl="0" algn="l">
              <a:spcBef>
                <a:spcPts val="0"/>
              </a:spcBef>
              <a:spcAft>
                <a:spcPts val="0"/>
              </a:spcAft>
              <a:buSzPts val="1800"/>
              <a:buAutoNum type="arabicPeriod"/>
            </a:pPr>
            <a:r>
              <a:rPr lang="en">
                <a:solidFill>
                  <a:srgbClr val="1155CC"/>
                </a:solidFill>
              </a:rPr>
              <a:t>Internal criterion:  </a:t>
            </a:r>
            <a:r>
              <a:rPr lang="en"/>
              <a:t>Actual labels are unknown</a:t>
            </a:r>
            <a:endParaRPr/>
          </a:p>
          <a:p>
            <a:pPr indent="-317500" lvl="1" marL="914400" rtl="0" algn="l">
              <a:spcBef>
                <a:spcPts val="0"/>
              </a:spcBef>
              <a:spcAft>
                <a:spcPts val="0"/>
              </a:spcAft>
              <a:buSzPts val="1400"/>
              <a:buChar char="∙"/>
            </a:pPr>
            <a:r>
              <a:rPr lang="en"/>
              <a:t>This is most often the case</a:t>
            </a:r>
            <a:endParaRPr/>
          </a:p>
          <a:p>
            <a:pPr indent="-317500" lvl="1" marL="914400" rtl="0" algn="l">
              <a:spcBef>
                <a:spcPts val="0"/>
              </a:spcBef>
              <a:spcAft>
                <a:spcPts val="0"/>
              </a:spcAft>
              <a:buSzPts val="1400"/>
              <a:buChar char="∙"/>
            </a:pPr>
            <a:r>
              <a:rPr lang="en"/>
              <a:t>Inter- &amp; intra-cluster similarity is used.</a:t>
            </a:r>
            <a:endParaRPr/>
          </a:p>
          <a:p>
            <a:pPr indent="-317500" lvl="1" marL="914400" rtl="0" algn="l">
              <a:spcBef>
                <a:spcPts val="0"/>
              </a:spcBef>
              <a:spcAft>
                <a:spcPts val="0"/>
              </a:spcAft>
              <a:buSzPts val="1400"/>
              <a:buChar char="∙"/>
            </a:pPr>
            <a:r>
              <a:rPr lang="en"/>
              <a:t>Measured quality of clustering depends on similarity / distance measure used</a:t>
            </a:r>
            <a:endParaRPr/>
          </a:p>
          <a:p>
            <a:pPr indent="0" lvl="0" marL="0" rtl="0" algn="l">
              <a:spcBef>
                <a:spcPts val="1200"/>
              </a:spcBef>
              <a:spcAft>
                <a:spcPts val="0"/>
              </a:spcAft>
              <a:buNone/>
            </a:pPr>
            <a:r>
              <a:rPr lang="en">
                <a:solidFill>
                  <a:srgbClr val="1155CC"/>
                </a:solidFill>
              </a:rPr>
              <a:t>Goal:</a:t>
            </a:r>
            <a:endParaRPr>
              <a:solidFill>
                <a:srgbClr val="1155CC"/>
              </a:solidFill>
            </a:endParaRPr>
          </a:p>
          <a:p>
            <a:pPr indent="-342900" lvl="0" marL="457200" rtl="0" algn="l">
              <a:spcBef>
                <a:spcPts val="1200"/>
              </a:spcBef>
              <a:spcAft>
                <a:spcPts val="0"/>
              </a:spcAft>
              <a:buSzPts val="1800"/>
              <a:buChar char="●"/>
            </a:pPr>
            <a:r>
              <a:rPr lang="en"/>
              <a:t>High intra-cluster similarity</a:t>
            </a:r>
            <a:endParaRPr/>
          </a:p>
          <a:p>
            <a:pPr indent="-342900" lvl="0" marL="457200" rtl="0" algn="l">
              <a:spcBef>
                <a:spcPts val="0"/>
              </a:spcBef>
              <a:spcAft>
                <a:spcPts val="0"/>
              </a:spcAft>
              <a:buSzPts val="1800"/>
              <a:buChar char="●"/>
            </a:pPr>
            <a:r>
              <a:rPr lang="en"/>
              <a:t>Low inter-cluster similarity</a:t>
            </a:r>
            <a:endParaRPr/>
          </a:p>
        </p:txBody>
      </p:sp>
      <p:sp>
        <p:nvSpPr>
          <p:cNvPr id="200" name="Google Shape;200;p28"/>
          <p:cNvSpPr txBox="1"/>
          <p:nvPr>
            <p:ph type="title"/>
          </p:nvPr>
        </p:nvSpPr>
        <p:spPr>
          <a:xfrm>
            <a:off x="229075" y="372800"/>
            <a:ext cx="67392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Clustering Evaluation</a:t>
            </a:r>
            <a:endParaRPr/>
          </a:p>
        </p:txBody>
      </p:sp>
      <p:sp>
        <p:nvSpPr>
          <p:cNvPr id="201" name="Google Shape;201;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02" name="Google Shape;202;p28"/>
          <p:cNvSpPr/>
          <p:nvPr/>
        </p:nvSpPr>
        <p:spPr>
          <a:xfrm>
            <a:off x="6166750" y="1685013"/>
            <a:ext cx="1154400" cy="1102200"/>
          </a:xfrm>
          <a:prstGeom prst="ellipse">
            <a:avLst/>
          </a:prstGeom>
          <a:solidFill>
            <a:srgbClr val="D9EAD3"/>
          </a:solidFill>
          <a:ln cap="flat" cmpd="sng" w="9525">
            <a:solidFill>
              <a:srgbClr val="5EA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28"/>
          <p:cNvSpPr/>
          <p:nvPr/>
        </p:nvSpPr>
        <p:spPr>
          <a:xfrm>
            <a:off x="6316675" y="2024588"/>
            <a:ext cx="167400" cy="150000"/>
          </a:xfrm>
          <a:prstGeom prst="ellipse">
            <a:avLst/>
          </a:prstGeom>
          <a:solidFill>
            <a:srgbClr val="5EA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28"/>
          <p:cNvSpPr/>
          <p:nvPr/>
        </p:nvSpPr>
        <p:spPr>
          <a:xfrm>
            <a:off x="6530800" y="2406263"/>
            <a:ext cx="167400" cy="150000"/>
          </a:xfrm>
          <a:prstGeom prst="ellipse">
            <a:avLst/>
          </a:prstGeom>
          <a:solidFill>
            <a:srgbClr val="5EA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28"/>
          <p:cNvSpPr/>
          <p:nvPr/>
        </p:nvSpPr>
        <p:spPr>
          <a:xfrm>
            <a:off x="6921275" y="2024588"/>
            <a:ext cx="167400" cy="150000"/>
          </a:xfrm>
          <a:prstGeom prst="ellipse">
            <a:avLst/>
          </a:prstGeom>
          <a:solidFill>
            <a:srgbClr val="5EA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06" name="Google Shape;206;p28"/>
          <p:cNvCxnSpPr>
            <a:stCxn id="205" idx="3"/>
            <a:endCxn id="204" idx="7"/>
          </p:cNvCxnSpPr>
          <p:nvPr/>
        </p:nvCxnSpPr>
        <p:spPr>
          <a:xfrm flipH="1">
            <a:off x="6673690" y="2152621"/>
            <a:ext cx="272100" cy="275700"/>
          </a:xfrm>
          <a:prstGeom prst="straightConnector1">
            <a:avLst/>
          </a:prstGeom>
          <a:noFill/>
          <a:ln cap="flat" cmpd="sng" w="9525">
            <a:solidFill>
              <a:schemeClr val="dk2"/>
            </a:solidFill>
            <a:prstDash val="dot"/>
            <a:round/>
            <a:headEnd len="med" w="med" type="none"/>
            <a:tailEnd len="med" w="med" type="none"/>
          </a:ln>
        </p:spPr>
      </p:cxnSp>
      <p:sp>
        <p:nvSpPr>
          <p:cNvPr id="207" name="Google Shape;207;p28"/>
          <p:cNvSpPr/>
          <p:nvPr/>
        </p:nvSpPr>
        <p:spPr>
          <a:xfrm>
            <a:off x="6618975" y="2047875"/>
            <a:ext cx="167400" cy="150000"/>
          </a:xfrm>
          <a:prstGeom prst="ellipse">
            <a:avLst/>
          </a:prstGeom>
          <a:solidFill>
            <a:srgbClr val="5EA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28"/>
          <p:cNvSpPr/>
          <p:nvPr/>
        </p:nvSpPr>
        <p:spPr>
          <a:xfrm>
            <a:off x="5319550" y="3301750"/>
            <a:ext cx="1154400" cy="1102200"/>
          </a:xfrm>
          <a:prstGeom prst="ellipse">
            <a:avLst/>
          </a:prstGeom>
          <a:solidFill>
            <a:srgbClr val="D9EAD3"/>
          </a:solidFill>
          <a:ln cap="flat" cmpd="sng" w="9525">
            <a:solidFill>
              <a:srgbClr val="5EA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28"/>
          <p:cNvSpPr/>
          <p:nvPr/>
        </p:nvSpPr>
        <p:spPr>
          <a:xfrm>
            <a:off x="5469475" y="3641325"/>
            <a:ext cx="167400" cy="150000"/>
          </a:xfrm>
          <a:prstGeom prst="ellipse">
            <a:avLst/>
          </a:prstGeom>
          <a:solidFill>
            <a:srgbClr val="5EA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28"/>
          <p:cNvSpPr/>
          <p:nvPr/>
        </p:nvSpPr>
        <p:spPr>
          <a:xfrm>
            <a:off x="5683600" y="4023000"/>
            <a:ext cx="167400" cy="150000"/>
          </a:xfrm>
          <a:prstGeom prst="ellipse">
            <a:avLst/>
          </a:prstGeom>
          <a:solidFill>
            <a:srgbClr val="5EA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28"/>
          <p:cNvSpPr/>
          <p:nvPr/>
        </p:nvSpPr>
        <p:spPr>
          <a:xfrm>
            <a:off x="6074075" y="3641325"/>
            <a:ext cx="167400" cy="150000"/>
          </a:xfrm>
          <a:prstGeom prst="ellipse">
            <a:avLst/>
          </a:prstGeom>
          <a:solidFill>
            <a:srgbClr val="5EA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28"/>
          <p:cNvSpPr/>
          <p:nvPr/>
        </p:nvSpPr>
        <p:spPr>
          <a:xfrm>
            <a:off x="5771775" y="3664613"/>
            <a:ext cx="167400" cy="150000"/>
          </a:xfrm>
          <a:prstGeom prst="ellipse">
            <a:avLst/>
          </a:prstGeom>
          <a:solidFill>
            <a:srgbClr val="5EA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28"/>
          <p:cNvSpPr/>
          <p:nvPr/>
        </p:nvSpPr>
        <p:spPr>
          <a:xfrm>
            <a:off x="7058525" y="3301750"/>
            <a:ext cx="1154400" cy="1102200"/>
          </a:xfrm>
          <a:prstGeom prst="ellipse">
            <a:avLst/>
          </a:prstGeom>
          <a:solidFill>
            <a:srgbClr val="C9DAF8"/>
          </a:solidFill>
          <a:ln cap="flat" cmpd="sng" w="9525">
            <a:solidFill>
              <a:srgbClr val="007AC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28"/>
          <p:cNvSpPr/>
          <p:nvPr/>
        </p:nvSpPr>
        <p:spPr>
          <a:xfrm>
            <a:off x="7208450" y="3641325"/>
            <a:ext cx="167400" cy="150000"/>
          </a:xfrm>
          <a:prstGeom prst="ellipse">
            <a:avLst/>
          </a:prstGeom>
          <a:solidFill>
            <a:srgbClr val="007AC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28"/>
          <p:cNvSpPr/>
          <p:nvPr/>
        </p:nvSpPr>
        <p:spPr>
          <a:xfrm>
            <a:off x="7607750" y="3777838"/>
            <a:ext cx="167400" cy="150000"/>
          </a:xfrm>
          <a:prstGeom prst="ellipse">
            <a:avLst/>
          </a:prstGeom>
          <a:solidFill>
            <a:srgbClr val="007AC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28"/>
          <p:cNvSpPr/>
          <p:nvPr/>
        </p:nvSpPr>
        <p:spPr>
          <a:xfrm>
            <a:off x="7440350" y="4080238"/>
            <a:ext cx="167400" cy="150000"/>
          </a:xfrm>
          <a:prstGeom prst="ellipse">
            <a:avLst/>
          </a:prstGeom>
          <a:solidFill>
            <a:srgbClr val="007AC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17" name="Google Shape;217;p28"/>
          <p:cNvCxnSpPr>
            <a:stCxn id="208" idx="6"/>
            <a:endCxn id="213" idx="2"/>
          </p:cNvCxnSpPr>
          <p:nvPr/>
        </p:nvCxnSpPr>
        <p:spPr>
          <a:xfrm>
            <a:off x="6473950" y="3852850"/>
            <a:ext cx="584700" cy="0"/>
          </a:xfrm>
          <a:prstGeom prst="straightConnector1">
            <a:avLst/>
          </a:prstGeom>
          <a:noFill/>
          <a:ln cap="flat" cmpd="sng" w="9525">
            <a:solidFill>
              <a:schemeClr val="dk2"/>
            </a:solidFill>
            <a:prstDash val="dot"/>
            <a:round/>
            <a:headEnd len="med" w="med" type="none"/>
            <a:tailEnd len="med" w="med" type="none"/>
          </a:ln>
        </p:spPr>
      </p:cxnSp>
      <p:sp>
        <p:nvSpPr>
          <p:cNvPr id="218" name="Google Shape;218;p28"/>
          <p:cNvSpPr txBox="1"/>
          <p:nvPr/>
        </p:nvSpPr>
        <p:spPr>
          <a:xfrm>
            <a:off x="5981700" y="2829075"/>
            <a:ext cx="14586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latin typeface="Fira Code"/>
                <a:ea typeface="Fira Code"/>
                <a:cs typeface="Fira Code"/>
                <a:sym typeface="Fira Code"/>
              </a:rPr>
              <a:t>INTRA-CLUSTER</a:t>
            </a:r>
            <a:endParaRPr sz="1200">
              <a:latin typeface="Fira Code"/>
              <a:ea typeface="Fira Code"/>
              <a:cs typeface="Fira Code"/>
              <a:sym typeface="Fira Code"/>
            </a:endParaRPr>
          </a:p>
        </p:txBody>
      </p:sp>
      <p:sp>
        <p:nvSpPr>
          <p:cNvPr id="219" name="Google Shape;219;p28"/>
          <p:cNvSpPr txBox="1"/>
          <p:nvPr/>
        </p:nvSpPr>
        <p:spPr>
          <a:xfrm>
            <a:off x="6074075" y="4364825"/>
            <a:ext cx="14586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latin typeface="Fira Code"/>
                <a:ea typeface="Fira Code"/>
                <a:cs typeface="Fira Code"/>
                <a:sym typeface="Fira Code"/>
              </a:rPr>
              <a:t>INTER-CLUSTER</a:t>
            </a:r>
            <a:endParaRPr sz="1200">
              <a:latin typeface="Fira Code"/>
              <a:ea typeface="Fira Code"/>
              <a:cs typeface="Fira Code"/>
              <a:sym typeface="Fira Code"/>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29"/>
          <p:cNvSpPr txBox="1"/>
          <p:nvPr>
            <p:ph type="title"/>
          </p:nvPr>
        </p:nvSpPr>
        <p:spPr>
          <a:xfrm>
            <a:off x="229075" y="372800"/>
            <a:ext cx="67392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Silhouette Coefficient</a:t>
            </a:r>
            <a:endParaRPr/>
          </a:p>
        </p:txBody>
      </p:sp>
      <p:sp>
        <p:nvSpPr>
          <p:cNvPr id="225" name="Google Shape;225;p29"/>
          <p:cNvSpPr txBox="1"/>
          <p:nvPr>
            <p:ph idx="1" type="body"/>
          </p:nvPr>
        </p:nvSpPr>
        <p:spPr>
          <a:xfrm>
            <a:off x="699350" y="1317725"/>
            <a:ext cx="77103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rgbClr val="1155CC"/>
                </a:solidFill>
              </a:rPr>
              <a:t>Silhouette coefficient</a:t>
            </a:r>
            <a:r>
              <a:rPr lang="en"/>
              <a:t> is a measure between -1 and 1 to evaluate clusters.</a:t>
            </a:r>
            <a:endParaRPr/>
          </a:p>
          <a:p>
            <a:pPr indent="0" lvl="0" marL="0" rtl="0" algn="l">
              <a:spcBef>
                <a:spcPts val="1200"/>
              </a:spcBef>
              <a:spcAft>
                <a:spcPts val="0"/>
              </a:spcAft>
              <a:buNone/>
            </a:pPr>
            <a:r>
              <a:rPr lang="en"/>
              <a:t>	High value: point is well clustered</a:t>
            </a:r>
            <a:endParaRPr/>
          </a:p>
          <a:p>
            <a:pPr indent="0" lvl="0" marL="0" rtl="0" algn="l">
              <a:spcBef>
                <a:spcPts val="1200"/>
              </a:spcBef>
              <a:spcAft>
                <a:spcPts val="0"/>
              </a:spcAft>
              <a:buNone/>
            </a:pPr>
            <a:r>
              <a:rPr lang="en"/>
              <a:t>	Low value: point is poorly clustered</a:t>
            </a:r>
            <a:endParaRPr/>
          </a:p>
          <a:p>
            <a:pPr indent="0" lvl="0" marL="0" rtl="0" algn="l">
              <a:spcBef>
                <a:spcPts val="1200"/>
              </a:spcBef>
              <a:spcAft>
                <a:spcPts val="1200"/>
              </a:spcAft>
              <a:buNone/>
            </a:pPr>
            <a:r>
              <a:rPr lang="en"/>
              <a:t>Mean distance between a point </a:t>
            </a:r>
            <a:r>
              <a:rPr i="1" lang="en"/>
              <a:t>i</a:t>
            </a:r>
            <a:r>
              <a:rPr lang="en"/>
              <a:t> and all other points of the same cluster (intra-cluster similarity).</a:t>
            </a:r>
            <a:endParaRPr/>
          </a:p>
        </p:txBody>
      </p:sp>
      <p:sp>
        <p:nvSpPr>
          <p:cNvPr id="226" name="Google Shape;226;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227" name="Google Shape;227;p29"/>
          <p:cNvPicPr preferRelativeResize="0"/>
          <p:nvPr/>
        </p:nvPicPr>
        <p:blipFill>
          <a:blip r:embed="rId3">
            <a:alphaModFix/>
          </a:blip>
          <a:stretch>
            <a:fillRect/>
          </a:stretch>
        </p:blipFill>
        <p:spPr>
          <a:xfrm>
            <a:off x="2619375" y="3596425"/>
            <a:ext cx="3905250" cy="1066800"/>
          </a:xfrm>
          <a:prstGeom prst="rect">
            <a:avLst/>
          </a:prstGeom>
          <a:noFill/>
          <a:ln>
            <a:noFill/>
          </a:ln>
        </p:spPr>
      </p:pic>
      <p:grpSp>
        <p:nvGrpSpPr>
          <p:cNvPr id="228" name="Google Shape;228;p29"/>
          <p:cNvGrpSpPr/>
          <p:nvPr/>
        </p:nvGrpSpPr>
        <p:grpSpPr>
          <a:xfrm>
            <a:off x="6300380" y="3922775"/>
            <a:ext cx="2023495" cy="1066800"/>
            <a:chOff x="7142643" y="3471950"/>
            <a:chExt cx="2023495" cy="1066800"/>
          </a:xfrm>
        </p:grpSpPr>
        <p:sp>
          <p:nvSpPr>
            <p:cNvPr id="229" name="Google Shape;229;p29"/>
            <p:cNvSpPr/>
            <p:nvPr/>
          </p:nvSpPr>
          <p:spPr>
            <a:xfrm rot="6914603">
              <a:off x="7246735" y="3766749"/>
              <a:ext cx="389716" cy="477217"/>
            </a:xfrm>
            <a:prstGeom prst="downArrow">
              <a:avLst>
                <a:gd fmla="val 50000" name="adj1"/>
                <a:gd fmla="val 50000" name="adj2"/>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30" name="Google Shape;230;p29"/>
            <p:cNvSpPr txBox="1"/>
            <p:nvPr/>
          </p:nvSpPr>
          <p:spPr>
            <a:xfrm>
              <a:off x="7740538" y="3471950"/>
              <a:ext cx="1425600" cy="1066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Calibri"/>
                  <a:ea typeface="Calibri"/>
                  <a:cs typeface="Calibri"/>
                  <a:sym typeface="Calibri"/>
                </a:rPr>
                <a:t>d(i,j) can be any distance measure</a:t>
              </a:r>
              <a:endParaRPr sz="1800">
                <a:solidFill>
                  <a:schemeClr val="dk1"/>
                </a:solidFill>
                <a:latin typeface="Calibri"/>
                <a:ea typeface="Calibri"/>
                <a:cs typeface="Calibri"/>
                <a:sym typeface="Calibri"/>
              </a:endParaRPr>
            </a:p>
            <a:p>
              <a:pPr indent="0" lvl="0" marL="0" rtl="0" algn="ctr">
                <a:spcBef>
                  <a:spcPts val="0"/>
                </a:spcBef>
                <a:spcAft>
                  <a:spcPts val="0"/>
                </a:spcAft>
                <a:buNone/>
              </a:pPr>
              <a:r>
                <a:rPr lang="en" sz="1800">
                  <a:solidFill>
                    <a:schemeClr val="dk1"/>
                  </a:solidFill>
                  <a:latin typeface="Calibri"/>
                  <a:ea typeface="Calibri"/>
                  <a:cs typeface="Calibri"/>
                  <a:sym typeface="Calibri"/>
                </a:rPr>
                <a:t>function</a:t>
              </a:r>
              <a:endParaRPr sz="1800">
                <a:solidFill>
                  <a:schemeClr val="dk1"/>
                </a:solidFill>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30"/>
          <p:cNvSpPr txBox="1"/>
          <p:nvPr>
            <p:ph type="title"/>
          </p:nvPr>
        </p:nvSpPr>
        <p:spPr>
          <a:xfrm>
            <a:off x="229075" y="372800"/>
            <a:ext cx="67392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Silhouette Coefficient with </a:t>
            </a:r>
            <a:r>
              <a:rPr i="1" lang="en"/>
              <a:t>k</a:t>
            </a:r>
            <a:r>
              <a:rPr lang="en"/>
              <a:t>-Means, </a:t>
            </a:r>
            <a:r>
              <a:rPr i="1" lang="en"/>
              <a:t>k=2</a:t>
            </a:r>
            <a:endParaRPr/>
          </a:p>
        </p:txBody>
      </p:sp>
      <p:sp>
        <p:nvSpPr>
          <p:cNvPr id="236" name="Google Shape;236;p30"/>
          <p:cNvSpPr txBox="1"/>
          <p:nvPr>
            <p:ph idx="1" type="body"/>
          </p:nvPr>
        </p:nvSpPr>
        <p:spPr>
          <a:xfrm>
            <a:off x="699350" y="1317725"/>
            <a:ext cx="77103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237" name="Google Shape;237;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238" name="Google Shape;238;p30"/>
          <p:cNvPicPr preferRelativeResize="0"/>
          <p:nvPr/>
        </p:nvPicPr>
        <p:blipFill>
          <a:blip r:embed="rId3">
            <a:alphaModFix/>
          </a:blip>
          <a:stretch>
            <a:fillRect/>
          </a:stretch>
        </p:blipFill>
        <p:spPr>
          <a:xfrm>
            <a:off x="133825" y="1058050"/>
            <a:ext cx="8484326" cy="39231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1"/>
          <p:cNvSpPr txBox="1"/>
          <p:nvPr>
            <p:ph type="title"/>
          </p:nvPr>
        </p:nvSpPr>
        <p:spPr>
          <a:xfrm>
            <a:off x="229075" y="372800"/>
            <a:ext cx="67392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Silhouette Coefficient with </a:t>
            </a:r>
            <a:r>
              <a:rPr i="1" lang="en"/>
              <a:t>k</a:t>
            </a:r>
            <a:r>
              <a:rPr lang="en"/>
              <a:t>-Means, </a:t>
            </a:r>
            <a:r>
              <a:rPr i="1" lang="en"/>
              <a:t>k=3</a:t>
            </a:r>
            <a:endParaRPr/>
          </a:p>
        </p:txBody>
      </p:sp>
      <p:sp>
        <p:nvSpPr>
          <p:cNvPr id="244" name="Google Shape;244;p31"/>
          <p:cNvSpPr txBox="1"/>
          <p:nvPr>
            <p:ph idx="1" type="body"/>
          </p:nvPr>
        </p:nvSpPr>
        <p:spPr>
          <a:xfrm>
            <a:off x="699350" y="1317725"/>
            <a:ext cx="77103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245" name="Google Shape;245;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246" name="Google Shape;246;p31"/>
          <p:cNvPicPr preferRelativeResize="0"/>
          <p:nvPr/>
        </p:nvPicPr>
        <p:blipFill rotWithShape="1">
          <a:blip r:embed="rId3">
            <a:alphaModFix/>
          </a:blip>
          <a:srcRect b="0" l="0" r="0" t="0"/>
          <a:stretch/>
        </p:blipFill>
        <p:spPr>
          <a:xfrm>
            <a:off x="133825" y="1058050"/>
            <a:ext cx="8484326" cy="39231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32"/>
          <p:cNvSpPr txBox="1"/>
          <p:nvPr>
            <p:ph type="title"/>
          </p:nvPr>
        </p:nvSpPr>
        <p:spPr>
          <a:xfrm>
            <a:off x="229075" y="372800"/>
            <a:ext cx="67392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Silhouette Coefficient with </a:t>
            </a:r>
            <a:r>
              <a:rPr i="1" lang="en"/>
              <a:t>k</a:t>
            </a:r>
            <a:r>
              <a:rPr lang="en"/>
              <a:t>-Means, </a:t>
            </a:r>
            <a:r>
              <a:rPr i="1" lang="en"/>
              <a:t>k=4</a:t>
            </a:r>
            <a:endParaRPr/>
          </a:p>
        </p:txBody>
      </p:sp>
      <p:sp>
        <p:nvSpPr>
          <p:cNvPr id="252" name="Google Shape;252;p32"/>
          <p:cNvSpPr txBox="1"/>
          <p:nvPr>
            <p:ph idx="1" type="body"/>
          </p:nvPr>
        </p:nvSpPr>
        <p:spPr>
          <a:xfrm>
            <a:off x="699350" y="1317725"/>
            <a:ext cx="77103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253" name="Google Shape;253;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254" name="Google Shape;254;p32"/>
          <p:cNvPicPr preferRelativeResize="0"/>
          <p:nvPr/>
        </p:nvPicPr>
        <p:blipFill rotWithShape="1">
          <a:blip r:embed="rId3">
            <a:alphaModFix/>
          </a:blip>
          <a:srcRect b="631" l="0" r="0" t="622"/>
          <a:stretch/>
        </p:blipFill>
        <p:spPr>
          <a:xfrm>
            <a:off x="133825" y="1058050"/>
            <a:ext cx="8484326" cy="39231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33"/>
          <p:cNvSpPr txBox="1"/>
          <p:nvPr>
            <p:ph type="title"/>
          </p:nvPr>
        </p:nvSpPr>
        <p:spPr>
          <a:xfrm>
            <a:off x="229075" y="372800"/>
            <a:ext cx="67392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Silhouette Coefficient with </a:t>
            </a:r>
            <a:r>
              <a:rPr i="1" lang="en"/>
              <a:t>k</a:t>
            </a:r>
            <a:r>
              <a:rPr lang="en"/>
              <a:t>-Means, </a:t>
            </a:r>
            <a:r>
              <a:rPr i="1" lang="en"/>
              <a:t>k=5</a:t>
            </a:r>
            <a:endParaRPr/>
          </a:p>
        </p:txBody>
      </p:sp>
      <p:sp>
        <p:nvSpPr>
          <p:cNvPr id="260" name="Google Shape;260;p33"/>
          <p:cNvSpPr txBox="1"/>
          <p:nvPr>
            <p:ph idx="1" type="body"/>
          </p:nvPr>
        </p:nvSpPr>
        <p:spPr>
          <a:xfrm>
            <a:off x="699350" y="1317725"/>
            <a:ext cx="77103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261" name="Google Shape;261;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262" name="Google Shape;262;p33"/>
          <p:cNvPicPr preferRelativeResize="0"/>
          <p:nvPr/>
        </p:nvPicPr>
        <p:blipFill rotWithShape="1">
          <a:blip r:embed="rId3">
            <a:alphaModFix/>
          </a:blip>
          <a:srcRect b="729" l="0" r="0" t="729"/>
          <a:stretch/>
        </p:blipFill>
        <p:spPr>
          <a:xfrm>
            <a:off x="133825" y="1058050"/>
            <a:ext cx="8484326" cy="3923174"/>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34"/>
          <p:cNvSpPr txBox="1"/>
          <p:nvPr>
            <p:ph type="title"/>
          </p:nvPr>
        </p:nvSpPr>
        <p:spPr>
          <a:xfrm>
            <a:off x="229075" y="372800"/>
            <a:ext cx="67392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Silhouette Coefficient with </a:t>
            </a:r>
            <a:r>
              <a:rPr i="1" lang="en"/>
              <a:t>k</a:t>
            </a:r>
            <a:r>
              <a:rPr lang="en"/>
              <a:t>-Means, </a:t>
            </a:r>
            <a:r>
              <a:rPr i="1" lang="en"/>
              <a:t>k=6</a:t>
            </a:r>
            <a:endParaRPr/>
          </a:p>
        </p:txBody>
      </p:sp>
      <p:sp>
        <p:nvSpPr>
          <p:cNvPr id="268" name="Google Shape;268;p34"/>
          <p:cNvSpPr txBox="1"/>
          <p:nvPr>
            <p:ph idx="1" type="body"/>
          </p:nvPr>
        </p:nvSpPr>
        <p:spPr>
          <a:xfrm>
            <a:off x="699350" y="1317725"/>
            <a:ext cx="77103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269" name="Google Shape;269;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270" name="Google Shape;270;p34"/>
          <p:cNvPicPr preferRelativeResize="0"/>
          <p:nvPr/>
        </p:nvPicPr>
        <p:blipFill rotWithShape="1">
          <a:blip r:embed="rId3">
            <a:alphaModFix/>
          </a:blip>
          <a:srcRect b="1085" l="0" r="0" t="1085"/>
          <a:stretch/>
        </p:blipFill>
        <p:spPr>
          <a:xfrm>
            <a:off x="133825" y="1058050"/>
            <a:ext cx="8484326" cy="3923173"/>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35"/>
          <p:cNvSpPr txBox="1"/>
          <p:nvPr/>
        </p:nvSpPr>
        <p:spPr>
          <a:xfrm>
            <a:off x="5972525" y="2095625"/>
            <a:ext cx="2926500" cy="1417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800">
                <a:latin typeface="Calibri"/>
                <a:ea typeface="Calibri"/>
                <a:cs typeface="Calibri"/>
                <a:sym typeface="Calibri"/>
              </a:rPr>
              <a:t>Still difficult to choose…</a:t>
            </a:r>
            <a:br>
              <a:rPr lang="en" sz="1800">
                <a:latin typeface="Calibri"/>
                <a:ea typeface="Calibri"/>
                <a:cs typeface="Calibri"/>
                <a:sym typeface="Calibri"/>
              </a:rPr>
            </a:br>
            <a:br>
              <a:rPr lang="en" sz="1800">
                <a:latin typeface="Calibri"/>
                <a:ea typeface="Calibri"/>
                <a:cs typeface="Calibri"/>
                <a:sym typeface="Calibri"/>
              </a:rPr>
            </a:br>
            <a:r>
              <a:rPr i="1" lang="en" sz="1800">
                <a:latin typeface="Calibri"/>
                <a:ea typeface="Calibri"/>
                <a:cs typeface="Calibri"/>
                <a:sym typeface="Calibri"/>
              </a:rPr>
              <a:t>It depends on what size clusters are we interested in!</a:t>
            </a:r>
            <a:endParaRPr i="1" sz="1800">
              <a:latin typeface="Calibri"/>
              <a:ea typeface="Calibri"/>
              <a:cs typeface="Calibri"/>
              <a:sym typeface="Calibri"/>
            </a:endParaRPr>
          </a:p>
        </p:txBody>
      </p:sp>
      <p:sp>
        <p:nvSpPr>
          <p:cNvPr id="276" name="Google Shape;276;p35"/>
          <p:cNvSpPr txBox="1"/>
          <p:nvPr>
            <p:ph type="title"/>
          </p:nvPr>
        </p:nvSpPr>
        <p:spPr>
          <a:xfrm>
            <a:off x="229075" y="372800"/>
            <a:ext cx="67392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Choosing </a:t>
            </a:r>
            <a:r>
              <a:rPr i="1" lang="en"/>
              <a:t>k</a:t>
            </a:r>
            <a:r>
              <a:rPr lang="en"/>
              <a:t> with Silhouette Coefficient</a:t>
            </a:r>
            <a:endParaRPr/>
          </a:p>
        </p:txBody>
      </p:sp>
      <p:sp>
        <p:nvSpPr>
          <p:cNvPr id="277" name="Google Shape;277;p35"/>
          <p:cNvSpPr txBox="1"/>
          <p:nvPr>
            <p:ph idx="1" type="body"/>
          </p:nvPr>
        </p:nvSpPr>
        <p:spPr>
          <a:xfrm>
            <a:off x="699350" y="1317725"/>
            <a:ext cx="77103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2000"/>
              <a:t>Average silhouette scores for different </a:t>
            </a:r>
            <a:r>
              <a:rPr i="1" lang="en" sz="2000"/>
              <a:t>k</a:t>
            </a:r>
            <a:r>
              <a:rPr lang="en" sz="2000"/>
              <a:t>:</a:t>
            </a:r>
            <a:endParaRPr sz="2000"/>
          </a:p>
        </p:txBody>
      </p:sp>
      <p:sp>
        <p:nvSpPr>
          <p:cNvPr id="278" name="Google Shape;278;p3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aphicFrame>
        <p:nvGraphicFramePr>
          <p:cNvPr id="279" name="Google Shape;279;p35"/>
          <p:cNvGraphicFramePr/>
          <p:nvPr/>
        </p:nvGraphicFramePr>
        <p:xfrm>
          <a:off x="699350" y="2197325"/>
          <a:ext cx="3000000" cy="3000000"/>
        </p:xfrm>
        <a:graphic>
          <a:graphicData uri="http://schemas.openxmlformats.org/drawingml/2006/table">
            <a:tbl>
              <a:tblPr>
                <a:noFill/>
                <a:tableStyleId>{98C6CA05-93D3-412A-BF3C-99E95FF51B30}</a:tableStyleId>
              </a:tblPr>
              <a:tblGrid>
                <a:gridCol w="1154700"/>
                <a:gridCol w="1464650"/>
              </a:tblGrid>
              <a:tr h="523650">
                <a:tc>
                  <a:txBody>
                    <a:bodyPr/>
                    <a:lstStyle/>
                    <a:p>
                      <a:pPr indent="0" lvl="0" marL="0" rtl="0" algn="ctr">
                        <a:spcBef>
                          <a:spcPts val="0"/>
                        </a:spcBef>
                        <a:spcAft>
                          <a:spcPts val="0"/>
                        </a:spcAft>
                        <a:buNone/>
                      </a:pPr>
                      <a:r>
                        <a:rPr i="1" lang="en" sz="1800">
                          <a:latin typeface="Calibri"/>
                          <a:ea typeface="Calibri"/>
                          <a:cs typeface="Calibri"/>
                          <a:sym typeface="Calibri"/>
                        </a:rPr>
                        <a:t>k </a:t>
                      </a:r>
                      <a:r>
                        <a:rPr lang="en" sz="1800">
                          <a:latin typeface="Calibri"/>
                          <a:ea typeface="Calibri"/>
                          <a:cs typeface="Calibri"/>
                          <a:sym typeface="Calibri"/>
                        </a:rPr>
                        <a:t>= 2</a:t>
                      </a:r>
                      <a:endParaRPr sz="1800">
                        <a:latin typeface="Calibri"/>
                        <a:ea typeface="Calibri"/>
                        <a:cs typeface="Calibri"/>
                        <a:sym typeface="Calibri"/>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tcPr>
                </a:tc>
                <a:tc>
                  <a:txBody>
                    <a:bodyPr/>
                    <a:lstStyle/>
                    <a:p>
                      <a:pPr indent="0" lvl="0" marL="0" rtl="0" algn="ctr">
                        <a:spcBef>
                          <a:spcPts val="0"/>
                        </a:spcBef>
                        <a:spcAft>
                          <a:spcPts val="0"/>
                        </a:spcAft>
                        <a:buNone/>
                      </a:pPr>
                      <a:r>
                        <a:rPr b="1" lang="en" sz="1800">
                          <a:latin typeface="Calibri"/>
                          <a:ea typeface="Calibri"/>
                          <a:cs typeface="Calibri"/>
                          <a:sym typeface="Calibri"/>
                        </a:rPr>
                        <a:t>0.70</a:t>
                      </a:r>
                      <a:endParaRPr b="1" sz="1800">
                        <a:latin typeface="Calibri"/>
                        <a:ea typeface="Calibri"/>
                        <a:cs typeface="Calibri"/>
                        <a:sym typeface="Calibri"/>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tcPr>
                </a:tc>
              </a:tr>
              <a:tr h="523650">
                <a:tc>
                  <a:txBody>
                    <a:bodyPr/>
                    <a:lstStyle/>
                    <a:p>
                      <a:pPr indent="0" lvl="0" marL="0" rtl="0" algn="ctr">
                        <a:spcBef>
                          <a:spcPts val="0"/>
                        </a:spcBef>
                        <a:spcAft>
                          <a:spcPts val="0"/>
                        </a:spcAft>
                        <a:buNone/>
                      </a:pPr>
                      <a:r>
                        <a:rPr i="1" lang="en" sz="1800">
                          <a:solidFill>
                            <a:schemeClr val="dk1"/>
                          </a:solidFill>
                          <a:latin typeface="Calibri"/>
                          <a:ea typeface="Calibri"/>
                          <a:cs typeface="Calibri"/>
                          <a:sym typeface="Calibri"/>
                        </a:rPr>
                        <a:t>k </a:t>
                      </a:r>
                      <a:r>
                        <a:rPr lang="en" sz="1800">
                          <a:solidFill>
                            <a:schemeClr val="dk1"/>
                          </a:solidFill>
                          <a:latin typeface="Calibri"/>
                          <a:ea typeface="Calibri"/>
                          <a:cs typeface="Calibri"/>
                          <a:sym typeface="Calibri"/>
                        </a:rPr>
                        <a:t>= </a:t>
                      </a:r>
                      <a:r>
                        <a:rPr lang="en" sz="1800">
                          <a:latin typeface="Calibri"/>
                          <a:ea typeface="Calibri"/>
                          <a:cs typeface="Calibri"/>
                          <a:sym typeface="Calibri"/>
                        </a:rPr>
                        <a:t>3</a:t>
                      </a:r>
                      <a:endParaRPr sz="1800">
                        <a:latin typeface="Calibri"/>
                        <a:ea typeface="Calibri"/>
                        <a:cs typeface="Calibri"/>
                        <a:sym typeface="Calibri"/>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tcPr>
                </a:tc>
                <a:tc>
                  <a:txBody>
                    <a:bodyPr/>
                    <a:lstStyle/>
                    <a:p>
                      <a:pPr indent="0" lvl="0" marL="0" rtl="0" algn="ctr">
                        <a:spcBef>
                          <a:spcPts val="0"/>
                        </a:spcBef>
                        <a:spcAft>
                          <a:spcPts val="0"/>
                        </a:spcAft>
                        <a:buNone/>
                      </a:pPr>
                      <a:r>
                        <a:rPr lang="en" sz="1800">
                          <a:latin typeface="Calibri"/>
                          <a:ea typeface="Calibri"/>
                          <a:cs typeface="Calibri"/>
                          <a:sym typeface="Calibri"/>
                        </a:rPr>
                        <a:t>0.59</a:t>
                      </a:r>
                      <a:endParaRPr sz="1800">
                        <a:latin typeface="Calibri"/>
                        <a:ea typeface="Calibri"/>
                        <a:cs typeface="Calibri"/>
                        <a:sym typeface="Calibri"/>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tcPr>
                </a:tc>
              </a:tr>
              <a:tr h="523650">
                <a:tc>
                  <a:txBody>
                    <a:bodyPr/>
                    <a:lstStyle/>
                    <a:p>
                      <a:pPr indent="0" lvl="0" marL="0" rtl="0" algn="ctr">
                        <a:spcBef>
                          <a:spcPts val="0"/>
                        </a:spcBef>
                        <a:spcAft>
                          <a:spcPts val="0"/>
                        </a:spcAft>
                        <a:buNone/>
                      </a:pPr>
                      <a:r>
                        <a:rPr i="1" lang="en" sz="1800">
                          <a:solidFill>
                            <a:schemeClr val="dk1"/>
                          </a:solidFill>
                          <a:latin typeface="Calibri"/>
                          <a:ea typeface="Calibri"/>
                          <a:cs typeface="Calibri"/>
                          <a:sym typeface="Calibri"/>
                        </a:rPr>
                        <a:t>k </a:t>
                      </a:r>
                      <a:r>
                        <a:rPr lang="en" sz="1800">
                          <a:solidFill>
                            <a:schemeClr val="dk1"/>
                          </a:solidFill>
                          <a:latin typeface="Calibri"/>
                          <a:ea typeface="Calibri"/>
                          <a:cs typeface="Calibri"/>
                          <a:sym typeface="Calibri"/>
                        </a:rPr>
                        <a:t>= </a:t>
                      </a:r>
                      <a:r>
                        <a:rPr lang="en" sz="1800">
                          <a:latin typeface="Calibri"/>
                          <a:ea typeface="Calibri"/>
                          <a:cs typeface="Calibri"/>
                          <a:sym typeface="Calibri"/>
                        </a:rPr>
                        <a:t>4</a:t>
                      </a:r>
                      <a:endParaRPr sz="1800">
                        <a:latin typeface="Calibri"/>
                        <a:ea typeface="Calibri"/>
                        <a:cs typeface="Calibri"/>
                        <a:sym typeface="Calibri"/>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tcPr>
                </a:tc>
                <a:tc>
                  <a:txBody>
                    <a:bodyPr/>
                    <a:lstStyle/>
                    <a:p>
                      <a:pPr indent="0" lvl="0" marL="0" rtl="0" algn="ctr">
                        <a:spcBef>
                          <a:spcPts val="0"/>
                        </a:spcBef>
                        <a:spcAft>
                          <a:spcPts val="0"/>
                        </a:spcAft>
                        <a:buNone/>
                      </a:pPr>
                      <a:r>
                        <a:rPr b="1" lang="en" sz="1800">
                          <a:latin typeface="Calibri"/>
                          <a:ea typeface="Calibri"/>
                          <a:cs typeface="Calibri"/>
                          <a:sym typeface="Calibri"/>
                        </a:rPr>
                        <a:t>0.65</a:t>
                      </a:r>
                      <a:endParaRPr b="1" sz="1800">
                        <a:latin typeface="Calibri"/>
                        <a:ea typeface="Calibri"/>
                        <a:cs typeface="Calibri"/>
                        <a:sym typeface="Calibri"/>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tcPr>
                </a:tc>
              </a:tr>
              <a:tr h="523650">
                <a:tc>
                  <a:txBody>
                    <a:bodyPr/>
                    <a:lstStyle/>
                    <a:p>
                      <a:pPr indent="0" lvl="0" marL="0" rtl="0" algn="ctr">
                        <a:spcBef>
                          <a:spcPts val="0"/>
                        </a:spcBef>
                        <a:spcAft>
                          <a:spcPts val="0"/>
                        </a:spcAft>
                        <a:buNone/>
                      </a:pPr>
                      <a:r>
                        <a:rPr i="1" lang="en" sz="1800">
                          <a:solidFill>
                            <a:schemeClr val="dk1"/>
                          </a:solidFill>
                          <a:latin typeface="Calibri"/>
                          <a:ea typeface="Calibri"/>
                          <a:cs typeface="Calibri"/>
                          <a:sym typeface="Calibri"/>
                        </a:rPr>
                        <a:t>k </a:t>
                      </a:r>
                      <a:r>
                        <a:rPr lang="en" sz="1800">
                          <a:solidFill>
                            <a:schemeClr val="dk1"/>
                          </a:solidFill>
                          <a:latin typeface="Calibri"/>
                          <a:ea typeface="Calibri"/>
                          <a:cs typeface="Calibri"/>
                          <a:sym typeface="Calibri"/>
                        </a:rPr>
                        <a:t>= </a:t>
                      </a:r>
                      <a:r>
                        <a:rPr lang="en" sz="1800">
                          <a:latin typeface="Calibri"/>
                          <a:ea typeface="Calibri"/>
                          <a:cs typeface="Calibri"/>
                          <a:sym typeface="Calibri"/>
                        </a:rPr>
                        <a:t>5</a:t>
                      </a:r>
                      <a:endParaRPr sz="1800">
                        <a:latin typeface="Calibri"/>
                        <a:ea typeface="Calibri"/>
                        <a:cs typeface="Calibri"/>
                        <a:sym typeface="Calibri"/>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tcPr>
                </a:tc>
                <a:tc>
                  <a:txBody>
                    <a:bodyPr/>
                    <a:lstStyle/>
                    <a:p>
                      <a:pPr indent="0" lvl="0" marL="0" rtl="0" algn="ctr">
                        <a:spcBef>
                          <a:spcPts val="0"/>
                        </a:spcBef>
                        <a:spcAft>
                          <a:spcPts val="0"/>
                        </a:spcAft>
                        <a:buNone/>
                      </a:pPr>
                      <a:r>
                        <a:rPr lang="en" sz="1800">
                          <a:latin typeface="Calibri"/>
                          <a:ea typeface="Calibri"/>
                          <a:cs typeface="Calibri"/>
                          <a:sym typeface="Calibri"/>
                        </a:rPr>
                        <a:t>0.57</a:t>
                      </a:r>
                      <a:endParaRPr sz="1800">
                        <a:latin typeface="Calibri"/>
                        <a:ea typeface="Calibri"/>
                        <a:cs typeface="Calibri"/>
                        <a:sym typeface="Calibri"/>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tcPr>
                </a:tc>
              </a:tr>
              <a:tr h="523650">
                <a:tc>
                  <a:txBody>
                    <a:bodyPr/>
                    <a:lstStyle/>
                    <a:p>
                      <a:pPr indent="0" lvl="0" marL="0" rtl="0" algn="ctr">
                        <a:spcBef>
                          <a:spcPts val="0"/>
                        </a:spcBef>
                        <a:spcAft>
                          <a:spcPts val="0"/>
                        </a:spcAft>
                        <a:buNone/>
                      </a:pPr>
                      <a:r>
                        <a:rPr i="1" lang="en" sz="1800">
                          <a:solidFill>
                            <a:schemeClr val="dk1"/>
                          </a:solidFill>
                          <a:latin typeface="Calibri"/>
                          <a:ea typeface="Calibri"/>
                          <a:cs typeface="Calibri"/>
                          <a:sym typeface="Calibri"/>
                        </a:rPr>
                        <a:t>k = 6</a:t>
                      </a:r>
                      <a:endParaRPr sz="1800">
                        <a:solidFill>
                          <a:schemeClr val="dk1"/>
                        </a:solidFill>
                        <a:latin typeface="Calibri"/>
                        <a:ea typeface="Calibri"/>
                        <a:cs typeface="Calibri"/>
                        <a:sym typeface="Calibri"/>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tcPr>
                </a:tc>
                <a:tc>
                  <a:txBody>
                    <a:bodyPr/>
                    <a:lstStyle/>
                    <a:p>
                      <a:pPr indent="0" lvl="0" marL="0" rtl="0" algn="ctr">
                        <a:spcBef>
                          <a:spcPts val="0"/>
                        </a:spcBef>
                        <a:spcAft>
                          <a:spcPts val="0"/>
                        </a:spcAft>
                        <a:buNone/>
                      </a:pPr>
                      <a:r>
                        <a:rPr lang="en" sz="1800">
                          <a:latin typeface="Calibri"/>
                          <a:ea typeface="Calibri"/>
                          <a:cs typeface="Calibri"/>
                          <a:sym typeface="Calibri"/>
                        </a:rPr>
                        <a:t>0.42</a:t>
                      </a:r>
                      <a:endParaRPr sz="1800">
                        <a:latin typeface="Calibri"/>
                        <a:ea typeface="Calibri"/>
                        <a:cs typeface="Calibri"/>
                        <a:sym typeface="Calibri"/>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tcPr>
                </a:tc>
              </a:tr>
            </a:tbl>
          </a:graphicData>
        </a:graphic>
      </p:graphicFrame>
      <p:sp>
        <p:nvSpPr>
          <p:cNvPr id="280" name="Google Shape;280;p35"/>
          <p:cNvSpPr/>
          <p:nvPr/>
        </p:nvSpPr>
        <p:spPr>
          <a:xfrm>
            <a:off x="3401625" y="2471728"/>
            <a:ext cx="783175" cy="477475"/>
          </a:xfrm>
          <a:custGeom>
            <a:rect b="b" l="l" r="r" t="t"/>
            <a:pathLst>
              <a:path extrusionOk="0" h="19099" w="31327">
                <a:moveTo>
                  <a:pt x="0" y="49"/>
                </a:moveTo>
                <a:cubicBezTo>
                  <a:pt x="5066" y="49"/>
                  <a:pt x="11235" y="-146"/>
                  <a:pt x="14817" y="3436"/>
                </a:cubicBezTo>
                <a:cubicBezTo>
                  <a:pt x="20181" y="8800"/>
                  <a:pt x="23741" y="19099"/>
                  <a:pt x="31327" y="19099"/>
                </a:cubicBezTo>
              </a:path>
            </a:pathLst>
          </a:custGeom>
          <a:noFill/>
          <a:ln cap="flat" cmpd="sng" w="9525">
            <a:solidFill>
              <a:schemeClr val="dk2"/>
            </a:solidFill>
            <a:prstDash val="solid"/>
            <a:round/>
            <a:headEnd len="med" w="med" type="none"/>
            <a:tailEnd len="med" w="med" type="none"/>
          </a:ln>
        </p:spPr>
      </p:sp>
      <p:sp>
        <p:nvSpPr>
          <p:cNvPr id="281" name="Google Shape;281;p35"/>
          <p:cNvSpPr/>
          <p:nvPr/>
        </p:nvSpPr>
        <p:spPr>
          <a:xfrm flipH="1" rot="10800000">
            <a:off x="3401625" y="3059296"/>
            <a:ext cx="783175" cy="524936"/>
          </a:xfrm>
          <a:custGeom>
            <a:rect b="b" l="l" r="r" t="t"/>
            <a:pathLst>
              <a:path extrusionOk="0" h="19099" w="31327">
                <a:moveTo>
                  <a:pt x="0" y="49"/>
                </a:moveTo>
                <a:cubicBezTo>
                  <a:pt x="5066" y="49"/>
                  <a:pt x="11235" y="-146"/>
                  <a:pt x="14817" y="3436"/>
                </a:cubicBezTo>
                <a:cubicBezTo>
                  <a:pt x="20181" y="8800"/>
                  <a:pt x="23741" y="19099"/>
                  <a:pt x="31327" y="19099"/>
                </a:cubicBezTo>
              </a:path>
            </a:pathLst>
          </a:custGeom>
          <a:noFill/>
          <a:ln cap="flat" cmpd="sng" w="9525">
            <a:solidFill>
              <a:schemeClr val="dk2"/>
            </a:solidFill>
            <a:prstDash val="solid"/>
            <a:round/>
            <a:headEnd len="med" w="med" type="none"/>
            <a:tailEnd len="med" w="med" type="none"/>
          </a:ln>
        </p:spPr>
      </p:sp>
      <p:sp>
        <p:nvSpPr>
          <p:cNvPr id="282" name="Google Shape;282;p35"/>
          <p:cNvSpPr txBox="1"/>
          <p:nvPr/>
        </p:nvSpPr>
        <p:spPr>
          <a:xfrm>
            <a:off x="4267725" y="2813525"/>
            <a:ext cx="12912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Calibri"/>
                <a:ea typeface="Calibri"/>
                <a:cs typeface="Calibri"/>
                <a:sym typeface="Calibri"/>
              </a:rPr>
              <a:t>best options</a:t>
            </a:r>
            <a:endParaRPr sz="1600">
              <a:latin typeface="Calibri"/>
              <a:ea typeface="Calibri"/>
              <a:cs typeface="Calibri"/>
              <a:sym typeface="Calibri"/>
            </a:endParaRPr>
          </a:p>
        </p:txBody>
      </p:sp>
      <p:sp>
        <p:nvSpPr>
          <p:cNvPr id="283" name="Google Shape;283;p35"/>
          <p:cNvSpPr txBox="1"/>
          <p:nvPr/>
        </p:nvSpPr>
        <p:spPr>
          <a:xfrm>
            <a:off x="3769175" y="3915925"/>
            <a:ext cx="4762500" cy="747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b="1" lang="en" sz="1700">
                <a:solidFill>
                  <a:schemeClr val="dk1"/>
                </a:solidFill>
                <a:latin typeface="Calibri"/>
                <a:ea typeface="Calibri"/>
                <a:cs typeface="Calibri"/>
                <a:sym typeface="Calibri"/>
              </a:rPr>
              <a:t>Model selection for clustering depends completely on what you’re doing with the clusters.</a:t>
            </a:r>
            <a:endParaRPr b="1" sz="1700">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36"/>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Clr>
                <a:schemeClr val="dk1"/>
              </a:buClr>
              <a:buSzPts val="1100"/>
              <a:buFont typeface="Arial"/>
              <a:buNone/>
            </a:pPr>
            <a:r>
              <a:rPr lang="en"/>
              <a:t>Part 3: </a:t>
            </a:r>
            <a:r>
              <a:rPr lang="en">
                <a:solidFill>
                  <a:schemeClr val="lt1"/>
                </a:solidFill>
              </a:rPr>
              <a:t>Artificial Neural Networks</a:t>
            </a:r>
            <a:endParaRPr/>
          </a:p>
        </p:txBody>
      </p:sp>
      <p:sp>
        <p:nvSpPr>
          <p:cNvPr id="289" name="Google Shape;289;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37"/>
          <p:cNvSpPr txBox="1"/>
          <p:nvPr>
            <p:ph type="title"/>
          </p:nvPr>
        </p:nvSpPr>
        <p:spPr>
          <a:xfrm>
            <a:off x="229075" y="372800"/>
            <a:ext cx="67392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 Perceptron</a:t>
            </a:r>
            <a:endParaRPr/>
          </a:p>
        </p:txBody>
      </p:sp>
      <p:pic>
        <p:nvPicPr>
          <p:cNvPr id="295" name="Google Shape;295;p37"/>
          <p:cNvPicPr preferRelativeResize="0"/>
          <p:nvPr/>
        </p:nvPicPr>
        <p:blipFill>
          <a:blip r:embed="rId3">
            <a:alphaModFix/>
          </a:blip>
          <a:stretch>
            <a:fillRect/>
          </a:stretch>
        </p:blipFill>
        <p:spPr>
          <a:xfrm rot="1321579">
            <a:off x="610000" y="1678940"/>
            <a:ext cx="3872648" cy="1936309"/>
          </a:xfrm>
          <a:prstGeom prst="rect">
            <a:avLst/>
          </a:prstGeom>
          <a:noFill/>
          <a:ln>
            <a:noFill/>
          </a:ln>
        </p:spPr>
      </p:pic>
      <p:pic>
        <p:nvPicPr>
          <p:cNvPr id="296" name="Google Shape;296;p37"/>
          <p:cNvPicPr preferRelativeResize="0"/>
          <p:nvPr/>
        </p:nvPicPr>
        <p:blipFill rotWithShape="1">
          <a:blip r:embed="rId4">
            <a:alphaModFix/>
          </a:blip>
          <a:srcRect b="19903" l="11345" r="16206" t="0"/>
          <a:stretch/>
        </p:blipFill>
        <p:spPr>
          <a:xfrm>
            <a:off x="5086625" y="1644325"/>
            <a:ext cx="3333624" cy="2005550"/>
          </a:xfrm>
          <a:prstGeom prst="rect">
            <a:avLst/>
          </a:prstGeom>
          <a:noFill/>
          <a:ln>
            <a:noFill/>
          </a:ln>
        </p:spPr>
      </p:pic>
      <p:sp>
        <p:nvSpPr>
          <p:cNvPr id="297" name="Google Shape;297;p37"/>
          <p:cNvSpPr txBox="1"/>
          <p:nvPr/>
        </p:nvSpPr>
        <p:spPr>
          <a:xfrm>
            <a:off x="1651400" y="3870575"/>
            <a:ext cx="1519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Fira Code"/>
                <a:ea typeface="Fira Code"/>
                <a:cs typeface="Fira Code"/>
                <a:sym typeface="Fira Code"/>
              </a:rPr>
              <a:t>Human neuron</a:t>
            </a:r>
            <a:endParaRPr>
              <a:latin typeface="Fira Code"/>
              <a:ea typeface="Fira Code"/>
              <a:cs typeface="Fira Code"/>
              <a:sym typeface="Fira Code"/>
            </a:endParaRPr>
          </a:p>
        </p:txBody>
      </p:sp>
      <p:sp>
        <p:nvSpPr>
          <p:cNvPr id="298" name="Google Shape;298;p37"/>
          <p:cNvSpPr txBox="1"/>
          <p:nvPr/>
        </p:nvSpPr>
        <p:spPr>
          <a:xfrm>
            <a:off x="5727588" y="3870575"/>
            <a:ext cx="2051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Fira Code"/>
                <a:ea typeface="Fira Code"/>
                <a:cs typeface="Fira Code"/>
                <a:sym typeface="Fira Code"/>
              </a:rPr>
              <a:t>Perceptron (1957)</a:t>
            </a:r>
            <a:endParaRPr>
              <a:latin typeface="Fira Code"/>
              <a:ea typeface="Fira Code"/>
              <a:cs typeface="Fira Code"/>
              <a:sym typeface="Fira Code"/>
            </a:endParaRPr>
          </a:p>
        </p:txBody>
      </p:sp>
      <p:sp>
        <p:nvSpPr>
          <p:cNvPr id="299" name="Google Shape;299;p37"/>
          <p:cNvSpPr/>
          <p:nvPr/>
        </p:nvSpPr>
        <p:spPr>
          <a:xfrm>
            <a:off x="5821325" y="2915625"/>
            <a:ext cx="327600" cy="1887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00" name="Google Shape;300;p37"/>
          <p:cNvSpPr txBox="1"/>
          <p:nvPr/>
        </p:nvSpPr>
        <p:spPr>
          <a:xfrm>
            <a:off x="5880850" y="2770000"/>
            <a:ext cx="3276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1800">
                <a:latin typeface="Times New Roman"/>
                <a:ea typeface="Times New Roman"/>
                <a:cs typeface="Times New Roman"/>
                <a:sym typeface="Times New Roman"/>
              </a:rPr>
              <a:t>b</a:t>
            </a:r>
            <a:endParaRPr i="1" sz="1800">
              <a:latin typeface="Times New Roman"/>
              <a:ea typeface="Times New Roman"/>
              <a:cs typeface="Times New Roman"/>
              <a:sym typeface="Times New Roman"/>
            </a:endParaRPr>
          </a:p>
        </p:txBody>
      </p:sp>
      <p:sp>
        <p:nvSpPr>
          <p:cNvPr id="301" name="Google Shape;301;p37"/>
          <p:cNvSpPr txBox="1"/>
          <p:nvPr/>
        </p:nvSpPr>
        <p:spPr>
          <a:xfrm>
            <a:off x="5358150" y="3167350"/>
            <a:ext cx="327600" cy="400200"/>
          </a:xfrm>
          <a:prstGeom prst="rect">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1800">
                <a:latin typeface="Times New Roman"/>
                <a:ea typeface="Times New Roman"/>
                <a:cs typeface="Times New Roman"/>
                <a:sym typeface="Times New Roman"/>
              </a:rPr>
              <a:t>1</a:t>
            </a:r>
            <a:endParaRPr i="1" sz="1800">
              <a:latin typeface="Times New Roman"/>
              <a:ea typeface="Times New Roman"/>
              <a:cs typeface="Times New Roman"/>
              <a:sym typeface="Times New Roman"/>
            </a:endParaRPr>
          </a:p>
        </p:txBody>
      </p:sp>
      <p:sp>
        <p:nvSpPr>
          <p:cNvPr id="302" name="Google Shape;302;p37"/>
          <p:cNvSpPr txBox="1"/>
          <p:nvPr/>
        </p:nvSpPr>
        <p:spPr>
          <a:xfrm>
            <a:off x="5796750" y="4270775"/>
            <a:ext cx="19134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Times New Roman"/>
                <a:ea typeface="Times New Roman"/>
                <a:cs typeface="Times New Roman"/>
                <a:sym typeface="Times New Roman"/>
              </a:rPr>
              <a:t>y = </a:t>
            </a:r>
            <a:r>
              <a:rPr lang="en" sz="1600">
                <a:solidFill>
                  <a:srgbClr val="BF9000"/>
                </a:solidFill>
                <a:latin typeface="Times New Roman"/>
                <a:ea typeface="Times New Roman"/>
                <a:cs typeface="Times New Roman"/>
                <a:sym typeface="Times New Roman"/>
              </a:rPr>
              <a:t>w</a:t>
            </a:r>
            <a:r>
              <a:rPr baseline="-25000" lang="en" sz="1600">
                <a:solidFill>
                  <a:srgbClr val="BF9000"/>
                </a:solidFill>
                <a:latin typeface="Times New Roman"/>
                <a:ea typeface="Times New Roman"/>
                <a:cs typeface="Times New Roman"/>
                <a:sym typeface="Times New Roman"/>
              </a:rPr>
              <a:t>1</a:t>
            </a:r>
            <a:r>
              <a:rPr lang="en" sz="1600">
                <a:latin typeface="Times New Roman"/>
                <a:ea typeface="Times New Roman"/>
                <a:cs typeface="Times New Roman"/>
                <a:sym typeface="Times New Roman"/>
              </a:rPr>
              <a:t>x</a:t>
            </a:r>
            <a:r>
              <a:rPr baseline="-25000" lang="en" sz="1600">
                <a:latin typeface="Times New Roman"/>
                <a:ea typeface="Times New Roman"/>
                <a:cs typeface="Times New Roman"/>
                <a:sym typeface="Times New Roman"/>
              </a:rPr>
              <a:t>1</a:t>
            </a:r>
            <a:r>
              <a:rPr lang="en" sz="1600">
                <a:latin typeface="Times New Roman"/>
                <a:ea typeface="Times New Roman"/>
                <a:cs typeface="Times New Roman"/>
                <a:sym typeface="Times New Roman"/>
              </a:rPr>
              <a:t> + </a:t>
            </a:r>
            <a:r>
              <a:rPr lang="en" sz="1600">
                <a:solidFill>
                  <a:srgbClr val="BF9000"/>
                </a:solidFill>
                <a:latin typeface="Times New Roman"/>
                <a:ea typeface="Times New Roman"/>
                <a:cs typeface="Times New Roman"/>
                <a:sym typeface="Times New Roman"/>
              </a:rPr>
              <a:t>w</a:t>
            </a:r>
            <a:r>
              <a:rPr baseline="-25000" lang="en" sz="1600">
                <a:solidFill>
                  <a:srgbClr val="BF9000"/>
                </a:solidFill>
                <a:latin typeface="Times New Roman"/>
                <a:ea typeface="Times New Roman"/>
                <a:cs typeface="Times New Roman"/>
                <a:sym typeface="Times New Roman"/>
              </a:rPr>
              <a:t>2</a:t>
            </a:r>
            <a:r>
              <a:rPr lang="en" sz="1600">
                <a:solidFill>
                  <a:schemeClr val="dk1"/>
                </a:solidFill>
                <a:latin typeface="Times New Roman"/>
                <a:ea typeface="Times New Roman"/>
                <a:cs typeface="Times New Roman"/>
                <a:sym typeface="Times New Roman"/>
              </a:rPr>
              <a:t>x</a:t>
            </a:r>
            <a:r>
              <a:rPr baseline="-25000" lang="en" sz="1600">
                <a:solidFill>
                  <a:schemeClr val="dk1"/>
                </a:solidFill>
                <a:latin typeface="Times New Roman"/>
                <a:ea typeface="Times New Roman"/>
                <a:cs typeface="Times New Roman"/>
                <a:sym typeface="Times New Roman"/>
              </a:rPr>
              <a:t>2</a:t>
            </a:r>
            <a:r>
              <a:rPr lang="en" sz="1600">
                <a:solidFill>
                  <a:schemeClr val="dk1"/>
                </a:solidFill>
                <a:latin typeface="Times New Roman"/>
                <a:ea typeface="Times New Roman"/>
                <a:cs typeface="Times New Roman"/>
                <a:sym typeface="Times New Roman"/>
              </a:rPr>
              <a:t> + </a:t>
            </a:r>
            <a:r>
              <a:rPr lang="en" sz="1600">
                <a:solidFill>
                  <a:srgbClr val="741B47"/>
                </a:solidFill>
                <a:latin typeface="Times New Roman"/>
                <a:ea typeface="Times New Roman"/>
                <a:cs typeface="Times New Roman"/>
                <a:sym typeface="Times New Roman"/>
              </a:rPr>
              <a:t>b</a:t>
            </a:r>
            <a:endParaRPr sz="1600">
              <a:solidFill>
                <a:srgbClr val="741B47"/>
              </a:solidFill>
              <a:latin typeface="Times New Roman"/>
              <a:ea typeface="Times New Roman"/>
              <a:cs typeface="Times New Roman"/>
              <a:sym typeface="Times New Roman"/>
            </a:endParaRPr>
          </a:p>
        </p:txBody>
      </p:sp>
      <p:sp>
        <p:nvSpPr>
          <p:cNvPr id="303" name="Google Shape;303;p3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38"/>
          <p:cNvSpPr txBox="1"/>
          <p:nvPr>
            <p:ph type="title"/>
          </p:nvPr>
        </p:nvSpPr>
        <p:spPr>
          <a:xfrm>
            <a:off x="229075" y="372800"/>
            <a:ext cx="67392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1990s Neural Net Winter</a:t>
            </a:r>
            <a:endParaRPr/>
          </a:p>
        </p:txBody>
      </p:sp>
      <p:pic>
        <p:nvPicPr>
          <p:cNvPr id="309" name="Google Shape;309;p38"/>
          <p:cNvPicPr preferRelativeResize="0"/>
          <p:nvPr/>
        </p:nvPicPr>
        <p:blipFill>
          <a:blip r:embed="rId3">
            <a:alphaModFix/>
          </a:blip>
          <a:stretch>
            <a:fillRect/>
          </a:stretch>
        </p:blipFill>
        <p:spPr>
          <a:xfrm>
            <a:off x="1681225" y="1080400"/>
            <a:ext cx="5579699" cy="3710299"/>
          </a:xfrm>
          <a:prstGeom prst="rect">
            <a:avLst/>
          </a:prstGeom>
          <a:noFill/>
          <a:ln>
            <a:noFill/>
          </a:ln>
        </p:spPr>
      </p:pic>
      <p:sp>
        <p:nvSpPr>
          <p:cNvPr id="310" name="Google Shape;310;p3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39"/>
          <p:cNvSpPr txBox="1"/>
          <p:nvPr>
            <p:ph type="title"/>
          </p:nvPr>
        </p:nvSpPr>
        <p:spPr>
          <a:xfrm>
            <a:off x="229075" y="372800"/>
            <a:ext cx="67392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 Promise of Depth</a:t>
            </a:r>
            <a:endParaRPr/>
          </a:p>
        </p:txBody>
      </p:sp>
      <p:pic>
        <p:nvPicPr>
          <p:cNvPr id="316" name="Google Shape;316;p39"/>
          <p:cNvPicPr preferRelativeResize="0"/>
          <p:nvPr/>
        </p:nvPicPr>
        <p:blipFill>
          <a:blip r:embed="rId3">
            <a:alphaModFix/>
          </a:blip>
          <a:stretch>
            <a:fillRect/>
          </a:stretch>
        </p:blipFill>
        <p:spPr>
          <a:xfrm>
            <a:off x="261750" y="1856875"/>
            <a:ext cx="1165925" cy="1429750"/>
          </a:xfrm>
          <a:prstGeom prst="rect">
            <a:avLst/>
          </a:prstGeom>
          <a:noFill/>
          <a:ln>
            <a:noFill/>
          </a:ln>
        </p:spPr>
      </p:pic>
      <p:pic>
        <p:nvPicPr>
          <p:cNvPr id="317" name="Google Shape;317;p39"/>
          <p:cNvPicPr preferRelativeResize="0"/>
          <p:nvPr/>
        </p:nvPicPr>
        <p:blipFill>
          <a:blip r:embed="rId4">
            <a:alphaModFix/>
          </a:blip>
          <a:stretch>
            <a:fillRect/>
          </a:stretch>
        </p:blipFill>
        <p:spPr>
          <a:xfrm>
            <a:off x="2565800" y="2509035"/>
            <a:ext cx="856825" cy="1033778"/>
          </a:xfrm>
          <a:prstGeom prst="rect">
            <a:avLst/>
          </a:prstGeom>
          <a:noFill/>
          <a:ln>
            <a:noFill/>
          </a:ln>
        </p:spPr>
      </p:pic>
      <p:pic>
        <p:nvPicPr>
          <p:cNvPr id="318" name="Google Shape;318;p39"/>
          <p:cNvPicPr preferRelativeResize="0"/>
          <p:nvPr/>
        </p:nvPicPr>
        <p:blipFill>
          <a:blip r:embed="rId5">
            <a:alphaModFix/>
          </a:blip>
          <a:stretch>
            <a:fillRect/>
          </a:stretch>
        </p:blipFill>
        <p:spPr>
          <a:xfrm>
            <a:off x="1542775" y="1218075"/>
            <a:ext cx="1023025" cy="1243044"/>
          </a:xfrm>
          <a:prstGeom prst="rect">
            <a:avLst/>
          </a:prstGeom>
          <a:noFill/>
          <a:ln>
            <a:noFill/>
          </a:ln>
        </p:spPr>
      </p:pic>
      <p:pic>
        <p:nvPicPr>
          <p:cNvPr id="319" name="Google Shape;319;p39"/>
          <p:cNvPicPr preferRelativeResize="0"/>
          <p:nvPr/>
        </p:nvPicPr>
        <p:blipFill>
          <a:blip r:embed="rId6">
            <a:alphaModFix/>
          </a:blip>
          <a:stretch>
            <a:fillRect/>
          </a:stretch>
        </p:blipFill>
        <p:spPr>
          <a:xfrm>
            <a:off x="1485225" y="2571750"/>
            <a:ext cx="1023025" cy="1247850"/>
          </a:xfrm>
          <a:prstGeom prst="rect">
            <a:avLst/>
          </a:prstGeom>
          <a:noFill/>
          <a:ln>
            <a:noFill/>
          </a:ln>
        </p:spPr>
      </p:pic>
      <p:pic>
        <p:nvPicPr>
          <p:cNvPr id="320" name="Google Shape;320;p39"/>
          <p:cNvPicPr preferRelativeResize="0"/>
          <p:nvPr/>
        </p:nvPicPr>
        <p:blipFill>
          <a:blip r:embed="rId7">
            <a:alphaModFix/>
          </a:blip>
          <a:stretch>
            <a:fillRect/>
          </a:stretch>
        </p:blipFill>
        <p:spPr>
          <a:xfrm>
            <a:off x="5458425" y="2671650"/>
            <a:ext cx="484836" cy="945425"/>
          </a:xfrm>
          <a:prstGeom prst="rect">
            <a:avLst/>
          </a:prstGeom>
          <a:noFill/>
          <a:ln>
            <a:noFill/>
          </a:ln>
        </p:spPr>
      </p:pic>
      <p:pic>
        <p:nvPicPr>
          <p:cNvPr id="321" name="Google Shape;321;p39"/>
          <p:cNvPicPr preferRelativeResize="0"/>
          <p:nvPr/>
        </p:nvPicPr>
        <p:blipFill>
          <a:blip r:embed="rId8">
            <a:alphaModFix/>
          </a:blip>
          <a:stretch>
            <a:fillRect/>
          </a:stretch>
        </p:blipFill>
        <p:spPr>
          <a:xfrm>
            <a:off x="4381699" y="1729700"/>
            <a:ext cx="787800" cy="654025"/>
          </a:xfrm>
          <a:prstGeom prst="rect">
            <a:avLst/>
          </a:prstGeom>
          <a:noFill/>
          <a:ln>
            <a:noFill/>
          </a:ln>
        </p:spPr>
      </p:pic>
      <p:pic>
        <p:nvPicPr>
          <p:cNvPr id="322" name="Google Shape;322;p39"/>
          <p:cNvPicPr preferRelativeResize="0"/>
          <p:nvPr/>
        </p:nvPicPr>
        <p:blipFill>
          <a:blip r:embed="rId9">
            <a:alphaModFix/>
          </a:blip>
          <a:stretch>
            <a:fillRect/>
          </a:stretch>
        </p:blipFill>
        <p:spPr>
          <a:xfrm>
            <a:off x="4295275" y="2671662"/>
            <a:ext cx="960650" cy="387250"/>
          </a:xfrm>
          <a:prstGeom prst="rect">
            <a:avLst/>
          </a:prstGeom>
          <a:noFill/>
          <a:ln>
            <a:noFill/>
          </a:ln>
        </p:spPr>
      </p:pic>
      <p:sp>
        <p:nvSpPr>
          <p:cNvPr id="323" name="Google Shape;323;p39"/>
          <p:cNvSpPr txBox="1"/>
          <p:nvPr/>
        </p:nvSpPr>
        <p:spPr>
          <a:xfrm>
            <a:off x="6744625" y="1785063"/>
            <a:ext cx="1112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Calibri"/>
                <a:ea typeface="Calibri"/>
                <a:cs typeface="Calibri"/>
                <a:sym typeface="Calibri"/>
              </a:rPr>
              <a:t>“long hair”</a:t>
            </a:r>
            <a:endParaRPr sz="1600">
              <a:latin typeface="Calibri"/>
              <a:ea typeface="Calibri"/>
              <a:cs typeface="Calibri"/>
              <a:sym typeface="Calibri"/>
            </a:endParaRPr>
          </a:p>
        </p:txBody>
      </p:sp>
      <p:sp>
        <p:nvSpPr>
          <p:cNvPr id="324" name="Google Shape;324;p39"/>
          <p:cNvSpPr txBox="1"/>
          <p:nvPr/>
        </p:nvSpPr>
        <p:spPr>
          <a:xfrm>
            <a:off x="7979050" y="2240550"/>
            <a:ext cx="7248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Calibri"/>
                <a:ea typeface="Calibri"/>
                <a:cs typeface="Calibri"/>
                <a:sym typeface="Calibri"/>
              </a:rPr>
              <a:t>“eyes”</a:t>
            </a:r>
            <a:endParaRPr sz="1600">
              <a:latin typeface="Calibri"/>
              <a:ea typeface="Calibri"/>
              <a:cs typeface="Calibri"/>
              <a:sym typeface="Calibri"/>
            </a:endParaRPr>
          </a:p>
        </p:txBody>
      </p:sp>
      <p:sp>
        <p:nvSpPr>
          <p:cNvPr id="325" name="Google Shape;325;p39"/>
          <p:cNvSpPr txBox="1"/>
          <p:nvPr/>
        </p:nvSpPr>
        <p:spPr>
          <a:xfrm>
            <a:off x="6887225" y="2571750"/>
            <a:ext cx="10230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Calibri"/>
                <a:ea typeface="Calibri"/>
                <a:cs typeface="Calibri"/>
                <a:sym typeface="Calibri"/>
              </a:rPr>
              <a:t>“woman”</a:t>
            </a:r>
            <a:endParaRPr sz="1600">
              <a:latin typeface="Calibri"/>
              <a:ea typeface="Calibri"/>
              <a:cs typeface="Calibri"/>
              <a:sym typeface="Calibri"/>
            </a:endParaRPr>
          </a:p>
        </p:txBody>
      </p:sp>
      <p:sp>
        <p:nvSpPr>
          <p:cNvPr id="326" name="Google Shape;326;p39"/>
          <p:cNvSpPr txBox="1"/>
          <p:nvPr/>
        </p:nvSpPr>
        <p:spPr>
          <a:xfrm>
            <a:off x="7297775" y="3358425"/>
            <a:ext cx="8568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Calibri"/>
                <a:ea typeface="Calibri"/>
                <a:cs typeface="Calibri"/>
                <a:sym typeface="Calibri"/>
              </a:rPr>
              <a:t>“nose”</a:t>
            </a:r>
            <a:endParaRPr sz="1600">
              <a:latin typeface="Calibri"/>
              <a:ea typeface="Calibri"/>
              <a:cs typeface="Calibri"/>
              <a:sym typeface="Calibri"/>
            </a:endParaRPr>
          </a:p>
        </p:txBody>
      </p:sp>
      <p:sp>
        <p:nvSpPr>
          <p:cNvPr id="327" name="Google Shape;327;p39"/>
          <p:cNvSpPr txBox="1"/>
          <p:nvPr/>
        </p:nvSpPr>
        <p:spPr>
          <a:xfrm>
            <a:off x="1109490" y="4198000"/>
            <a:ext cx="17745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700">
                <a:solidFill>
                  <a:srgbClr val="1155CC"/>
                </a:solidFill>
                <a:latin typeface="Calibri"/>
                <a:ea typeface="Calibri"/>
                <a:cs typeface="Calibri"/>
                <a:sym typeface="Calibri"/>
              </a:rPr>
              <a:t>low level features</a:t>
            </a:r>
            <a:endParaRPr sz="1700">
              <a:solidFill>
                <a:srgbClr val="1155CC"/>
              </a:solidFill>
              <a:latin typeface="Calibri"/>
              <a:ea typeface="Calibri"/>
              <a:cs typeface="Calibri"/>
              <a:sym typeface="Calibri"/>
            </a:endParaRPr>
          </a:p>
        </p:txBody>
      </p:sp>
      <p:sp>
        <p:nvSpPr>
          <p:cNvPr id="328" name="Google Shape;328;p39"/>
          <p:cNvSpPr txBox="1"/>
          <p:nvPr/>
        </p:nvSpPr>
        <p:spPr>
          <a:xfrm>
            <a:off x="4434250" y="4198000"/>
            <a:ext cx="1446600" cy="446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lang="en" sz="1700">
                <a:solidFill>
                  <a:srgbClr val="1155CC"/>
                </a:solidFill>
                <a:latin typeface="Calibri"/>
                <a:ea typeface="Calibri"/>
                <a:cs typeface="Calibri"/>
                <a:sym typeface="Calibri"/>
              </a:rPr>
              <a:t>medium</a:t>
            </a:r>
            <a:r>
              <a:rPr lang="en" sz="1700">
                <a:solidFill>
                  <a:srgbClr val="1155CC"/>
                </a:solidFill>
                <a:latin typeface="Calibri"/>
                <a:ea typeface="Calibri"/>
                <a:cs typeface="Calibri"/>
                <a:sym typeface="Calibri"/>
              </a:rPr>
              <a:t> level</a:t>
            </a:r>
            <a:endParaRPr sz="1700">
              <a:solidFill>
                <a:srgbClr val="1155CC"/>
              </a:solidFill>
              <a:latin typeface="Calibri"/>
              <a:ea typeface="Calibri"/>
              <a:cs typeface="Calibri"/>
              <a:sym typeface="Calibri"/>
            </a:endParaRPr>
          </a:p>
        </p:txBody>
      </p:sp>
      <p:sp>
        <p:nvSpPr>
          <p:cNvPr id="329" name="Google Shape;329;p39"/>
          <p:cNvSpPr txBox="1"/>
          <p:nvPr/>
        </p:nvSpPr>
        <p:spPr>
          <a:xfrm>
            <a:off x="7242221" y="4198000"/>
            <a:ext cx="1112100" cy="446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lang="en" sz="1700">
                <a:solidFill>
                  <a:srgbClr val="1155CC"/>
                </a:solidFill>
                <a:latin typeface="Calibri"/>
                <a:ea typeface="Calibri"/>
                <a:cs typeface="Calibri"/>
                <a:sym typeface="Calibri"/>
              </a:rPr>
              <a:t>high</a:t>
            </a:r>
            <a:r>
              <a:rPr lang="en" sz="1700">
                <a:solidFill>
                  <a:srgbClr val="1155CC"/>
                </a:solidFill>
                <a:latin typeface="Calibri"/>
                <a:ea typeface="Calibri"/>
                <a:cs typeface="Calibri"/>
                <a:sym typeface="Calibri"/>
              </a:rPr>
              <a:t> level</a:t>
            </a:r>
            <a:endParaRPr sz="1700">
              <a:solidFill>
                <a:srgbClr val="1155CC"/>
              </a:solidFill>
              <a:latin typeface="Calibri"/>
              <a:ea typeface="Calibri"/>
              <a:cs typeface="Calibri"/>
              <a:sym typeface="Calibri"/>
            </a:endParaRPr>
          </a:p>
        </p:txBody>
      </p:sp>
      <p:sp>
        <p:nvSpPr>
          <p:cNvPr id="330" name="Google Shape;330;p3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40"/>
          <p:cNvSpPr txBox="1"/>
          <p:nvPr>
            <p:ph type="title"/>
          </p:nvPr>
        </p:nvSpPr>
        <p:spPr>
          <a:xfrm>
            <a:off x="229075" y="372800"/>
            <a:ext cx="67392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Composing Neurons</a:t>
            </a:r>
            <a:endParaRPr/>
          </a:p>
        </p:txBody>
      </p:sp>
      <p:sp>
        <p:nvSpPr>
          <p:cNvPr id="336" name="Google Shape;336;p40"/>
          <p:cNvSpPr txBox="1"/>
          <p:nvPr>
            <p:ph idx="1" type="body"/>
          </p:nvPr>
        </p:nvSpPr>
        <p:spPr>
          <a:xfrm>
            <a:off x="1817800" y="4211075"/>
            <a:ext cx="2917800" cy="507900"/>
          </a:xfrm>
          <a:prstGeom prst="rect">
            <a:avLst/>
          </a:prstGeom>
        </p:spPr>
        <p:txBody>
          <a:bodyPr anchorCtr="0" anchor="t" bIns="91425" lIns="91425" spcFirstLastPara="1" rIns="91425" wrap="square" tIns="91425">
            <a:normAutofit fontScale="92500"/>
          </a:bodyPr>
          <a:lstStyle/>
          <a:p>
            <a:pPr indent="0" lvl="0" marL="0" rtl="0" algn="l">
              <a:spcBef>
                <a:spcPts val="0"/>
              </a:spcBef>
              <a:spcAft>
                <a:spcPts val="1200"/>
              </a:spcAft>
              <a:buNone/>
            </a:pPr>
            <a:r>
              <a:rPr lang="en">
                <a:latin typeface="Times New Roman"/>
                <a:ea typeface="Times New Roman"/>
                <a:cs typeface="Times New Roman"/>
                <a:sym typeface="Times New Roman"/>
              </a:rPr>
              <a:t>y = 1(1x</a:t>
            </a:r>
            <a:r>
              <a:rPr baseline="-25000" lang="en">
                <a:latin typeface="Times New Roman"/>
                <a:ea typeface="Times New Roman"/>
                <a:cs typeface="Times New Roman"/>
                <a:sym typeface="Times New Roman"/>
              </a:rPr>
              <a:t>1</a:t>
            </a:r>
            <a:r>
              <a:rPr lang="en">
                <a:latin typeface="Times New Roman"/>
                <a:ea typeface="Times New Roman"/>
                <a:cs typeface="Times New Roman"/>
                <a:sym typeface="Times New Roman"/>
              </a:rPr>
              <a:t> + 3x</a:t>
            </a:r>
            <a:r>
              <a:rPr baseline="-25000" lang="en">
                <a:latin typeface="Times New Roman"/>
                <a:ea typeface="Times New Roman"/>
                <a:cs typeface="Times New Roman"/>
                <a:sym typeface="Times New Roman"/>
              </a:rPr>
              <a:t>2</a:t>
            </a:r>
            <a:r>
              <a:rPr lang="en">
                <a:latin typeface="Times New Roman"/>
                <a:ea typeface="Times New Roman"/>
                <a:cs typeface="Times New Roman"/>
                <a:sym typeface="Times New Roman"/>
              </a:rPr>
              <a:t>) + 2(2x</a:t>
            </a:r>
            <a:r>
              <a:rPr baseline="-25000" lang="en">
                <a:latin typeface="Times New Roman"/>
                <a:ea typeface="Times New Roman"/>
                <a:cs typeface="Times New Roman"/>
                <a:sym typeface="Times New Roman"/>
              </a:rPr>
              <a:t>3</a:t>
            </a:r>
            <a:r>
              <a:rPr lang="en">
                <a:latin typeface="Times New Roman"/>
                <a:ea typeface="Times New Roman"/>
                <a:cs typeface="Times New Roman"/>
                <a:sym typeface="Times New Roman"/>
              </a:rPr>
              <a:t> + 1x</a:t>
            </a:r>
            <a:r>
              <a:rPr baseline="-25000" lang="en">
                <a:latin typeface="Times New Roman"/>
                <a:ea typeface="Times New Roman"/>
                <a:cs typeface="Times New Roman"/>
                <a:sym typeface="Times New Roman"/>
              </a:rPr>
              <a:t>4</a:t>
            </a:r>
            <a:r>
              <a:rPr lang="en">
                <a:latin typeface="Times New Roman"/>
                <a:ea typeface="Times New Roman"/>
                <a:cs typeface="Times New Roman"/>
                <a:sym typeface="Times New Roman"/>
              </a:rPr>
              <a:t>) </a:t>
            </a:r>
            <a:endParaRPr>
              <a:latin typeface="Times New Roman"/>
              <a:ea typeface="Times New Roman"/>
              <a:cs typeface="Times New Roman"/>
              <a:sym typeface="Times New Roman"/>
            </a:endParaRPr>
          </a:p>
        </p:txBody>
      </p:sp>
      <p:pic>
        <p:nvPicPr>
          <p:cNvPr id="337" name="Google Shape;337;p40"/>
          <p:cNvPicPr preferRelativeResize="0"/>
          <p:nvPr/>
        </p:nvPicPr>
        <p:blipFill>
          <a:blip r:embed="rId3">
            <a:alphaModFix/>
          </a:blip>
          <a:stretch>
            <a:fillRect/>
          </a:stretch>
        </p:blipFill>
        <p:spPr>
          <a:xfrm>
            <a:off x="2157575" y="1714325"/>
            <a:ext cx="2238250" cy="2336100"/>
          </a:xfrm>
          <a:prstGeom prst="rect">
            <a:avLst/>
          </a:prstGeom>
          <a:noFill/>
          <a:ln>
            <a:noFill/>
          </a:ln>
        </p:spPr>
      </p:pic>
      <p:pic>
        <p:nvPicPr>
          <p:cNvPr id="338" name="Google Shape;338;p40"/>
          <p:cNvPicPr preferRelativeResize="0"/>
          <p:nvPr/>
        </p:nvPicPr>
        <p:blipFill>
          <a:blip r:embed="rId4">
            <a:alphaModFix/>
          </a:blip>
          <a:stretch>
            <a:fillRect/>
          </a:stretch>
        </p:blipFill>
        <p:spPr>
          <a:xfrm>
            <a:off x="5478467" y="1714325"/>
            <a:ext cx="1722120" cy="2336100"/>
          </a:xfrm>
          <a:prstGeom prst="rect">
            <a:avLst/>
          </a:prstGeom>
          <a:noFill/>
          <a:ln>
            <a:noFill/>
          </a:ln>
        </p:spPr>
      </p:pic>
      <p:sp>
        <p:nvSpPr>
          <p:cNvPr id="339" name="Google Shape;339;p40"/>
          <p:cNvSpPr txBox="1"/>
          <p:nvPr>
            <p:ph idx="1" type="body"/>
          </p:nvPr>
        </p:nvSpPr>
        <p:spPr>
          <a:xfrm>
            <a:off x="5073225" y="4211075"/>
            <a:ext cx="2532600" cy="507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latin typeface="Times New Roman"/>
                <a:ea typeface="Times New Roman"/>
                <a:cs typeface="Times New Roman"/>
                <a:sym typeface="Times New Roman"/>
              </a:rPr>
              <a:t>y = 1x</a:t>
            </a:r>
            <a:r>
              <a:rPr baseline="-25000" lang="en">
                <a:latin typeface="Times New Roman"/>
                <a:ea typeface="Times New Roman"/>
                <a:cs typeface="Times New Roman"/>
                <a:sym typeface="Times New Roman"/>
              </a:rPr>
              <a:t>1</a:t>
            </a:r>
            <a:r>
              <a:rPr lang="en">
                <a:latin typeface="Times New Roman"/>
                <a:ea typeface="Times New Roman"/>
                <a:cs typeface="Times New Roman"/>
                <a:sym typeface="Times New Roman"/>
              </a:rPr>
              <a:t> </a:t>
            </a:r>
            <a:r>
              <a:rPr lang="en">
                <a:latin typeface="Times New Roman"/>
                <a:ea typeface="Times New Roman"/>
                <a:cs typeface="Times New Roman"/>
                <a:sym typeface="Times New Roman"/>
              </a:rPr>
              <a:t>+ 3x</a:t>
            </a:r>
            <a:r>
              <a:rPr baseline="-25000" lang="en">
                <a:latin typeface="Times New Roman"/>
                <a:ea typeface="Times New Roman"/>
                <a:cs typeface="Times New Roman"/>
                <a:sym typeface="Times New Roman"/>
              </a:rPr>
              <a:t>2</a:t>
            </a:r>
            <a:r>
              <a:rPr lang="en">
                <a:latin typeface="Times New Roman"/>
                <a:ea typeface="Times New Roman"/>
                <a:cs typeface="Times New Roman"/>
                <a:sym typeface="Times New Roman"/>
              </a:rPr>
              <a:t> + 4x</a:t>
            </a:r>
            <a:r>
              <a:rPr baseline="-25000" lang="en">
                <a:latin typeface="Times New Roman"/>
                <a:ea typeface="Times New Roman"/>
                <a:cs typeface="Times New Roman"/>
                <a:sym typeface="Times New Roman"/>
              </a:rPr>
              <a:t>3</a:t>
            </a:r>
            <a:r>
              <a:rPr lang="en">
                <a:latin typeface="Times New Roman"/>
                <a:ea typeface="Times New Roman"/>
                <a:cs typeface="Times New Roman"/>
                <a:sym typeface="Times New Roman"/>
              </a:rPr>
              <a:t> + 2x</a:t>
            </a:r>
            <a:r>
              <a:rPr baseline="-25000" lang="en">
                <a:latin typeface="Times New Roman"/>
                <a:ea typeface="Times New Roman"/>
                <a:cs typeface="Times New Roman"/>
                <a:sym typeface="Times New Roman"/>
              </a:rPr>
              <a:t>4</a:t>
            </a:r>
            <a:endParaRPr>
              <a:latin typeface="Times New Roman"/>
              <a:ea typeface="Times New Roman"/>
              <a:cs typeface="Times New Roman"/>
              <a:sym typeface="Times New Roman"/>
            </a:endParaRPr>
          </a:p>
        </p:txBody>
      </p:sp>
      <p:sp>
        <p:nvSpPr>
          <p:cNvPr id="340" name="Google Shape;340;p40"/>
          <p:cNvSpPr txBox="1"/>
          <p:nvPr/>
        </p:nvSpPr>
        <p:spPr>
          <a:xfrm>
            <a:off x="1065650" y="1217875"/>
            <a:ext cx="57186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700">
                <a:solidFill>
                  <a:srgbClr val="1155CC"/>
                </a:solidFill>
                <a:latin typeface="Calibri"/>
                <a:ea typeface="Calibri"/>
                <a:cs typeface="Calibri"/>
                <a:sym typeface="Calibri"/>
              </a:rPr>
              <a:t>Problem:</a:t>
            </a:r>
            <a:r>
              <a:rPr lang="en" sz="1700">
                <a:latin typeface="Calibri"/>
                <a:ea typeface="Calibri"/>
                <a:cs typeface="Calibri"/>
                <a:sym typeface="Calibri"/>
              </a:rPr>
              <a:t> perceptrons will always remain linear.</a:t>
            </a:r>
            <a:endParaRPr sz="1700">
              <a:latin typeface="Calibri"/>
              <a:ea typeface="Calibri"/>
              <a:cs typeface="Calibri"/>
              <a:sym typeface="Calibri"/>
            </a:endParaRPr>
          </a:p>
        </p:txBody>
      </p:sp>
      <p:sp>
        <p:nvSpPr>
          <p:cNvPr id="341" name="Google Shape;341;p4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cxnSp>
        <p:nvCxnSpPr>
          <p:cNvPr id="342" name="Google Shape;342;p40"/>
          <p:cNvCxnSpPr>
            <a:stCxn id="336" idx="3"/>
            <a:endCxn id="339" idx="1"/>
          </p:cNvCxnSpPr>
          <p:nvPr/>
        </p:nvCxnSpPr>
        <p:spPr>
          <a:xfrm>
            <a:off x="4735600" y="4465025"/>
            <a:ext cx="337500" cy="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41"/>
          <p:cNvSpPr txBox="1"/>
          <p:nvPr>
            <p:ph type="title"/>
          </p:nvPr>
        </p:nvSpPr>
        <p:spPr>
          <a:xfrm>
            <a:off x="229075" y="372800"/>
            <a:ext cx="67392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Non-linearities: Activation Functions</a:t>
            </a:r>
            <a:endParaRPr/>
          </a:p>
        </p:txBody>
      </p:sp>
      <p:sp>
        <p:nvSpPr>
          <p:cNvPr id="348" name="Google Shape;348;p41"/>
          <p:cNvSpPr txBox="1"/>
          <p:nvPr>
            <p:ph idx="1" type="body"/>
          </p:nvPr>
        </p:nvSpPr>
        <p:spPr>
          <a:xfrm>
            <a:off x="716850" y="1226525"/>
            <a:ext cx="7710300" cy="2377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1155CC"/>
                </a:solidFill>
              </a:rPr>
              <a:t>Sigmoid</a:t>
            </a:r>
            <a:r>
              <a:rPr lang="en"/>
              <a:t> </a:t>
            </a:r>
            <a:r>
              <a:rPr lang="en" sz="1600">
                <a:latin typeface="Times New Roman"/>
                <a:ea typeface="Times New Roman"/>
                <a:cs typeface="Times New Roman"/>
                <a:sym typeface="Times New Roman"/>
              </a:rPr>
              <a:t>σ </a:t>
            </a:r>
            <a:r>
              <a:rPr lang="en"/>
              <a:t>is an activation function with a characteristic S curve.</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Applied to the function in order to make it nonlinear.</a:t>
            </a:r>
            <a:endParaRPr/>
          </a:p>
        </p:txBody>
      </p:sp>
      <p:pic>
        <p:nvPicPr>
          <p:cNvPr id="349" name="Google Shape;349;p41"/>
          <p:cNvPicPr preferRelativeResize="0"/>
          <p:nvPr/>
        </p:nvPicPr>
        <p:blipFill>
          <a:blip r:embed="rId3">
            <a:alphaModFix/>
          </a:blip>
          <a:stretch>
            <a:fillRect/>
          </a:stretch>
        </p:blipFill>
        <p:spPr>
          <a:xfrm>
            <a:off x="1681625" y="1891961"/>
            <a:ext cx="2279099" cy="1182325"/>
          </a:xfrm>
          <a:prstGeom prst="rect">
            <a:avLst/>
          </a:prstGeom>
          <a:noFill/>
          <a:ln>
            <a:noFill/>
          </a:ln>
        </p:spPr>
      </p:pic>
      <p:pic>
        <p:nvPicPr>
          <p:cNvPr id="350" name="Google Shape;350;p41"/>
          <p:cNvPicPr preferRelativeResize="0"/>
          <p:nvPr/>
        </p:nvPicPr>
        <p:blipFill>
          <a:blip r:embed="rId4">
            <a:alphaModFix/>
          </a:blip>
          <a:stretch>
            <a:fillRect/>
          </a:stretch>
        </p:blipFill>
        <p:spPr>
          <a:xfrm>
            <a:off x="5167825" y="2046936"/>
            <a:ext cx="2096875" cy="872400"/>
          </a:xfrm>
          <a:prstGeom prst="rect">
            <a:avLst/>
          </a:prstGeom>
          <a:noFill/>
          <a:ln>
            <a:noFill/>
          </a:ln>
        </p:spPr>
      </p:pic>
      <p:pic>
        <p:nvPicPr>
          <p:cNvPr id="351" name="Google Shape;351;p41"/>
          <p:cNvPicPr preferRelativeResize="0"/>
          <p:nvPr/>
        </p:nvPicPr>
        <p:blipFill>
          <a:blip r:embed="rId5">
            <a:alphaModFix/>
          </a:blip>
          <a:stretch>
            <a:fillRect/>
          </a:stretch>
        </p:blipFill>
        <p:spPr>
          <a:xfrm>
            <a:off x="1621225" y="3543175"/>
            <a:ext cx="2279100" cy="1465134"/>
          </a:xfrm>
          <a:prstGeom prst="rect">
            <a:avLst/>
          </a:prstGeom>
          <a:noFill/>
          <a:ln>
            <a:noFill/>
          </a:ln>
        </p:spPr>
      </p:pic>
      <p:sp>
        <p:nvSpPr>
          <p:cNvPr id="352" name="Google Shape;352;p41"/>
          <p:cNvSpPr txBox="1"/>
          <p:nvPr/>
        </p:nvSpPr>
        <p:spPr>
          <a:xfrm>
            <a:off x="5056350" y="3980663"/>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a:solidFill>
                  <a:schemeClr val="dk1"/>
                </a:solidFill>
                <a:latin typeface="Cambria Math"/>
                <a:ea typeface="Cambria Math"/>
                <a:cs typeface="Cambria Math"/>
                <a:sym typeface="Cambria Math"/>
              </a:rPr>
              <a:t>y = σ(w</a:t>
            </a:r>
            <a:r>
              <a:rPr baseline="-25000" lang="en" sz="2000">
                <a:solidFill>
                  <a:schemeClr val="dk1"/>
                </a:solidFill>
                <a:latin typeface="Cambria Math"/>
                <a:ea typeface="Cambria Math"/>
                <a:cs typeface="Cambria Math"/>
                <a:sym typeface="Cambria Math"/>
              </a:rPr>
              <a:t>1</a:t>
            </a:r>
            <a:r>
              <a:rPr lang="en" sz="2000">
                <a:solidFill>
                  <a:schemeClr val="dk1"/>
                </a:solidFill>
                <a:latin typeface="Cambria Math"/>
                <a:ea typeface="Cambria Math"/>
                <a:cs typeface="Cambria Math"/>
                <a:sym typeface="Cambria Math"/>
              </a:rPr>
              <a:t>x</a:t>
            </a:r>
            <a:r>
              <a:rPr baseline="-25000" lang="en" sz="2000">
                <a:solidFill>
                  <a:schemeClr val="dk1"/>
                </a:solidFill>
                <a:latin typeface="Cambria Math"/>
                <a:ea typeface="Cambria Math"/>
                <a:cs typeface="Cambria Math"/>
                <a:sym typeface="Cambria Math"/>
              </a:rPr>
              <a:t>1</a:t>
            </a:r>
            <a:r>
              <a:rPr lang="en" sz="2000">
                <a:solidFill>
                  <a:schemeClr val="dk1"/>
                </a:solidFill>
                <a:latin typeface="Cambria Math"/>
                <a:ea typeface="Cambria Math"/>
                <a:cs typeface="Cambria Math"/>
                <a:sym typeface="Cambria Math"/>
              </a:rPr>
              <a:t> + w</a:t>
            </a:r>
            <a:r>
              <a:rPr baseline="-25000" lang="en" sz="2000">
                <a:solidFill>
                  <a:schemeClr val="dk1"/>
                </a:solidFill>
                <a:latin typeface="Cambria Math"/>
                <a:ea typeface="Cambria Math"/>
                <a:cs typeface="Cambria Math"/>
                <a:sym typeface="Cambria Math"/>
              </a:rPr>
              <a:t>2</a:t>
            </a:r>
            <a:r>
              <a:rPr lang="en" sz="2000">
                <a:solidFill>
                  <a:schemeClr val="dk1"/>
                </a:solidFill>
                <a:latin typeface="Cambria Math"/>
                <a:ea typeface="Cambria Math"/>
                <a:cs typeface="Cambria Math"/>
                <a:sym typeface="Cambria Math"/>
              </a:rPr>
              <a:t>x</a:t>
            </a:r>
            <a:r>
              <a:rPr baseline="-25000" lang="en" sz="2000">
                <a:solidFill>
                  <a:schemeClr val="dk1"/>
                </a:solidFill>
                <a:latin typeface="Cambria Math"/>
                <a:ea typeface="Cambria Math"/>
                <a:cs typeface="Cambria Math"/>
                <a:sym typeface="Cambria Math"/>
              </a:rPr>
              <a:t>2</a:t>
            </a:r>
            <a:r>
              <a:rPr lang="en" sz="2000">
                <a:solidFill>
                  <a:schemeClr val="dk1"/>
                </a:solidFill>
                <a:latin typeface="Cambria Math"/>
                <a:ea typeface="Cambria Math"/>
                <a:cs typeface="Cambria Math"/>
                <a:sym typeface="Cambria Math"/>
              </a:rPr>
              <a:t> + b)</a:t>
            </a:r>
            <a:endParaRPr sz="2000">
              <a:solidFill>
                <a:schemeClr val="dk1"/>
              </a:solidFill>
              <a:latin typeface="Cambria Math"/>
              <a:ea typeface="Cambria Math"/>
              <a:cs typeface="Cambria Math"/>
              <a:sym typeface="Cambria Math"/>
            </a:endParaRPr>
          </a:p>
        </p:txBody>
      </p:sp>
      <p:sp>
        <p:nvSpPr>
          <p:cNvPr id="353" name="Google Shape;353;p4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42"/>
          <p:cNvSpPr txBox="1"/>
          <p:nvPr>
            <p:ph type="title"/>
          </p:nvPr>
        </p:nvSpPr>
        <p:spPr>
          <a:xfrm>
            <a:off x="229075" y="372800"/>
            <a:ext cx="67392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Feedforward Networks</a:t>
            </a:r>
            <a:endParaRPr/>
          </a:p>
        </p:txBody>
      </p:sp>
      <p:sp>
        <p:nvSpPr>
          <p:cNvPr id="359" name="Google Shape;359;p42"/>
          <p:cNvSpPr txBox="1"/>
          <p:nvPr>
            <p:ph idx="1" type="body"/>
          </p:nvPr>
        </p:nvSpPr>
        <p:spPr>
          <a:xfrm>
            <a:off x="699350" y="1317725"/>
            <a:ext cx="7710300" cy="4668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In a </a:t>
            </a:r>
            <a:r>
              <a:rPr lang="en">
                <a:solidFill>
                  <a:srgbClr val="1155CC"/>
                </a:solidFill>
              </a:rPr>
              <a:t>feedforward network</a:t>
            </a:r>
            <a:r>
              <a:rPr lang="en"/>
              <a:t>, weights and biases only flow forward in one direction.</a:t>
            </a:r>
            <a:endParaRPr/>
          </a:p>
        </p:txBody>
      </p:sp>
      <p:pic>
        <p:nvPicPr>
          <p:cNvPr id="360" name="Google Shape;360;p42"/>
          <p:cNvPicPr preferRelativeResize="0"/>
          <p:nvPr/>
        </p:nvPicPr>
        <p:blipFill>
          <a:blip r:embed="rId3">
            <a:alphaModFix/>
          </a:blip>
          <a:stretch>
            <a:fillRect/>
          </a:stretch>
        </p:blipFill>
        <p:spPr>
          <a:xfrm>
            <a:off x="2737250" y="1859671"/>
            <a:ext cx="3866225" cy="2874454"/>
          </a:xfrm>
          <a:prstGeom prst="rect">
            <a:avLst/>
          </a:prstGeom>
          <a:noFill/>
          <a:ln>
            <a:noFill/>
          </a:ln>
        </p:spPr>
      </p:pic>
      <p:sp>
        <p:nvSpPr>
          <p:cNvPr id="361" name="Google Shape;361;p42"/>
          <p:cNvSpPr txBox="1"/>
          <p:nvPr/>
        </p:nvSpPr>
        <p:spPr>
          <a:xfrm>
            <a:off x="6777650" y="1992825"/>
            <a:ext cx="15753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latin typeface="Fira Code"/>
                <a:ea typeface="Fira Code"/>
                <a:cs typeface="Fira Code"/>
                <a:sym typeface="Fira Code"/>
              </a:rPr>
              <a:t>output layer</a:t>
            </a:r>
            <a:endParaRPr sz="1300">
              <a:latin typeface="Fira Code"/>
              <a:ea typeface="Fira Code"/>
              <a:cs typeface="Fira Code"/>
              <a:sym typeface="Fira Code"/>
            </a:endParaRPr>
          </a:p>
        </p:txBody>
      </p:sp>
      <p:sp>
        <p:nvSpPr>
          <p:cNvPr id="362" name="Google Shape;362;p42"/>
          <p:cNvSpPr txBox="1"/>
          <p:nvPr/>
        </p:nvSpPr>
        <p:spPr>
          <a:xfrm>
            <a:off x="6834350" y="2925475"/>
            <a:ext cx="15753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latin typeface="Fira Code"/>
                <a:ea typeface="Fira Code"/>
                <a:cs typeface="Fira Code"/>
                <a:sym typeface="Fira Code"/>
              </a:rPr>
              <a:t>hidden</a:t>
            </a:r>
            <a:r>
              <a:rPr lang="en" sz="1300">
                <a:latin typeface="Fira Code"/>
                <a:ea typeface="Fira Code"/>
                <a:cs typeface="Fira Code"/>
                <a:sym typeface="Fira Code"/>
              </a:rPr>
              <a:t> layer</a:t>
            </a:r>
            <a:endParaRPr sz="1300">
              <a:latin typeface="Fira Code"/>
              <a:ea typeface="Fira Code"/>
              <a:cs typeface="Fira Code"/>
              <a:sym typeface="Fira Code"/>
            </a:endParaRPr>
          </a:p>
        </p:txBody>
      </p:sp>
      <p:sp>
        <p:nvSpPr>
          <p:cNvPr id="363" name="Google Shape;363;p42"/>
          <p:cNvSpPr txBox="1"/>
          <p:nvPr/>
        </p:nvSpPr>
        <p:spPr>
          <a:xfrm>
            <a:off x="6834350" y="4060750"/>
            <a:ext cx="15753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latin typeface="Fira Code"/>
                <a:ea typeface="Fira Code"/>
                <a:cs typeface="Fira Code"/>
                <a:sym typeface="Fira Code"/>
              </a:rPr>
              <a:t>input</a:t>
            </a:r>
            <a:r>
              <a:rPr lang="en" sz="1300">
                <a:latin typeface="Fira Code"/>
                <a:ea typeface="Fira Code"/>
                <a:cs typeface="Fira Code"/>
                <a:sym typeface="Fira Code"/>
              </a:rPr>
              <a:t> layer</a:t>
            </a:r>
            <a:endParaRPr sz="1300">
              <a:latin typeface="Fira Code"/>
              <a:ea typeface="Fira Code"/>
              <a:cs typeface="Fira Code"/>
              <a:sym typeface="Fira Code"/>
            </a:endParaRPr>
          </a:p>
          <a:p>
            <a:pPr indent="0" lvl="0" marL="0" rtl="0" algn="l">
              <a:spcBef>
                <a:spcPts val="0"/>
              </a:spcBef>
              <a:spcAft>
                <a:spcPts val="0"/>
              </a:spcAft>
              <a:buNone/>
            </a:pPr>
            <a:r>
              <a:rPr lang="en" sz="1100">
                <a:latin typeface="Fira Code"/>
                <a:ea typeface="Fira Code"/>
                <a:cs typeface="Fira Code"/>
                <a:sym typeface="Fira Code"/>
              </a:rPr>
              <a:t>(features)</a:t>
            </a:r>
            <a:endParaRPr sz="1100">
              <a:latin typeface="Fira Code"/>
              <a:ea typeface="Fira Code"/>
              <a:cs typeface="Fira Code"/>
              <a:sym typeface="Fira Code"/>
            </a:endParaRPr>
          </a:p>
        </p:txBody>
      </p:sp>
      <p:sp>
        <p:nvSpPr>
          <p:cNvPr id="364" name="Google Shape;364;p42"/>
          <p:cNvSpPr txBox="1"/>
          <p:nvPr/>
        </p:nvSpPr>
        <p:spPr>
          <a:xfrm>
            <a:off x="699350" y="3512775"/>
            <a:ext cx="2037900" cy="969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700">
                <a:latin typeface="Calibri"/>
                <a:ea typeface="Calibri"/>
                <a:cs typeface="Calibri"/>
                <a:sym typeface="Calibri"/>
              </a:rPr>
              <a:t>Also called a </a:t>
            </a:r>
            <a:r>
              <a:rPr lang="en" sz="1700">
                <a:solidFill>
                  <a:srgbClr val="1155CC"/>
                </a:solidFill>
                <a:latin typeface="Calibri"/>
                <a:ea typeface="Calibri"/>
                <a:cs typeface="Calibri"/>
                <a:sym typeface="Calibri"/>
              </a:rPr>
              <a:t>multilayer perceptron</a:t>
            </a:r>
            <a:r>
              <a:rPr lang="en" sz="1700">
                <a:latin typeface="Calibri"/>
                <a:ea typeface="Calibri"/>
                <a:cs typeface="Calibri"/>
                <a:sym typeface="Calibri"/>
              </a:rPr>
              <a:t> (MLP).</a:t>
            </a:r>
            <a:endParaRPr sz="1700">
              <a:latin typeface="Calibri"/>
              <a:ea typeface="Calibri"/>
              <a:cs typeface="Calibri"/>
              <a:sym typeface="Calibri"/>
            </a:endParaRPr>
          </a:p>
        </p:txBody>
      </p:sp>
      <p:sp>
        <p:nvSpPr>
          <p:cNvPr id="365" name="Google Shape;365;p42"/>
          <p:cNvSpPr/>
          <p:nvPr/>
        </p:nvSpPr>
        <p:spPr>
          <a:xfrm>
            <a:off x="1969175" y="2362047"/>
            <a:ext cx="1317300" cy="573125"/>
          </a:xfrm>
          <a:custGeom>
            <a:rect b="b" l="l" r="r" t="t"/>
            <a:pathLst>
              <a:path extrusionOk="0" h="22925" w="52692">
                <a:moveTo>
                  <a:pt x="52692" y="22925"/>
                </a:moveTo>
                <a:cubicBezTo>
                  <a:pt x="52692" y="17877"/>
                  <a:pt x="52062" y="12043"/>
                  <a:pt x="48638" y="8334"/>
                </a:cubicBezTo>
                <a:cubicBezTo>
                  <a:pt x="43565" y="2838"/>
                  <a:pt x="34754" y="-1423"/>
                  <a:pt x="27562" y="633"/>
                </a:cubicBezTo>
                <a:cubicBezTo>
                  <a:pt x="17627" y="3473"/>
                  <a:pt x="10333" y="14819"/>
                  <a:pt x="0" y="14819"/>
                </a:cubicBezTo>
              </a:path>
            </a:pathLst>
          </a:custGeom>
          <a:noFill/>
          <a:ln cap="flat" cmpd="sng" w="28575">
            <a:solidFill>
              <a:schemeClr val="dk2"/>
            </a:solidFill>
            <a:prstDash val="solid"/>
            <a:round/>
            <a:headEnd len="med" w="med" type="triangle"/>
            <a:tailEnd len="med" w="med" type="none"/>
          </a:ln>
        </p:spPr>
      </p:sp>
      <p:sp>
        <p:nvSpPr>
          <p:cNvPr id="366" name="Google Shape;366;p42"/>
          <p:cNvSpPr txBox="1"/>
          <p:nvPr/>
        </p:nvSpPr>
        <p:spPr>
          <a:xfrm>
            <a:off x="550550" y="2525275"/>
            <a:ext cx="1479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Calibri"/>
                <a:ea typeface="Calibri"/>
                <a:cs typeface="Calibri"/>
                <a:sym typeface="Calibri"/>
              </a:rPr>
              <a:t>Sigmoid function</a:t>
            </a:r>
            <a:endParaRPr>
              <a:latin typeface="Calibri"/>
              <a:ea typeface="Calibri"/>
              <a:cs typeface="Calibri"/>
              <a:sym typeface="Calibri"/>
            </a:endParaRPr>
          </a:p>
        </p:txBody>
      </p:sp>
      <p:sp>
        <p:nvSpPr>
          <p:cNvPr id="367" name="Google Shape;367;p4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43"/>
          <p:cNvSpPr txBox="1"/>
          <p:nvPr>
            <p:ph type="title"/>
          </p:nvPr>
        </p:nvSpPr>
        <p:spPr>
          <a:xfrm>
            <a:off x="229075" y="372800"/>
            <a:ext cx="67392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Regression</a:t>
            </a:r>
            <a:endParaRPr/>
          </a:p>
        </p:txBody>
      </p:sp>
      <p:sp>
        <p:nvSpPr>
          <p:cNvPr id="373" name="Google Shape;373;p4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374" name="Google Shape;374;p43"/>
          <p:cNvPicPr preferRelativeResize="0"/>
          <p:nvPr/>
        </p:nvPicPr>
        <p:blipFill>
          <a:blip r:embed="rId3">
            <a:alphaModFix/>
          </a:blip>
          <a:stretch>
            <a:fillRect/>
          </a:stretch>
        </p:blipFill>
        <p:spPr>
          <a:xfrm>
            <a:off x="2571912" y="1644028"/>
            <a:ext cx="3931181" cy="3019198"/>
          </a:xfrm>
          <a:prstGeom prst="rect">
            <a:avLst/>
          </a:prstGeom>
          <a:noFill/>
          <a:ln>
            <a:noFill/>
          </a:ln>
        </p:spPr>
      </p:pic>
      <p:sp>
        <p:nvSpPr>
          <p:cNvPr id="375" name="Google Shape;375;p43"/>
          <p:cNvSpPr txBox="1"/>
          <p:nvPr/>
        </p:nvSpPr>
        <p:spPr>
          <a:xfrm>
            <a:off x="6680194" y="2071238"/>
            <a:ext cx="21684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latin typeface="Fira Code"/>
                <a:ea typeface="Fira Code"/>
                <a:cs typeface="Fira Code"/>
                <a:sym typeface="Fira Code"/>
              </a:rPr>
              <a:t>linear regression</a:t>
            </a:r>
            <a:endParaRPr sz="1100">
              <a:latin typeface="Fira Code"/>
              <a:ea typeface="Fira Code"/>
              <a:cs typeface="Fira Code"/>
              <a:sym typeface="Fira Code"/>
            </a:endParaRPr>
          </a:p>
        </p:txBody>
      </p:sp>
      <p:sp>
        <p:nvSpPr>
          <p:cNvPr id="376" name="Google Shape;376;p43"/>
          <p:cNvSpPr txBox="1"/>
          <p:nvPr/>
        </p:nvSpPr>
        <p:spPr>
          <a:xfrm>
            <a:off x="6680194" y="3519152"/>
            <a:ext cx="2168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latin typeface="Fira Code"/>
                <a:ea typeface="Fira Code"/>
                <a:cs typeface="Fira Code"/>
                <a:sym typeface="Fira Code"/>
              </a:rPr>
              <a:t>feature</a:t>
            </a:r>
            <a:r>
              <a:rPr lang="en">
                <a:latin typeface="Fira Code"/>
                <a:ea typeface="Fira Code"/>
                <a:cs typeface="Fira Code"/>
                <a:sym typeface="Fira Code"/>
              </a:rPr>
              <a:t> </a:t>
            </a:r>
            <a:r>
              <a:rPr lang="en" sz="1100">
                <a:latin typeface="Fira Code"/>
                <a:ea typeface="Fira Code"/>
                <a:cs typeface="Fira Code"/>
                <a:sym typeface="Fira Code"/>
              </a:rPr>
              <a:t>expansion</a:t>
            </a:r>
            <a:endParaRPr sz="1100">
              <a:latin typeface="Fira Code"/>
              <a:ea typeface="Fira Code"/>
              <a:cs typeface="Fira Code"/>
              <a:sym typeface="Fira Code"/>
            </a:endParaRPr>
          </a:p>
        </p:txBody>
      </p:sp>
      <p:sp>
        <p:nvSpPr>
          <p:cNvPr id="377" name="Google Shape;377;p43"/>
          <p:cNvSpPr txBox="1"/>
          <p:nvPr/>
        </p:nvSpPr>
        <p:spPr>
          <a:xfrm>
            <a:off x="2685260" y="1837114"/>
            <a:ext cx="3318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Calibri"/>
                <a:ea typeface="Calibri"/>
                <a:cs typeface="Calibri"/>
                <a:sym typeface="Calibri"/>
              </a:rPr>
              <a:t>y</a:t>
            </a:r>
            <a:endParaRPr sz="1600">
              <a:latin typeface="Calibri"/>
              <a:ea typeface="Calibri"/>
              <a:cs typeface="Calibri"/>
              <a:sym typeface="Calibri"/>
            </a:endParaRPr>
          </a:p>
        </p:txBody>
      </p:sp>
      <p:sp>
        <p:nvSpPr>
          <p:cNvPr id="378" name="Google Shape;378;p43"/>
          <p:cNvSpPr txBox="1"/>
          <p:nvPr/>
        </p:nvSpPr>
        <p:spPr>
          <a:xfrm>
            <a:off x="2685260" y="2752839"/>
            <a:ext cx="331800" cy="431100"/>
          </a:xfrm>
          <a:prstGeom prst="rect">
            <a:avLst/>
          </a:prstGeom>
          <a:solidFill>
            <a:srgbClr val="E9F5F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latin typeface="Calibri"/>
                <a:ea typeface="Calibri"/>
                <a:cs typeface="Calibri"/>
                <a:sym typeface="Calibri"/>
              </a:rPr>
              <a:t>h</a:t>
            </a:r>
            <a:endParaRPr b="1" sz="1600">
              <a:latin typeface="Calibri"/>
              <a:ea typeface="Calibri"/>
              <a:cs typeface="Calibri"/>
              <a:sym typeface="Calibri"/>
            </a:endParaRPr>
          </a:p>
        </p:txBody>
      </p:sp>
      <p:sp>
        <p:nvSpPr>
          <p:cNvPr id="379" name="Google Shape;379;p43"/>
          <p:cNvSpPr txBox="1"/>
          <p:nvPr/>
        </p:nvSpPr>
        <p:spPr>
          <a:xfrm>
            <a:off x="2747895" y="4073031"/>
            <a:ext cx="3318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Calibri"/>
                <a:ea typeface="Calibri"/>
                <a:cs typeface="Calibri"/>
                <a:sym typeface="Calibri"/>
              </a:rPr>
              <a:t>x</a:t>
            </a:r>
            <a:endParaRPr sz="1600">
              <a:latin typeface="Calibri"/>
              <a:ea typeface="Calibri"/>
              <a:cs typeface="Calibri"/>
              <a:sym typeface="Calibri"/>
            </a:endParaRPr>
          </a:p>
        </p:txBody>
      </p:sp>
      <p:sp>
        <p:nvSpPr>
          <p:cNvPr id="380" name="Google Shape;380;p43"/>
          <p:cNvSpPr/>
          <p:nvPr/>
        </p:nvSpPr>
        <p:spPr>
          <a:xfrm>
            <a:off x="3575520" y="1280301"/>
            <a:ext cx="1084722" cy="448048"/>
          </a:xfrm>
          <a:custGeom>
            <a:rect b="b" l="l" r="r" t="t"/>
            <a:pathLst>
              <a:path extrusionOk="0" h="17062" w="42672">
                <a:moveTo>
                  <a:pt x="42672" y="17062"/>
                </a:moveTo>
                <a:cubicBezTo>
                  <a:pt x="42672" y="11039"/>
                  <a:pt x="40978" y="1756"/>
                  <a:pt x="35052" y="679"/>
                </a:cubicBezTo>
                <a:cubicBezTo>
                  <a:pt x="29553" y="-321"/>
                  <a:pt x="23769" y="-36"/>
                  <a:pt x="18288" y="1060"/>
                </a:cubicBezTo>
                <a:cubicBezTo>
                  <a:pt x="12206" y="2276"/>
                  <a:pt x="5547" y="7263"/>
                  <a:pt x="0" y="4489"/>
                </a:cubicBezTo>
              </a:path>
            </a:pathLst>
          </a:custGeom>
          <a:noFill/>
          <a:ln cap="flat" cmpd="sng" w="28575">
            <a:solidFill>
              <a:schemeClr val="dk2"/>
            </a:solidFill>
            <a:prstDash val="solid"/>
            <a:round/>
            <a:headEnd len="med" w="med" type="triangle"/>
            <a:tailEnd len="med" w="med" type="none"/>
          </a:ln>
        </p:spPr>
      </p:sp>
      <p:sp>
        <p:nvSpPr>
          <p:cNvPr id="381" name="Google Shape;381;p43"/>
          <p:cNvSpPr txBox="1"/>
          <p:nvPr/>
        </p:nvSpPr>
        <p:spPr>
          <a:xfrm>
            <a:off x="2202025" y="1175351"/>
            <a:ext cx="1423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Calibri"/>
                <a:ea typeface="Calibri"/>
                <a:cs typeface="Calibri"/>
                <a:sym typeface="Calibri"/>
              </a:rPr>
              <a:t>numerical value</a:t>
            </a:r>
            <a:endParaRPr>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44"/>
          <p:cNvSpPr txBox="1"/>
          <p:nvPr>
            <p:ph type="title"/>
          </p:nvPr>
        </p:nvSpPr>
        <p:spPr>
          <a:xfrm>
            <a:off x="229075" y="372800"/>
            <a:ext cx="67392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Binary Classification</a:t>
            </a:r>
            <a:endParaRPr/>
          </a:p>
        </p:txBody>
      </p:sp>
      <p:sp>
        <p:nvSpPr>
          <p:cNvPr id="387" name="Google Shape;387;p4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388" name="Google Shape;388;p44"/>
          <p:cNvPicPr preferRelativeResize="0"/>
          <p:nvPr/>
        </p:nvPicPr>
        <p:blipFill>
          <a:blip r:embed="rId3">
            <a:alphaModFix/>
          </a:blip>
          <a:stretch>
            <a:fillRect/>
          </a:stretch>
        </p:blipFill>
        <p:spPr>
          <a:xfrm>
            <a:off x="2476500" y="1775625"/>
            <a:ext cx="4025357" cy="2958500"/>
          </a:xfrm>
          <a:prstGeom prst="rect">
            <a:avLst/>
          </a:prstGeom>
          <a:noFill/>
          <a:ln>
            <a:noFill/>
          </a:ln>
        </p:spPr>
      </p:pic>
      <p:sp>
        <p:nvSpPr>
          <p:cNvPr id="389" name="Google Shape;389;p44"/>
          <p:cNvSpPr txBox="1"/>
          <p:nvPr/>
        </p:nvSpPr>
        <p:spPr>
          <a:xfrm>
            <a:off x="6604000" y="2194250"/>
            <a:ext cx="26163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latin typeface="Fira Code"/>
                <a:ea typeface="Fira Code"/>
                <a:cs typeface="Fira Code"/>
                <a:sym typeface="Fira Code"/>
              </a:rPr>
              <a:t>probability</a:t>
            </a:r>
            <a:endParaRPr sz="1200">
              <a:latin typeface="Fira Code"/>
              <a:ea typeface="Fira Code"/>
              <a:cs typeface="Fira Code"/>
              <a:sym typeface="Fira Code"/>
            </a:endParaRPr>
          </a:p>
        </p:txBody>
      </p:sp>
      <p:sp>
        <p:nvSpPr>
          <p:cNvPr id="390" name="Google Shape;390;p44"/>
          <p:cNvSpPr txBox="1"/>
          <p:nvPr/>
        </p:nvSpPr>
        <p:spPr>
          <a:xfrm>
            <a:off x="6615134" y="3613052"/>
            <a:ext cx="22203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latin typeface="Fira Code"/>
                <a:ea typeface="Fira Code"/>
                <a:cs typeface="Fira Code"/>
                <a:sym typeface="Fira Code"/>
              </a:rPr>
              <a:t>feature expansion</a:t>
            </a:r>
            <a:endParaRPr sz="1200">
              <a:latin typeface="Fira Code"/>
              <a:ea typeface="Fira Code"/>
              <a:cs typeface="Fira Code"/>
              <a:sym typeface="Fira Code"/>
            </a:endParaRPr>
          </a:p>
        </p:txBody>
      </p:sp>
      <p:sp>
        <p:nvSpPr>
          <p:cNvPr id="391" name="Google Shape;391;p44"/>
          <p:cNvSpPr txBox="1"/>
          <p:nvPr/>
        </p:nvSpPr>
        <p:spPr>
          <a:xfrm>
            <a:off x="2592563" y="1964829"/>
            <a:ext cx="3399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Calibri"/>
                <a:ea typeface="Calibri"/>
                <a:cs typeface="Calibri"/>
                <a:sym typeface="Calibri"/>
              </a:rPr>
              <a:t>y</a:t>
            </a:r>
            <a:endParaRPr sz="1600">
              <a:latin typeface="Calibri"/>
              <a:ea typeface="Calibri"/>
              <a:cs typeface="Calibri"/>
              <a:sym typeface="Calibri"/>
            </a:endParaRPr>
          </a:p>
        </p:txBody>
      </p:sp>
      <p:sp>
        <p:nvSpPr>
          <p:cNvPr id="392" name="Google Shape;392;p44"/>
          <p:cNvSpPr txBox="1"/>
          <p:nvPr/>
        </p:nvSpPr>
        <p:spPr>
          <a:xfrm>
            <a:off x="2592563" y="2862145"/>
            <a:ext cx="339900" cy="431100"/>
          </a:xfrm>
          <a:prstGeom prst="rect">
            <a:avLst/>
          </a:prstGeom>
          <a:solidFill>
            <a:srgbClr val="E9F5F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latin typeface="Calibri"/>
                <a:ea typeface="Calibri"/>
                <a:cs typeface="Calibri"/>
                <a:sym typeface="Calibri"/>
              </a:rPr>
              <a:t>h</a:t>
            </a:r>
            <a:endParaRPr b="1" sz="1600">
              <a:latin typeface="Calibri"/>
              <a:ea typeface="Calibri"/>
              <a:cs typeface="Calibri"/>
              <a:sym typeface="Calibri"/>
            </a:endParaRPr>
          </a:p>
        </p:txBody>
      </p:sp>
      <p:sp>
        <p:nvSpPr>
          <p:cNvPr id="393" name="Google Shape;393;p44"/>
          <p:cNvSpPr txBox="1"/>
          <p:nvPr/>
        </p:nvSpPr>
        <p:spPr>
          <a:xfrm>
            <a:off x="2656699" y="4155795"/>
            <a:ext cx="3399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Calibri"/>
                <a:ea typeface="Calibri"/>
                <a:cs typeface="Calibri"/>
                <a:sym typeface="Calibri"/>
              </a:rPr>
              <a:t>x</a:t>
            </a:r>
            <a:endParaRPr sz="1600">
              <a:latin typeface="Calibri"/>
              <a:ea typeface="Calibri"/>
              <a:cs typeface="Calibri"/>
              <a:sym typeface="Calibri"/>
            </a:endParaRPr>
          </a:p>
        </p:txBody>
      </p:sp>
      <p:sp>
        <p:nvSpPr>
          <p:cNvPr id="394" name="Google Shape;394;p44"/>
          <p:cNvSpPr/>
          <p:nvPr/>
        </p:nvSpPr>
        <p:spPr>
          <a:xfrm>
            <a:off x="3829018" y="1315395"/>
            <a:ext cx="848109" cy="503382"/>
          </a:xfrm>
          <a:custGeom>
            <a:rect b="b" l="l" r="r" t="t"/>
            <a:pathLst>
              <a:path extrusionOk="0" h="19564" w="32582">
                <a:moveTo>
                  <a:pt x="32020" y="19564"/>
                </a:moveTo>
                <a:cubicBezTo>
                  <a:pt x="33166" y="13844"/>
                  <a:pt x="32713" y="5931"/>
                  <a:pt x="27967" y="2540"/>
                </a:cubicBezTo>
                <a:cubicBezTo>
                  <a:pt x="20382" y="-2880"/>
                  <a:pt x="9322" y="2540"/>
                  <a:pt x="0" y="2540"/>
                </a:cubicBezTo>
              </a:path>
            </a:pathLst>
          </a:custGeom>
          <a:noFill/>
          <a:ln cap="flat" cmpd="sng" w="28575">
            <a:solidFill>
              <a:schemeClr val="dk2"/>
            </a:solidFill>
            <a:prstDash val="solid"/>
            <a:round/>
            <a:headEnd len="med" w="med" type="triangle"/>
            <a:tailEnd len="med" w="med" type="none"/>
          </a:ln>
        </p:spPr>
      </p:sp>
      <p:sp>
        <p:nvSpPr>
          <p:cNvPr id="395" name="Google Shape;395;p44"/>
          <p:cNvSpPr txBox="1"/>
          <p:nvPr/>
        </p:nvSpPr>
        <p:spPr>
          <a:xfrm>
            <a:off x="2592563" y="1177925"/>
            <a:ext cx="12237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Calibri"/>
                <a:ea typeface="Calibri"/>
                <a:cs typeface="Calibri"/>
                <a:sym typeface="Calibri"/>
              </a:rPr>
              <a:t>p(C=Pos|x)</a:t>
            </a:r>
            <a:endParaRPr sz="1600">
              <a:latin typeface="Calibri"/>
              <a:ea typeface="Calibri"/>
              <a:cs typeface="Calibri"/>
              <a:sym typeface="Calibri"/>
            </a:endParaRPr>
          </a:p>
        </p:txBody>
      </p:sp>
      <p:pic>
        <p:nvPicPr>
          <p:cNvPr id="396" name="Google Shape;396;p44"/>
          <p:cNvPicPr preferRelativeResize="0"/>
          <p:nvPr/>
        </p:nvPicPr>
        <p:blipFill>
          <a:blip r:embed="rId4">
            <a:alphaModFix/>
          </a:blip>
          <a:stretch>
            <a:fillRect/>
          </a:stretch>
        </p:blipFill>
        <p:spPr>
          <a:xfrm>
            <a:off x="95250" y="1818773"/>
            <a:ext cx="2279099" cy="1182325"/>
          </a:xfrm>
          <a:prstGeom prst="rect">
            <a:avLst/>
          </a:prstGeom>
          <a:noFill/>
          <a:ln>
            <a:noFill/>
          </a:ln>
        </p:spPr>
      </p:pic>
      <p:pic>
        <p:nvPicPr>
          <p:cNvPr id="397" name="Google Shape;397;p44"/>
          <p:cNvPicPr preferRelativeResize="0"/>
          <p:nvPr/>
        </p:nvPicPr>
        <p:blipFill>
          <a:blip r:embed="rId5">
            <a:alphaModFix/>
          </a:blip>
          <a:stretch>
            <a:fillRect/>
          </a:stretch>
        </p:blipFill>
        <p:spPr>
          <a:xfrm>
            <a:off x="185238" y="1130898"/>
            <a:ext cx="2096875" cy="8724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45"/>
          <p:cNvSpPr txBox="1"/>
          <p:nvPr>
            <p:ph type="title"/>
          </p:nvPr>
        </p:nvSpPr>
        <p:spPr>
          <a:xfrm>
            <a:off x="229075" y="372800"/>
            <a:ext cx="67392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Multiclass</a:t>
            </a:r>
            <a:r>
              <a:rPr lang="en"/>
              <a:t> Classification</a:t>
            </a:r>
            <a:endParaRPr/>
          </a:p>
        </p:txBody>
      </p:sp>
      <p:sp>
        <p:nvSpPr>
          <p:cNvPr id="403" name="Google Shape;403;p45"/>
          <p:cNvSpPr txBox="1"/>
          <p:nvPr>
            <p:ph idx="1" type="body"/>
          </p:nvPr>
        </p:nvSpPr>
        <p:spPr>
          <a:xfrm>
            <a:off x="699350" y="1052350"/>
            <a:ext cx="7710300" cy="10365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lang="en">
                <a:solidFill>
                  <a:srgbClr val="1155CC"/>
                </a:solidFill>
              </a:rPr>
              <a:t>Softmax</a:t>
            </a:r>
            <a:r>
              <a:rPr lang="en"/>
              <a:t> is an activation function for multiclass classification, which gives a probability of an instance belonging to each class.</a:t>
            </a:r>
            <a:endParaRPr/>
          </a:p>
        </p:txBody>
      </p:sp>
      <p:sp>
        <p:nvSpPr>
          <p:cNvPr id="404" name="Google Shape;404;p4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405" name="Google Shape;405;p45"/>
          <p:cNvPicPr preferRelativeResize="0"/>
          <p:nvPr/>
        </p:nvPicPr>
        <p:blipFill>
          <a:blip r:embed="rId3">
            <a:alphaModFix/>
          </a:blip>
          <a:stretch>
            <a:fillRect/>
          </a:stretch>
        </p:blipFill>
        <p:spPr>
          <a:xfrm>
            <a:off x="3118250" y="1859671"/>
            <a:ext cx="3866225" cy="2874454"/>
          </a:xfrm>
          <a:prstGeom prst="rect">
            <a:avLst/>
          </a:prstGeom>
          <a:noFill/>
          <a:ln>
            <a:noFill/>
          </a:ln>
        </p:spPr>
      </p:pic>
      <p:sp>
        <p:nvSpPr>
          <p:cNvPr id="406" name="Google Shape;406;p45"/>
          <p:cNvSpPr txBox="1"/>
          <p:nvPr/>
        </p:nvSpPr>
        <p:spPr>
          <a:xfrm>
            <a:off x="7239650" y="3644900"/>
            <a:ext cx="21327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latin typeface="Fira Code"/>
                <a:ea typeface="Fira Code"/>
                <a:cs typeface="Fira Code"/>
                <a:sym typeface="Fira Code"/>
              </a:rPr>
              <a:t>feature expansion</a:t>
            </a:r>
            <a:endParaRPr sz="1200">
              <a:latin typeface="Fira Code"/>
              <a:ea typeface="Fira Code"/>
              <a:cs typeface="Fira Code"/>
              <a:sym typeface="Fira Code"/>
            </a:endParaRPr>
          </a:p>
        </p:txBody>
      </p:sp>
      <p:sp>
        <p:nvSpPr>
          <p:cNvPr id="407" name="Google Shape;407;p45"/>
          <p:cNvSpPr txBox="1"/>
          <p:nvPr/>
        </p:nvSpPr>
        <p:spPr>
          <a:xfrm>
            <a:off x="3229725" y="2043500"/>
            <a:ext cx="3264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Calibri"/>
                <a:ea typeface="Calibri"/>
                <a:cs typeface="Calibri"/>
                <a:sym typeface="Calibri"/>
              </a:rPr>
              <a:t>y</a:t>
            </a:r>
            <a:endParaRPr sz="1600">
              <a:latin typeface="Calibri"/>
              <a:ea typeface="Calibri"/>
              <a:cs typeface="Calibri"/>
              <a:sym typeface="Calibri"/>
            </a:endParaRPr>
          </a:p>
        </p:txBody>
      </p:sp>
      <p:sp>
        <p:nvSpPr>
          <p:cNvPr id="408" name="Google Shape;408;p45"/>
          <p:cNvSpPr txBox="1"/>
          <p:nvPr/>
        </p:nvSpPr>
        <p:spPr>
          <a:xfrm>
            <a:off x="3229725" y="2915325"/>
            <a:ext cx="326400" cy="431100"/>
          </a:xfrm>
          <a:prstGeom prst="rect">
            <a:avLst/>
          </a:prstGeom>
          <a:solidFill>
            <a:srgbClr val="E9F5F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latin typeface="Calibri"/>
                <a:ea typeface="Calibri"/>
                <a:cs typeface="Calibri"/>
                <a:sym typeface="Calibri"/>
              </a:rPr>
              <a:t>h</a:t>
            </a:r>
            <a:endParaRPr b="1" sz="1600">
              <a:latin typeface="Calibri"/>
              <a:ea typeface="Calibri"/>
              <a:cs typeface="Calibri"/>
              <a:sym typeface="Calibri"/>
            </a:endParaRPr>
          </a:p>
        </p:txBody>
      </p:sp>
      <p:sp>
        <p:nvSpPr>
          <p:cNvPr id="409" name="Google Shape;409;p45"/>
          <p:cNvSpPr txBox="1"/>
          <p:nvPr/>
        </p:nvSpPr>
        <p:spPr>
          <a:xfrm>
            <a:off x="3291325" y="4172225"/>
            <a:ext cx="3264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Calibri"/>
                <a:ea typeface="Calibri"/>
                <a:cs typeface="Calibri"/>
                <a:sym typeface="Calibri"/>
              </a:rPr>
              <a:t>x</a:t>
            </a:r>
            <a:endParaRPr sz="1600">
              <a:latin typeface="Calibri"/>
              <a:ea typeface="Calibri"/>
              <a:cs typeface="Calibri"/>
              <a:sym typeface="Calibri"/>
            </a:endParaRPr>
          </a:p>
        </p:txBody>
      </p:sp>
      <p:sp>
        <p:nvSpPr>
          <p:cNvPr id="410" name="Google Shape;410;p45"/>
          <p:cNvSpPr txBox="1"/>
          <p:nvPr/>
        </p:nvSpPr>
        <p:spPr>
          <a:xfrm>
            <a:off x="1381300" y="1949600"/>
            <a:ext cx="12870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Calibri"/>
                <a:ea typeface="Calibri"/>
                <a:cs typeface="Calibri"/>
                <a:sym typeface="Calibri"/>
              </a:rPr>
              <a:t>p(C=Class|x)</a:t>
            </a:r>
            <a:endParaRPr sz="1600">
              <a:latin typeface="Calibri"/>
              <a:ea typeface="Calibri"/>
              <a:cs typeface="Calibri"/>
              <a:sym typeface="Calibri"/>
            </a:endParaRPr>
          </a:p>
        </p:txBody>
      </p:sp>
      <p:sp>
        <p:nvSpPr>
          <p:cNvPr id="411" name="Google Shape;411;p45"/>
          <p:cNvSpPr/>
          <p:nvPr/>
        </p:nvSpPr>
        <p:spPr>
          <a:xfrm>
            <a:off x="6154000" y="2043500"/>
            <a:ext cx="188400" cy="182400"/>
          </a:xfrm>
          <a:prstGeom prst="ellipse">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12" name="Google Shape;412;p45"/>
          <p:cNvSpPr/>
          <p:nvPr/>
        </p:nvSpPr>
        <p:spPr>
          <a:xfrm>
            <a:off x="3953750" y="2073950"/>
            <a:ext cx="202500" cy="182400"/>
          </a:xfrm>
          <a:prstGeom prst="ellipse">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cxnSp>
        <p:nvCxnSpPr>
          <p:cNvPr id="413" name="Google Shape;413;p45"/>
          <p:cNvCxnSpPr>
            <a:endCxn id="412" idx="3"/>
          </p:cNvCxnSpPr>
          <p:nvPr/>
        </p:nvCxnSpPr>
        <p:spPr>
          <a:xfrm flipH="1" rot="10800000">
            <a:off x="3698705" y="2229638"/>
            <a:ext cx="284700" cy="837300"/>
          </a:xfrm>
          <a:prstGeom prst="straightConnector1">
            <a:avLst/>
          </a:prstGeom>
          <a:noFill/>
          <a:ln cap="flat" cmpd="sng" w="9525">
            <a:solidFill>
              <a:srgbClr val="00A4AD"/>
            </a:solidFill>
            <a:prstDash val="solid"/>
            <a:round/>
            <a:headEnd len="med" w="med" type="none"/>
            <a:tailEnd len="med" w="med" type="triangle"/>
          </a:ln>
        </p:spPr>
      </p:cxnSp>
      <p:cxnSp>
        <p:nvCxnSpPr>
          <p:cNvPr id="414" name="Google Shape;414;p45"/>
          <p:cNvCxnSpPr>
            <a:endCxn id="412" idx="4"/>
          </p:cNvCxnSpPr>
          <p:nvPr/>
        </p:nvCxnSpPr>
        <p:spPr>
          <a:xfrm rot="10800000">
            <a:off x="4055000" y="2256350"/>
            <a:ext cx="557100" cy="829500"/>
          </a:xfrm>
          <a:prstGeom prst="straightConnector1">
            <a:avLst/>
          </a:prstGeom>
          <a:noFill/>
          <a:ln cap="flat" cmpd="sng" w="9525">
            <a:solidFill>
              <a:srgbClr val="00A4AD"/>
            </a:solidFill>
            <a:prstDash val="solid"/>
            <a:round/>
            <a:headEnd len="med" w="med" type="none"/>
            <a:tailEnd len="med" w="med" type="triangle"/>
          </a:ln>
        </p:spPr>
      </p:cxnSp>
      <p:cxnSp>
        <p:nvCxnSpPr>
          <p:cNvPr id="415" name="Google Shape;415;p45"/>
          <p:cNvCxnSpPr>
            <a:endCxn id="412" idx="5"/>
          </p:cNvCxnSpPr>
          <p:nvPr/>
        </p:nvCxnSpPr>
        <p:spPr>
          <a:xfrm rot="10800000">
            <a:off x="4126595" y="2229638"/>
            <a:ext cx="1512000" cy="893100"/>
          </a:xfrm>
          <a:prstGeom prst="straightConnector1">
            <a:avLst/>
          </a:prstGeom>
          <a:noFill/>
          <a:ln cap="flat" cmpd="sng" w="9525">
            <a:solidFill>
              <a:srgbClr val="00A4AD"/>
            </a:solidFill>
            <a:prstDash val="solid"/>
            <a:round/>
            <a:headEnd len="med" w="med" type="none"/>
            <a:tailEnd len="med" w="med" type="triangle"/>
          </a:ln>
        </p:spPr>
      </p:cxnSp>
      <p:cxnSp>
        <p:nvCxnSpPr>
          <p:cNvPr id="416" name="Google Shape;416;p45"/>
          <p:cNvCxnSpPr>
            <a:endCxn id="411" idx="2"/>
          </p:cNvCxnSpPr>
          <p:nvPr/>
        </p:nvCxnSpPr>
        <p:spPr>
          <a:xfrm flipH="1" rot="10800000">
            <a:off x="3766300" y="2134700"/>
            <a:ext cx="2387700" cy="1023000"/>
          </a:xfrm>
          <a:prstGeom prst="straightConnector1">
            <a:avLst/>
          </a:prstGeom>
          <a:noFill/>
          <a:ln cap="flat" cmpd="sng" w="9525">
            <a:solidFill>
              <a:srgbClr val="00A4AD"/>
            </a:solidFill>
            <a:prstDash val="solid"/>
            <a:round/>
            <a:headEnd len="med" w="med" type="none"/>
            <a:tailEnd len="med" w="med" type="triangle"/>
          </a:ln>
        </p:spPr>
      </p:cxnSp>
      <p:cxnSp>
        <p:nvCxnSpPr>
          <p:cNvPr id="417" name="Google Shape;417;p45"/>
          <p:cNvCxnSpPr>
            <a:endCxn id="411" idx="3"/>
          </p:cNvCxnSpPr>
          <p:nvPr/>
        </p:nvCxnSpPr>
        <p:spPr>
          <a:xfrm flipH="1" rot="10800000">
            <a:off x="4777291" y="2199188"/>
            <a:ext cx="1404300" cy="893100"/>
          </a:xfrm>
          <a:prstGeom prst="straightConnector1">
            <a:avLst/>
          </a:prstGeom>
          <a:noFill/>
          <a:ln cap="flat" cmpd="sng" w="9525">
            <a:solidFill>
              <a:srgbClr val="00A4AD"/>
            </a:solidFill>
            <a:prstDash val="solid"/>
            <a:round/>
            <a:headEnd len="med" w="med" type="none"/>
            <a:tailEnd len="med" w="med" type="triangle"/>
          </a:ln>
        </p:spPr>
      </p:cxnSp>
      <p:cxnSp>
        <p:nvCxnSpPr>
          <p:cNvPr id="418" name="Google Shape;418;p45"/>
          <p:cNvCxnSpPr>
            <a:endCxn id="411" idx="4"/>
          </p:cNvCxnSpPr>
          <p:nvPr/>
        </p:nvCxnSpPr>
        <p:spPr>
          <a:xfrm flipH="1" rot="10800000">
            <a:off x="5772100" y="2225900"/>
            <a:ext cx="476100" cy="840900"/>
          </a:xfrm>
          <a:prstGeom prst="straightConnector1">
            <a:avLst/>
          </a:prstGeom>
          <a:noFill/>
          <a:ln cap="flat" cmpd="sng" w="9525">
            <a:solidFill>
              <a:srgbClr val="00A4AD"/>
            </a:solidFill>
            <a:prstDash val="solid"/>
            <a:round/>
            <a:headEnd len="med" w="med" type="none"/>
            <a:tailEnd len="med" w="med" type="triangle"/>
          </a:ln>
        </p:spPr>
      </p:cxnSp>
      <p:cxnSp>
        <p:nvCxnSpPr>
          <p:cNvPr id="419" name="Google Shape;419;p45"/>
          <p:cNvCxnSpPr>
            <a:endCxn id="411" idx="5"/>
          </p:cNvCxnSpPr>
          <p:nvPr/>
        </p:nvCxnSpPr>
        <p:spPr>
          <a:xfrm rot="10800000">
            <a:off x="6314809" y="2199188"/>
            <a:ext cx="419700" cy="867900"/>
          </a:xfrm>
          <a:prstGeom prst="straightConnector1">
            <a:avLst/>
          </a:prstGeom>
          <a:noFill/>
          <a:ln cap="flat" cmpd="sng" w="9525">
            <a:solidFill>
              <a:srgbClr val="00444C"/>
            </a:solidFill>
            <a:prstDash val="solid"/>
            <a:round/>
            <a:headEnd len="med" w="med" type="none"/>
            <a:tailEnd len="med" w="med" type="triangle"/>
          </a:ln>
        </p:spPr>
      </p:cxnSp>
      <p:cxnSp>
        <p:nvCxnSpPr>
          <p:cNvPr id="420" name="Google Shape;420;p45"/>
          <p:cNvCxnSpPr>
            <a:endCxn id="412" idx="6"/>
          </p:cNvCxnSpPr>
          <p:nvPr/>
        </p:nvCxnSpPr>
        <p:spPr>
          <a:xfrm rot="10800000">
            <a:off x="4156250" y="2165150"/>
            <a:ext cx="2517600" cy="999600"/>
          </a:xfrm>
          <a:prstGeom prst="straightConnector1">
            <a:avLst/>
          </a:prstGeom>
          <a:noFill/>
          <a:ln cap="flat" cmpd="sng" w="9525">
            <a:solidFill>
              <a:srgbClr val="00444C"/>
            </a:solidFill>
            <a:prstDash val="solid"/>
            <a:round/>
            <a:headEnd len="med" w="med" type="none"/>
            <a:tailEnd len="med" w="med" type="triangle"/>
          </a:ln>
        </p:spPr>
      </p:cxnSp>
      <p:sp>
        <p:nvSpPr>
          <p:cNvPr id="421" name="Google Shape;421;p45"/>
          <p:cNvSpPr txBox="1"/>
          <p:nvPr/>
        </p:nvSpPr>
        <p:spPr>
          <a:xfrm>
            <a:off x="3573400" y="1859675"/>
            <a:ext cx="419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Calibri"/>
                <a:ea typeface="Calibri"/>
                <a:cs typeface="Calibri"/>
                <a:sym typeface="Calibri"/>
              </a:rPr>
              <a:t>0.1</a:t>
            </a:r>
            <a:endParaRPr>
              <a:latin typeface="Calibri"/>
              <a:ea typeface="Calibri"/>
              <a:cs typeface="Calibri"/>
              <a:sym typeface="Calibri"/>
            </a:endParaRPr>
          </a:p>
        </p:txBody>
      </p:sp>
      <p:sp>
        <p:nvSpPr>
          <p:cNvPr id="422" name="Google Shape;422;p45"/>
          <p:cNvSpPr txBox="1"/>
          <p:nvPr/>
        </p:nvSpPr>
        <p:spPr>
          <a:xfrm>
            <a:off x="4672750" y="1859675"/>
            <a:ext cx="419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Calibri"/>
                <a:ea typeface="Calibri"/>
                <a:cs typeface="Calibri"/>
                <a:sym typeface="Calibri"/>
              </a:rPr>
              <a:t>0.6</a:t>
            </a:r>
            <a:endParaRPr>
              <a:latin typeface="Calibri"/>
              <a:ea typeface="Calibri"/>
              <a:cs typeface="Calibri"/>
              <a:sym typeface="Calibri"/>
            </a:endParaRPr>
          </a:p>
        </p:txBody>
      </p:sp>
      <p:sp>
        <p:nvSpPr>
          <p:cNvPr id="423" name="Google Shape;423;p45"/>
          <p:cNvSpPr txBox="1"/>
          <p:nvPr/>
        </p:nvSpPr>
        <p:spPr>
          <a:xfrm>
            <a:off x="5686450" y="1859675"/>
            <a:ext cx="419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Calibri"/>
                <a:ea typeface="Calibri"/>
                <a:cs typeface="Calibri"/>
                <a:sym typeface="Calibri"/>
              </a:rPr>
              <a:t>0.3</a:t>
            </a:r>
            <a:endParaRPr>
              <a:latin typeface="Calibri"/>
              <a:ea typeface="Calibri"/>
              <a:cs typeface="Calibri"/>
              <a:sym typeface="Calibri"/>
            </a:endParaRPr>
          </a:p>
        </p:txBody>
      </p:sp>
      <p:sp>
        <p:nvSpPr>
          <p:cNvPr id="424" name="Google Shape;424;p45"/>
          <p:cNvSpPr/>
          <p:nvPr/>
        </p:nvSpPr>
        <p:spPr>
          <a:xfrm>
            <a:off x="2540002" y="2073955"/>
            <a:ext cx="783218" cy="110451"/>
          </a:xfrm>
          <a:custGeom>
            <a:rect b="b" l="l" r="r" t="t"/>
            <a:pathLst>
              <a:path extrusionOk="0" h="15089" w="19616">
                <a:moveTo>
                  <a:pt x="19616" y="0"/>
                </a:moveTo>
                <a:cubicBezTo>
                  <a:pt x="11367" y="0"/>
                  <a:pt x="8249" y="15089"/>
                  <a:pt x="0" y="15089"/>
                </a:cubicBezTo>
              </a:path>
            </a:pathLst>
          </a:custGeom>
          <a:noFill/>
          <a:ln cap="flat" cmpd="sng" w="28575">
            <a:solidFill>
              <a:schemeClr val="dk2"/>
            </a:solidFill>
            <a:prstDash val="solid"/>
            <a:round/>
            <a:headEnd len="med" w="med" type="triangle"/>
            <a:tailEnd len="med" w="med" type="none"/>
          </a:ln>
        </p:spPr>
      </p:sp>
      <p:sp>
        <p:nvSpPr>
          <p:cNvPr id="425" name="Google Shape;425;p45"/>
          <p:cNvSpPr txBox="1"/>
          <p:nvPr/>
        </p:nvSpPr>
        <p:spPr>
          <a:xfrm>
            <a:off x="6985000" y="2194250"/>
            <a:ext cx="26163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latin typeface="Fira Code"/>
                <a:ea typeface="Fira Code"/>
                <a:cs typeface="Fira Code"/>
                <a:sym typeface="Fira Code"/>
              </a:rPr>
              <a:t>multiple</a:t>
            </a:r>
            <a:r>
              <a:rPr lang="en" sz="1200">
                <a:latin typeface="Fira Code"/>
                <a:ea typeface="Fira Code"/>
                <a:cs typeface="Fira Code"/>
                <a:sym typeface="Fira Code"/>
              </a:rPr>
              <a:t> probabilities</a:t>
            </a:r>
            <a:endParaRPr sz="1200">
              <a:latin typeface="Fira Code"/>
              <a:ea typeface="Fira Code"/>
              <a:cs typeface="Fira Code"/>
              <a:sym typeface="Fira Code"/>
            </a:endParaRPr>
          </a:p>
        </p:txBody>
      </p:sp>
      <p:pic>
        <p:nvPicPr>
          <p:cNvPr descr="{&quot;aid&quot;:null,&quot;backgroundColor&quot;:&quot;#FFFFFF&quot;,&quot;backgroundColorModified&quot;:false,&quot;font&quot;:{&quot;family&quot;:&quot;Calibri&quot;,&quot;color&quot;:&quot;#000000&quot;,&quot;size&quot;:24.5},&quot;type&quot;:&quot;align*&quot;,&quot;code&quot;:&quot;\\begin{align*}\n{P\\left(y_{i}\\right)}&amp;={\\frac{\\exp\\left(o_{i}\\right)}{\\sum_{j=1}^{n}\\exp\\left(o_{j}\\right)}}\t\n\\end{align*}&quot;,&quot;id&quot;:&quot;1&quot;,&quot;ts&quot;:1702381627889,&quot;cs&quot;:&quot;MA/DwsBjUVaaA1dsd+IJZw==&quot;,&quot;size&quot;:{&quot;width&quot;:322,&quot;height&quot;:87.5}}" id="426" name="Google Shape;426;p45"/>
          <p:cNvPicPr preferRelativeResize="0"/>
          <p:nvPr/>
        </p:nvPicPr>
        <p:blipFill>
          <a:blip r:embed="rId4">
            <a:alphaModFix/>
          </a:blip>
          <a:stretch>
            <a:fillRect/>
          </a:stretch>
        </p:blipFill>
        <p:spPr>
          <a:xfrm>
            <a:off x="175275" y="2604701"/>
            <a:ext cx="2729526" cy="74173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46"/>
          <p:cNvSpPr txBox="1"/>
          <p:nvPr>
            <p:ph type="title"/>
          </p:nvPr>
        </p:nvSpPr>
        <p:spPr>
          <a:xfrm>
            <a:off x="229075" y="372800"/>
            <a:ext cx="67392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Feedforward Network </a:t>
            </a:r>
            <a:r>
              <a:rPr i="1" lang="en"/>
              <a:t>Example</a:t>
            </a:r>
            <a:endParaRPr/>
          </a:p>
        </p:txBody>
      </p:sp>
      <p:sp>
        <p:nvSpPr>
          <p:cNvPr id="432" name="Google Shape;432;p4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433" name="Google Shape;433;p46"/>
          <p:cNvPicPr preferRelativeResize="0"/>
          <p:nvPr/>
        </p:nvPicPr>
        <p:blipFill rotWithShape="1">
          <a:blip r:embed="rId3">
            <a:alphaModFix/>
          </a:blip>
          <a:srcRect b="0" l="0" r="0" t="10217"/>
          <a:stretch/>
        </p:blipFill>
        <p:spPr>
          <a:xfrm>
            <a:off x="2029500" y="1706325"/>
            <a:ext cx="3479300" cy="2840925"/>
          </a:xfrm>
          <a:prstGeom prst="rect">
            <a:avLst/>
          </a:prstGeom>
          <a:noFill/>
          <a:ln>
            <a:noFill/>
          </a:ln>
        </p:spPr>
      </p:pic>
      <p:sp>
        <p:nvSpPr>
          <p:cNvPr id="434" name="Google Shape;434;p46"/>
          <p:cNvSpPr txBox="1"/>
          <p:nvPr/>
        </p:nvSpPr>
        <p:spPr>
          <a:xfrm>
            <a:off x="5759775" y="1488550"/>
            <a:ext cx="15753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latin typeface="Fira Code"/>
                <a:ea typeface="Fira Code"/>
                <a:cs typeface="Fira Code"/>
                <a:sym typeface="Fira Code"/>
              </a:rPr>
              <a:t>output layer</a:t>
            </a:r>
            <a:endParaRPr sz="1300">
              <a:latin typeface="Fira Code"/>
              <a:ea typeface="Fira Code"/>
              <a:cs typeface="Fira Code"/>
              <a:sym typeface="Fira Code"/>
            </a:endParaRPr>
          </a:p>
        </p:txBody>
      </p:sp>
      <p:sp>
        <p:nvSpPr>
          <p:cNvPr id="435" name="Google Shape;435;p46"/>
          <p:cNvSpPr txBox="1"/>
          <p:nvPr/>
        </p:nvSpPr>
        <p:spPr>
          <a:xfrm>
            <a:off x="5816475" y="2522513"/>
            <a:ext cx="15753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latin typeface="Fira Code"/>
                <a:ea typeface="Fira Code"/>
                <a:cs typeface="Fira Code"/>
                <a:sym typeface="Fira Code"/>
              </a:rPr>
              <a:t>hidden layer</a:t>
            </a:r>
            <a:endParaRPr sz="1300">
              <a:latin typeface="Fira Code"/>
              <a:ea typeface="Fira Code"/>
              <a:cs typeface="Fira Code"/>
              <a:sym typeface="Fira Code"/>
            </a:endParaRPr>
          </a:p>
        </p:txBody>
      </p:sp>
      <p:sp>
        <p:nvSpPr>
          <p:cNvPr id="436" name="Google Shape;436;p46"/>
          <p:cNvSpPr txBox="1"/>
          <p:nvPr/>
        </p:nvSpPr>
        <p:spPr>
          <a:xfrm>
            <a:off x="5816475" y="3556475"/>
            <a:ext cx="15753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latin typeface="Fira Code"/>
                <a:ea typeface="Fira Code"/>
                <a:cs typeface="Fira Code"/>
                <a:sym typeface="Fira Code"/>
              </a:rPr>
              <a:t>input layer</a:t>
            </a:r>
            <a:endParaRPr sz="1300">
              <a:latin typeface="Fira Code"/>
              <a:ea typeface="Fira Code"/>
              <a:cs typeface="Fira Code"/>
              <a:sym typeface="Fira Code"/>
            </a:endParaRPr>
          </a:p>
          <a:p>
            <a:pPr indent="0" lvl="0" marL="0" rtl="0" algn="l">
              <a:spcBef>
                <a:spcPts val="0"/>
              </a:spcBef>
              <a:spcAft>
                <a:spcPts val="0"/>
              </a:spcAft>
              <a:buNone/>
            </a:pPr>
            <a:r>
              <a:rPr lang="en" sz="1100">
                <a:latin typeface="Fira Code"/>
                <a:ea typeface="Fira Code"/>
                <a:cs typeface="Fira Code"/>
                <a:sym typeface="Fira Code"/>
              </a:rPr>
              <a:t>(features)</a:t>
            </a:r>
            <a:endParaRPr sz="1100">
              <a:latin typeface="Fira Code"/>
              <a:ea typeface="Fira Code"/>
              <a:cs typeface="Fira Code"/>
              <a:sym typeface="Fira Code"/>
            </a:endParaRPr>
          </a:p>
        </p:txBody>
      </p:sp>
      <p:sp>
        <p:nvSpPr>
          <p:cNvPr id="437" name="Google Shape;437;p46"/>
          <p:cNvSpPr/>
          <p:nvPr/>
        </p:nvSpPr>
        <p:spPr>
          <a:xfrm>
            <a:off x="2575575" y="1706325"/>
            <a:ext cx="247800" cy="243600"/>
          </a:xfrm>
          <a:prstGeom prst="ellipse">
            <a:avLst/>
          </a:prstGeom>
          <a:solidFill>
            <a:srgbClr val="A61C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38" name="Google Shape;438;p46"/>
          <p:cNvSpPr/>
          <p:nvPr/>
        </p:nvSpPr>
        <p:spPr>
          <a:xfrm>
            <a:off x="3861900" y="1706325"/>
            <a:ext cx="247800" cy="243600"/>
          </a:xfrm>
          <a:prstGeom prst="ellipse">
            <a:avLst/>
          </a:prstGeom>
          <a:solidFill>
            <a:srgbClr val="0B539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47"/>
          <p:cNvSpPr txBox="1"/>
          <p:nvPr>
            <p:ph type="title"/>
          </p:nvPr>
        </p:nvSpPr>
        <p:spPr>
          <a:xfrm>
            <a:off x="229075" y="372800"/>
            <a:ext cx="67392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Feedforward Network </a:t>
            </a:r>
            <a:r>
              <a:rPr i="1" lang="en"/>
              <a:t>Example</a:t>
            </a:r>
            <a:endParaRPr/>
          </a:p>
        </p:txBody>
      </p:sp>
      <p:sp>
        <p:nvSpPr>
          <p:cNvPr id="444" name="Google Shape;444;p4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445" name="Google Shape;445;p47"/>
          <p:cNvPicPr preferRelativeResize="0"/>
          <p:nvPr/>
        </p:nvPicPr>
        <p:blipFill>
          <a:blip r:embed="rId3">
            <a:alphaModFix/>
          </a:blip>
          <a:stretch>
            <a:fillRect/>
          </a:stretch>
        </p:blipFill>
        <p:spPr>
          <a:xfrm>
            <a:off x="2135400" y="1297650"/>
            <a:ext cx="4058950" cy="3456550"/>
          </a:xfrm>
          <a:prstGeom prst="rect">
            <a:avLst/>
          </a:prstGeom>
          <a:noFill/>
          <a:ln>
            <a:noFill/>
          </a:ln>
        </p:spPr>
      </p:pic>
      <p:sp>
        <p:nvSpPr>
          <p:cNvPr id="446" name="Google Shape;446;p47"/>
          <p:cNvSpPr/>
          <p:nvPr/>
        </p:nvSpPr>
        <p:spPr>
          <a:xfrm>
            <a:off x="5764750" y="2051250"/>
            <a:ext cx="429600" cy="520500"/>
          </a:xfrm>
          <a:prstGeom prst="rect">
            <a:avLst/>
          </a:prstGeom>
          <a:solidFill>
            <a:srgbClr val="E3F4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47" name="Google Shape;447;p47"/>
          <p:cNvSpPr txBox="1"/>
          <p:nvPr/>
        </p:nvSpPr>
        <p:spPr>
          <a:xfrm>
            <a:off x="6415375" y="2447625"/>
            <a:ext cx="26058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700">
                <a:latin typeface="Cambria Math"/>
                <a:ea typeface="Cambria Math"/>
                <a:cs typeface="Cambria Math"/>
                <a:sym typeface="Cambria Math"/>
              </a:rPr>
              <a:t>h</a:t>
            </a:r>
            <a:r>
              <a:rPr baseline="-25000" lang="en" sz="1700">
                <a:latin typeface="Cambria Math"/>
                <a:ea typeface="Cambria Math"/>
                <a:cs typeface="Cambria Math"/>
                <a:sym typeface="Cambria Math"/>
              </a:rPr>
              <a:t>3</a:t>
            </a:r>
            <a:r>
              <a:rPr lang="en" sz="1700">
                <a:latin typeface="Cambria Math"/>
                <a:ea typeface="Cambria Math"/>
                <a:cs typeface="Cambria Math"/>
                <a:sym typeface="Cambria Math"/>
              </a:rPr>
              <a:t> = </a:t>
            </a:r>
            <a:r>
              <a:rPr lang="en" sz="2000">
                <a:solidFill>
                  <a:schemeClr val="dk1"/>
                </a:solidFill>
                <a:latin typeface="Cambria Math"/>
                <a:ea typeface="Cambria Math"/>
                <a:cs typeface="Cambria Math"/>
                <a:sym typeface="Cambria Math"/>
              </a:rPr>
              <a:t>σ</a:t>
            </a:r>
            <a:r>
              <a:rPr lang="en" sz="1700">
                <a:latin typeface="Cambria Math"/>
                <a:ea typeface="Cambria Math"/>
                <a:cs typeface="Cambria Math"/>
                <a:sym typeface="Cambria Math"/>
              </a:rPr>
              <a:t>(</a:t>
            </a:r>
            <a:r>
              <a:rPr lang="en" sz="1700">
                <a:solidFill>
                  <a:srgbClr val="38761D"/>
                </a:solidFill>
                <a:latin typeface="Cambria Math"/>
                <a:ea typeface="Cambria Math"/>
                <a:cs typeface="Cambria Math"/>
                <a:sym typeface="Cambria Math"/>
              </a:rPr>
              <a:t>0.1</a:t>
            </a:r>
            <a:r>
              <a:rPr lang="en" sz="1700">
                <a:latin typeface="Cambria Math"/>
                <a:ea typeface="Cambria Math"/>
                <a:cs typeface="Cambria Math"/>
                <a:sym typeface="Cambria Math"/>
              </a:rPr>
              <a:t>⋅21 + </a:t>
            </a:r>
            <a:r>
              <a:rPr lang="en" sz="1700">
                <a:solidFill>
                  <a:srgbClr val="38761D"/>
                </a:solidFill>
                <a:latin typeface="Cambria Math"/>
                <a:ea typeface="Cambria Math"/>
                <a:cs typeface="Cambria Math"/>
                <a:sym typeface="Cambria Math"/>
              </a:rPr>
              <a:t>0.3</a:t>
            </a:r>
            <a:r>
              <a:rPr lang="en" sz="1700">
                <a:solidFill>
                  <a:schemeClr val="dk1"/>
                </a:solidFill>
                <a:latin typeface="Cambria Math"/>
                <a:ea typeface="Cambria Math"/>
                <a:cs typeface="Cambria Math"/>
                <a:sym typeface="Cambria Math"/>
              </a:rPr>
              <a:t>⋅</a:t>
            </a:r>
            <a:r>
              <a:rPr lang="en" sz="1700">
                <a:latin typeface="Cambria Math"/>
                <a:ea typeface="Cambria Math"/>
                <a:cs typeface="Cambria Math"/>
                <a:sym typeface="Cambria Math"/>
              </a:rPr>
              <a:t>180)</a:t>
            </a:r>
            <a:endParaRPr sz="1700">
              <a:latin typeface="Cambria Math"/>
              <a:ea typeface="Cambria Math"/>
              <a:cs typeface="Cambria Math"/>
              <a:sym typeface="Cambria Math"/>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48"/>
          <p:cNvSpPr txBox="1"/>
          <p:nvPr>
            <p:ph type="title"/>
          </p:nvPr>
        </p:nvSpPr>
        <p:spPr>
          <a:xfrm>
            <a:off x="229075" y="372800"/>
            <a:ext cx="67392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Backpropagation</a:t>
            </a:r>
            <a:endParaRPr/>
          </a:p>
        </p:txBody>
      </p:sp>
      <p:sp>
        <p:nvSpPr>
          <p:cNvPr id="453" name="Google Shape;453;p48"/>
          <p:cNvSpPr txBox="1"/>
          <p:nvPr>
            <p:ph idx="1" type="body"/>
          </p:nvPr>
        </p:nvSpPr>
        <p:spPr>
          <a:xfrm>
            <a:off x="699350" y="1317725"/>
            <a:ext cx="7710300" cy="3936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a:solidFill>
                  <a:srgbClr val="1155CC"/>
                </a:solidFill>
              </a:rPr>
              <a:t>Backpropagation</a:t>
            </a:r>
            <a:r>
              <a:rPr lang="en"/>
              <a:t> is making a backward pass to adjust a network’s parameters.</a:t>
            </a:r>
            <a:endParaRPr/>
          </a:p>
        </p:txBody>
      </p:sp>
      <p:sp>
        <p:nvSpPr>
          <p:cNvPr id="454" name="Google Shape;454;p4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455" name="Google Shape;455;p48"/>
          <p:cNvPicPr preferRelativeResize="0"/>
          <p:nvPr/>
        </p:nvPicPr>
        <p:blipFill rotWithShape="1">
          <a:blip r:embed="rId3">
            <a:alphaModFix/>
          </a:blip>
          <a:srcRect b="17794" l="0" r="0" t="9605"/>
          <a:stretch/>
        </p:blipFill>
        <p:spPr>
          <a:xfrm>
            <a:off x="2387875" y="2305260"/>
            <a:ext cx="3658650" cy="2474890"/>
          </a:xfrm>
          <a:prstGeom prst="rect">
            <a:avLst/>
          </a:prstGeom>
          <a:noFill/>
          <a:ln>
            <a:noFill/>
          </a:ln>
        </p:spPr>
      </p:pic>
      <p:sp>
        <p:nvSpPr>
          <p:cNvPr id="456" name="Google Shape;456;p48"/>
          <p:cNvSpPr txBox="1"/>
          <p:nvPr/>
        </p:nvSpPr>
        <p:spPr>
          <a:xfrm>
            <a:off x="2893275" y="1899825"/>
            <a:ext cx="4668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Calibri"/>
                <a:ea typeface="Calibri"/>
                <a:cs typeface="Calibri"/>
                <a:sym typeface="Calibri"/>
              </a:rPr>
              <a:t>0.3</a:t>
            </a:r>
            <a:endParaRPr sz="1600">
              <a:latin typeface="Calibri"/>
              <a:ea typeface="Calibri"/>
              <a:cs typeface="Calibri"/>
              <a:sym typeface="Calibri"/>
            </a:endParaRPr>
          </a:p>
        </p:txBody>
      </p:sp>
      <p:sp>
        <p:nvSpPr>
          <p:cNvPr id="457" name="Google Shape;457;p48"/>
          <p:cNvSpPr txBox="1"/>
          <p:nvPr/>
        </p:nvSpPr>
        <p:spPr>
          <a:xfrm>
            <a:off x="4235125" y="1927050"/>
            <a:ext cx="4668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Calibri"/>
                <a:ea typeface="Calibri"/>
                <a:cs typeface="Calibri"/>
                <a:sym typeface="Calibri"/>
              </a:rPr>
              <a:t>0.6</a:t>
            </a:r>
            <a:endParaRPr sz="1600">
              <a:latin typeface="Calibri"/>
              <a:ea typeface="Calibri"/>
              <a:cs typeface="Calibri"/>
              <a:sym typeface="Calibri"/>
            </a:endParaRPr>
          </a:p>
        </p:txBody>
      </p:sp>
      <p:sp>
        <p:nvSpPr>
          <p:cNvPr id="458" name="Google Shape;458;p48"/>
          <p:cNvSpPr/>
          <p:nvPr/>
        </p:nvSpPr>
        <p:spPr>
          <a:xfrm>
            <a:off x="2962178" y="2330927"/>
            <a:ext cx="260700" cy="262500"/>
          </a:xfrm>
          <a:prstGeom prst="ellipse">
            <a:avLst/>
          </a:prstGeom>
          <a:solidFill>
            <a:srgbClr val="A61C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59" name="Google Shape;459;p48"/>
          <p:cNvSpPr/>
          <p:nvPr/>
        </p:nvSpPr>
        <p:spPr>
          <a:xfrm>
            <a:off x="4311392" y="2330927"/>
            <a:ext cx="260700" cy="262500"/>
          </a:xfrm>
          <a:prstGeom prst="ellipse">
            <a:avLst/>
          </a:prstGeom>
          <a:solidFill>
            <a:srgbClr val="0B539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60" name="Google Shape;460;p48"/>
          <p:cNvSpPr txBox="1"/>
          <p:nvPr/>
        </p:nvSpPr>
        <p:spPr>
          <a:xfrm>
            <a:off x="2977925" y="1620675"/>
            <a:ext cx="229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A61C00"/>
                </a:solidFill>
                <a:latin typeface="Calibri"/>
                <a:ea typeface="Calibri"/>
                <a:cs typeface="Calibri"/>
                <a:sym typeface="Calibri"/>
              </a:rPr>
              <a:t>1</a:t>
            </a:r>
            <a:endParaRPr>
              <a:solidFill>
                <a:srgbClr val="A61C00"/>
              </a:solidFill>
              <a:latin typeface="Calibri"/>
              <a:ea typeface="Calibri"/>
              <a:cs typeface="Calibri"/>
              <a:sym typeface="Calibri"/>
            </a:endParaRPr>
          </a:p>
        </p:txBody>
      </p:sp>
      <p:sp>
        <p:nvSpPr>
          <p:cNvPr id="461" name="Google Shape;461;p48"/>
          <p:cNvSpPr txBox="1"/>
          <p:nvPr/>
        </p:nvSpPr>
        <p:spPr>
          <a:xfrm>
            <a:off x="4327150" y="1620675"/>
            <a:ext cx="229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0B5394"/>
                </a:solidFill>
                <a:latin typeface="Calibri"/>
                <a:ea typeface="Calibri"/>
                <a:cs typeface="Calibri"/>
                <a:sym typeface="Calibri"/>
              </a:rPr>
              <a:t>2</a:t>
            </a:r>
            <a:endParaRPr>
              <a:solidFill>
                <a:srgbClr val="0B5394"/>
              </a:solidFill>
              <a:latin typeface="Calibri"/>
              <a:ea typeface="Calibri"/>
              <a:cs typeface="Calibri"/>
              <a:sym typeface="Calibri"/>
            </a:endParaRPr>
          </a:p>
        </p:txBody>
      </p:sp>
      <p:sp>
        <p:nvSpPr>
          <p:cNvPr id="462" name="Google Shape;462;p48"/>
          <p:cNvSpPr txBox="1"/>
          <p:nvPr/>
        </p:nvSpPr>
        <p:spPr>
          <a:xfrm>
            <a:off x="3178060" y="2279700"/>
            <a:ext cx="7674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Fira Code"/>
                <a:ea typeface="Fira Code"/>
                <a:cs typeface="Fira Code"/>
                <a:sym typeface="Fira Code"/>
              </a:rPr>
              <a:t>err:0.7</a:t>
            </a:r>
            <a:endParaRPr sz="1000">
              <a:latin typeface="Fira Code"/>
              <a:ea typeface="Fira Code"/>
              <a:cs typeface="Fira Code"/>
              <a:sym typeface="Fira Code"/>
            </a:endParaRPr>
          </a:p>
        </p:txBody>
      </p:sp>
      <p:sp>
        <p:nvSpPr>
          <p:cNvPr id="463" name="Google Shape;463;p48"/>
          <p:cNvSpPr txBox="1"/>
          <p:nvPr/>
        </p:nvSpPr>
        <p:spPr>
          <a:xfrm>
            <a:off x="4532691" y="2292825"/>
            <a:ext cx="8514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Fira Code"/>
                <a:ea typeface="Fira Code"/>
                <a:cs typeface="Fira Code"/>
                <a:sym typeface="Fira Code"/>
              </a:rPr>
              <a:t>err:-0.6</a:t>
            </a:r>
            <a:endParaRPr sz="1000">
              <a:latin typeface="Fira Code"/>
              <a:ea typeface="Fira Code"/>
              <a:cs typeface="Fira Code"/>
              <a:sym typeface="Fira Code"/>
            </a:endParaRPr>
          </a:p>
        </p:txBody>
      </p:sp>
      <p:sp>
        <p:nvSpPr>
          <p:cNvPr id="464" name="Google Shape;464;p48"/>
          <p:cNvSpPr txBox="1"/>
          <p:nvPr/>
        </p:nvSpPr>
        <p:spPr>
          <a:xfrm>
            <a:off x="2962175" y="4346875"/>
            <a:ext cx="3903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latin typeface="Calibri"/>
                <a:ea typeface="Calibri"/>
                <a:cs typeface="Calibri"/>
                <a:sym typeface="Calibri"/>
              </a:rPr>
              <a:t>31</a:t>
            </a:r>
            <a:endParaRPr sz="1300">
              <a:latin typeface="Calibri"/>
              <a:ea typeface="Calibri"/>
              <a:cs typeface="Calibri"/>
              <a:sym typeface="Calibri"/>
            </a:endParaRPr>
          </a:p>
        </p:txBody>
      </p:sp>
      <p:sp>
        <p:nvSpPr>
          <p:cNvPr id="465" name="Google Shape;465;p48"/>
          <p:cNvSpPr txBox="1"/>
          <p:nvPr/>
        </p:nvSpPr>
        <p:spPr>
          <a:xfrm>
            <a:off x="4273375" y="4369975"/>
            <a:ext cx="3903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Calibri"/>
                <a:ea typeface="Calibri"/>
                <a:cs typeface="Calibri"/>
                <a:sym typeface="Calibri"/>
              </a:rPr>
              <a:t>165</a:t>
            </a:r>
            <a:endParaRPr sz="1000">
              <a:latin typeface="Calibri"/>
              <a:ea typeface="Calibri"/>
              <a:cs typeface="Calibri"/>
              <a:sym typeface="Calibri"/>
            </a:endParaRPr>
          </a:p>
        </p:txBody>
      </p:sp>
      <p:sp>
        <p:nvSpPr>
          <p:cNvPr id="466" name="Google Shape;466;p48"/>
          <p:cNvSpPr txBox="1"/>
          <p:nvPr/>
        </p:nvSpPr>
        <p:spPr>
          <a:xfrm flipH="1">
            <a:off x="2882975" y="4708675"/>
            <a:ext cx="548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Fira Code"/>
                <a:ea typeface="Fira Code"/>
                <a:cs typeface="Fira Code"/>
                <a:sym typeface="Fira Code"/>
              </a:rPr>
              <a:t>age</a:t>
            </a:r>
            <a:endParaRPr>
              <a:latin typeface="Fira Code"/>
              <a:ea typeface="Fira Code"/>
              <a:cs typeface="Fira Code"/>
              <a:sym typeface="Fira Code"/>
            </a:endParaRPr>
          </a:p>
        </p:txBody>
      </p:sp>
      <p:sp>
        <p:nvSpPr>
          <p:cNvPr id="467" name="Google Shape;467;p48"/>
          <p:cNvSpPr txBox="1"/>
          <p:nvPr/>
        </p:nvSpPr>
        <p:spPr>
          <a:xfrm flipH="1">
            <a:off x="4042825" y="4708675"/>
            <a:ext cx="851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Fira Code"/>
                <a:ea typeface="Fira Code"/>
                <a:cs typeface="Fira Code"/>
                <a:sym typeface="Fira Code"/>
              </a:rPr>
              <a:t>height</a:t>
            </a:r>
            <a:endParaRPr>
              <a:latin typeface="Fira Code"/>
              <a:ea typeface="Fira Code"/>
              <a:cs typeface="Fira Code"/>
              <a:sym typeface="Fira Code"/>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49"/>
          <p:cNvSpPr txBox="1"/>
          <p:nvPr>
            <p:ph type="title"/>
          </p:nvPr>
        </p:nvSpPr>
        <p:spPr>
          <a:xfrm>
            <a:off x="229075" y="372800"/>
            <a:ext cx="67392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Neural Network Methodology</a:t>
            </a:r>
            <a:endParaRPr/>
          </a:p>
        </p:txBody>
      </p:sp>
      <p:sp>
        <p:nvSpPr>
          <p:cNvPr id="473" name="Google Shape;473;p4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74" name="Google Shape;474;p49"/>
          <p:cNvSpPr txBox="1"/>
          <p:nvPr>
            <p:ph idx="1" type="body"/>
          </p:nvPr>
        </p:nvSpPr>
        <p:spPr>
          <a:xfrm>
            <a:off x="699350" y="1317725"/>
            <a:ext cx="7710300" cy="3416400"/>
          </a:xfrm>
          <a:prstGeom prst="rect">
            <a:avLst/>
          </a:prstGeom>
        </p:spPr>
        <p:txBody>
          <a:bodyPr anchorCtr="0" anchor="t" bIns="91425" lIns="91425" spcFirstLastPara="1" rIns="91425" wrap="square" tIns="91425">
            <a:normAutofit/>
          </a:bodyPr>
          <a:lstStyle/>
          <a:p>
            <a:pPr indent="-342900" lvl="0" marL="457200" rtl="0" algn="l">
              <a:lnSpc>
                <a:spcPct val="150000"/>
              </a:lnSpc>
              <a:spcBef>
                <a:spcPts val="0"/>
              </a:spcBef>
              <a:spcAft>
                <a:spcPts val="0"/>
              </a:spcAft>
              <a:buSzPts val="1800"/>
              <a:buAutoNum type="arabicPeriod"/>
            </a:pPr>
            <a:r>
              <a:rPr lang="en">
                <a:solidFill>
                  <a:srgbClr val="1155CC"/>
                </a:solidFill>
              </a:rPr>
              <a:t>Collect examples</a:t>
            </a:r>
            <a:r>
              <a:rPr lang="en"/>
              <a:t> of input and output.</a:t>
            </a:r>
            <a:endParaRPr/>
          </a:p>
          <a:p>
            <a:pPr indent="-317500" lvl="1" marL="914400" rtl="0" algn="l">
              <a:lnSpc>
                <a:spcPct val="150000"/>
              </a:lnSpc>
              <a:spcBef>
                <a:spcPts val="1000"/>
              </a:spcBef>
              <a:spcAft>
                <a:spcPts val="0"/>
              </a:spcAft>
              <a:buSzPts val="1400"/>
              <a:buChar char="∙"/>
            </a:pPr>
            <a:r>
              <a:rPr i="1" lang="en" sz="1600"/>
              <a:t>e.g. </a:t>
            </a:r>
            <a:r>
              <a:rPr lang="en" sz="1600"/>
              <a:t>5000 trees’ height, age, and health</a:t>
            </a:r>
            <a:endParaRPr sz="1600"/>
          </a:p>
          <a:p>
            <a:pPr indent="-342900" lvl="0" marL="457200" rtl="0" algn="l">
              <a:lnSpc>
                <a:spcPct val="150000"/>
              </a:lnSpc>
              <a:spcBef>
                <a:spcPts val="1000"/>
              </a:spcBef>
              <a:spcAft>
                <a:spcPts val="0"/>
              </a:spcAft>
              <a:buSzPts val="1800"/>
              <a:buAutoNum type="arabicPeriod"/>
            </a:pPr>
            <a:r>
              <a:rPr lang="en"/>
              <a:t>Get a </a:t>
            </a:r>
            <a:r>
              <a:rPr lang="en">
                <a:solidFill>
                  <a:srgbClr val="1155CC"/>
                </a:solidFill>
              </a:rPr>
              <a:t>loss function</a:t>
            </a:r>
            <a:r>
              <a:rPr lang="en"/>
              <a:t>.</a:t>
            </a:r>
            <a:endParaRPr/>
          </a:p>
          <a:p>
            <a:pPr indent="-317500" lvl="1" marL="914400" rtl="0" algn="l">
              <a:lnSpc>
                <a:spcPct val="150000"/>
              </a:lnSpc>
              <a:spcBef>
                <a:spcPts val="1000"/>
              </a:spcBef>
              <a:spcAft>
                <a:spcPts val="0"/>
              </a:spcAft>
              <a:buSzPts val="1400"/>
              <a:buChar char="∙"/>
            </a:pPr>
            <a:r>
              <a:rPr lang="en" sz="1600"/>
              <a:t>Work out the gradient of the loss w.r.t the weights</a:t>
            </a:r>
            <a:endParaRPr sz="1600"/>
          </a:p>
          <a:p>
            <a:pPr indent="-336550" lvl="0" marL="457200" rtl="0" algn="l">
              <a:lnSpc>
                <a:spcPct val="150000"/>
              </a:lnSpc>
              <a:spcBef>
                <a:spcPts val="1000"/>
              </a:spcBef>
              <a:spcAft>
                <a:spcPts val="1000"/>
              </a:spcAft>
              <a:buSzPts val="1700"/>
              <a:buAutoNum type="arabicPeriod"/>
            </a:pPr>
            <a:r>
              <a:rPr lang="en" sz="1700"/>
              <a:t>Use (stochastic) </a:t>
            </a:r>
            <a:r>
              <a:rPr lang="en" sz="1700">
                <a:solidFill>
                  <a:srgbClr val="1155CC"/>
                </a:solidFill>
              </a:rPr>
              <a:t>gradient descent</a:t>
            </a:r>
            <a:r>
              <a:rPr lang="en" sz="1700"/>
              <a:t> to improve the weights bit by bit.</a:t>
            </a:r>
            <a:endParaRPr sz="1700"/>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50"/>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Clr>
                <a:schemeClr val="dk1"/>
              </a:buClr>
              <a:buSzPts val="1100"/>
              <a:buFont typeface="Arial"/>
              <a:buNone/>
            </a:pPr>
            <a:r>
              <a:rPr lang="en"/>
              <a:t>Part 4: </a:t>
            </a:r>
            <a:r>
              <a:rPr lang="en">
                <a:solidFill>
                  <a:schemeClr val="lt1"/>
                </a:solidFill>
              </a:rPr>
              <a:t>Deep Learning &amp; Transformers</a:t>
            </a:r>
            <a:endParaRPr/>
          </a:p>
        </p:txBody>
      </p:sp>
      <p:sp>
        <p:nvSpPr>
          <p:cNvPr id="480" name="Google Shape;480;p5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sp>
        <p:nvSpPr>
          <p:cNvPr id="485" name="Google Shape;485;p51"/>
          <p:cNvSpPr txBox="1"/>
          <p:nvPr>
            <p:ph type="title"/>
          </p:nvPr>
        </p:nvSpPr>
        <p:spPr>
          <a:xfrm>
            <a:off x="229075" y="372800"/>
            <a:ext cx="67392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Multiclass, Multilayer Perceptron</a:t>
            </a:r>
            <a:endParaRPr/>
          </a:p>
        </p:txBody>
      </p:sp>
      <p:sp>
        <p:nvSpPr>
          <p:cNvPr id="486" name="Google Shape;486;p5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descr="{&quot;font&quot;:{&quot;size&quot;:24,&quot;family&quot;:&quot;Calibri&quot;,&quot;color&quot;:&quot;#000000&quot;},&quot;backgroundColorModified&quot;:false,&quot;type&quot;:&quot;align*&quot;,&quot;aid&quot;:null,&quot;backgroundColor&quot;:&quot;#FFFFFF&quot;,&quot;id&quot;:&quot;1&quot;,&quot;code&quot;:&quot;\\begin{align*}\n\\separator\n{\\vec{y}=\\text{softmax}\\left(\\vec{o}\\right)}&amp;\\iff{y_{i}=\\frac{\\exp\\left(o_{i}\\right)}{\\sum_{j=1}^{d_{V}}\\exp\\left(o_{j}\\right)}}\\\\\n{\\vec{o}=V\\cdot\\vec{h}\\,\\,\\,\\,\\,\\,\\,\\,\\,\\,\\,\\,\\,}&amp;\\iff{o_{i}=\\sum_{j=1}^{d_{V}}V_{i,j}h_{j}}\\\\\n{\\vec{h}=\\sigma\\left(W\\cdot\\vec{x}\\,\\right)\\,\\,}&amp;\\iff{h_{i}=\\sigma\\left(\\sum_{j=1}^{d_{W}}W_{i,j}x_{j}\\right)}\t\n\\end{align*}&quot;,&quot;ts&quot;:1701166897833,&quot;cs&quot;:&quot;EtZzAUEOodyL9h0XhNXgMQ==&quot;,&quot;size&quot;:{&quot;width&quot;:584,&quot;height&quot;:309.99999999999994}}" id="487" name="Google Shape;487;p51"/>
          <p:cNvPicPr preferRelativeResize="0"/>
          <p:nvPr/>
        </p:nvPicPr>
        <p:blipFill rotWithShape="1">
          <a:blip r:embed="rId3">
            <a:alphaModFix/>
          </a:blip>
          <a:srcRect b="0" l="0" r="62515" t="0"/>
          <a:stretch/>
        </p:blipFill>
        <p:spPr>
          <a:xfrm>
            <a:off x="1486825" y="1398800"/>
            <a:ext cx="2085049" cy="2952750"/>
          </a:xfrm>
          <a:prstGeom prst="rect">
            <a:avLst/>
          </a:prstGeom>
          <a:noFill/>
          <a:ln>
            <a:noFill/>
          </a:ln>
        </p:spPr>
      </p:pic>
      <p:grpSp>
        <p:nvGrpSpPr>
          <p:cNvPr id="488" name="Google Shape;488;p51"/>
          <p:cNvGrpSpPr/>
          <p:nvPr/>
        </p:nvGrpSpPr>
        <p:grpSpPr>
          <a:xfrm>
            <a:off x="263301" y="855633"/>
            <a:ext cx="2350083" cy="958500"/>
            <a:chOff x="263301" y="855633"/>
            <a:chExt cx="2350083" cy="958500"/>
          </a:xfrm>
        </p:grpSpPr>
        <p:sp>
          <p:nvSpPr>
            <p:cNvPr id="489" name="Google Shape;489;p51"/>
            <p:cNvSpPr/>
            <p:nvPr/>
          </p:nvSpPr>
          <p:spPr>
            <a:xfrm>
              <a:off x="1765275" y="1219201"/>
              <a:ext cx="848109" cy="310627"/>
            </a:xfrm>
            <a:custGeom>
              <a:rect b="b" l="l" r="r" t="t"/>
              <a:pathLst>
                <a:path extrusionOk="0" h="19564" w="32582">
                  <a:moveTo>
                    <a:pt x="32020" y="19564"/>
                  </a:moveTo>
                  <a:cubicBezTo>
                    <a:pt x="33166" y="13844"/>
                    <a:pt x="32713" y="5931"/>
                    <a:pt x="27967" y="2540"/>
                  </a:cubicBezTo>
                  <a:cubicBezTo>
                    <a:pt x="20382" y="-2880"/>
                    <a:pt x="9322" y="2540"/>
                    <a:pt x="0" y="2540"/>
                  </a:cubicBezTo>
                </a:path>
              </a:pathLst>
            </a:custGeom>
            <a:noFill/>
            <a:ln cap="flat" cmpd="sng" w="28575">
              <a:solidFill>
                <a:schemeClr val="accent5"/>
              </a:solidFill>
              <a:prstDash val="solid"/>
              <a:round/>
              <a:headEnd len="med" w="med" type="triangle"/>
              <a:tailEnd len="med" w="med" type="none"/>
            </a:ln>
          </p:spPr>
        </p:sp>
        <p:sp>
          <p:nvSpPr>
            <p:cNvPr id="490" name="Google Shape;490;p51"/>
            <p:cNvSpPr txBox="1"/>
            <p:nvPr/>
          </p:nvSpPr>
          <p:spPr>
            <a:xfrm rot="-554911">
              <a:off x="312330" y="969840"/>
              <a:ext cx="1480242" cy="730085"/>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b="1" i="1" lang="en" sz="1800">
                  <a:solidFill>
                    <a:schemeClr val="dk1"/>
                  </a:solidFill>
                  <a:latin typeface="Calibri"/>
                  <a:ea typeface="Calibri"/>
                  <a:cs typeface="Calibri"/>
                  <a:sym typeface="Calibri"/>
                </a:rPr>
                <a:t>creates probabilities</a:t>
              </a:r>
              <a:endParaRPr b="1" i="1" sz="1800">
                <a:solidFill>
                  <a:schemeClr val="dk1"/>
                </a:solidFill>
                <a:latin typeface="Calibri"/>
                <a:ea typeface="Calibri"/>
                <a:cs typeface="Calibri"/>
                <a:sym typeface="Calibri"/>
              </a:endParaRPr>
            </a:p>
          </p:txBody>
        </p:sp>
      </p:grpSp>
      <p:grpSp>
        <p:nvGrpSpPr>
          <p:cNvPr id="491" name="Google Shape;491;p51"/>
          <p:cNvGrpSpPr/>
          <p:nvPr/>
        </p:nvGrpSpPr>
        <p:grpSpPr>
          <a:xfrm>
            <a:off x="72734" y="4045541"/>
            <a:ext cx="2219001" cy="978600"/>
            <a:chOff x="72734" y="4045541"/>
            <a:chExt cx="2219001" cy="978600"/>
          </a:xfrm>
        </p:grpSpPr>
        <p:sp>
          <p:nvSpPr>
            <p:cNvPr id="492" name="Google Shape;492;p51"/>
            <p:cNvSpPr/>
            <p:nvPr/>
          </p:nvSpPr>
          <p:spPr>
            <a:xfrm flipH="1" rot="10800000">
              <a:off x="1443625" y="4061860"/>
              <a:ext cx="848109" cy="393579"/>
            </a:xfrm>
            <a:custGeom>
              <a:rect b="b" l="l" r="r" t="t"/>
              <a:pathLst>
                <a:path extrusionOk="0" h="19564" w="32582">
                  <a:moveTo>
                    <a:pt x="32020" y="19564"/>
                  </a:moveTo>
                  <a:cubicBezTo>
                    <a:pt x="33166" y="13844"/>
                    <a:pt x="32713" y="5931"/>
                    <a:pt x="27967" y="2540"/>
                  </a:cubicBezTo>
                  <a:cubicBezTo>
                    <a:pt x="20382" y="-2880"/>
                    <a:pt x="9322" y="2540"/>
                    <a:pt x="0" y="2540"/>
                  </a:cubicBezTo>
                </a:path>
              </a:pathLst>
            </a:custGeom>
            <a:noFill/>
            <a:ln cap="flat" cmpd="sng" w="28575">
              <a:solidFill>
                <a:schemeClr val="accent5"/>
              </a:solidFill>
              <a:prstDash val="solid"/>
              <a:round/>
              <a:headEnd len="med" w="med" type="triangle"/>
              <a:tailEnd len="med" w="med" type="none"/>
            </a:ln>
          </p:spPr>
        </p:sp>
        <p:sp>
          <p:nvSpPr>
            <p:cNvPr id="493" name="Google Shape;493;p51"/>
            <p:cNvSpPr txBox="1"/>
            <p:nvPr/>
          </p:nvSpPr>
          <p:spPr>
            <a:xfrm rot="-676639">
              <a:off x="131160" y="4169888"/>
              <a:ext cx="1343847" cy="729905"/>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b="1" i="1" lang="en" sz="1800">
                  <a:solidFill>
                    <a:schemeClr val="dk1"/>
                  </a:solidFill>
                  <a:latin typeface="Calibri"/>
                  <a:ea typeface="Calibri"/>
                  <a:cs typeface="Calibri"/>
                  <a:sym typeface="Calibri"/>
                </a:rPr>
                <a:t>nonlinear “activation”</a:t>
              </a:r>
              <a:endParaRPr b="1" i="1" sz="1800">
                <a:solidFill>
                  <a:schemeClr val="dk1"/>
                </a:solidFill>
                <a:latin typeface="Calibri"/>
                <a:ea typeface="Calibri"/>
                <a:cs typeface="Calibri"/>
                <a:sym typeface="Calibri"/>
              </a:endParaRPr>
            </a:p>
          </p:txBody>
        </p:sp>
      </p:grpSp>
      <p:grpSp>
        <p:nvGrpSpPr>
          <p:cNvPr id="494" name="Google Shape;494;p51"/>
          <p:cNvGrpSpPr/>
          <p:nvPr/>
        </p:nvGrpSpPr>
        <p:grpSpPr>
          <a:xfrm>
            <a:off x="-185378" y="2944843"/>
            <a:ext cx="2725480" cy="1030800"/>
            <a:chOff x="-185378" y="2944843"/>
            <a:chExt cx="2725480" cy="1030800"/>
          </a:xfrm>
        </p:grpSpPr>
        <p:sp>
          <p:nvSpPr>
            <p:cNvPr id="495" name="Google Shape;495;p51"/>
            <p:cNvSpPr txBox="1"/>
            <p:nvPr/>
          </p:nvSpPr>
          <p:spPr>
            <a:xfrm rot="-629445">
              <a:off x="-133155" y="3095315"/>
              <a:ext cx="1720154" cy="729858"/>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b="1" i="1" lang="en" sz="1800">
                  <a:solidFill>
                    <a:schemeClr val="dk1"/>
                  </a:solidFill>
                  <a:latin typeface="Calibri"/>
                  <a:ea typeface="Calibri"/>
                  <a:cs typeface="Calibri"/>
                  <a:sym typeface="Calibri"/>
                </a:rPr>
                <a:t>linear transformation</a:t>
              </a:r>
              <a:endParaRPr b="1" i="1" sz="1800">
                <a:solidFill>
                  <a:schemeClr val="dk1"/>
                </a:solidFill>
                <a:latin typeface="Calibri"/>
                <a:ea typeface="Calibri"/>
                <a:cs typeface="Calibri"/>
                <a:sym typeface="Calibri"/>
              </a:endParaRPr>
            </a:p>
          </p:txBody>
        </p:sp>
        <p:sp>
          <p:nvSpPr>
            <p:cNvPr id="496" name="Google Shape;496;p51"/>
            <p:cNvSpPr/>
            <p:nvPr/>
          </p:nvSpPr>
          <p:spPr>
            <a:xfrm flipH="1" rot="10800000">
              <a:off x="1460498" y="3034846"/>
              <a:ext cx="1079605" cy="393579"/>
            </a:xfrm>
            <a:custGeom>
              <a:rect b="b" l="l" r="r" t="t"/>
              <a:pathLst>
                <a:path extrusionOk="0" h="19564" w="32582">
                  <a:moveTo>
                    <a:pt x="32020" y="19564"/>
                  </a:moveTo>
                  <a:cubicBezTo>
                    <a:pt x="33166" y="13844"/>
                    <a:pt x="32713" y="5931"/>
                    <a:pt x="27967" y="2540"/>
                  </a:cubicBezTo>
                  <a:cubicBezTo>
                    <a:pt x="20382" y="-2880"/>
                    <a:pt x="9322" y="2540"/>
                    <a:pt x="0" y="2540"/>
                  </a:cubicBezTo>
                </a:path>
              </a:pathLst>
            </a:custGeom>
            <a:noFill/>
            <a:ln cap="flat" cmpd="sng" w="28575">
              <a:solidFill>
                <a:schemeClr val="accent5"/>
              </a:solidFill>
              <a:prstDash val="solid"/>
              <a:round/>
              <a:headEnd len="med" w="med" type="triangle"/>
              <a:tailEnd len="med" w="med" type="none"/>
            </a:ln>
          </p:spPr>
        </p:sp>
      </p:grpSp>
      <p:grpSp>
        <p:nvGrpSpPr>
          <p:cNvPr id="497" name="Google Shape;497;p51"/>
          <p:cNvGrpSpPr/>
          <p:nvPr/>
        </p:nvGrpSpPr>
        <p:grpSpPr>
          <a:xfrm>
            <a:off x="2477425" y="4184999"/>
            <a:ext cx="2209865" cy="958500"/>
            <a:chOff x="641825" y="4218774"/>
            <a:chExt cx="2209865" cy="958500"/>
          </a:xfrm>
        </p:grpSpPr>
        <p:pic>
          <p:nvPicPr>
            <p:cNvPr id="498" name="Google Shape;498;p51"/>
            <p:cNvPicPr preferRelativeResize="0"/>
            <p:nvPr/>
          </p:nvPicPr>
          <p:blipFill>
            <a:blip r:embed="rId4">
              <a:alphaModFix/>
            </a:blip>
            <a:stretch>
              <a:fillRect/>
            </a:stretch>
          </p:blipFill>
          <p:spPr>
            <a:xfrm>
              <a:off x="641825" y="4218774"/>
              <a:ext cx="2209865" cy="958500"/>
            </a:xfrm>
            <a:prstGeom prst="rect">
              <a:avLst/>
            </a:prstGeom>
            <a:noFill/>
            <a:ln>
              <a:noFill/>
            </a:ln>
          </p:spPr>
        </p:pic>
        <p:sp>
          <p:nvSpPr>
            <p:cNvPr id="499" name="Google Shape;499;p51"/>
            <p:cNvSpPr txBox="1"/>
            <p:nvPr/>
          </p:nvSpPr>
          <p:spPr>
            <a:xfrm>
              <a:off x="1367625" y="4255088"/>
              <a:ext cx="648600" cy="43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 sz="1600">
                  <a:solidFill>
                    <a:srgbClr val="6AA84F"/>
                  </a:solidFill>
                  <a:latin typeface="Times New Roman"/>
                  <a:ea typeface="Times New Roman"/>
                  <a:cs typeface="Times New Roman"/>
                  <a:sym typeface="Times New Roman"/>
                </a:rPr>
                <a:t>σ =</a:t>
              </a:r>
              <a:endParaRPr>
                <a:solidFill>
                  <a:srgbClr val="6AA84F"/>
                </a:solidFill>
              </a:endParaRPr>
            </a:p>
          </p:txBody>
        </p:sp>
      </p:grpSp>
      <p:grpSp>
        <p:nvGrpSpPr>
          <p:cNvPr id="500" name="Google Shape;500;p51"/>
          <p:cNvGrpSpPr/>
          <p:nvPr/>
        </p:nvGrpSpPr>
        <p:grpSpPr>
          <a:xfrm>
            <a:off x="4730375" y="1502588"/>
            <a:ext cx="3866225" cy="2919225"/>
            <a:chOff x="3663575" y="1335163"/>
            <a:chExt cx="3866225" cy="2919225"/>
          </a:xfrm>
        </p:grpSpPr>
        <p:pic>
          <p:nvPicPr>
            <p:cNvPr id="501" name="Google Shape;501;p51"/>
            <p:cNvPicPr preferRelativeResize="0"/>
            <p:nvPr/>
          </p:nvPicPr>
          <p:blipFill>
            <a:blip r:embed="rId5">
              <a:alphaModFix/>
            </a:blip>
            <a:stretch>
              <a:fillRect/>
            </a:stretch>
          </p:blipFill>
          <p:spPr>
            <a:xfrm>
              <a:off x="3663575" y="1379933"/>
              <a:ext cx="3866225" cy="2874454"/>
            </a:xfrm>
            <a:prstGeom prst="rect">
              <a:avLst/>
            </a:prstGeom>
            <a:noFill/>
            <a:ln>
              <a:noFill/>
            </a:ln>
          </p:spPr>
        </p:pic>
        <p:sp>
          <p:nvSpPr>
            <p:cNvPr id="502" name="Google Shape;502;p51"/>
            <p:cNvSpPr txBox="1"/>
            <p:nvPr/>
          </p:nvSpPr>
          <p:spPr>
            <a:xfrm>
              <a:off x="3698850" y="1335163"/>
              <a:ext cx="3264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300">
                  <a:latin typeface="Calibri"/>
                  <a:ea typeface="Calibri"/>
                  <a:cs typeface="Calibri"/>
                  <a:sym typeface="Calibri"/>
                </a:rPr>
                <a:t>y</a:t>
              </a:r>
              <a:endParaRPr sz="2300">
                <a:latin typeface="Calibri"/>
                <a:ea typeface="Calibri"/>
                <a:cs typeface="Calibri"/>
                <a:sym typeface="Calibri"/>
              </a:endParaRPr>
            </a:p>
          </p:txBody>
        </p:sp>
        <p:sp>
          <p:nvSpPr>
            <p:cNvPr id="503" name="Google Shape;503;p51"/>
            <p:cNvSpPr txBox="1"/>
            <p:nvPr/>
          </p:nvSpPr>
          <p:spPr>
            <a:xfrm>
              <a:off x="3698850" y="2435588"/>
              <a:ext cx="326400" cy="538800"/>
            </a:xfrm>
            <a:prstGeom prst="rect">
              <a:avLst/>
            </a:prstGeom>
            <a:solidFill>
              <a:srgbClr val="E9F5F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300">
                  <a:latin typeface="Calibri"/>
                  <a:ea typeface="Calibri"/>
                  <a:cs typeface="Calibri"/>
                  <a:sym typeface="Calibri"/>
                </a:rPr>
                <a:t>h</a:t>
              </a:r>
              <a:endParaRPr sz="2300">
                <a:latin typeface="Calibri"/>
                <a:ea typeface="Calibri"/>
                <a:cs typeface="Calibri"/>
                <a:sym typeface="Calibri"/>
              </a:endParaRPr>
            </a:p>
          </p:txBody>
        </p:sp>
        <p:sp>
          <p:nvSpPr>
            <p:cNvPr id="504" name="Google Shape;504;p51"/>
            <p:cNvSpPr txBox="1"/>
            <p:nvPr/>
          </p:nvSpPr>
          <p:spPr>
            <a:xfrm>
              <a:off x="3684250" y="3540088"/>
              <a:ext cx="3264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300">
                  <a:latin typeface="Calibri"/>
                  <a:ea typeface="Calibri"/>
                  <a:cs typeface="Calibri"/>
                  <a:sym typeface="Calibri"/>
                </a:rPr>
                <a:t>x</a:t>
              </a:r>
              <a:endParaRPr sz="2300">
                <a:latin typeface="Calibri"/>
                <a:ea typeface="Calibri"/>
                <a:cs typeface="Calibri"/>
                <a:sym typeface="Calibri"/>
              </a:endParaRPr>
            </a:p>
          </p:txBody>
        </p:sp>
        <p:sp>
          <p:nvSpPr>
            <p:cNvPr id="505" name="Google Shape;505;p51"/>
            <p:cNvSpPr/>
            <p:nvPr/>
          </p:nvSpPr>
          <p:spPr>
            <a:xfrm>
              <a:off x="6699325" y="1563763"/>
              <a:ext cx="188400" cy="182400"/>
            </a:xfrm>
            <a:prstGeom prst="ellipse">
              <a:avLst/>
            </a:prstGeom>
            <a:no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506" name="Google Shape;506;p51"/>
            <p:cNvSpPr/>
            <p:nvPr/>
          </p:nvSpPr>
          <p:spPr>
            <a:xfrm>
              <a:off x="4499075" y="1594213"/>
              <a:ext cx="202500" cy="182400"/>
            </a:xfrm>
            <a:prstGeom prst="ellipse">
              <a:avLst/>
            </a:prstGeom>
            <a:no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cxnSp>
          <p:nvCxnSpPr>
            <p:cNvPr id="507" name="Google Shape;507;p51"/>
            <p:cNvCxnSpPr>
              <a:endCxn id="506" idx="3"/>
            </p:cNvCxnSpPr>
            <p:nvPr/>
          </p:nvCxnSpPr>
          <p:spPr>
            <a:xfrm flipH="1" rot="10800000">
              <a:off x="4244030" y="1749901"/>
              <a:ext cx="284700" cy="837300"/>
            </a:xfrm>
            <a:prstGeom prst="straightConnector1">
              <a:avLst/>
            </a:prstGeom>
            <a:noFill/>
            <a:ln cap="flat" cmpd="sng" w="9525">
              <a:solidFill>
                <a:srgbClr val="00A4AD"/>
              </a:solidFill>
              <a:prstDash val="solid"/>
              <a:round/>
              <a:headEnd len="med" w="med" type="none"/>
              <a:tailEnd len="med" w="med" type="triangle"/>
            </a:ln>
          </p:spPr>
        </p:cxnSp>
        <p:cxnSp>
          <p:nvCxnSpPr>
            <p:cNvPr id="508" name="Google Shape;508;p51"/>
            <p:cNvCxnSpPr>
              <a:endCxn id="506" idx="4"/>
            </p:cNvCxnSpPr>
            <p:nvPr/>
          </p:nvCxnSpPr>
          <p:spPr>
            <a:xfrm rot="10800000">
              <a:off x="4600325" y="1776613"/>
              <a:ext cx="557100" cy="829500"/>
            </a:xfrm>
            <a:prstGeom prst="straightConnector1">
              <a:avLst/>
            </a:prstGeom>
            <a:noFill/>
            <a:ln cap="flat" cmpd="sng" w="9525">
              <a:solidFill>
                <a:srgbClr val="00A4AD"/>
              </a:solidFill>
              <a:prstDash val="solid"/>
              <a:round/>
              <a:headEnd len="med" w="med" type="none"/>
              <a:tailEnd len="med" w="med" type="triangle"/>
            </a:ln>
          </p:spPr>
        </p:cxnSp>
        <p:cxnSp>
          <p:nvCxnSpPr>
            <p:cNvPr id="509" name="Google Shape;509;p51"/>
            <p:cNvCxnSpPr>
              <a:endCxn id="506" idx="5"/>
            </p:cNvCxnSpPr>
            <p:nvPr/>
          </p:nvCxnSpPr>
          <p:spPr>
            <a:xfrm rot="10800000">
              <a:off x="4671920" y="1749901"/>
              <a:ext cx="1512000" cy="893100"/>
            </a:xfrm>
            <a:prstGeom prst="straightConnector1">
              <a:avLst/>
            </a:prstGeom>
            <a:noFill/>
            <a:ln cap="flat" cmpd="sng" w="9525">
              <a:solidFill>
                <a:srgbClr val="00A4AD"/>
              </a:solidFill>
              <a:prstDash val="solid"/>
              <a:round/>
              <a:headEnd len="med" w="med" type="none"/>
              <a:tailEnd len="med" w="med" type="triangle"/>
            </a:ln>
          </p:spPr>
        </p:cxnSp>
        <p:cxnSp>
          <p:nvCxnSpPr>
            <p:cNvPr id="510" name="Google Shape;510;p51"/>
            <p:cNvCxnSpPr>
              <a:endCxn id="505" idx="2"/>
            </p:cNvCxnSpPr>
            <p:nvPr/>
          </p:nvCxnSpPr>
          <p:spPr>
            <a:xfrm flipH="1" rot="10800000">
              <a:off x="4311625" y="1654963"/>
              <a:ext cx="2387700" cy="1023000"/>
            </a:xfrm>
            <a:prstGeom prst="straightConnector1">
              <a:avLst/>
            </a:prstGeom>
            <a:noFill/>
            <a:ln cap="flat" cmpd="sng" w="9525">
              <a:solidFill>
                <a:srgbClr val="00A4AD"/>
              </a:solidFill>
              <a:prstDash val="solid"/>
              <a:round/>
              <a:headEnd len="med" w="med" type="none"/>
              <a:tailEnd len="med" w="med" type="triangle"/>
            </a:ln>
          </p:spPr>
        </p:cxnSp>
        <p:cxnSp>
          <p:nvCxnSpPr>
            <p:cNvPr id="511" name="Google Shape;511;p51"/>
            <p:cNvCxnSpPr>
              <a:endCxn id="505" idx="3"/>
            </p:cNvCxnSpPr>
            <p:nvPr/>
          </p:nvCxnSpPr>
          <p:spPr>
            <a:xfrm flipH="1" rot="10800000">
              <a:off x="5322616" y="1719451"/>
              <a:ext cx="1404300" cy="893100"/>
            </a:xfrm>
            <a:prstGeom prst="straightConnector1">
              <a:avLst/>
            </a:prstGeom>
            <a:noFill/>
            <a:ln cap="flat" cmpd="sng" w="9525">
              <a:solidFill>
                <a:srgbClr val="00A4AD"/>
              </a:solidFill>
              <a:prstDash val="solid"/>
              <a:round/>
              <a:headEnd len="med" w="med" type="none"/>
              <a:tailEnd len="med" w="med" type="triangle"/>
            </a:ln>
          </p:spPr>
        </p:cxnSp>
        <p:cxnSp>
          <p:nvCxnSpPr>
            <p:cNvPr id="512" name="Google Shape;512;p51"/>
            <p:cNvCxnSpPr>
              <a:endCxn id="505" idx="4"/>
            </p:cNvCxnSpPr>
            <p:nvPr/>
          </p:nvCxnSpPr>
          <p:spPr>
            <a:xfrm flipH="1" rot="10800000">
              <a:off x="6317425" y="1746163"/>
              <a:ext cx="476100" cy="840900"/>
            </a:xfrm>
            <a:prstGeom prst="straightConnector1">
              <a:avLst/>
            </a:prstGeom>
            <a:noFill/>
            <a:ln cap="flat" cmpd="sng" w="9525">
              <a:solidFill>
                <a:srgbClr val="00A4AD"/>
              </a:solidFill>
              <a:prstDash val="solid"/>
              <a:round/>
              <a:headEnd len="med" w="med" type="none"/>
              <a:tailEnd len="med" w="med" type="triangle"/>
            </a:ln>
          </p:spPr>
        </p:cxnSp>
        <p:cxnSp>
          <p:nvCxnSpPr>
            <p:cNvPr id="513" name="Google Shape;513;p51"/>
            <p:cNvCxnSpPr>
              <a:endCxn id="505" idx="5"/>
            </p:cNvCxnSpPr>
            <p:nvPr/>
          </p:nvCxnSpPr>
          <p:spPr>
            <a:xfrm rot="10800000">
              <a:off x="6860134" y="1719451"/>
              <a:ext cx="419700" cy="867900"/>
            </a:xfrm>
            <a:prstGeom prst="straightConnector1">
              <a:avLst/>
            </a:prstGeom>
            <a:noFill/>
            <a:ln cap="flat" cmpd="sng" w="9525">
              <a:solidFill>
                <a:srgbClr val="00444C"/>
              </a:solidFill>
              <a:prstDash val="solid"/>
              <a:round/>
              <a:headEnd len="med" w="med" type="none"/>
              <a:tailEnd len="med" w="med" type="triangle"/>
            </a:ln>
          </p:spPr>
        </p:cxnSp>
        <p:cxnSp>
          <p:nvCxnSpPr>
            <p:cNvPr id="514" name="Google Shape;514;p51"/>
            <p:cNvCxnSpPr>
              <a:endCxn id="506" idx="6"/>
            </p:cNvCxnSpPr>
            <p:nvPr/>
          </p:nvCxnSpPr>
          <p:spPr>
            <a:xfrm rot="10800000">
              <a:off x="4701575" y="1685413"/>
              <a:ext cx="2517600" cy="999600"/>
            </a:xfrm>
            <a:prstGeom prst="straightConnector1">
              <a:avLst/>
            </a:prstGeom>
            <a:noFill/>
            <a:ln cap="flat" cmpd="sng" w="9525">
              <a:solidFill>
                <a:srgbClr val="00444C"/>
              </a:solidFill>
              <a:prstDash val="solid"/>
              <a:round/>
              <a:headEnd len="med" w="med" type="none"/>
              <a:tailEnd len="med" w="med" type="triangle"/>
            </a:ln>
          </p:spPr>
        </p:cxnSp>
        <p:sp>
          <p:nvSpPr>
            <p:cNvPr id="515" name="Google Shape;515;p51"/>
            <p:cNvSpPr txBox="1"/>
            <p:nvPr/>
          </p:nvSpPr>
          <p:spPr>
            <a:xfrm>
              <a:off x="3953375" y="1885388"/>
              <a:ext cx="3264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300">
                  <a:latin typeface="Calibri"/>
                  <a:ea typeface="Calibri"/>
                  <a:cs typeface="Calibri"/>
                  <a:sym typeface="Calibri"/>
                </a:rPr>
                <a:t>V</a:t>
              </a:r>
              <a:endParaRPr sz="2300">
                <a:latin typeface="Calibri"/>
                <a:ea typeface="Calibri"/>
                <a:cs typeface="Calibri"/>
                <a:sym typeface="Calibri"/>
              </a:endParaRPr>
            </a:p>
          </p:txBody>
        </p:sp>
        <p:sp>
          <p:nvSpPr>
            <p:cNvPr id="516" name="Google Shape;516;p51"/>
            <p:cNvSpPr txBox="1"/>
            <p:nvPr/>
          </p:nvSpPr>
          <p:spPr>
            <a:xfrm>
              <a:off x="3889850" y="3027175"/>
              <a:ext cx="3264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300">
                  <a:latin typeface="Calibri"/>
                  <a:ea typeface="Calibri"/>
                  <a:cs typeface="Calibri"/>
                  <a:sym typeface="Calibri"/>
                </a:rPr>
                <a:t>W</a:t>
              </a:r>
              <a:endParaRPr sz="2300">
                <a:latin typeface="Calibri"/>
                <a:ea typeface="Calibri"/>
                <a:cs typeface="Calibri"/>
                <a:sym typeface="Calibri"/>
              </a:endParaRPr>
            </a:p>
          </p:txBody>
        </p:sp>
      </p:grpSp>
      <p:sp>
        <p:nvSpPr>
          <p:cNvPr id="517" name="Google Shape;517;p51"/>
          <p:cNvSpPr txBox="1"/>
          <p:nvPr/>
        </p:nvSpPr>
        <p:spPr>
          <a:xfrm>
            <a:off x="5763413" y="4629175"/>
            <a:ext cx="16329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chemeClr val="dk1"/>
                </a:solidFill>
                <a:latin typeface="Calibri"/>
                <a:ea typeface="Calibri"/>
                <a:cs typeface="Calibri"/>
                <a:sym typeface="Calibri"/>
              </a:rPr>
              <a:t>Input</a:t>
            </a:r>
            <a:endParaRPr sz="1800">
              <a:solidFill>
                <a:schemeClr val="dk1"/>
              </a:solidFill>
              <a:latin typeface="Calibri"/>
              <a:ea typeface="Calibri"/>
              <a:cs typeface="Calibri"/>
              <a:sym typeface="Calibri"/>
            </a:endParaRPr>
          </a:p>
        </p:txBody>
      </p:sp>
      <p:sp>
        <p:nvSpPr>
          <p:cNvPr id="518" name="Google Shape;518;p51"/>
          <p:cNvSpPr txBox="1"/>
          <p:nvPr/>
        </p:nvSpPr>
        <p:spPr>
          <a:xfrm>
            <a:off x="5763413" y="1009675"/>
            <a:ext cx="16329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chemeClr val="dk1"/>
                </a:solidFill>
                <a:latin typeface="Calibri"/>
                <a:ea typeface="Calibri"/>
                <a:cs typeface="Calibri"/>
                <a:sym typeface="Calibri"/>
              </a:rPr>
              <a:t>Output</a:t>
            </a:r>
            <a:endParaRPr sz="1800">
              <a:solidFill>
                <a:schemeClr val="dk1"/>
              </a:solidFill>
              <a:latin typeface="Calibri"/>
              <a:ea typeface="Calibri"/>
              <a:cs typeface="Calibri"/>
              <a:sym typeface="Calibri"/>
            </a:endParaRPr>
          </a:p>
        </p:txBody>
      </p:sp>
      <p:grpSp>
        <p:nvGrpSpPr>
          <p:cNvPr id="519" name="Google Shape;519;p51"/>
          <p:cNvGrpSpPr/>
          <p:nvPr/>
        </p:nvGrpSpPr>
        <p:grpSpPr>
          <a:xfrm>
            <a:off x="7707626" y="3021039"/>
            <a:ext cx="1064400" cy="963477"/>
            <a:chOff x="6376301" y="2839939"/>
            <a:chExt cx="1064400" cy="963477"/>
          </a:xfrm>
        </p:grpSpPr>
        <p:sp>
          <p:nvSpPr>
            <p:cNvPr id="520" name="Google Shape;520;p51"/>
            <p:cNvSpPr/>
            <p:nvPr/>
          </p:nvSpPr>
          <p:spPr>
            <a:xfrm flipH="1" rot="9501911">
              <a:off x="6953994" y="2872543"/>
              <a:ext cx="228885" cy="272190"/>
            </a:xfrm>
            <a:custGeom>
              <a:rect b="b" l="l" r="r" t="t"/>
              <a:pathLst>
                <a:path extrusionOk="0" h="19564" w="32582">
                  <a:moveTo>
                    <a:pt x="32020" y="19564"/>
                  </a:moveTo>
                  <a:cubicBezTo>
                    <a:pt x="33166" y="13844"/>
                    <a:pt x="32713" y="5931"/>
                    <a:pt x="27967" y="2540"/>
                  </a:cubicBezTo>
                  <a:cubicBezTo>
                    <a:pt x="20382" y="-2880"/>
                    <a:pt x="9322" y="2540"/>
                    <a:pt x="0" y="2540"/>
                  </a:cubicBezTo>
                </a:path>
              </a:pathLst>
            </a:custGeom>
            <a:noFill/>
            <a:ln cap="flat" cmpd="sng" w="28575">
              <a:solidFill>
                <a:schemeClr val="accent5"/>
              </a:solidFill>
              <a:prstDash val="solid"/>
              <a:round/>
              <a:headEnd len="med" w="med" type="triangle"/>
              <a:tailEnd len="med" w="med" type="none"/>
            </a:ln>
          </p:spPr>
        </p:sp>
        <p:sp>
          <p:nvSpPr>
            <p:cNvPr id="521" name="Google Shape;521;p51"/>
            <p:cNvSpPr txBox="1"/>
            <p:nvPr/>
          </p:nvSpPr>
          <p:spPr>
            <a:xfrm rot="-1971985">
              <a:off x="6487722" y="3088033"/>
              <a:ext cx="590401" cy="279429"/>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b="1" i="1" lang="en">
                  <a:solidFill>
                    <a:schemeClr val="dk1"/>
                  </a:solidFill>
                  <a:latin typeface="Calibri"/>
                  <a:ea typeface="Calibri"/>
                  <a:cs typeface="Calibri"/>
                  <a:sym typeface="Calibri"/>
                </a:rPr>
                <a:t>bias</a:t>
              </a:r>
              <a:endParaRPr b="1" i="1">
                <a:solidFill>
                  <a:schemeClr val="dk1"/>
                </a:solidFill>
                <a:latin typeface="Calibri"/>
                <a:ea typeface="Calibri"/>
                <a:cs typeface="Calibri"/>
                <a:sym typeface="Calibri"/>
              </a:endParaRPr>
            </a:p>
          </p:txBody>
        </p:sp>
        <p:sp>
          <p:nvSpPr>
            <p:cNvPr id="522" name="Google Shape;522;p51"/>
            <p:cNvSpPr/>
            <p:nvPr/>
          </p:nvSpPr>
          <p:spPr>
            <a:xfrm flipH="1" rot="-1298345">
              <a:off x="6505822" y="3382059"/>
              <a:ext cx="282960" cy="243190"/>
            </a:xfrm>
            <a:custGeom>
              <a:rect b="b" l="l" r="r" t="t"/>
              <a:pathLst>
                <a:path extrusionOk="0" h="19564" w="32582">
                  <a:moveTo>
                    <a:pt x="32020" y="19564"/>
                  </a:moveTo>
                  <a:cubicBezTo>
                    <a:pt x="33166" y="13844"/>
                    <a:pt x="32713" y="5931"/>
                    <a:pt x="27967" y="2540"/>
                  </a:cubicBezTo>
                  <a:cubicBezTo>
                    <a:pt x="20382" y="-2880"/>
                    <a:pt x="9322" y="2540"/>
                    <a:pt x="0" y="2540"/>
                  </a:cubicBezTo>
                </a:path>
              </a:pathLst>
            </a:custGeom>
            <a:noFill/>
            <a:ln cap="flat" cmpd="sng" w="28575">
              <a:solidFill>
                <a:schemeClr val="accent5"/>
              </a:solidFill>
              <a:prstDash val="solid"/>
              <a:round/>
              <a:headEnd len="med" w="med" type="triangle"/>
              <a:tailEnd len="med" w="med" type="none"/>
            </a:ln>
          </p:spPr>
        </p:sp>
        <p:sp>
          <p:nvSpPr>
            <p:cNvPr id="523" name="Google Shape;523;p51"/>
            <p:cNvSpPr txBox="1"/>
            <p:nvPr/>
          </p:nvSpPr>
          <p:spPr>
            <a:xfrm rot="-1971642">
              <a:off x="6365281" y="3251652"/>
              <a:ext cx="1086439" cy="279429"/>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i="1" lang="en">
                  <a:solidFill>
                    <a:schemeClr val="dk1"/>
                  </a:solidFill>
                  <a:latin typeface="Calibri"/>
                  <a:ea typeface="Calibri"/>
                  <a:cs typeface="Calibri"/>
                  <a:sym typeface="Calibri"/>
                </a:rPr>
                <a:t>(always 1)</a:t>
              </a:r>
              <a:endParaRPr b="1" i="1">
                <a:solidFill>
                  <a:schemeClr val="dk1"/>
                </a:solidFill>
                <a:latin typeface="Calibri"/>
                <a:ea typeface="Calibri"/>
                <a:cs typeface="Calibri"/>
                <a:sym typeface="Calibri"/>
              </a:endParaRPr>
            </a:p>
          </p:txBody>
        </p:sp>
      </p:grpSp>
      <p:sp>
        <p:nvSpPr>
          <p:cNvPr id="524" name="Google Shape;524;p51"/>
          <p:cNvSpPr/>
          <p:nvPr/>
        </p:nvSpPr>
        <p:spPr>
          <a:xfrm>
            <a:off x="5500025" y="1172863"/>
            <a:ext cx="2200200" cy="3578700"/>
          </a:xfrm>
          <a:prstGeom prst="upArrow">
            <a:avLst>
              <a:gd fmla="val 50000" name="adj1"/>
              <a:gd fmla="val 50000" name="adj2"/>
            </a:avLst>
          </a:prstGeom>
          <a:solidFill>
            <a:srgbClr val="FFAB40">
              <a:alpha val="2909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p52"/>
          <p:cNvSpPr txBox="1"/>
          <p:nvPr>
            <p:ph type="title"/>
          </p:nvPr>
        </p:nvSpPr>
        <p:spPr>
          <a:xfrm>
            <a:off x="229075" y="372800"/>
            <a:ext cx="67392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Multiclass, Multilayer Perceptron</a:t>
            </a:r>
            <a:endParaRPr/>
          </a:p>
        </p:txBody>
      </p:sp>
      <p:sp>
        <p:nvSpPr>
          <p:cNvPr id="530" name="Google Shape;530;p5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pSp>
        <p:nvGrpSpPr>
          <p:cNvPr id="531" name="Google Shape;531;p52"/>
          <p:cNvGrpSpPr/>
          <p:nvPr/>
        </p:nvGrpSpPr>
        <p:grpSpPr>
          <a:xfrm>
            <a:off x="263301" y="855633"/>
            <a:ext cx="2350083" cy="958500"/>
            <a:chOff x="263301" y="855633"/>
            <a:chExt cx="2350083" cy="958500"/>
          </a:xfrm>
        </p:grpSpPr>
        <p:sp>
          <p:nvSpPr>
            <p:cNvPr id="532" name="Google Shape;532;p52"/>
            <p:cNvSpPr/>
            <p:nvPr/>
          </p:nvSpPr>
          <p:spPr>
            <a:xfrm>
              <a:off x="1765275" y="1219201"/>
              <a:ext cx="848109" cy="310627"/>
            </a:xfrm>
            <a:custGeom>
              <a:rect b="b" l="l" r="r" t="t"/>
              <a:pathLst>
                <a:path extrusionOk="0" h="19564" w="32582">
                  <a:moveTo>
                    <a:pt x="32020" y="19564"/>
                  </a:moveTo>
                  <a:cubicBezTo>
                    <a:pt x="33166" y="13844"/>
                    <a:pt x="32713" y="5931"/>
                    <a:pt x="27967" y="2540"/>
                  </a:cubicBezTo>
                  <a:cubicBezTo>
                    <a:pt x="20382" y="-2880"/>
                    <a:pt x="9322" y="2540"/>
                    <a:pt x="0" y="2540"/>
                  </a:cubicBezTo>
                </a:path>
              </a:pathLst>
            </a:custGeom>
            <a:noFill/>
            <a:ln cap="flat" cmpd="sng" w="28575">
              <a:solidFill>
                <a:schemeClr val="accent5"/>
              </a:solidFill>
              <a:prstDash val="solid"/>
              <a:round/>
              <a:headEnd len="med" w="med" type="triangle"/>
              <a:tailEnd len="med" w="med" type="none"/>
            </a:ln>
          </p:spPr>
        </p:sp>
        <p:sp>
          <p:nvSpPr>
            <p:cNvPr id="533" name="Google Shape;533;p52"/>
            <p:cNvSpPr txBox="1"/>
            <p:nvPr/>
          </p:nvSpPr>
          <p:spPr>
            <a:xfrm rot="-554911">
              <a:off x="312330" y="969840"/>
              <a:ext cx="1480242" cy="730085"/>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b="1" i="1" lang="en" sz="1800">
                  <a:solidFill>
                    <a:schemeClr val="dk1"/>
                  </a:solidFill>
                  <a:latin typeface="Calibri"/>
                  <a:ea typeface="Calibri"/>
                  <a:cs typeface="Calibri"/>
                  <a:sym typeface="Calibri"/>
                </a:rPr>
                <a:t>creates probabilities</a:t>
              </a:r>
              <a:endParaRPr b="1" i="1" sz="1800">
                <a:solidFill>
                  <a:schemeClr val="dk1"/>
                </a:solidFill>
                <a:latin typeface="Calibri"/>
                <a:ea typeface="Calibri"/>
                <a:cs typeface="Calibri"/>
                <a:sym typeface="Calibri"/>
              </a:endParaRPr>
            </a:p>
          </p:txBody>
        </p:sp>
      </p:grpSp>
      <p:grpSp>
        <p:nvGrpSpPr>
          <p:cNvPr id="534" name="Google Shape;534;p52"/>
          <p:cNvGrpSpPr/>
          <p:nvPr/>
        </p:nvGrpSpPr>
        <p:grpSpPr>
          <a:xfrm>
            <a:off x="72734" y="4045541"/>
            <a:ext cx="2219001" cy="978600"/>
            <a:chOff x="72734" y="4045541"/>
            <a:chExt cx="2219001" cy="978600"/>
          </a:xfrm>
        </p:grpSpPr>
        <p:sp>
          <p:nvSpPr>
            <p:cNvPr id="535" name="Google Shape;535;p52"/>
            <p:cNvSpPr/>
            <p:nvPr/>
          </p:nvSpPr>
          <p:spPr>
            <a:xfrm flipH="1" rot="10800000">
              <a:off x="1443625" y="4061860"/>
              <a:ext cx="848109" cy="393579"/>
            </a:xfrm>
            <a:custGeom>
              <a:rect b="b" l="l" r="r" t="t"/>
              <a:pathLst>
                <a:path extrusionOk="0" h="19564" w="32582">
                  <a:moveTo>
                    <a:pt x="32020" y="19564"/>
                  </a:moveTo>
                  <a:cubicBezTo>
                    <a:pt x="33166" y="13844"/>
                    <a:pt x="32713" y="5931"/>
                    <a:pt x="27967" y="2540"/>
                  </a:cubicBezTo>
                  <a:cubicBezTo>
                    <a:pt x="20382" y="-2880"/>
                    <a:pt x="9322" y="2540"/>
                    <a:pt x="0" y="2540"/>
                  </a:cubicBezTo>
                </a:path>
              </a:pathLst>
            </a:custGeom>
            <a:noFill/>
            <a:ln cap="flat" cmpd="sng" w="28575">
              <a:solidFill>
                <a:schemeClr val="accent5"/>
              </a:solidFill>
              <a:prstDash val="solid"/>
              <a:round/>
              <a:headEnd len="med" w="med" type="triangle"/>
              <a:tailEnd len="med" w="med" type="none"/>
            </a:ln>
          </p:spPr>
        </p:sp>
        <p:sp>
          <p:nvSpPr>
            <p:cNvPr id="536" name="Google Shape;536;p52"/>
            <p:cNvSpPr txBox="1"/>
            <p:nvPr/>
          </p:nvSpPr>
          <p:spPr>
            <a:xfrm rot="-676639">
              <a:off x="131160" y="4169888"/>
              <a:ext cx="1343847" cy="729905"/>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b="1" i="1" lang="en" sz="1800">
                  <a:solidFill>
                    <a:schemeClr val="dk1"/>
                  </a:solidFill>
                  <a:latin typeface="Calibri"/>
                  <a:ea typeface="Calibri"/>
                  <a:cs typeface="Calibri"/>
                  <a:sym typeface="Calibri"/>
                </a:rPr>
                <a:t>nonlinear “activation”</a:t>
              </a:r>
              <a:endParaRPr b="1" i="1" sz="1800">
                <a:solidFill>
                  <a:schemeClr val="dk1"/>
                </a:solidFill>
                <a:latin typeface="Calibri"/>
                <a:ea typeface="Calibri"/>
                <a:cs typeface="Calibri"/>
                <a:sym typeface="Calibri"/>
              </a:endParaRPr>
            </a:p>
          </p:txBody>
        </p:sp>
      </p:grpSp>
      <p:grpSp>
        <p:nvGrpSpPr>
          <p:cNvPr id="537" name="Google Shape;537;p52"/>
          <p:cNvGrpSpPr/>
          <p:nvPr/>
        </p:nvGrpSpPr>
        <p:grpSpPr>
          <a:xfrm>
            <a:off x="-185378" y="2944843"/>
            <a:ext cx="2725480" cy="1030800"/>
            <a:chOff x="-185378" y="2944843"/>
            <a:chExt cx="2725480" cy="1030800"/>
          </a:xfrm>
        </p:grpSpPr>
        <p:sp>
          <p:nvSpPr>
            <p:cNvPr id="538" name="Google Shape;538;p52"/>
            <p:cNvSpPr txBox="1"/>
            <p:nvPr/>
          </p:nvSpPr>
          <p:spPr>
            <a:xfrm rot="-629445">
              <a:off x="-133155" y="3095315"/>
              <a:ext cx="1720154" cy="729858"/>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b="1" i="1" lang="en" sz="1800">
                  <a:solidFill>
                    <a:schemeClr val="dk1"/>
                  </a:solidFill>
                  <a:latin typeface="Calibri"/>
                  <a:ea typeface="Calibri"/>
                  <a:cs typeface="Calibri"/>
                  <a:sym typeface="Calibri"/>
                </a:rPr>
                <a:t>linear transformation</a:t>
              </a:r>
              <a:endParaRPr b="1" i="1" sz="1800">
                <a:solidFill>
                  <a:schemeClr val="dk1"/>
                </a:solidFill>
                <a:latin typeface="Calibri"/>
                <a:ea typeface="Calibri"/>
                <a:cs typeface="Calibri"/>
                <a:sym typeface="Calibri"/>
              </a:endParaRPr>
            </a:p>
          </p:txBody>
        </p:sp>
        <p:sp>
          <p:nvSpPr>
            <p:cNvPr id="539" name="Google Shape;539;p52"/>
            <p:cNvSpPr/>
            <p:nvPr/>
          </p:nvSpPr>
          <p:spPr>
            <a:xfrm flipH="1" rot="10800000">
              <a:off x="1460498" y="3034846"/>
              <a:ext cx="1079605" cy="393579"/>
            </a:xfrm>
            <a:custGeom>
              <a:rect b="b" l="l" r="r" t="t"/>
              <a:pathLst>
                <a:path extrusionOk="0" h="19564" w="32582">
                  <a:moveTo>
                    <a:pt x="32020" y="19564"/>
                  </a:moveTo>
                  <a:cubicBezTo>
                    <a:pt x="33166" y="13844"/>
                    <a:pt x="32713" y="5931"/>
                    <a:pt x="27967" y="2540"/>
                  </a:cubicBezTo>
                  <a:cubicBezTo>
                    <a:pt x="20382" y="-2880"/>
                    <a:pt x="9322" y="2540"/>
                    <a:pt x="0" y="2540"/>
                  </a:cubicBezTo>
                </a:path>
              </a:pathLst>
            </a:custGeom>
            <a:noFill/>
            <a:ln cap="flat" cmpd="sng" w="28575">
              <a:solidFill>
                <a:schemeClr val="accent5"/>
              </a:solidFill>
              <a:prstDash val="solid"/>
              <a:round/>
              <a:headEnd len="med" w="med" type="triangle"/>
              <a:tailEnd len="med" w="med" type="none"/>
            </a:ln>
          </p:spPr>
        </p:sp>
      </p:grpSp>
      <p:pic>
        <p:nvPicPr>
          <p:cNvPr descr="{&quot;code&quot;:&quot;\\begin{align*}\n\\separator\n{\\vec{y}=\\text{softmax}\\left(\\vec{o}\\right)}&amp;\\iff{y_{i}=\\frac{\\exp\\left(o_{i}\\right)}{\\sum_{j=1}^{d_{o}}\\exp\\left(o_{j}\\right)}}\\\\\n{\\vec{o}=V\\cdot\\vec{h}\\,\\,\\,\\,\\,\\,\\,\\,\\,\\,\\,\\,\\,}&amp;\\iff{o_{i}=\\sum_{j=1}^{d_{h}}V_{i,j}h_{j}}\\\\\n{\\vec{h}=\\sigma\\left(W\\cdot\\vec{x}\\,\\right)\\,\\,}&amp;\\iff{h_{i}=\\frac{1}{1+\\exp\\left(-\\sum_{j=1}^{d_{x}}W_{i,j}x_{j}\\right)}}\t\n\\end{align*}&quot;,&quot;backgroundColorModified&quot;:false,&quot;font&quot;:{&quot;color&quot;:&quot;#000000&quot;,&quot;size&quot;:24,&quot;family&quot;:&quot;Calibri&quot;},&quot;type&quot;:&quot;align*&quot;,&quot;backgroundColor&quot;:&quot;#FFFFFF&quot;,&quot;aid&quot;:null,&quot;id&quot;:&quot;1&quot;,&quot;ts&quot;:1701246978730,&quot;cs&quot;:&quot;LWYvHq7d0iCWNzqz7Ph/dA==&quot;,&quot;size&quot;:{&quot;width&quot;:740.5,&quot;height&quot;:312.5}}" id="540" name="Google Shape;540;p52"/>
          <p:cNvPicPr preferRelativeResize="0"/>
          <p:nvPr/>
        </p:nvPicPr>
        <p:blipFill>
          <a:blip r:embed="rId3">
            <a:alphaModFix/>
          </a:blip>
          <a:stretch>
            <a:fillRect/>
          </a:stretch>
        </p:blipFill>
        <p:spPr>
          <a:xfrm>
            <a:off x="1474324" y="1483698"/>
            <a:ext cx="7053263" cy="2976563"/>
          </a:xfrm>
          <a:prstGeom prst="rect">
            <a:avLst/>
          </a:prstGeom>
          <a:noFill/>
          <a:ln>
            <a:noFill/>
          </a:ln>
        </p:spPr>
      </p:pic>
      <p:sp>
        <p:nvSpPr>
          <p:cNvPr id="541" name="Google Shape;541;p52"/>
          <p:cNvSpPr/>
          <p:nvPr/>
        </p:nvSpPr>
        <p:spPr>
          <a:xfrm rot="214120">
            <a:off x="3150177" y="691269"/>
            <a:ext cx="1964982" cy="1118618"/>
          </a:xfrm>
          <a:prstGeom prst="irregularSeal2">
            <a:avLst/>
          </a:prstGeom>
          <a:solidFill>
            <a:srgbClr val="FFAB4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Calibri"/>
                <a:ea typeface="Calibri"/>
                <a:cs typeface="Calibri"/>
                <a:sym typeface="Calibri"/>
              </a:rPr>
              <a:t>Vector</a:t>
            </a:r>
            <a:endParaRPr b="1">
              <a:latin typeface="Calibri"/>
              <a:ea typeface="Calibri"/>
              <a:cs typeface="Calibri"/>
              <a:sym typeface="Calibri"/>
            </a:endParaRPr>
          </a:p>
          <a:p>
            <a:pPr indent="0" lvl="0" marL="0" rtl="0" algn="ctr">
              <a:spcBef>
                <a:spcPts val="0"/>
              </a:spcBef>
              <a:spcAft>
                <a:spcPts val="0"/>
              </a:spcAft>
              <a:buNone/>
            </a:pPr>
            <a:r>
              <a:rPr b="1" lang="en">
                <a:latin typeface="Calibri"/>
                <a:ea typeface="Calibri"/>
                <a:cs typeface="Calibri"/>
                <a:sym typeface="Calibri"/>
              </a:rPr>
              <a:t>notation</a:t>
            </a:r>
            <a:endParaRPr b="1">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sp>
        <p:nvSpPr>
          <p:cNvPr id="546" name="Google Shape;546;p53"/>
          <p:cNvSpPr txBox="1"/>
          <p:nvPr>
            <p:ph type="title"/>
          </p:nvPr>
        </p:nvSpPr>
        <p:spPr>
          <a:xfrm>
            <a:off x="229075" y="372800"/>
            <a:ext cx="67392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Multiclass, Multilayer Perceptron</a:t>
            </a:r>
            <a:endParaRPr/>
          </a:p>
        </p:txBody>
      </p:sp>
      <p:sp>
        <p:nvSpPr>
          <p:cNvPr id="547" name="Google Shape;547;p5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descr="{&quot;code&quot;:&quot;\\begin{align*}\n\\separator\n{\\vec{y}}&amp;={\\text{softmax}\\left(V\\cdot\\vec{h}\\,\\right)\\relempty }\\\\\n{\\vec{h}}&amp;={\\sigma\\left(W\\cdot\\vec{x}\\,\\right)\\,\\,\\relempty }\t\n\\end{align*}&quot;,&quot;backgroundColor&quot;:&quot;#FFFFFF&quot;,&quot;type&quot;:&quot;align*&quot;,&quot;id&quot;:&quot;1&quot;,&quot;font&quot;:{&quot;size&quot;:34.5,&quot;family&quot;:&quot;Calibri&quot;,&quot;color&quot;:&quot;#000000&quot;},&quot;aid&quot;:null,&quot;backgroundColorModified&quot;:false,&quot;ts&quot;:1701164134296,&quot;cs&quot;:&quot;ysZ07xbXntZGGlvFQNjXrg==&quot;,&quot;size&quot;:{&quot;width&quot;:405.9030047244094,&quot;height&quot;:161.04681837270343}}" id="548" name="Google Shape;548;p53"/>
          <p:cNvPicPr preferRelativeResize="0"/>
          <p:nvPr/>
        </p:nvPicPr>
        <p:blipFill>
          <a:blip r:embed="rId3">
            <a:alphaModFix/>
          </a:blip>
          <a:stretch>
            <a:fillRect/>
          </a:stretch>
        </p:blipFill>
        <p:spPr>
          <a:xfrm>
            <a:off x="131725" y="1595451"/>
            <a:ext cx="3200901" cy="1270000"/>
          </a:xfrm>
          <a:prstGeom prst="rect">
            <a:avLst/>
          </a:prstGeom>
          <a:noFill/>
          <a:ln>
            <a:noFill/>
          </a:ln>
        </p:spPr>
      </p:pic>
      <p:grpSp>
        <p:nvGrpSpPr>
          <p:cNvPr id="549" name="Google Shape;549;p53"/>
          <p:cNvGrpSpPr/>
          <p:nvPr/>
        </p:nvGrpSpPr>
        <p:grpSpPr>
          <a:xfrm>
            <a:off x="3434975" y="1379933"/>
            <a:ext cx="3866225" cy="2874454"/>
            <a:chOff x="3663575" y="1379933"/>
            <a:chExt cx="3866225" cy="2874454"/>
          </a:xfrm>
        </p:grpSpPr>
        <p:pic>
          <p:nvPicPr>
            <p:cNvPr id="550" name="Google Shape;550;p53"/>
            <p:cNvPicPr preferRelativeResize="0"/>
            <p:nvPr/>
          </p:nvPicPr>
          <p:blipFill>
            <a:blip r:embed="rId4">
              <a:alphaModFix/>
            </a:blip>
            <a:stretch>
              <a:fillRect/>
            </a:stretch>
          </p:blipFill>
          <p:spPr>
            <a:xfrm>
              <a:off x="3663575" y="1379933"/>
              <a:ext cx="3866225" cy="2874454"/>
            </a:xfrm>
            <a:prstGeom prst="rect">
              <a:avLst/>
            </a:prstGeom>
            <a:noFill/>
            <a:ln>
              <a:noFill/>
            </a:ln>
          </p:spPr>
        </p:pic>
        <p:sp>
          <p:nvSpPr>
            <p:cNvPr id="551" name="Google Shape;551;p53"/>
            <p:cNvSpPr/>
            <p:nvPr/>
          </p:nvSpPr>
          <p:spPr>
            <a:xfrm>
              <a:off x="6699325" y="1563763"/>
              <a:ext cx="188400" cy="182400"/>
            </a:xfrm>
            <a:prstGeom prst="ellipse">
              <a:avLst/>
            </a:prstGeom>
            <a:no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552" name="Google Shape;552;p53"/>
            <p:cNvSpPr/>
            <p:nvPr/>
          </p:nvSpPr>
          <p:spPr>
            <a:xfrm>
              <a:off x="4499075" y="1594213"/>
              <a:ext cx="202500" cy="182400"/>
            </a:xfrm>
            <a:prstGeom prst="ellipse">
              <a:avLst/>
            </a:prstGeom>
            <a:no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cxnSp>
          <p:nvCxnSpPr>
            <p:cNvPr id="553" name="Google Shape;553;p53"/>
            <p:cNvCxnSpPr>
              <a:endCxn id="552" idx="3"/>
            </p:cNvCxnSpPr>
            <p:nvPr/>
          </p:nvCxnSpPr>
          <p:spPr>
            <a:xfrm flipH="1" rot="10800000">
              <a:off x="4244030" y="1749901"/>
              <a:ext cx="284700" cy="837300"/>
            </a:xfrm>
            <a:prstGeom prst="straightConnector1">
              <a:avLst/>
            </a:prstGeom>
            <a:noFill/>
            <a:ln cap="flat" cmpd="sng" w="9525">
              <a:solidFill>
                <a:srgbClr val="00A4AD"/>
              </a:solidFill>
              <a:prstDash val="solid"/>
              <a:round/>
              <a:headEnd len="med" w="med" type="none"/>
              <a:tailEnd len="med" w="med" type="triangle"/>
            </a:ln>
          </p:spPr>
        </p:cxnSp>
        <p:cxnSp>
          <p:nvCxnSpPr>
            <p:cNvPr id="554" name="Google Shape;554;p53"/>
            <p:cNvCxnSpPr>
              <a:endCxn id="552" idx="4"/>
            </p:cNvCxnSpPr>
            <p:nvPr/>
          </p:nvCxnSpPr>
          <p:spPr>
            <a:xfrm rot="10800000">
              <a:off x="4600325" y="1776613"/>
              <a:ext cx="557100" cy="829500"/>
            </a:xfrm>
            <a:prstGeom prst="straightConnector1">
              <a:avLst/>
            </a:prstGeom>
            <a:noFill/>
            <a:ln cap="flat" cmpd="sng" w="9525">
              <a:solidFill>
                <a:srgbClr val="00A4AD"/>
              </a:solidFill>
              <a:prstDash val="solid"/>
              <a:round/>
              <a:headEnd len="med" w="med" type="none"/>
              <a:tailEnd len="med" w="med" type="triangle"/>
            </a:ln>
          </p:spPr>
        </p:cxnSp>
        <p:cxnSp>
          <p:nvCxnSpPr>
            <p:cNvPr id="555" name="Google Shape;555;p53"/>
            <p:cNvCxnSpPr>
              <a:endCxn id="552" idx="5"/>
            </p:cNvCxnSpPr>
            <p:nvPr/>
          </p:nvCxnSpPr>
          <p:spPr>
            <a:xfrm rot="10800000">
              <a:off x="4671920" y="1749901"/>
              <a:ext cx="1512000" cy="893100"/>
            </a:xfrm>
            <a:prstGeom prst="straightConnector1">
              <a:avLst/>
            </a:prstGeom>
            <a:noFill/>
            <a:ln cap="flat" cmpd="sng" w="9525">
              <a:solidFill>
                <a:srgbClr val="00A4AD"/>
              </a:solidFill>
              <a:prstDash val="solid"/>
              <a:round/>
              <a:headEnd len="med" w="med" type="none"/>
              <a:tailEnd len="med" w="med" type="triangle"/>
            </a:ln>
          </p:spPr>
        </p:cxnSp>
        <p:cxnSp>
          <p:nvCxnSpPr>
            <p:cNvPr id="556" name="Google Shape;556;p53"/>
            <p:cNvCxnSpPr>
              <a:endCxn id="551" idx="2"/>
            </p:cNvCxnSpPr>
            <p:nvPr/>
          </p:nvCxnSpPr>
          <p:spPr>
            <a:xfrm flipH="1" rot="10800000">
              <a:off x="4311625" y="1654963"/>
              <a:ext cx="2387700" cy="1023000"/>
            </a:xfrm>
            <a:prstGeom prst="straightConnector1">
              <a:avLst/>
            </a:prstGeom>
            <a:noFill/>
            <a:ln cap="flat" cmpd="sng" w="9525">
              <a:solidFill>
                <a:srgbClr val="00A4AD"/>
              </a:solidFill>
              <a:prstDash val="solid"/>
              <a:round/>
              <a:headEnd len="med" w="med" type="none"/>
              <a:tailEnd len="med" w="med" type="triangle"/>
            </a:ln>
          </p:spPr>
        </p:cxnSp>
        <p:cxnSp>
          <p:nvCxnSpPr>
            <p:cNvPr id="557" name="Google Shape;557;p53"/>
            <p:cNvCxnSpPr>
              <a:endCxn id="551" idx="3"/>
            </p:cNvCxnSpPr>
            <p:nvPr/>
          </p:nvCxnSpPr>
          <p:spPr>
            <a:xfrm flipH="1" rot="10800000">
              <a:off x="5322616" y="1719451"/>
              <a:ext cx="1404300" cy="893100"/>
            </a:xfrm>
            <a:prstGeom prst="straightConnector1">
              <a:avLst/>
            </a:prstGeom>
            <a:noFill/>
            <a:ln cap="flat" cmpd="sng" w="9525">
              <a:solidFill>
                <a:srgbClr val="00A4AD"/>
              </a:solidFill>
              <a:prstDash val="solid"/>
              <a:round/>
              <a:headEnd len="med" w="med" type="none"/>
              <a:tailEnd len="med" w="med" type="triangle"/>
            </a:ln>
          </p:spPr>
        </p:cxnSp>
        <p:cxnSp>
          <p:nvCxnSpPr>
            <p:cNvPr id="558" name="Google Shape;558;p53"/>
            <p:cNvCxnSpPr>
              <a:endCxn id="551" idx="4"/>
            </p:cNvCxnSpPr>
            <p:nvPr/>
          </p:nvCxnSpPr>
          <p:spPr>
            <a:xfrm flipH="1" rot="10800000">
              <a:off x="6317425" y="1746163"/>
              <a:ext cx="476100" cy="840900"/>
            </a:xfrm>
            <a:prstGeom prst="straightConnector1">
              <a:avLst/>
            </a:prstGeom>
            <a:noFill/>
            <a:ln cap="flat" cmpd="sng" w="9525">
              <a:solidFill>
                <a:srgbClr val="00A4AD"/>
              </a:solidFill>
              <a:prstDash val="solid"/>
              <a:round/>
              <a:headEnd len="med" w="med" type="none"/>
              <a:tailEnd len="med" w="med" type="triangle"/>
            </a:ln>
          </p:spPr>
        </p:cxnSp>
        <p:cxnSp>
          <p:nvCxnSpPr>
            <p:cNvPr id="559" name="Google Shape;559;p53"/>
            <p:cNvCxnSpPr>
              <a:endCxn id="551" idx="5"/>
            </p:cNvCxnSpPr>
            <p:nvPr/>
          </p:nvCxnSpPr>
          <p:spPr>
            <a:xfrm rot="10800000">
              <a:off x="6860134" y="1719451"/>
              <a:ext cx="419700" cy="867900"/>
            </a:xfrm>
            <a:prstGeom prst="straightConnector1">
              <a:avLst/>
            </a:prstGeom>
            <a:noFill/>
            <a:ln cap="flat" cmpd="sng" w="9525">
              <a:solidFill>
                <a:srgbClr val="00444C"/>
              </a:solidFill>
              <a:prstDash val="solid"/>
              <a:round/>
              <a:headEnd len="med" w="med" type="none"/>
              <a:tailEnd len="med" w="med" type="triangle"/>
            </a:ln>
          </p:spPr>
        </p:cxnSp>
        <p:cxnSp>
          <p:nvCxnSpPr>
            <p:cNvPr id="560" name="Google Shape;560;p53"/>
            <p:cNvCxnSpPr>
              <a:endCxn id="552" idx="6"/>
            </p:cNvCxnSpPr>
            <p:nvPr/>
          </p:nvCxnSpPr>
          <p:spPr>
            <a:xfrm rot="10800000">
              <a:off x="4701575" y="1685413"/>
              <a:ext cx="2517600" cy="999600"/>
            </a:xfrm>
            <a:prstGeom prst="straightConnector1">
              <a:avLst/>
            </a:prstGeom>
            <a:noFill/>
            <a:ln cap="flat" cmpd="sng" w="9525">
              <a:solidFill>
                <a:srgbClr val="00444C"/>
              </a:solidFill>
              <a:prstDash val="solid"/>
              <a:round/>
              <a:headEnd len="med" w="med" type="none"/>
              <a:tailEnd len="med" w="med" type="triangle"/>
            </a:ln>
          </p:spPr>
        </p:cxnSp>
      </p:grpSp>
      <p:sp>
        <p:nvSpPr>
          <p:cNvPr id="561" name="Google Shape;561;p53"/>
          <p:cNvSpPr txBox="1"/>
          <p:nvPr/>
        </p:nvSpPr>
        <p:spPr>
          <a:xfrm>
            <a:off x="131725" y="4566575"/>
            <a:ext cx="16329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800">
                <a:solidFill>
                  <a:schemeClr val="dk1"/>
                </a:solidFill>
                <a:latin typeface="Calibri"/>
                <a:ea typeface="Calibri"/>
                <a:cs typeface="Calibri"/>
                <a:sym typeface="Calibri"/>
              </a:rPr>
              <a:t>Equation</a:t>
            </a:r>
            <a:endParaRPr b="1" sz="1800">
              <a:solidFill>
                <a:schemeClr val="dk1"/>
              </a:solidFill>
              <a:latin typeface="Calibri"/>
              <a:ea typeface="Calibri"/>
              <a:cs typeface="Calibri"/>
              <a:sym typeface="Calibri"/>
            </a:endParaRPr>
          </a:p>
        </p:txBody>
      </p:sp>
      <p:sp>
        <p:nvSpPr>
          <p:cNvPr id="562" name="Google Shape;562;p53"/>
          <p:cNvSpPr txBox="1"/>
          <p:nvPr/>
        </p:nvSpPr>
        <p:spPr>
          <a:xfrm>
            <a:off x="4551638" y="4584150"/>
            <a:ext cx="16329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800">
                <a:solidFill>
                  <a:schemeClr val="dk1"/>
                </a:solidFill>
                <a:latin typeface="Calibri"/>
                <a:ea typeface="Calibri"/>
                <a:cs typeface="Calibri"/>
                <a:sym typeface="Calibri"/>
              </a:rPr>
              <a:t>Network</a:t>
            </a:r>
            <a:endParaRPr b="1" sz="1800">
              <a:solidFill>
                <a:schemeClr val="dk1"/>
              </a:solidFill>
              <a:latin typeface="Calibri"/>
              <a:ea typeface="Calibri"/>
              <a:cs typeface="Calibri"/>
              <a:sym typeface="Calibri"/>
            </a:endParaRPr>
          </a:p>
        </p:txBody>
      </p:sp>
      <p:sp>
        <p:nvSpPr>
          <p:cNvPr id="563" name="Google Shape;563;p53"/>
          <p:cNvSpPr txBox="1"/>
          <p:nvPr/>
        </p:nvSpPr>
        <p:spPr>
          <a:xfrm>
            <a:off x="7232263" y="4629175"/>
            <a:ext cx="16329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800">
                <a:solidFill>
                  <a:schemeClr val="dk1"/>
                </a:solidFill>
                <a:latin typeface="Calibri"/>
                <a:ea typeface="Calibri"/>
                <a:cs typeface="Calibri"/>
                <a:sym typeface="Calibri"/>
              </a:rPr>
              <a:t>Shapes</a:t>
            </a:r>
            <a:endParaRPr b="1" sz="1800">
              <a:solidFill>
                <a:schemeClr val="dk1"/>
              </a:solidFill>
              <a:latin typeface="Calibri"/>
              <a:ea typeface="Calibri"/>
              <a:cs typeface="Calibri"/>
              <a:sym typeface="Calibri"/>
            </a:endParaRPr>
          </a:p>
        </p:txBody>
      </p:sp>
      <p:grpSp>
        <p:nvGrpSpPr>
          <p:cNvPr id="564" name="Google Shape;564;p53"/>
          <p:cNvGrpSpPr/>
          <p:nvPr/>
        </p:nvGrpSpPr>
        <p:grpSpPr>
          <a:xfrm>
            <a:off x="7500456" y="1335175"/>
            <a:ext cx="1296969" cy="2819925"/>
            <a:chOff x="7500456" y="1335175"/>
            <a:chExt cx="1296969" cy="2819925"/>
          </a:xfrm>
        </p:grpSpPr>
        <p:pic>
          <p:nvPicPr>
            <p:cNvPr id="565" name="Google Shape;565;p53"/>
            <p:cNvPicPr preferRelativeResize="0"/>
            <p:nvPr/>
          </p:nvPicPr>
          <p:blipFill rotWithShape="1">
            <a:blip r:embed="rId5">
              <a:alphaModFix/>
            </a:blip>
            <a:srcRect b="28857" l="28742" r="62733" t="57982"/>
            <a:stretch/>
          </p:blipFill>
          <p:spPr>
            <a:xfrm>
              <a:off x="7767750" y="3093525"/>
              <a:ext cx="557100" cy="508160"/>
            </a:xfrm>
            <a:prstGeom prst="rect">
              <a:avLst/>
            </a:prstGeom>
            <a:noFill/>
            <a:ln>
              <a:noFill/>
            </a:ln>
          </p:spPr>
        </p:pic>
        <p:pic>
          <p:nvPicPr>
            <p:cNvPr id="566" name="Google Shape;566;p53"/>
            <p:cNvPicPr preferRelativeResize="0"/>
            <p:nvPr/>
          </p:nvPicPr>
          <p:blipFill rotWithShape="1">
            <a:blip r:embed="rId6">
              <a:alphaModFix/>
            </a:blip>
            <a:srcRect b="80834" l="53146" r="33411" t="11512"/>
            <a:stretch/>
          </p:blipFill>
          <p:spPr>
            <a:xfrm>
              <a:off x="7500456" y="2511800"/>
              <a:ext cx="1095951" cy="393599"/>
            </a:xfrm>
            <a:prstGeom prst="rect">
              <a:avLst/>
            </a:prstGeom>
            <a:noFill/>
            <a:ln>
              <a:noFill/>
            </a:ln>
          </p:spPr>
        </p:pic>
        <p:pic>
          <p:nvPicPr>
            <p:cNvPr id="567" name="Google Shape;567;p53"/>
            <p:cNvPicPr preferRelativeResize="0"/>
            <p:nvPr/>
          </p:nvPicPr>
          <p:blipFill rotWithShape="1">
            <a:blip r:embed="rId6">
              <a:alphaModFix/>
            </a:blip>
            <a:srcRect b="63298" l="55421" r="31135" t="29048"/>
            <a:stretch/>
          </p:blipFill>
          <p:spPr>
            <a:xfrm>
              <a:off x="7701475" y="1458175"/>
              <a:ext cx="1095951" cy="393599"/>
            </a:xfrm>
            <a:prstGeom prst="rect">
              <a:avLst/>
            </a:prstGeom>
            <a:noFill/>
            <a:ln>
              <a:noFill/>
            </a:ln>
          </p:spPr>
        </p:pic>
        <p:pic>
          <p:nvPicPr>
            <p:cNvPr id="568" name="Google Shape;568;p53"/>
            <p:cNvPicPr preferRelativeResize="0"/>
            <p:nvPr/>
          </p:nvPicPr>
          <p:blipFill rotWithShape="1">
            <a:blip r:embed="rId6">
              <a:alphaModFix/>
            </a:blip>
            <a:srcRect b="35437" l="55214" r="31343" t="56909"/>
            <a:stretch/>
          </p:blipFill>
          <p:spPr>
            <a:xfrm>
              <a:off x="7680768" y="3720588"/>
              <a:ext cx="1095951" cy="393599"/>
            </a:xfrm>
            <a:prstGeom prst="rect">
              <a:avLst/>
            </a:prstGeom>
            <a:noFill/>
            <a:ln>
              <a:noFill/>
            </a:ln>
          </p:spPr>
        </p:pic>
        <p:pic>
          <p:nvPicPr>
            <p:cNvPr id="569" name="Google Shape;569;p53"/>
            <p:cNvPicPr preferRelativeResize="0"/>
            <p:nvPr/>
          </p:nvPicPr>
          <p:blipFill rotWithShape="1">
            <a:blip r:embed="rId5">
              <a:alphaModFix/>
            </a:blip>
            <a:srcRect b="50907" l="28505" r="62970" t="29147"/>
            <a:stretch/>
          </p:blipFill>
          <p:spPr>
            <a:xfrm>
              <a:off x="7803623" y="1913105"/>
              <a:ext cx="476100" cy="658171"/>
            </a:xfrm>
            <a:prstGeom prst="rect">
              <a:avLst/>
            </a:prstGeom>
            <a:noFill/>
            <a:ln>
              <a:noFill/>
            </a:ln>
          </p:spPr>
        </p:pic>
        <p:sp>
          <p:nvSpPr>
            <p:cNvPr id="570" name="Google Shape;570;p53"/>
            <p:cNvSpPr txBox="1"/>
            <p:nvPr/>
          </p:nvSpPr>
          <p:spPr>
            <a:xfrm flipH="1">
              <a:off x="8550389" y="1335175"/>
              <a:ext cx="174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300">
                  <a:latin typeface="Calibri"/>
                  <a:ea typeface="Calibri"/>
                  <a:cs typeface="Calibri"/>
                  <a:sym typeface="Calibri"/>
                </a:rPr>
                <a:t>y</a:t>
              </a:r>
              <a:endParaRPr sz="2300">
                <a:latin typeface="Calibri"/>
                <a:ea typeface="Calibri"/>
                <a:cs typeface="Calibri"/>
                <a:sym typeface="Calibri"/>
              </a:endParaRPr>
            </a:p>
          </p:txBody>
        </p:sp>
        <p:sp>
          <p:nvSpPr>
            <p:cNvPr id="571" name="Google Shape;571;p53"/>
            <p:cNvSpPr txBox="1"/>
            <p:nvPr/>
          </p:nvSpPr>
          <p:spPr>
            <a:xfrm flipH="1">
              <a:off x="8626589" y="2435600"/>
              <a:ext cx="174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300">
                  <a:latin typeface="Calibri"/>
                  <a:ea typeface="Calibri"/>
                  <a:cs typeface="Calibri"/>
                  <a:sym typeface="Calibri"/>
                </a:rPr>
                <a:t>h</a:t>
              </a:r>
              <a:endParaRPr sz="2300">
                <a:latin typeface="Calibri"/>
                <a:ea typeface="Calibri"/>
                <a:cs typeface="Calibri"/>
                <a:sym typeface="Calibri"/>
              </a:endParaRPr>
            </a:p>
          </p:txBody>
        </p:sp>
        <p:sp>
          <p:nvSpPr>
            <p:cNvPr id="572" name="Google Shape;572;p53"/>
            <p:cNvSpPr txBox="1"/>
            <p:nvPr/>
          </p:nvSpPr>
          <p:spPr>
            <a:xfrm flipH="1">
              <a:off x="8551167" y="3616300"/>
              <a:ext cx="174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300">
                  <a:latin typeface="Calibri"/>
                  <a:ea typeface="Calibri"/>
                  <a:cs typeface="Calibri"/>
                  <a:sym typeface="Calibri"/>
                </a:rPr>
                <a:t>x</a:t>
              </a:r>
              <a:endParaRPr sz="2300">
                <a:latin typeface="Calibri"/>
                <a:ea typeface="Calibri"/>
                <a:cs typeface="Calibri"/>
                <a:sym typeface="Calibri"/>
              </a:endParaRPr>
            </a:p>
          </p:txBody>
        </p:sp>
        <p:sp>
          <p:nvSpPr>
            <p:cNvPr id="573" name="Google Shape;573;p53"/>
            <p:cNvSpPr txBox="1"/>
            <p:nvPr/>
          </p:nvSpPr>
          <p:spPr>
            <a:xfrm flipH="1">
              <a:off x="8291458" y="1893475"/>
              <a:ext cx="174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300">
                  <a:latin typeface="Calibri"/>
                  <a:ea typeface="Calibri"/>
                  <a:cs typeface="Calibri"/>
                  <a:sym typeface="Calibri"/>
                </a:rPr>
                <a:t>V</a:t>
              </a:r>
              <a:endParaRPr sz="2300">
                <a:latin typeface="Calibri"/>
                <a:ea typeface="Calibri"/>
                <a:cs typeface="Calibri"/>
                <a:sym typeface="Calibri"/>
              </a:endParaRPr>
            </a:p>
          </p:txBody>
        </p:sp>
        <p:sp>
          <p:nvSpPr>
            <p:cNvPr id="574" name="Google Shape;574;p53"/>
            <p:cNvSpPr txBox="1"/>
            <p:nvPr/>
          </p:nvSpPr>
          <p:spPr>
            <a:xfrm flipH="1">
              <a:off x="8317326" y="2993250"/>
              <a:ext cx="174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300">
                  <a:latin typeface="Calibri"/>
                  <a:ea typeface="Calibri"/>
                  <a:cs typeface="Calibri"/>
                  <a:sym typeface="Calibri"/>
                </a:rPr>
                <a:t>W</a:t>
              </a:r>
              <a:endParaRPr sz="2300">
                <a:latin typeface="Calibri"/>
                <a:ea typeface="Calibri"/>
                <a:cs typeface="Calibri"/>
                <a:sym typeface="Calibri"/>
              </a:endParaRPr>
            </a:p>
          </p:txBody>
        </p:sp>
        <p:sp>
          <p:nvSpPr>
            <p:cNvPr id="575" name="Google Shape;575;p53"/>
            <p:cNvSpPr/>
            <p:nvPr/>
          </p:nvSpPr>
          <p:spPr>
            <a:xfrm>
              <a:off x="8200346" y="3849404"/>
              <a:ext cx="145500" cy="145500"/>
            </a:xfrm>
            <a:prstGeom prst="rect">
              <a:avLst/>
            </a:prstGeom>
            <a:solidFill>
              <a:srgbClr val="99999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576" name="Google Shape;576;p53"/>
            <p:cNvSpPr/>
            <p:nvPr/>
          </p:nvSpPr>
          <p:spPr>
            <a:xfrm>
              <a:off x="8367621" y="2637554"/>
              <a:ext cx="145500" cy="145500"/>
            </a:xfrm>
            <a:prstGeom prst="rect">
              <a:avLst/>
            </a:prstGeom>
            <a:solidFill>
              <a:srgbClr val="99999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grpSp>
      <p:sp>
        <p:nvSpPr>
          <p:cNvPr id="577" name="Google Shape;577;p53"/>
          <p:cNvSpPr/>
          <p:nvPr/>
        </p:nvSpPr>
        <p:spPr>
          <a:xfrm>
            <a:off x="4268000" y="975463"/>
            <a:ext cx="2200200" cy="3578700"/>
          </a:xfrm>
          <a:prstGeom prst="upArrow">
            <a:avLst>
              <a:gd fmla="val 50000" name="adj1"/>
              <a:gd fmla="val 50000" name="adj2"/>
            </a:avLst>
          </a:prstGeom>
          <a:solidFill>
            <a:srgbClr val="FFAB40">
              <a:alpha val="2909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56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6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sp>
        <p:nvSpPr>
          <p:cNvPr id="582" name="Google Shape;582;p54"/>
          <p:cNvSpPr txBox="1"/>
          <p:nvPr>
            <p:ph type="title"/>
          </p:nvPr>
        </p:nvSpPr>
        <p:spPr>
          <a:xfrm>
            <a:off x="229075" y="372800"/>
            <a:ext cx="67392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Multiclass, Multilayer Perceptron</a:t>
            </a:r>
            <a:endParaRPr/>
          </a:p>
        </p:txBody>
      </p:sp>
      <p:sp>
        <p:nvSpPr>
          <p:cNvPr id="583" name="Google Shape;583;p5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descr="{&quot;code&quot;:&quot;\\begin{align*}\n\\separator\n{\\vec{y}}&amp;={\\text{softmax}\\left(V\\cdot\\vec{h}\\,\\right)\\relempty }\\\\\n{\\vec{h}}&amp;={\\sigma\\left(W\\cdot\\vec{x}\\,\\right)\\,\\,\\relempty }\t\n\\end{align*}&quot;,&quot;backgroundColor&quot;:&quot;#FFFFFF&quot;,&quot;type&quot;:&quot;align*&quot;,&quot;id&quot;:&quot;1&quot;,&quot;font&quot;:{&quot;size&quot;:34.5,&quot;family&quot;:&quot;Calibri&quot;,&quot;color&quot;:&quot;#000000&quot;},&quot;aid&quot;:null,&quot;backgroundColorModified&quot;:false,&quot;ts&quot;:1701164134296,&quot;cs&quot;:&quot;ysZ07xbXntZGGlvFQNjXrg==&quot;,&quot;size&quot;:{&quot;width&quot;:405.9030047244094,&quot;height&quot;:161.04681837270343}}" id="584" name="Google Shape;584;p54"/>
          <p:cNvPicPr preferRelativeResize="0"/>
          <p:nvPr/>
        </p:nvPicPr>
        <p:blipFill>
          <a:blip r:embed="rId3">
            <a:alphaModFix/>
          </a:blip>
          <a:stretch>
            <a:fillRect/>
          </a:stretch>
        </p:blipFill>
        <p:spPr>
          <a:xfrm>
            <a:off x="131725" y="1595451"/>
            <a:ext cx="3200901" cy="1270000"/>
          </a:xfrm>
          <a:prstGeom prst="rect">
            <a:avLst/>
          </a:prstGeom>
          <a:noFill/>
          <a:ln>
            <a:noFill/>
          </a:ln>
        </p:spPr>
      </p:pic>
      <p:sp>
        <p:nvSpPr>
          <p:cNvPr id="585" name="Google Shape;585;p54"/>
          <p:cNvSpPr txBox="1"/>
          <p:nvPr/>
        </p:nvSpPr>
        <p:spPr>
          <a:xfrm>
            <a:off x="4079850" y="1335163"/>
            <a:ext cx="3264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300">
                <a:latin typeface="Calibri"/>
                <a:ea typeface="Calibri"/>
                <a:cs typeface="Calibri"/>
                <a:sym typeface="Calibri"/>
              </a:rPr>
              <a:t>y</a:t>
            </a:r>
            <a:endParaRPr sz="2300">
              <a:latin typeface="Calibri"/>
              <a:ea typeface="Calibri"/>
              <a:cs typeface="Calibri"/>
              <a:sym typeface="Calibri"/>
            </a:endParaRPr>
          </a:p>
        </p:txBody>
      </p:sp>
      <p:sp>
        <p:nvSpPr>
          <p:cNvPr id="586" name="Google Shape;586;p54"/>
          <p:cNvSpPr txBox="1"/>
          <p:nvPr/>
        </p:nvSpPr>
        <p:spPr>
          <a:xfrm>
            <a:off x="4079850" y="2435588"/>
            <a:ext cx="3264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300">
                <a:latin typeface="Calibri"/>
                <a:ea typeface="Calibri"/>
                <a:cs typeface="Calibri"/>
                <a:sym typeface="Calibri"/>
              </a:rPr>
              <a:t>h</a:t>
            </a:r>
            <a:endParaRPr sz="2300">
              <a:latin typeface="Calibri"/>
              <a:ea typeface="Calibri"/>
              <a:cs typeface="Calibri"/>
              <a:sym typeface="Calibri"/>
            </a:endParaRPr>
          </a:p>
        </p:txBody>
      </p:sp>
      <p:sp>
        <p:nvSpPr>
          <p:cNvPr id="587" name="Google Shape;587;p54"/>
          <p:cNvSpPr txBox="1"/>
          <p:nvPr/>
        </p:nvSpPr>
        <p:spPr>
          <a:xfrm>
            <a:off x="4065250" y="3540088"/>
            <a:ext cx="3264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300">
                <a:latin typeface="Calibri"/>
                <a:ea typeface="Calibri"/>
                <a:cs typeface="Calibri"/>
                <a:sym typeface="Calibri"/>
              </a:rPr>
              <a:t>x</a:t>
            </a:r>
            <a:endParaRPr sz="2300">
              <a:latin typeface="Calibri"/>
              <a:ea typeface="Calibri"/>
              <a:cs typeface="Calibri"/>
              <a:sym typeface="Calibri"/>
            </a:endParaRPr>
          </a:p>
        </p:txBody>
      </p:sp>
      <p:sp>
        <p:nvSpPr>
          <p:cNvPr id="588" name="Google Shape;588;p54"/>
          <p:cNvSpPr txBox="1"/>
          <p:nvPr/>
        </p:nvSpPr>
        <p:spPr>
          <a:xfrm>
            <a:off x="4715375" y="1885388"/>
            <a:ext cx="3264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300">
                <a:latin typeface="Calibri"/>
                <a:ea typeface="Calibri"/>
                <a:cs typeface="Calibri"/>
                <a:sym typeface="Calibri"/>
              </a:rPr>
              <a:t>V</a:t>
            </a:r>
            <a:endParaRPr sz="2300">
              <a:latin typeface="Calibri"/>
              <a:ea typeface="Calibri"/>
              <a:cs typeface="Calibri"/>
              <a:sym typeface="Calibri"/>
            </a:endParaRPr>
          </a:p>
        </p:txBody>
      </p:sp>
      <p:sp>
        <p:nvSpPr>
          <p:cNvPr id="589" name="Google Shape;589;p54"/>
          <p:cNvSpPr txBox="1"/>
          <p:nvPr/>
        </p:nvSpPr>
        <p:spPr>
          <a:xfrm>
            <a:off x="4651850" y="3027175"/>
            <a:ext cx="3264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300">
                <a:latin typeface="Calibri"/>
                <a:ea typeface="Calibri"/>
                <a:cs typeface="Calibri"/>
                <a:sym typeface="Calibri"/>
              </a:rPr>
              <a:t>W</a:t>
            </a:r>
            <a:endParaRPr sz="2300">
              <a:latin typeface="Calibri"/>
              <a:ea typeface="Calibri"/>
              <a:cs typeface="Calibri"/>
              <a:sym typeface="Calibri"/>
            </a:endParaRPr>
          </a:p>
        </p:txBody>
      </p:sp>
      <p:sp>
        <p:nvSpPr>
          <p:cNvPr id="590" name="Google Shape;590;p54"/>
          <p:cNvSpPr txBox="1"/>
          <p:nvPr/>
        </p:nvSpPr>
        <p:spPr>
          <a:xfrm>
            <a:off x="131725" y="4566575"/>
            <a:ext cx="16329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800">
                <a:solidFill>
                  <a:schemeClr val="dk1"/>
                </a:solidFill>
                <a:latin typeface="Calibri"/>
                <a:ea typeface="Calibri"/>
                <a:cs typeface="Calibri"/>
                <a:sym typeface="Calibri"/>
              </a:rPr>
              <a:t>Equation</a:t>
            </a:r>
            <a:endParaRPr b="1" sz="1800">
              <a:solidFill>
                <a:schemeClr val="dk1"/>
              </a:solidFill>
              <a:latin typeface="Calibri"/>
              <a:ea typeface="Calibri"/>
              <a:cs typeface="Calibri"/>
              <a:sym typeface="Calibri"/>
            </a:endParaRPr>
          </a:p>
        </p:txBody>
      </p:sp>
      <p:sp>
        <p:nvSpPr>
          <p:cNvPr id="591" name="Google Shape;591;p54"/>
          <p:cNvSpPr txBox="1"/>
          <p:nvPr/>
        </p:nvSpPr>
        <p:spPr>
          <a:xfrm>
            <a:off x="4551638" y="4584150"/>
            <a:ext cx="16329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800">
                <a:solidFill>
                  <a:schemeClr val="dk1"/>
                </a:solidFill>
                <a:latin typeface="Calibri"/>
                <a:ea typeface="Calibri"/>
                <a:cs typeface="Calibri"/>
                <a:sym typeface="Calibri"/>
              </a:rPr>
              <a:t>“Architecture”</a:t>
            </a:r>
            <a:endParaRPr b="1" sz="1800">
              <a:solidFill>
                <a:schemeClr val="dk1"/>
              </a:solidFill>
              <a:latin typeface="Calibri"/>
              <a:ea typeface="Calibri"/>
              <a:cs typeface="Calibri"/>
              <a:sym typeface="Calibri"/>
            </a:endParaRPr>
          </a:p>
        </p:txBody>
      </p:sp>
      <p:sp>
        <p:nvSpPr>
          <p:cNvPr id="592" name="Google Shape;592;p54"/>
          <p:cNvSpPr/>
          <p:nvPr/>
        </p:nvSpPr>
        <p:spPr>
          <a:xfrm>
            <a:off x="4497338" y="1512250"/>
            <a:ext cx="1838400" cy="289200"/>
          </a:xfrm>
          <a:prstGeom prst="rect">
            <a:avLst/>
          </a:prstGeom>
          <a:solidFill>
            <a:srgbClr val="E3CAEB"/>
          </a:solidFill>
          <a:ln cap="flat" cmpd="sng" w="19050">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593" name="Google Shape;593;p54"/>
          <p:cNvSpPr/>
          <p:nvPr/>
        </p:nvSpPr>
        <p:spPr>
          <a:xfrm>
            <a:off x="4497325" y="2560400"/>
            <a:ext cx="1838400" cy="289200"/>
          </a:xfrm>
          <a:prstGeom prst="rect">
            <a:avLst/>
          </a:prstGeom>
          <a:solidFill>
            <a:srgbClr val="B6D7A8"/>
          </a:solidFill>
          <a:ln cap="flat" cmpd="sng" w="19050">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594" name="Google Shape;594;p54"/>
          <p:cNvSpPr/>
          <p:nvPr/>
        </p:nvSpPr>
        <p:spPr>
          <a:xfrm>
            <a:off x="4497325" y="3701375"/>
            <a:ext cx="1838400" cy="289200"/>
          </a:xfrm>
          <a:prstGeom prst="rect">
            <a:avLst/>
          </a:prstGeom>
          <a:solidFill>
            <a:srgbClr val="F9CB9C"/>
          </a:solidFill>
          <a:ln cap="flat" cmpd="sng" w="19050">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595" name="Google Shape;595;p54"/>
          <p:cNvSpPr/>
          <p:nvPr/>
        </p:nvSpPr>
        <p:spPr>
          <a:xfrm>
            <a:off x="5230850" y="1932075"/>
            <a:ext cx="371400" cy="497700"/>
          </a:xfrm>
          <a:prstGeom prst="up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596" name="Google Shape;596;p54"/>
          <p:cNvSpPr/>
          <p:nvPr/>
        </p:nvSpPr>
        <p:spPr>
          <a:xfrm>
            <a:off x="5230850" y="3026625"/>
            <a:ext cx="371400" cy="497700"/>
          </a:xfrm>
          <a:prstGeom prst="up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grpSp>
        <p:nvGrpSpPr>
          <p:cNvPr id="597" name="Google Shape;597;p54"/>
          <p:cNvGrpSpPr/>
          <p:nvPr/>
        </p:nvGrpSpPr>
        <p:grpSpPr>
          <a:xfrm>
            <a:off x="5958254" y="2299850"/>
            <a:ext cx="2712418" cy="1257440"/>
            <a:chOff x="-771171" y="3754850"/>
            <a:chExt cx="2712418" cy="1257440"/>
          </a:xfrm>
        </p:grpSpPr>
        <p:sp>
          <p:nvSpPr>
            <p:cNvPr id="598" name="Google Shape;598;p54"/>
            <p:cNvSpPr/>
            <p:nvPr/>
          </p:nvSpPr>
          <p:spPr>
            <a:xfrm rot="8842041">
              <a:off x="-745523" y="4374804"/>
              <a:ext cx="1019753" cy="393606"/>
            </a:xfrm>
            <a:custGeom>
              <a:rect b="b" l="l" r="r" t="t"/>
              <a:pathLst>
                <a:path extrusionOk="0" h="19564" w="32582">
                  <a:moveTo>
                    <a:pt x="32020" y="19564"/>
                  </a:moveTo>
                  <a:cubicBezTo>
                    <a:pt x="33166" y="13844"/>
                    <a:pt x="32713" y="5931"/>
                    <a:pt x="27967" y="2540"/>
                  </a:cubicBezTo>
                  <a:cubicBezTo>
                    <a:pt x="20382" y="-2880"/>
                    <a:pt x="9322" y="2540"/>
                    <a:pt x="0" y="2540"/>
                  </a:cubicBezTo>
                </a:path>
              </a:pathLst>
            </a:custGeom>
            <a:noFill/>
            <a:ln cap="flat" cmpd="sng" w="28575">
              <a:solidFill>
                <a:schemeClr val="accent5"/>
              </a:solidFill>
              <a:prstDash val="solid"/>
              <a:round/>
              <a:headEnd len="med" w="med" type="triangle"/>
              <a:tailEnd len="med" w="med" type="none"/>
            </a:ln>
          </p:spPr>
        </p:sp>
        <p:sp>
          <p:nvSpPr>
            <p:cNvPr id="599" name="Google Shape;599;p54"/>
            <p:cNvSpPr txBox="1"/>
            <p:nvPr/>
          </p:nvSpPr>
          <p:spPr>
            <a:xfrm rot="-676472">
              <a:off x="172409" y="3915347"/>
              <a:ext cx="1713977" cy="729905"/>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b="1" i="1" lang="en" sz="1800">
                  <a:solidFill>
                    <a:schemeClr val="dk1"/>
                  </a:solidFill>
                  <a:latin typeface="Calibri"/>
                  <a:ea typeface="Calibri"/>
                  <a:cs typeface="Calibri"/>
                  <a:sym typeface="Calibri"/>
                </a:rPr>
                <a:t>“Feed Forward”</a:t>
              </a:r>
              <a:endParaRPr b="1" i="1" sz="1800">
                <a:solidFill>
                  <a:schemeClr val="dk1"/>
                </a:solidFill>
                <a:latin typeface="Calibri"/>
                <a:ea typeface="Calibri"/>
                <a:cs typeface="Calibri"/>
                <a:sym typeface="Calibri"/>
              </a:endParaRPr>
            </a:p>
          </p:txBody>
        </p:sp>
      </p:gr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3" name="Shape 603"/>
        <p:cNvGrpSpPr/>
        <p:nvPr/>
      </p:nvGrpSpPr>
      <p:grpSpPr>
        <a:xfrm>
          <a:off x="0" y="0"/>
          <a:ext cx="0" cy="0"/>
          <a:chOff x="0" y="0"/>
          <a:chExt cx="0" cy="0"/>
        </a:xfrm>
      </p:grpSpPr>
      <p:sp>
        <p:nvSpPr>
          <p:cNvPr id="604" name="Google Shape;604;p55"/>
          <p:cNvSpPr txBox="1"/>
          <p:nvPr>
            <p:ph type="title"/>
          </p:nvPr>
        </p:nvSpPr>
        <p:spPr>
          <a:xfrm>
            <a:off x="229075" y="372800"/>
            <a:ext cx="67392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Transformer Architecture</a:t>
            </a:r>
            <a:endParaRPr/>
          </a:p>
        </p:txBody>
      </p:sp>
      <p:sp>
        <p:nvSpPr>
          <p:cNvPr id="605" name="Google Shape;605;p55"/>
          <p:cNvSpPr txBox="1"/>
          <p:nvPr>
            <p:ph idx="1" type="body"/>
          </p:nvPr>
        </p:nvSpPr>
        <p:spPr>
          <a:xfrm>
            <a:off x="3810000" y="953275"/>
            <a:ext cx="5053800" cy="2886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Looks complicated, but…</a:t>
            </a:r>
            <a:endParaRPr/>
          </a:p>
          <a:p>
            <a:pPr indent="-342900" lvl="0" marL="457200" rtl="0" algn="l">
              <a:spcBef>
                <a:spcPts val="1200"/>
              </a:spcBef>
              <a:spcAft>
                <a:spcPts val="0"/>
              </a:spcAft>
              <a:buSzPts val="1800"/>
              <a:buChar char="●"/>
            </a:pPr>
            <a:r>
              <a:rPr lang="en"/>
              <a:t>Similar components repeated many times</a:t>
            </a:r>
            <a:endParaRPr/>
          </a:p>
          <a:p>
            <a:pPr indent="-342900" lvl="0" marL="457200" rtl="0" algn="l">
              <a:spcBef>
                <a:spcPts val="0"/>
              </a:spcBef>
              <a:spcAft>
                <a:spcPts val="0"/>
              </a:spcAft>
              <a:buSzPts val="1800"/>
              <a:buChar char="●"/>
            </a:pPr>
            <a:r>
              <a:rPr lang="en"/>
              <a:t>Everything is just Calculus</a:t>
            </a:r>
            <a:endParaRPr/>
          </a:p>
          <a:p>
            <a:pPr indent="-342900" lvl="0" marL="457200" rtl="0" algn="l">
              <a:spcBef>
                <a:spcPts val="0"/>
              </a:spcBef>
              <a:spcAft>
                <a:spcPts val="0"/>
              </a:spcAft>
              <a:buSzPts val="1800"/>
              <a:buChar char="●"/>
            </a:pPr>
            <a:r>
              <a:rPr lang="en"/>
              <a:t>Still trained with Stochastic Gradient Descent!</a:t>
            </a:r>
            <a:endParaRPr/>
          </a:p>
          <a:p>
            <a:pPr indent="-342900" lvl="1" marL="914400" rtl="0" algn="l">
              <a:spcBef>
                <a:spcPts val="0"/>
              </a:spcBef>
              <a:spcAft>
                <a:spcPts val="0"/>
              </a:spcAft>
              <a:buSzPts val="1800"/>
              <a:buChar char="∙"/>
            </a:pPr>
            <a:r>
              <a:rPr lang="en" sz="1800"/>
              <a:t>because the loss (=error) function has a nice derivative</a:t>
            </a:r>
            <a:endParaRPr sz="1800"/>
          </a:p>
          <a:p>
            <a:pPr indent="-342900" lvl="0" marL="457200" rtl="0" algn="l">
              <a:spcBef>
                <a:spcPts val="0"/>
              </a:spcBef>
              <a:spcAft>
                <a:spcPts val="0"/>
              </a:spcAft>
              <a:buSzPts val="1800"/>
              <a:buChar char="●"/>
            </a:pPr>
            <a:r>
              <a:rPr lang="en"/>
              <a:t>Trained on next-word prediction:</a:t>
            </a:r>
            <a:endParaRPr sz="1800"/>
          </a:p>
        </p:txBody>
      </p:sp>
      <p:sp>
        <p:nvSpPr>
          <p:cNvPr id="606" name="Google Shape;606;p5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607" name="Google Shape;607;p55"/>
          <p:cNvPicPr preferRelativeResize="0"/>
          <p:nvPr/>
        </p:nvPicPr>
        <p:blipFill>
          <a:blip r:embed="rId3">
            <a:alphaModFix/>
          </a:blip>
          <a:stretch>
            <a:fillRect/>
          </a:stretch>
        </p:blipFill>
        <p:spPr>
          <a:xfrm>
            <a:off x="229074" y="1021700"/>
            <a:ext cx="2957524" cy="4074949"/>
          </a:xfrm>
          <a:prstGeom prst="rect">
            <a:avLst/>
          </a:prstGeom>
          <a:noFill/>
          <a:ln>
            <a:noFill/>
          </a:ln>
        </p:spPr>
      </p:pic>
      <p:sp>
        <p:nvSpPr>
          <p:cNvPr id="608" name="Google Shape;608;p55"/>
          <p:cNvSpPr txBox="1"/>
          <p:nvPr/>
        </p:nvSpPr>
        <p:spPr>
          <a:xfrm rot="788900">
            <a:off x="525174" y="1242894"/>
            <a:ext cx="1014187" cy="996064"/>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500">
                <a:solidFill>
                  <a:schemeClr val="dk1"/>
                </a:solidFill>
                <a:latin typeface="Calibri"/>
                <a:ea typeface="Calibri"/>
                <a:cs typeface="Calibri"/>
                <a:sym typeface="Calibri"/>
              </a:rPr>
              <a:t>😵‍💫</a:t>
            </a:r>
            <a:endParaRPr sz="5500">
              <a:solidFill>
                <a:schemeClr val="dk1"/>
              </a:solidFill>
              <a:latin typeface="Calibri"/>
              <a:ea typeface="Calibri"/>
              <a:cs typeface="Calibri"/>
              <a:sym typeface="Calibri"/>
            </a:endParaRPr>
          </a:p>
        </p:txBody>
      </p:sp>
      <p:grpSp>
        <p:nvGrpSpPr>
          <p:cNvPr id="609" name="Google Shape;609;p55"/>
          <p:cNvGrpSpPr/>
          <p:nvPr/>
        </p:nvGrpSpPr>
        <p:grpSpPr>
          <a:xfrm>
            <a:off x="4495799" y="3485800"/>
            <a:ext cx="2957571" cy="1595481"/>
            <a:chOff x="4560413" y="2848737"/>
            <a:chExt cx="3380854" cy="1991613"/>
          </a:xfrm>
        </p:grpSpPr>
        <p:sp>
          <p:nvSpPr>
            <p:cNvPr id="610" name="Google Shape;610;p55"/>
            <p:cNvSpPr txBox="1"/>
            <p:nvPr/>
          </p:nvSpPr>
          <p:spPr>
            <a:xfrm>
              <a:off x="4571666" y="4283250"/>
              <a:ext cx="3369600" cy="55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700">
                  <a:solidFill>
                    <a:schemeClr val="dk1"/>
                  </a:solidFill>
                  <a:latin typeface="Calibri"/>
                  <a:ea typeface="Calibri"/>
                  <a:cs typeface="Calibri"/>
                  <a:sym typeface="Calibri"/>
                </a:rPr>
                <a:t>&lt;s&gt;       The      dog      runs</a:t>
              </a:r>
              <a:endParaRPr sz="1700">
                <a:solidFill>
                  <a:schemeClr val="dk1"/>
                </a:solidFill>
                <a:latin typeface="Calibri"/>
                <a:ea typeface="Calibri"/>
                <a:cs typeface="Calibri"/>
                <a:sym typeface="Calibri"/>
              </a:endParaRPr>
            </a:p>
          </p:txBody>
        </p:sp>
        <p:sp>
          <p:nvSpPr>
            <p:cNvPr id="611" name="Google Shape;611;p55"/>
            <p:cNvSpPr txBox="1"/>
            <p:nvPr/>
          </p:nvSpPr>
          <p:spPr>
            <a:xfrm>
              <a:off x="4560413" y="2848737"/>
              <a:ext cx="3189600" cy="55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700">
                  <a:solidFill>
                    <a:schemeClr val="dk1"/>
                  </a:solidFill>
                  <a:latin typeface="Calibri"/>
                  <a:ea typeface="Calibri"/>
                  <a:cs typeface="Calibri"/>
                  <a:sym typeface="Calibri"/>
                </a:rPr>
                <a:t>The      dog      runs       …</a:t>
              </a:r>
              <a:endParaRPr sz="1700">
                <a:solidFill>
                  <a:schemeClr val="dk1"/>
                </a:solidFill>
                <a:latin typeface="Calibri"/>
                <a:ea typeface="Calibri"/>
                <a:cs typeface="Calibri"/>
                <a:sym typeface="Calibri"/>
              </a:endParaRPr>
            </a:p>
          </p:txBody>
        </p:sp>
        <p:sp>
          <p:nvSpPr>
            <p:cNvPr id="612" name="Google Shape;612;p55"/>
            <p:cNvSpPr/>
            <p:nvPr/>
          </p:nvSpPr>
          <p:spPr>
            <a:xfrm>
              <a:off x="5369875" y="3638150"/>
              <a:ext cx="4347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613" name="Google Shape;613;p55"/>
            <p:cNvSpPr/>
            <p:nvPr/>
          </p:nvSpPr>
          <p:spPr>
            <a:xfrm>
              <a:off x="4698750" y="3638150"/>
              <a:ext cx="4347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614" name="Google Shape;614;p55"/>
            <p:cNvSpPr/>
            <p:nvPr/>
          </p:nvSpPr>
          <p:spPr>
            <a:xfrm>
              <a:off x="6041000" y="3638150"/>
              <a:ext cx="4347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615" name="Google Shape;615;p55"/>
            <p:cNvSpPr/>
            <p:nvPr/>
          </p:nvSpPr>
          <p:spPr>
            <a:xfrm>
              <a:off x="6774500" y="3638150"/>
              <a:ext cx="4347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cxnSp>
          <p:nvCxnSpPr>
            <p:cNvPr id="616" name="Google Shape;616;p55"/>
            <p:cNvCxnSpPr>
              <a:endCxn id="613" idx="2"/>
            </p:cNvCxnSpPr>
            <p:nvPr/>
          </p:nvCxnSpPr>
          <p:spPr>
            <a:xfrm rot="10800000">
              <a:off x="4916100" y="4031750"/>
              <a:ext cx="0" cy="369300"/>
            </a:xfrm>
            <a:prstGeom prst="straightConnector1">
              <a:avLst/>
            </a:prstGeom>
            <a:noFill/>
            <a:ln cap="flat" cmpd="sng" w="9525">
              <a:solidFill>
                <a:schemeClr val="dk2"/>
              </a:solidFill>
              <a:prstDash val="solid"/>
              <a:round/>
              <a:headEnd len="med" w="med" type="none"/>
              <a:tailEnd len="med" w="med" type="triangle"/>
            </a:ln>
          </p:spPr>
        </p:cxnSp>
        <p:cxnSp>
          <p:nvCxnSpPr>
            <p:cNvPr id="617" name="Google Shape;617;p55"/>
            <p:cNvCxnSpPr/>
            <p:nvPr/>
          </p:nvCxnSpPr>
          <p:spPr>
            <a:xfrm rot="10800000">
              <a:off x="4916100" y="3268850"/>
              <a:ext cx="0" cy="369300"/>
            </a:xfrm>
            <a:prstGeom prst="straightConnector1">
              <a:avLst/>
            </a:prstGeom>
            <a:noFill/>
            <a:ln cap="flat" cmpd="sng" w="9525">
              <a:solidFill>
                <a:schemeClr val="dk2"/>
              </a:solidFill>
              <a:prstDash val="solid"/>
              <a:round/>
              <a:headEnd len="med" w="med" type="none"/>
              <a:tailEnd len="med" w="med" type="triangle"/>
            </a:ln>
          </p:spPr>
        </p:cxnSp>
        <p:cxnSp>
          <p:nvCxnSpPr>
            <p:cNvPr id="618" name="Google Shape;618;p55"/>
            <p:cNvCxnSpPr/>
            <p:nvPr/>
          </p:nvCxnSpPr>
          <p:spPr>
            <a:xfrm rot="10800000">
              <a:off x="5587225" y="4031750"/>
              <a:ext cx="0" cy="369300"/>
            </a:xfrm>
            <a:prstGeom prst="straightConnector1">
              <a:avLst/>
            </a:prstGeom>
            <a:noFill/>
            <a:ln cap="flat" cmpd="sng" w="9525">
              <a:solidFill>
                <a:schemeClr val="dk2"/>
              </a:solidFill>
              <a:prstDash val="solid"/>
              <a:round/>
              <a:headEnd len="med" w="med" type="none"/>
              <a:tailEnd len="med" w="med" type="triangle"/>
            </a:ln>
          </p:spPr>
        </p:cxnSp>
        <p:cxnSp>
          <p:nvCxnSpPr>
            <p:cNvPr id="619" name="Google Shape;619;p55"/>
            <p:cNvCxnSpPr/>
            <p:nvPr/>
          </p:nvCxnSpPr>
          <p:spPr>
            <a:xfrm rot="10800000">
              <a:off x="5587225" y="3268850"/>
              <a:ext cx="0" cy="369300"/>
            </a:xfrm>
            <a:prstGeom prst="straightConnector1">
              <a:avLst/>
            </a:prstGeom>
            <a:noFill/>
            <a:ln cap="flat" cmpd="sng" w="9525">
              <a:solidFill>
                <a:schemeClr val="dk2"/>
              </a:solidFill>
              <a:prstDash val="solid"/>
              <a:round/>
              <a:headEnd len="med" w="med" type="none"/>
              <a:tailEnd len="med" w="med" type="triangle"/>
            </a:ln>
          </p:spPr>
        </p:cxnSp>
        <p:cxnSp>
          <p:nvCxnSpPr>
            <p:cNvPr id="620" name="Google Shape;620;p55"/>
            <p:cNvCxnSpPr/>
            <p:nvPr/>
          </p:nvCxnSpPr>
          <p:spPr>
            <a:xfrm rot="10800000">
              <a:off x="6258350" y="4031750"/>
              <a:ext cx="0" cy="369300"/>
            </a:xfrm>
            <a:prstGeom prst="straightConnector1">
              <a:avLst/>
            </a:prstGeom>
            <a:noFill/>
            <a:ln cap="flat" cmpd="sng" w="9525">
              <a:solidFill>
                <a:schemeClr val="dk2"/>
              </a:solidFill>
              <a:prstDash val="solid"/>
              <a:round/>
              <a:headEnd len="med" w="med" type="none"/>
              <a:tailEnd len="med" w="med" type="triangle"/>
            </a:ln>
          </p:spPr>
        </p:cxnSp>
        <p:cxnSp>
          <p:nvCxnSpPr>
            <p:cNvPr id="621" name="Google Shape;621;p55"/>
            <p:cNvCxnSpPr/>
            <p:nvPr/>
          </p:nvCxnSpPr>
          <p:spPr>
            <a:xfrm rot="10800000">
              <a:off x="6258350" y="3268850"/>
              <a:ext cx="0" cy="369300"/>
            </a:xfrm>
            <a:prstGeom prst="straightConnector1">
              <a:avLst/>
            </a:prstGeom>
            <a:noFill/>
            <a:ln cap="flat" cmpd="sng" w="9525">
              <a:solidFill>
                <a:schemeClr val="dk2"/>
              </a:solidFill>
              <a:prstDash val="solid"/>
              <a:round/>
              <a:headEnd len="med" w="med" type="none"/>
              <a:tailEnd len="med" w="med" type="triangle"/>
            </a:ln>
          </p:spPr>
        </p:cxnSp>
        <p:cxnSp>
          <p:nvCxnSpPr>
            <p:cNvPr id="622" name="Google Shape;622;p55"/>
            <p:cNvCxnSpPr/>
            <p:nvPr/>
          </p:nvCxnSpPr>
          <p:spPr>
            <a:xfrm rot="10800000">
              <a:off x="6991850" y="4031750"/>
              <a:ext cx="0" cy="369300"/>
            </a:xfrm>
            <a:prstGeom prst="straightConnector1">
              <a:avLst/>
            </a:prstGeom>
            <a:noFill/>
            <a:ln cap="flat" cmpd="sng" w="9525">
              <a:solidFill>
                <a:schemeClr val="dk2"/>
              </a:solidFill>
              <a:prstDash val="solid"/>
              <a:round/>
              <a:headEnd len="med" w="med" type="none"/>
              <a:tailEnd len="med" w="med" type="triangle"/>
            </a:ln>
          </p:spPr>
        </p:cxnSp>
        <p:cxnSp>
          <p:nvCxnSpPr>
            <p:cNvPr id="623" name="Google Shape;623;p55"/>
            <p:cNvCxnSpPr/>
            <p:nvPr/>
          </p:nvCxnSpPr>
          <p:spPr>
            <a:xfrm rot="10800000">
              <a:off x="6991850" y="3268850"/>
              <a:ext cx="0" cy="369300"/>
            </a:xfrm>
            <a:prstGeom prst="straightConnector1">
              <a:avLst/>
            </a:prstGeom>
            <a:noFill/>
            <a:ln cap="flat" cmpd="sng" w="9525">
              <a:solidFill>
                <a:schemeClr val="dk2"/>
              </a:solidFill>
              <a:prstDash val="solid"/>
              <a:round/>
              <a:headEnd len="med" w="med" type="none"/>
              <a:tailEnd len="med" w="med" type="triangle"/>
            </a:ln>
          </p:spPr>
        </p:cxnSp>
        <p:cxnSp>
          <p:nvCxnSpPr>
            <p:cNvPr id="624" name="Google Shape;624;p55"/>
            <p:cNvCxnSpPr>
              <a:endCxn id="612" idx="2"/>
            </p:cNvCxnSpPr>
            <p:nvPr/>
          </p:nvCxnSpPr>
          <p:spPr>
            <a:xfrm flipH="1" rot="10800000">
              <a:off x="4944325" y="4031750"/>
              <a:ext cx="642900" cy="369300"/>
            </a:xfrm>
            <a:prstGeom prst="straightConnector1">
              <a:avLst/>
            </a:prstGeom>
            <a:noFill/>
            <a:ln cap="flat" cmpd="sng" w="9525">
              <a:solidFill>
                <a:schemeClr val="dk2"/>
              </a:solidFill>
              <a:prstDash val="solid"/>
              <a:round/>
              <a:headEnd len="med" w="med" type="none"/>
              <a:tailEnd len="med" w="med" type="triangle"/>
            </a:ln>
          </p:spPr>
        </p:cxnSp>
        <p:cxnSp>
          <p:nvCxnSpPr>
            <p:cNvPr id="625" name="Google Shape;625;p55"/>
            <p:cNvCxnSpPr>
              <a:endCxn id="614" idx="2"/>
            </p:cNvCxnSpPr>
            <p:nvPr/>
          </p:nvCxnSpPr>
          <p:spPr>
            <a:xfrm flipH="1" rot="10800000">
              <a:off x="4962350" y="4031750"/>
              <a:ext cx="1296000" cy="369300"/>
            </a:xfrm>
            <a:prstGeom prst="straightConnector1">
              <a:avLst/>
            </a:prstGeom>
            <a:noFill/>
            <a:ln cap="flat" cmpd="sng" w="9525">
              <a:solidFill>
                <a:schemeClr val="dk2"/>
              </a:solidFill>
              <a:prstDash val="solid"/>
              <a:round/>
              <a:headEnd len="med" w="med" type="none"/>
              <a:tailEnd len="med" w="med" type="triangle"/>
            </a:ln>
          </p:spPr>
        </p:cxnSp>
        <p:cxnSp>
          <p:nvCxnSpPr>
            <p:cNvPr id="626" name="Google Shape;626;p55"/>
            <p:cNvCxnSpPr>
              <a:endCxn id="615" idx="2"/>
            </p:cNvCxnSpPr>
            <p:nvPr/>
          </p:nvCxnSpPr>
          <p:spPr>
            <a:xfrm flipH="1" rot="10800000">
              <a:off x="4935350" y="4031750"/>
              <a:ext cx="2056500" cy="387300"/>
            </a:xfrm>
            <a:prstGeom prst="straightConnector1">
              <a:avLst/>
            </a:prstGeom>
            <a:noFill/>
            <a:ln cap="flat" cmpd="sng" w="9525">
              <a:solidFill>
                <a:schemeClr val="dk2"/>
              </a:solidFill>
              <a:prstDash val="solid"/>
              <a:round/>
              <a:headEnd len="med" w="med" type="none"/>
              <a:tailEnd len="med" w="med" type="triangle"/>
            </a:ln>
          </p:spPr>
        </p:cxnSp>
        <p:cxnSp>
          <p:nvCxnSpPr>
            <p:cNvPr id="627" name="Google Shape;627;p55"/>
            <p:cNvCxnSpPr>
              <a:endCxn id="614" idx="2"/>
            </p:cNvCxnSpPr>
            <p:nvPr/>
          </p:nvCxnSpPr>
          <p:spPr>
            <a:xfrm flipH="1" rot="10800000">
              <a:off x="5605250" y="4031750"/>
              <a:ext cx="653100" cy="369300"/>
            </a:xfrm>
            <a:prstGeom prst="straightConnector1">
              <a:avLst/>
            </a:prstGeom>
            <a:noFill/>
            <a:ln cap="flat" cmpd="sng" w="9525">
              <a:solidFill>
                <a:schemeClr val="dk2"/>
              </a:solidFill>
              <a:prstDash val="solid"/>
              <a:round/>
              <a:headEnd len="med" w="med" type="none"/>
              <a:tailEnd len="med" w="med" type="triangle"/>
            </a:ln>
          </p:spPr>
        </p:cxnSp>
        <p:cxnSp>
          <p:nvCxnSpPr>
            <p:cNvPr id="628" name="Google Shape;628;p55"/>
            <p:cNvCxnSpPr>
              <a:endCxn id="615" idx="2"/>
            </p:cNvCxnSpPr>
            <p:nvPr/>
          </p:nvCxnSpPr>
          <p:spPr>
            <a:xfrm flipH="1" rot="10800000">
              <a:off x="5605250" y="4031750"/>
              <a:ext cx="1386600" cy="378300"/>
            </a:xfrm>
            <a:prstGeom prst="straightConnector1">
              <a:avLst/>
            </a:prstGeom>
            <a:noFill/>
            <a:ln cap="flat" cmpd="sng" w="9525">
              <a:solidFill>
                <a:schemeClr val="dk2"/>
              </a:solidFill>
              <a:prstDash val="solid"/>
              <a:round/>
              <a:headEnd len="med" w="med" type="none"/>
              <a:tailEnd len="med" w="med" type="triangle"/>
            </a:ln>
          </p:spPr>
        </p:cxnSp>
        <p:cxnSp>
          <p:nvCxnSpPr>
            <p:cNvPr id="629" name="Google Shape;629;p55"/>
            <p:cNvCxnSpPr>
              <a:endCxn id="615" idx="2"/>
            </p:cNvCxnSpPr>
            <p:nvPr/>
          </p:nvCxnSpPr>
          <p:spPr>
            <a:xfrm flipH="1" rot="10800000">
              <a:off x="6275450" y="4031750"/>
              <a:ext cx="716400" cy="378300"/>
            </a:xfrm>
            <a:prstGeom prst="straightConnector1">
              <a:avLst/>
            </a:prstGeom>
            <a:noFill/>
            <a:ln cap="flat" cmpd="sng" w="9525">
              <a:solidFill>
                <a:schemeClr val="dk2"/>
              </a:solidFill>
              <a:prstDash val="solid"/>
              <a:round/>
              <a:headEnd len="med" w="med" type="none"/>
              <a:tailEnd len="med" w="med" type="triangl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3" name="Shape 633"/>
        <p:cNvGrpSpPr/>
        <p:nvPr/>
      </p:nvGrpSpPr>
      <p:grpSpPr>
        <a:xfrm>
          <a:off x="0" y="0"/>
          <a:ext cx="0" cy="0"/>
          <a:chOff x="0" y="0"/>
          <a:chExt cx="0" cy="0"/>
        </a:xfrm>
      </p:grpSpPr>
      <p:sp>
        <p:nvSpPr>
          <p:cNvPr id="634" name="Google Shape;634;p56"/>
          <p:cNvSpPr txBox="1"/>
          <p:nvPr>
            <p:ph type="title"/>
          </p:nvPr>
        </p:nvSpPr>
        <p:spPr>
          <a:xfrm>
            <a:off x="229075" y="372800"/>
            <a:ext cx="67392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Transformer Beam Search</a:t>
            </a:r>
            <a:endParaRPr/>
          </a:p>
        </p:txBody>
      </p:sp>
      <p:sp>
        <p:nvSpPr>
          <p:cNvPr id="635" name="Google Shape;635;p56"/>
          <p:cNvSpPr txBox="1"/>
          <p:nvPr>
            <p:ph idx="1" type="body"/>
          </p:nvPr>
        </p:nvSpPr>
        <p:spPr>
          <a:xfrm>
            <a:off x="448225" y="1241525"/>
            <a:ext cx="3642000" cy="3624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When </a:t>
            </a:r>
            <a:r>
              <a:rPr b="1" i="1" lang="en"/>
              <a:t>using</a:t>
            </a:r>
            <a:r>
              <a:rPr lang="en"/>
              <a:t> the trained model, word probabilities are predicted one-by-one to form a sequence.</a:t>
            </a:r>
            <a:endParaRPr/>
          </a:p>
          <a:p>
            <a:pPr indent="0" lvl="0" marL="0" rtl="0" algn="l">
              <a:spcBef>
                <a:spcPts val="1200"/>
              </a:spcBef>
              <a:spcAft>
                <a:spcPts val="0"/>
              </a:spcAft>
              <a:buNone/>
            </a:pPr>
            <a:r>
              <a:rPr lang="en"/>
              <a:t>The algorithm looks for the top-</a:t>
            </a:r>
            <a:r>
              <a:rPr i="1" lang="en"/>
              <a:t>k</a:t>
            </a:r>
            <a:r>
              <a:rPr lang="en"/>
              <a:t> sequences with high total probability using </a:t>
            </a:r>
            <a:r>
              <a:rPr b="1" i="1" lang="en"/>
              <a:t>Local Beam Search.</a:t>
            </a:r>
            <a:endParaRPr b="1" i="1"/>
          </a:p>
          <a:p>
            <a:pPr indent="0" lvl="0" marL="0" rtl="0" algn="l">
              <a:spcBef>
                <a:spcPts val="1200"/>
              </a:spcBef>
              <a:spcAft>
                <a:spcPts val="1200"/>
              </a:spcAft>
              <a:buNone/>
            </a:pPr>
            <a:r>
              <a:rPr b="1" i="1" lang="en"/>
              <a:t>Not</a:t>
            </a:r>
            <a:r>
              <a:rPr lang="en"/>
              <a:t> the most probable sequence is chosen, but instead one is (semi-) </a:t>
            </a:r>
            <a:r>
              <a:rPr b="1" i="1" lang="en"/>
              <a:t>randomly</a:t>
            </a:r>
            <a:r>
              <a:rPr i="1" lang="en"/>
              <a:t> </a:t>
            </a:r>
            <a:r>
              <a:rPr b="1" i="1" lang="en"/>
              <a:t>chosen</a:t>
            </a:r>
            <a:r>
              <a:rPr b="1" lang="en"/>
              <a:t> </a:t>
            </a:r>
            <a:r>
              <a:rPr lang="en"/>
              <a:t>from the top-</a:t>
            </a:r>
            <a:r>
              <a:rPr i="1" lang="en"/>
              <a:t>k.</a:t>
            </a:r>
            <a:endParaRPr i="1"/>
          </a:p>
        </p:txBody>
      </p:sp>
      <p:sp>
        <p:nvSpPr>
          <p:cNvPr id="636" name="Google Shape;636;p5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637" name="Google Shape;637;p56"/>
          <p:cNvPicPr preferRelativeResize="0"/>
          <p:nvPr/>
        </p:nvPicPr>
        <p:blipFill>
          <a:blip r:embed="rId3">
            <a:alphaModFix/>
          </a:blip>
          <a:stretch>
            <a:fillRect/>
          </a:stretch>
        </p:blipFill>
        <p:spPr>
          <a:xfrm>
            <a:off x="4434950" y="1021700"/>
            <a:ext cx="4136870" cy="3412917"/>
          </a:xfrm>
          <a:prstGeom prst="rect">
            <a:avLst/>
          </a:prstGeom>
          <a:noFill/>
          <a:ln>
            <a:noFill/>
          </a:ln>
        </p:spPr>
      </p:pic>
      <p:grpSp>
        <p:nvGrpSpPr>
          <p:cNvPr id="638" name="Google Shape;638;p56"/>
          <p:cNvGrpSpPr/>
          <p:nvPr/>
        </p:nvGrpSpPr>
        <p:grpSpPr>
          <a:xfrm>
            <a:off x="4266525" y="3229750"/>
            <a:ext cx="3380847" cy="1896200"/>
            <a:chOff x="4647525" y="2848750"/>
            <a:chExt cx="3380847" cy="1896200"/>
          </a:xfrm>
        </p:grpSpPr>
        <p:sp>
          <p:nvSpPr>
            <p:cNvPr id="639" name="Google Shape;639;p56"/>
            <p:cNvSpPr txBox="1"/>
            <p:nvPr/>
          </p:nvSpPr>
          <p:spPr>
            <a:xfrm>
              <a:off x="4658772" y="4283250"/>
              <a:ext cx="3369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Calibri"/>
                  <a:ea typeface="Calibri"/>
                  <a:cs typeface="Calibri"/>
                  <a:sym typeface="Calibri"/>
                </a:rPr>
                <a:t>&lt;s&gt;       The      dog      runs</a:t>
              </a:r>
              <a:endParaRPr sz="1800">
                <a:solidFill>
                  <a:schemeClr val="dk1"/>
                </a:solidFill>
                <a:latin typeface="Calibri"/>
                <a:ea typeface="Calibri"/>
                <a:cs typeface="Calibri"/>
                <a:sym typeface="Calibri"/>
              </a:endParaRPr>
            </a:p>
          </p:txBody>
        </p:sp>
        <p:sp>
          <p:nvSpPr>
            <p:cNvPr id="640" name="Google Shape;640;p56"/>
            <p:cNvSpPr txBox="1"/>
            <p:nvPr/>
          </p:nvSpPr>
          <p:spPr>
            <a:xfrm>
              <a:off x="4647525" y="2848750"/>
              <a:ext cx="2752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Calibri"/>
                  <a:ea typeface="Calibri"/>
                  <a:cs typeface="Calibri"/>
                  <a:sym typeface="Calibri"/>
                </a:rPr>
                <a:t>The      dog      runs       …</a:t>
              </a:r>
              <a:endParaRPr sz="1800">
                <a:solidFill>
                  <a:schemeClr val="dk1"/>
                </a:solidFill>
                <a:latin typeface="Calibri"/>
                <a:ea typeface="Calibri"/>
                <a:cs typeface="Calibri"/>
                <a:sym typeface="Calibri"/>
              </a:endParaRPr>
            </a:p>
          </p:txBody>
        </p:sp>
        <p:sp>
          <p:nvSpPr>
            <p:cNvPr id="641" name="Google Shape;641;p56"/>
            <p:cNvSpPr/>
            <p:nvPr/>
          </p:nvSpPr>
          <p:spPr>
            <a:xfrm>
              <a:off x="5369875" y="3638150"/>
              <a:ext cx="4347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642" name="Google Shape;642;p56"/>
            <p:cNvSpPr/>
            <p:nvPr/>
          </p:nvSpPr>
          <p:spPr>
            <a:xfrm>
              <a:off x="4698750" y="3638150"/>
              <a:ext cx="4347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643" name="Google Shape;643;p56"/>
            <p:cNvSpPr/>
            <p:nvPr/>
          </p:nvSpPr>
          <p:spPr>
            <a:xfrm>
              <a:off x="6041000" y="3638150"/>
              <a:ext cx="4347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644" name="Google Shape;644;p56"/>
            <p:cNvSpPr/>
            <p:nvPr/>
          </p:nvSpPr>
          <p:spPr>
            <a:xfrm>
              <a:off x="6774500" y="3638150"/>
              <a:ext cx="4347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cxnSp>
          <p:nvCxnSpPr>
            <p:cNvPr id="645" name="Google Shape;645;p56"/>
            <p:cNvCxnSpPr>
              <a:endCxn id="642" idx="2"/>
            </p:cNvCxnSpPr>
            <p:nvPr/>
          </p:nvCxnSpPr>
          <p:spPr>
            <a:xfrm rot="10800000">
              <a:off x="4916100" y="4031750"/>
              <a:ext cx="0" cy="369300"/>
            </a:xfrm>
            <a:prstGeom prst="straightConnector1">
              <a:avLst/>
            </a:prstGeom>
            <a:noFill/>
            <a:ln cap="flat" cmpd="sng" w="9525">
              <a:solidFill>
                <a:schemeClr val="dk2"/>
              </a:solidFill>
              <a:prstDash val="solid"/>
              <a:round/>
              <a:headEnd len="med" w="med" type="none"/>
              <a:tailEnd len="med" w="med" type="triangle"/>
            </a:ln>
          </p:spPr>
        </p:cxnSp>
        <p:cxnSp>
          <p:nvCxnSpPr>
            <p:cNvPr id="646" name="Google Shape;646;p56"/>
            <p:cNvCxnSpPr/>
            <p:nvPr/>
          </p:nvCxnSpPr>
          <p:spPr>
            <a:xfrm rot="10800000">
              <a:off x="4916100" y="3268850"/>
              <a:ext cx="0" cy="369300"/>
            </a:xfrm>
            <a:prstGeom prst="straightConnector1">
              <a:avLst/>
            </a:prstGeom>
            <a:noFill/>
            <a:ln cap="flat" cmpd="sng" w="9525">
              <a:solidFill>
                <a:schemeClr val="dk2"/>
              </a:solidFill>
              <a:prstDash val="solid"/>
              <a:round/>
              <a:headEnd len="med" w="med" type="none"/>
              <a:tailEnd len="med" w="med" type="triangle"/>
            </a:ln>
          </p:spPr>
        </p:cxnSp>
        <p:cxnSp>
          <p:nvCxnSpPr>
            <p:cNvPr id="647" name="Google Shape;647;p56"/>
            <p:cNvCxnSpPr/>
            <p:nvPr/>
          </p:nvCxnSpPr>
          <p:spPr>
            <a:xfrm rot="10800000">
              <a:off x="5587225" y="4031750"/>
              <a:ext cx="0" cy="369300"/>
            </a:xfrm>
            <a:prstGeom prst="straightConnector1">
              <a:avLst/>
            </a:prstGeom>
            <a:noFill/>
            <a:ln cap="flat" cmpd="sng" w="9525">
              <a:solidFill>
                <a:schemeClr val="dk2"/>
              </a:solidFill>
              <a:prstDash val="solid"/>
              <a:round/>
              <a:headEnd len="med" w="med" type="none"/>
              <a:tailEnd len="med" w="med" type="triangle"/>
            </a:ln>
          </p:spPr>
        </p:cxnSp>
        <p:cxnSp>
          <p:nvCxnSpPr>
            <p:cNvPr id="648" name="Google Shape;648;p56"/>
            <p:cNvCxnSpPr/>
            <p:nvPr/>
          </p:nvCxnSpPr>
          <p:spPr>
            <a:xfrm rot="10800000">
              <a:off x="5587225" y="3268850"/>
              <a:ext cx="0" cy="369300"/>
            </a:xfrm>
            <a:prstGeom prst="straightConnector1">
              <a:avLst/>
            </a:prstGeom>
            <a:noFill/>
            <a:ln cap="flat" cmpd="sng" w="9525">
              <a:solidFill>
                <a:schemeClr val="dk2"/>
              </a:solidFill>
              <a:prstDash val="solid"/>
              <a:round/>
              <a:headEnd len="med" w="med" type="none"/>
              <a:tailEnd len="med" w="med" type="triangle"/>
            </a:ln>
          </p:spPr>
        </p:cxnSp>
        <p:cxnSp>
          <p:nvCxnSpPr>
            <p:cNvPr id="649" name="Google Shape;649;p56"/>
            <p:cNvCxnSpPr/>
            <p:nvPr/>
          </p:nvCxnSpPr>
          <p:spPr>
            <a:xfrm rot="10800000">
              <a:off x="6258350" y="4031750"/>
              <a:ext cx="0" cy="369300"/>
            </a:xfrm>
            <a:prstGeom prst="straightConnector1">
              <a:avLst/>
            </a:prstGeom>
            <a:noFill/>
            <a:ln cap="flat" cmpd="sng" w="9525">
              <a:solidFill>
                <a:schemeClr val="dk2"/>
              </a:solidFill>
              <a:prstDash val="solid"/>
              <a:round/>
              <a:headEnd len="med" w="med" type="none"/>
              <a:tailEnd len="med" w="med" type="triangle"/>
            </a:ln>
          </p:spPr>
        </p:cxnSp>
        <p:cxnSp>
          <p:nvCxnSpPr>
            <p:cNvPr id="650" name="Google Shape;650;p56"/>
            <p:cNvCxnSpPr/>
            <p:nvPr/>
          </p:nvCxnSpPr>
          <p:spPr>
            <a:xfrm rot="10800000">
              <a:off x="6258350" y="3268850"/>
              <a:ext cx="0" cy="369300"/>
            </a:xfrm>
            <a:prstGeom prst="straightConnector1">
              <a:avLst/>
            </a:prstGeom>
            <a:noFill/>
            <a:ln cap="flat" cmpd="sng" w="9525">
              <a:solidFill>
                <a:schemeClr val="dk2"/>
              </a:solidFill>
              <a:prstDash val="solid"/>
              <a:round/>
              <a:headEnd len="med" w="med" type="none"/>
              <a:tailEnd len="med" w="med" type="triangle"/>
            </a:ln>
          </p:spPr>
        </p:cxnSp>
        <p:cxnSp>
          <p:nvCxnSpPr>
            <p:cNvPr id="651" name="Google Shape;651;p56"/>
            <p:cNvCxnSpPr/>
            <p:nvPr/>
          </p:nvCxnSpPr>
          <p:spPr>
            <a:xfrm rot="10800000">
              <a:off x="6991850" y="4031750"/>
              <a:ext cx="0" cy="369300"/>
            </a:xfrm>
            <a:prstGeom prst="straightConnector1">
              <a:avLst/>
            </a:prstGeom>
            <a:noFill/>
            <a:ln cap="flat" cmpd="sng" w="9525">
              <a:solidFill>
                <a:schemeClr val="dk2"/>
              </a:solidFill>
              <a:prstDash val="solid"/>
              <a:round/>
              <a:headEnd len="med" w="med" type="none"/>
              <a:tailEnd len="med" w="med" type="triangle"/>
            </a:ln>
          </p:spPr>
        </p:cxnSp>
        <p:cxnSp>
          <p:nvCxnSpPr>
            <p:cNvPr id="652" name="Google Shape;652;p56"/>
            <p:cNvCxnSpPr/>
            <p:nvPr/>
          </p:nvCxnSpPr>
          <p:spPr>
            <a:xfrm rot="10800000">
              <a:off x="6991850" y="3268850"/>
              <a:ext cx="0" cy="369300"/>
            </a:xfrm>
            <a:prstGeom prst="straightConnector1">
              <a:avLst/>
            </a:prstGeom>
            <a:noFill/>
            <a:ln cap="flat" cmpd="sng" w="9525">
              <a:solidFill>
                <a:schemeClr val="dk2"/>
              </a:solidFill>
              <a:prstDash val="solid"/>
              <a:round/>
              <a:headEnd len="med" w="med" type="none"/>
              <a:tailEnd len="med" w="med" type="triangle"/>
            </a:ln>
          </p:spPr>
        </p:cxnSp>
        <p:cxnSp>
          <p:nvCxnSpPr>
            <p:cNvPr id="653" name="Google Shape;653;p56"/>
            <p:cNvCxnSpPr>
              <a:endCxn id="641" idx="2"/>
            </p:cNvCxnSpPr>
            <p:nvPr/>
          </p:nvCxnSpPr>
          <p:spPr>
            <a:xfrm flipH="1" rot="10800000">
              <a:off x="4944325" y="4031750"/>
              <a:ext cx="642900" cy="369300"/>
            </a:xfrm>
            <a:prstGeom prst="straightConnector1">
              <a:avLst/>
            </a:prstGeom>
            <a:noFill/>
            <a:ln cap="flat" cmpd="sng" w="9525">
              <a:solidFill>
                <a:schemeClr val="dk2"/>
              </a:solidFill>
              <a:prstDash val="solid"/>
              <a:round/>
              <a:headEnd len="med" w="med" type="none"/>
              <a:tailEnd len="med" w="med" type="triangle"/>
            </a:ln>
          </p:spPr>
        </p:cxnSp>
        <p:cxnSp>
          <p:nvCxnSpPr>
            <p:cNvPr id="654" name="Google Shape;654;p56"/>
            <p:cNvCxnSpPr>
              <a:endCxn id="643" idx="2"/>
            </p:cNvCxnSpPr>
            <p:nvPr/>
          </p:nvCxnSpPr>
          <p:spPr>
            <a:xfrm flipH="1" rot="10800000">
              <a:off x="4962350" y="4031750"/>
              <a:ext cx="1296000" cy="369300"/>
            </a:xfrm>
            <a:prstGeom prst="straightConnector1">
              <a:avLst/>
            </a:prstGeom>
            <a:noFill/>
            <a:ln cap="flat" cmpd="sng" w="9525">
              <a:solidFill>
                <a:schemeClr val="dk2"/>
              </a:solidFill>
              <a:prstDash val="solid"/>
              <a:round/>
              <a:headEnd len="med" w="med" type="none"/>
              <a:tailEnd len="med" w="med" type="triangle"/>
            </a:ln>
          </p:spPr>
        </p:cxnSp>
        <p:cxnSp>
          <p:nvCxnSpPr>
            <p:cNvPr id="655" name="Google Shape;655;p56"/>
            <p:cNvCxnSpPr>
              <a:endCxn id="644" idx="2"/>
            </p:cNvCxnSpPr>
            <p:nvPr/>
          </p:nvCxnSpPr>
          <p:spPr>
            <a:xfrm flipH="1" rot="10800000">
              <a:off x="4935350" y="4031750"/>
              <a:ext cx="2056500" cy="387300"/>
            </a:xfrm>
            <a:prstGeom prst="straightConnector1">
              <a:avLst/>
            </a:prstGeom>
            <a:noFill/>
            <a:ln cap="flat" cmpd="sng" w="9525">
              <a:solidFill>
                <a:schemeClr val="dk2"/>
              </a:solidFill>
              <a:prstDash val="solid"/>
              <a:round/>
              <a:headEnd len="med" w="med" type="none"/>
              <a:tailEnd len="med" w="med" type="triangle"/>
            </a:ln>
          </p:spPr>
        </p:cxnSp>
        <p:cxnSp>
          <p:nvCxnSpPr>
            <p:cNvPr id="656" name="Google Shape;656;p56"/>
            <p:cNvCxnSpPr>
              <a:endCxn id="643" idx="2"/>
            </p:cNvCxnSpPr>
            <p:nvPr/>
          </p:nvCxnSpPr>
          <p:spPr>
            <a:xfrm flipH="1" rot="10800000">
              <a:off x="5605250" y="4031750"/>
              <a:ext cx="653100" cy="369300"/>
            </a:xfrm>
            <a:prstGeom prst="straightConnector1">
              <a:avLst/>
            </a:prstGeom>
            <a:noFill/>
            <a:ln cap="flat" cmpd="sng" w="9525">
              <a:solidFill>
                <a:schemeClr val="dk2"/>
              </a:solidFill>
              <a:prstDash val="solid"/>
              <a:round/>
              <a:headEnd len="med" w="med" type="none"/>
              <a:tailEnd len="med" w="med" type="triangle"/>
            </a:ln>
          </p:spPr>
        </p:cxnSp>
        <p:cxnSp>
          <p:nvCxnSpPr>
            <p:cNvPr id="657" name="Google Shape;657;p56"/>
            <p:cNvCxnSpPr>
              <a:endCxn id="644" idx="2"/>
            </p:cNvCxnSpPr>
            <p:nvPr/>
          </p:nvCxnSpPr>
          <p:spPr>
            <a:xfrm flipH="1" rot="10800000">
              <a:off x="5605250" y="4031750"/>
              <a:ext cx="1386600" cy="378300"/>
            </a:xfrm>
            <a:prstGeom prst="straightConnector1">
              <a:avLst/>
            </a:prstGeom>
            <a:noFill/>
            <a:ln cap="flat" cmpd="sng" w="9525">
              <a:solidFill>
                <a:schemeClr val="dk2"/>
              </a:solidFill>
              <a:prstDash val="solid"/>
              <a:round/>
              <a:headEnd len="med" w="med" type="none"/>
              <a:tailEnd len="med" w="med" type="triangle"/>
            </a:ln>
          </p:spPr>
        </p:cxnSp>
        <p:cxnSp>
          <p:nvCxnSpPr>
            <p:cNvPr id="658" name="Google Shape;658;p56"/>
            <p:cNvCxnSpPr>
              <a:endCxn id="644" idx="2"/>
            </p:cNvCxnSpPr>
            <p:nvPr/>
          </p:nvCxnSpPr>
          <p:spPr>
            <a:xfrm flipH="1" rot="10800000">
              <a:off x="6275450" y="4031750"/>
              <a:ext cx="716400" cy="378300"/>
            </a:xfrm>
            <a:prstGeom prst="straightConnector1">
              <a:avLst/>
            </a:prstGeom>
            <a:noFill/>
            <a:ln cap="flat" cmpd="sng" w="9525">
              <a:solidFill>
                <a:schemeClr val="dk2"/>
              </a:solidFill>
              <a:prstDash val="solid"/>
              <a:round/>
              <a:headEnd len="med" w="med" type="none"/>
              <a:tailEnd len="med" w="med" type="triangl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5">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p57"/>
          <p:cNvSpPr txBox="1"/>
          <p:nvPr>
            <p:ph type="title"/>
          </p:nvPr>
        </p:nvSpPr>
        <p:spPr>
          <a:xfrm>
            <a:off x="229075" y="372800"/>
            <a:ext cx="80745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Generative Pre-trained Transformer (GPT) → ChatGPT</a:t>
            </a:r>
            <a:endParaRPr/>
          </a:p>
        </p:txBody>
      </p:sp>
      <p:sp>
        <p:nvSpPr>
          <p:cNvPr id="664" name="Google Shape;664;p57"/>
          <p:cNvSpPr txBox="1"/>
          <p:nvPr>
            <p:ph idx="1" type="body"/>
          </p:nvPr>
        </p:nvSpPr>
        <p:spPr>
          <a:xfrm>
            <a:off x="767600" y="1420800"/>
            <a:ext cx="4352400" cy="13581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i="1" lang="en"/>
              <a:t>Unsupervised</a:t>
            </a:r>
            <a:endParaRPr i="1"/>
          </a:p>
          <a:p>
            <a:pPr indent="0" lvl="0" marL="0" rtl="0" algn="ctr">
              <a:spcBef>
                <a:spcPts val="1200"/>
              </a:spcBef>
              <a:spcAft>
                <a:spcPts val="1200"/>
              </a:spcAft>
              <a:buNone/>
            </a:pPr>
            <a:r>
              <a:rPr lang="en"/>
              <a:t>High-quality text (~ 8 terabytes for GPT3) </a:t>
            </a:r>
            <a:br>
              <a:rPr lang="en"/>
            </a:br>
            <a:r>
              <a:rPr lang="en"/>
              <a:t>(≈ Library of Congress ≈ 10 million books)</a:t>
            </a:r>
            <a:endParaRPr/>
          </a:p>
        </p:txBody>
      </p:sp>
      <p:sp>
        <p:nvSpPr>
          <p:cNvPr id="665" name="Google Shape;665;p5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pSp>
        <p:nvGrpSpPr>
          <p:cNvPr id="666" name="Google Shape;666;p57"/>
          <p:cNvGrpSpPr/>
          <p:nvPr/>
        </p:nvGrpSpPr>
        <p:grpSpPr>
          <a:xfrm>
            <a:off x="1160296" y="2861821"/>
            <a:ext cx="2749870" cy="2000307"/>
            <a:chOff x="767600" y="2206425"/>
            <a:chExt cx="3535446" cy="2571750"/>
          </a:xfrm>
        </p:grpSpPr>
        <p:pic>
          <p:nvPicPr>
            <p:cNvPr id="667" name="Google Shape;667;p57"/>
            <p:cNvPicPr preferRelativeResize="0"/>
            <p:nvPr/>
          </p:nvPicPr>
          <p:blipFill>
            <a:blip r:embed="rId3">
              <a:alphaModFix/>
            </a:blip>
            <a:stretch>
              <a:fillRect/>
            </a:stretch>
          </p:blipFill>
          <p:spPr>
            <a:xfrm>
              <a:off x="2586372" y="3061500"/>
              <a:ext cx="1716674" cy="1716674"/>
            </a:xfrm>
            <a:prstGeom prst="rect">
              <a:avLst/>
            </a:prstGeom>
            <a:noFill/>
            <a:ln>
              <a:noFill/>
            </a:ln>
          </p:spPr>
        </p:pic>
        <p:pic>
          <p:nvPicPr>
            <p:cNvPr id="668" name="Google Shape;668;p57"/>
            <p:cNvPicPr preferRelativeResize="0"/>
            <p:nvPr/>
          </p:nvPicPr>
          <p:blipFill>
            <a:blip r:embed="rId4">
              <a:alphaModFix/>
            </a:blip>
            <a:stretch>
              <a:fillRect/>
            </a:stretch>
          </p:blipFill>
          <p:spPr>
            <a:xfrm>
              <a:off x="767600" y="2206425"/>
              <a:ext cx="2571750" cy="2571750"/>
            </a:xfrm>
            <a:prstGeom prst="rect">
              <a:avLst/>
            </a:prstGeom>
            <a:noFill/>
            <a:ln>
              <a:noFill/>
            </a:ln>
          </p:spPr>
        </p:pic>
        <p:pic>
          <p:nvPicPr>
            <p:cNvPr id="669" name="Google Shape;669;p57"/>
            <p:cNvPicPr preferRelativeResize="0"/>
            <p:nvPr/>
          </p:nvPicPr>
          <p:blipFill>
            <a:blip r:embed="rId5">
              <a:alphaModFix/>
            </a:blip>
            <a:stretch>
              <a:fillRect/>
            </a:stretch>
          </p:blipFill>
          <p:spPr>
            <a:xfrm>
              <a:off x="2002500" y="2839550"/>
              <a:ext cx="1225200" cy="1938625"/>
            </a:xfrm>
            <a:prstGeom prst="rect">
              <a:avLst/>
            </a:prstGeom>
            <a:noFill/>
            <a:ln>
              <a:noFill/>
            </a:ln>
          </p:spPr>
        </p:pic>
      </p:grpSp>
      <p:sp>
        <p:nvSpPr>
          <p:cNvPr id="670" name="Google Shape;670;p57"/>
          <p:cNvSpPr txBox="1"/>
          <p:nvPr>
            <p:ph idx="1" type="body"/>
          </p:nvPr>
        </p:nvSpPr>
        <p:spPr>
          <a:xfrm>
            <a:off x="5995025" y="3003675"/>
            <a:ext cx="1652100" cy="1716600"/>
          </a:xfrm>
          <a:prstGeom prst="rect">
            <a:avLst/>
          </a:prstGeom>
        </p:spPr>
        <p:txBody>
          <a:bodyPr anchorCtr="0" anchor="t" bIns="91425" lIns="91425" spcFirstLastPara="1" rIns="91425" wrap="square" tIns="91425">
            <a:noAutofit/>
          </a:bodyPr>
          <a:lstStyle/>
          <a:p>
            <a:pPr indent="0" lvl="0" marL="0" rtl="0" algn="ctr">
              <a:spcBef>
                <a:spcPts val="0"/>
              </a:spcBef>
              <a:spcAft>
                <a:spcPts val="1200"/>
              </a:spcAft>
              <a:buNone/>
            </a:pPr>
            <a:r>
              <a:rPr lang="en" sz="9600"/>
              <a:t>🧑‍🏫</a:t>
            </a:r>
            <a:endParaRPr sz="9600"/>
          </a:p>
        </p:txBody>
      </p:sp>
      <p:sp>
        <p:nvSpPr>
          <p:cNvPr id="671" name="Google Shape;671;p57"/>
          <p:cNvSpPr txBox="1"/>
          <p:nvPr>
            <p:ph idx="1" type="body"/>
          </p:nvPr>
        </p:nvSpPr>
        <p:spPr>
          <a:xfrm>
            <a:off x="5338625" y="1467975"/>
            <a:ext cx="2964900" cy="1232700"/>
          </a:xfrm>
          <a:prstGeom prst="rect">
            <a:avLst/>
          </a:prstGeom>
        </p:spPr>
        <p:txBody>
          <a:bodyPr anchorCtr="0" anchor="t" bIns="91425" lIns="91425" spcFirstLastPara="1" rIns="91425" wrap="square" tIns="91425">
            <a:normAutofit lnSpcReduction="10000"/>
          </a:bodyPr>
          <a:lstStyle/>
          <a:p>
            <a:pPr indent="0" lvl="0" marL="0" rtl="0" algn="ctr">
              <a:spcBef>
                <a:spcPts val="0"/>
              </a:spcBef>
              <a:spcAft>
                <a:spcPts val="0"/>
              </a:spcAft>
              <a:buNone/>
            </a:pPr>
            <a:r>
              <a:rPr i="1" lang="en"/>
              <a:t>Supervised</a:t>
            </a:r>
            <a:endParaRPr i="1"/>
          </a:p>
          <a:p>
            <a:pPr indent="0" lvl="0" marL="0" rtl="0" algn="ctr">
              <a:spcBef>
                <a:spcPts val="1200"/>
              </a:spcBef>
              <a:spcAft>
                <a:spcPts val="1200"/>
              </a:spcAft>
              <a:buNone/>
            </a:pPr>
            <a:r>
              <a:rPr lang="en"/>
              <a:t>Conversations +</a:t>
            </a:r>
            <a:br>
              <a:rPr lang="en"/>
            </a:br>
            <a:r>
              <a:rPr lang="en"/>
              <a:t>Human Feedback</a:t>
            </a:r>
            <a:endParaRPr/>
          </a:p>
        </p:txBody>
      </p:sp>
      <p:sp>
        <p:nvSpPr>
          <p:cNvPr id="672" name="Google Shape;672;p57"/>
          <p:cNvSpPr txBox="1"/>
          <p:nvPr>
            <p:ph idx="1" type="body"/>
          </p:nvPr>
        </p:nvSpPr>
        <p:spPr>
          <a:xfrm>
            <a:off x="907675" y="1071175"/>
            <a:ext cx="4072200" cy="5727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b="1" lang="en"/>
              <a:t>Step 1: Pre-training</a:t>
            </a:r>
            <a:endParaRPr b="1"/>
          </a:p>
        </p:txBody>
      </p:sp>
      <p:sp>
        <p:nvSpPr>
          <p:cNvPr id="673" name="Google Shape;673;p57"/>
          <p:cNvSpPr txBox="1"/>
          <p:nvPr>
            <p:ph idx="1" type="body"/>
          </p:nvPr>
        </p:nvSpPr>
        <p:spPr>
          <a:xfrm>
            <a:off x="5338625" y="1071175"/>
            <a:ext cx="2964900" cy="5727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b="1" lang="en"/>
              <a:t>Step 2: Fine-Tuning</a:t>
            </a:r>
            <a:endParaRPr b="1"/>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p58"/>
          <p:cNvSpPr txBox="1"/>
          <p:nvPr>
            <p:ph type="title"/>
          </p:nvPr>
        </p:nvSpPr>
        <p:spPr>
          <a:xfrm>
            <a:off x="229075" y="372800"/>
            <a:ext cx="67392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Intelligent Systems Framework</a:t>
            </a:r>
            <a:endParaRPr/>
          </a:p>
        </p:txBody>
      </p:sp>
      <p:sp>
        <p:nvSpPr>
          <p:cNvPr id="679" name="Google Shape;679;p5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aphicFrame>
        <p:nvGraphicFramePr>
          <p:cNvPr id="680" name="Google Shape;680;p58"/>
          <p:cNvGraphicFramePr/>
          <p:nvPr/>
        </p:nvGraphicFramePr>
        <p:xfrm>
          <a:off x="829450" y="1836975"/>
          <a:ext cx="3000000" cy="3000000"/>
        </p:xfrm>
        <a:graphic>
          <a:graphicData uri="http://schemas.openxmlformats.org/drawingml/2006/table">
            <a:tbl>
              <a:tblPr>
                <a:noFill/>
                <a:tableStyleId>{98C6CA05-93D3-412A-BF3C-99E95FF51B30}</a:tableStyleId>
              </a:tblPr>
              <a:tblGrid>
                <a:gridCol w="1502175"/>
                <a:gridCol w="3797100"/>
                <a:gridCol w="1939725"/>
              </a:tblGrid>
              <a:tr h="381000">
                <a:tc rowSpan="5">
                  <a:txBody>
                    <a:bodyPr/>
                    <a:lstStyle/>
                    <a:p>
                      <a:pPr indent="0" lvl="0" marL="0" rtl="0" algn="ctr">
                        <a:spcBef>
                          <a:spcPts val="0"/>
                        </a:spcBef>
                        <a:spcAft>
                          <a:spcPts val="0"/>
                        </a:spcAft>
                        <a:buNone/>
                      </a:pPr>
                      <a:r>
                        <a:rPr lang="en"/>
                        <a:t>Efficient, simple, correct, well-understood, generic</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Find best decision based on experience.</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AD3"/>
                    </a:solidFill>
                  </a:tcPr>
                </a:tc>
                <a:tc>
                  <a:txBody>
                    <a:bodyPr/>
                    <a:lstStyle/>
                    <a:p>
                      <a:pPr indent="0" lvl="0" marL="0" rtl="0" algn="l">
                        <a:spcBef>
                          <a:spcPts val="0"/>
                        </a:spcBef>
                        <a:spcAft>
                          <a:spcPts val="0"/>
                        </a:spcAft>
                        <a:buNone/>
                      </a:pPr>
                      <a:r>
                        <a:rPr lang="en"/>
                        <a:t>Weeks 6 &amp; 7</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vMerge="1"/>
                <a:tc>
                  <a:txBody>
                    <a:bodyPr/>
                    <a:lstStyle/>
                    <a:p>
                      <a:pPr indent="0" lvl="0" marL="0" rtl="0" algn="l">
                        <a:spcBef>
                          <a:spcPts val="0"/>
                        </a:spcBef>
                        <a:spcAft>
                          <a:spcPts val="0"/>
                        </a:spcAft>
                        <a:buNone/>
                      </a:pPr>
                      <a:r>
                        <a:rPr lang="en"/>
                        <a:t>Find best decision with knowledge &amp; reason.</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a:txBody>
                    <a:bodyPr/>
                    <a:lstStyle/>
                    <a:p>
                      <a:pPr indent="0" lvl="0" marL="0" rtl="0" algn="l">
                        <a:spcBef>
                          <a:spcPts val="0"/>
                        </a:spcBef>
                        <a:spcAft>
                          <a:spcPts val="0"/>
                        </a:spcAft>
                        <a:buNone/>
                      </a:pPr>
                      <a:r>
                        <a:rPr lang="en"/>
                        <a:t>Weeks 3, 4, 5</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vMerge="1"/>
                <a:tc>
                  <a:txBody>
                    <a:bodyPr/>
                    <a:lstStyle/>
                    <a:p>
                      <a:pPr indent="0" lvl="0" marL="0" rtl="0" algn="l">
                        <a:spcBef>
                          <a:spcPts val="0"/>
                        </a:spcBef>
                        <a:spcAft>
                          <a:spcPts val="0"/>
                        </a:spcAft>
                        <a:buNone/>
                      </a:pPr>
                      <a:r>
                        <a:rPr lang="en"/>
                        <a:t>Find best decision in multiple agent setting.</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rowSpan="3">
                  <a:txBody>
                    <a:bodyPr/>
                    <a:lstStyle/>
                    <a:p>
                      <a:pPr indent="0" lvl="0" marL="0" rtl="0" algn="l">
                        <a:spcBef>
                          <a:spcPts val="0"/>
                        </a:spcBef>
                        <a:spcAft>
                          <a:spcPts val="0"/>
                        </a:spcAft>
                        <a:buNone/>
                      </a:pPr>
                      <a:r>
                        <a:rPr lang="en"/>
                        <a:t>Weeks 1 &amp; 2</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vMerge="1"/>
                <a:tc>
                  <a:txBody>
                    <a:bodyPr/>
                    <a:lstStyle/>
                    <a:p>
                      <a:pPr indent="0" lvl="0" marL="0" rtl="0" algn="l">
                        <a:spcBef>
                          <a:spcPts val="0"/>
                        </a:spcBef>
                        <a:spcAft>
                          <a:spcPts val="0"/>
                        </a:spcAft>
                        <a:buNone/>
                      </a:pPr>
                      <a:r>
                        <a:rPr lang="en"/>
                        <a:t>Find best decision with heuristics.</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vMerge="1"/>
              </a:tr>
              <a:tr h="381000">
                <a:tc vMerge="1"/>
                <a:tc>
                  <a:txBody>
                    <a:bodyPr/>
                    <a:lstStyle/>
                    <a:p>
                      <a:pPr indent="0" lvl="0" marL="0" rtl="0" algn="l">
                        <a:spcBef>
                          <a:spcPts val="0"/>
                        </a:spcBef>
                        <a:spcAft>
                          <a:spcPts val="0"/>
                        </a:spcAft>
                        <a:buNone/>
                      </a:pPr>
                      <a:r>
                        <a:rPr lang="en"/>
                        <a:t>Systematically find all possible solutions.</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vMerge="1"/>
              </a:tr>
            </a:tbl>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4" name="Shape 684"/>
        <p:cNvGrpSpPr/>
        <p:nvPr/>
      </p:nvGrpSpPr>
      <p:grpSpPr>
        <a:xfrm>
          <a:off x="0" y="0"/>
          <a:ext cx="0" cy="0"/>
          <a:chOff x="0" y="0"/>
          <a:chExt cx="0" cy="0"/>
        </a:xfrm>
      </p:grpSpPr>
      <p:sp>
        <p:nvSpPr>
          <p:cNvPr id="685" name="Google Shape;685;p59"/>
          <p:cNvSpPr txBox="1"/>
          <p:nvPr>
            <p:ph idx="1" type="body"/>
          </p:nvPr>
        </p:nvSpPr>
        <p:spPr>
          <a:xfrm>
            <a:off x="406400" y="870050"/>
            <a:ext cx="8020800" cy="4197300"/>
          </a:xfrm>
          <a:prstGeom prst="rect">
            <a:avLst/>
          </a:prstGeom>
        </p:spPr>
        <p:txBody>
          <a:bodyPr anchorCtr="0" anchor="t" bIns="91425" lIns="91425" spcFirstLastPara="1" rIns="91425" wrap="square" tIns="91425">
            <a:noAutofit/>
          </a:bodyPr>
          <a:lstStyle/>
          <a:p>
            <a:pPr indent="0" lvl="0" marL="0" rtl="0" algn="ctr">
              <a:lnSpc>
                <a:spcPct val="150000"/>
              </a:lnSpc>
              <a:spcBef>
                <a:spcPts val="0"/>
              </a:spcBef>
              <a:spcAft>
                <a:spcPts val="0"/>
              </a:spcAft>
              <a:buClr>
                <a:schemeClr val="dk1"/>
              </a:buClr>
              <a:buSzPts val="1100"/>
              <a:buFont typeface="Arial"/>
              <a:buNone/>
            </a:pPr>
            <a:r>
              <a:rPr lang="en"/>
              <a:t>Take Home Message</a:t>
            </a:r>
            <a:endParaRPr/>
          </a:p>
          <a:p>
            <a:pPr indent="0" lvl="0" marL="0" rtl="0" algn="l">
              <a:spcBef>
                <a:spcPts val="1200"/>
              </a:spcBef>
              <a:spcAft>
                <a:spcPts val="0"/>
              </a:spcAft>
              <a:buNone/>
            </a:pPr>
            <a:r>
              <a:rPr b="1" lang="en" sz="1500"/>
              <a:t>Clustering</a:t>
            </a:r>
            <a:r>
              <a:rPr lang="en" sz="1500"/>
              <a:t> is an unsupervised method of grouping data points, such as the </a:t>
            </a:r>
            <a:r>
              <a:rPr b="1" i="1" lang="en" sz="1500"/>
              <a:t>k</a:t>
            </a:r>
            <a:r>
              <a:rPr b="1" lang="en" sz="1500"/>
              <a:t>-means</a:t>
            </a:r>
            <a:r>
              <a:rPr lang="en" sz="1500"/>
              <a:t> algorithms. </a:t>
            </a:r>
            <a:r>
              <a:rPr i="1" lang="en" sz="1500"/>
              <a:t>K</a:t>
            </a:r>
            <a:r>
              <a:rPr lang="en" sz="1500"/>
              <a:t>-means finds clusters by iteratively reassigning the mean for </a:t>
            </a:r>
            <a:r>
              <a:rPr i="1" lang="en" sz="1500"/>
              <a:t>k</a:t>
            </a:r>
            <a:r>
              <a:rPr lang="en" sz="1500"/>
              <a:t> clusters. It can be evaluated with the </a:t>
            </a:r>
            <a:r>
              <a:rPr b="1" lang="en" sz="1500"/>
              <a:t>silhouette</a:t>
            </a:r>
            <a:r>
              <a:rPr lang="en" sz="1500"/>
              <a:t> </a:t>
            </a:r>
            <a:r>
              <a:rPr b="1" lang="en" sz="1500"/>
              <a:t>coefficient</a:t>
            </a:r>
            <a:r>
              <a:rPr lang="en" sz="1500"/>
              <a:t>. The selection of the best model here depends on </a:t>
            </a:r>
            <a:r>
              <a:rPr b="1" lang="en" sz="1500"/>
              <a:t>what you use it for</a:t>
            </a:r>
            <a:r>
              <a:rPr lang="en" sz="1500"/>
              <a:t>.</a:t>
            </a:r>
            <a:endParaRPr sz="1550"/>
          </a:p>
          <a:p>
            <a:pPr indent="0" lvl="0" marL="0" rtl="0" algn="l">
              <a:spcBef>
                <a:spcPts val="1200"/>
              </a:spcBef>
              <a:spcAft>
                <a:spcPts val="0"/>
              </a:spcAft>
              <a:buNone/>
            </a:pPr>
            <a:r>
              <a:rPr b="1" lang="en" sz="1550"/>
              <a:t>Neural </a:t>
            </a:r>
            <a:r>
              <a:rPr b="1" lang="en" sz="1550"/>
              <a:t>Networks</a:t>
            </a:r>
            <a:r>
              <a:rPr lang="en" sz="1550"/>
              <a:t> use weights and biases as </a:t>
            </a:r>
            <a:r>
              <a:rPr lang="en" sz="1550"/>
              <a:t>parameters</a:t>
            </a:r>
            <a:r>
              <a:rPr lang="en" sz="1550"/>
              <a:t> to make predictions. They can be made nonlinear with </a:t>
            </a:r>
            <a:r>
              <a:rPr b="1" lang="en" sz="1550"/>
              <a:t>activation</a:t>
            </a:r>
            <a:r>
              <a:rPr lang="en" sz="1550"/>
              <a:t> </a:t>
            </a:r>
            <a:r>
              <a:rPr b="1" lang="en" sz="1550"/>
              <a:t>functions</a:t>
            </a:r>
            <a:r>
              <a:rPr lang="en" sz="1550"/>
              <a:t>.</a:t>
            </a:r>
            <a:endParaRPr sz="1550"/>
          </a:p>
          <a:p>
            <a:pPr indent="0" lvl="0" marL="0" rtl="0" algn="l">
              <a:spcBef>
                <a:spcPts val="1200"/>
              </a:spcBef>
              <a:spcAft>
                <a:spcPts val="0"/>
              </a:spcAft>
              <a:buNone/>
            </a:pPr>
            <a:r>
              <a:rPr b="1" lang="en" sz="1550"/>
              <a:t>Deep Neural Networks</a:t>
            </a:r>
            <a:r>
              <a:rPr lang="en" sz="1550"/>
              <a:t> are simply very complicated </a:t>
            </a:r>
            <a:r>
              <a:rPr i="1" lang="en" sz="1550"/>
              <a:t>differentiable</a:t>
            </a:r>
            <a:r>
              <a:rPr lang="en" sz="1550"/>
              <a:t> functions. Their </a:t>
            </a:r>
            <a:r>
              <a:rPr b="1" lang="en" sz="1550"/>
              <a:t>architecture</a:t>
            </a:r>
            <a:r>
              <a:rPr lang="en" sz="1550"/>
              <a:t> is often visualized in a diagram.</a:t>
            </a:r>
            <a:endParaRPr sz="1550"/>
          </a:p>
          <a:p>
            <a:pPr indent="0" lvl="0" marL="0" rtl="0" algn="l">
              <a:spcBef>
                <a:spcPts val="1200"/>
              </a:spcBef>
              <a:spcAft>
                <a:spcPts val="1200"/>
              </a:spcAft>
              <a:buNone/>
            </a:pPr>
            <a:r>
              <a:rPr lang="en" sz="1550"/>
              <a:t>The </a:t>
            </a:r>
            <a:r>
              <a:rPr b="1" lang="en" sz="1550"/>
              <a:t>Generative Pre-trained Transformer </a:t>
            </a:r>
            <a:r>
              <a:rPr lang="en" sz="1550"/>
              <a:t>is trained to generate words using lots of unsupervised pre-training and supervised fine-tuning.</a:t>
            </a:r>
            <a:endParaRPr sz="1550"/>
          </a:p>
        </p:txBody>
      </p:sp>
      <p:sp>
        <p:nvSpPr>
          <p:cNvPr id="686" name="Google Shape;686;p59"/>
          <p:cNvSpPr txBox="1"/>
          <p:nvPr>
            <p:ph type="title"/>
          </p:nvPr>
        </p:nvSpPr>
        <p:spPr>
          <a:xfrm>
            <a:off x="229075" y="372800"/>
            <a:ext cx="67392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Summary</a:t>
            </a:r>
            <a:endParaRPr/>
          </a:p>
        </p:txBody>
      </p:sp>
      <p:cxnSp>
        <p:nvCxnSpPr>
          <p:cNvPr id="687" name="Google Shape;687;p59"/>
          <p:cNvCxnSpPr/>
          <p:nvPr/>
        </p:nvCxnSpPr>
        <p:spPr>
          <a:xfrm>
            <a:off x="622350" y="1354275"/>
            <a:ext cx="7594500" cy="0"/>
          </a:xfrm>
          <a:prstGeom prst="straightConnector1">
            <a:avLst/>
          </a:prstGeom>
          <a:noFill/>
          <a:ln cap="flat" cmpd="sng" w="19050">
            <a:solidFill>
              <a:srgbClr val="1155CC"/>
            </a:solidFill>
            <a:prstDash val="solid"/>
            <a:round/>
            <a:headEnd len="med" w="med" type="none"/>
            <a:tailEnd len="med" w="med" type="none"/>
          </a:ln>
        </p:spPr>
      </p:cxnSp>
      <p:sp>
        <p:nvSpPr>
          <p:cNvPr id="688" name="Google Shape;688;p5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