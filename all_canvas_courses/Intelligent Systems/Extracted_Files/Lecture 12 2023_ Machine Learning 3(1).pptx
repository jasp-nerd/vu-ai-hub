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Lato"/>
      <p:regular r:id="rId57"/>
      <p:bold r:id="rId58"/>
      <p:italic r:id="rId59"/>
      <p:boldItalic r:id="rId60"/>
    </p:embeddedFont>
    <p:embeddedFont>
      <p:font typeface="Short Stack"/>
      <p:regular r:id="rId61"/>
    </p:embeddedFont>
    <p:embeddedFont>
      <p:font typeface="Fira Code"/>
      <p:regular r:id="rId62"/>
      <p:bold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2545A6-D6F3-4E68-B07B-D8FF41F22015}">
  <a:tblStyle styleId="{2D2545A6-D6F3-4E68-B07B-D8FF41F220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FB7F7E1-27EE-40FD-BDA5-204A41DE7B9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FiraCode-regular.fntdata"/><Relationship Id="rId61" Type="http://schemas.openxmlformats.org/officeDocument/2006/relationships/font" Target="fonts/ShortStack-regular.fntdata"/><Relationship Id="rId20" Type="http://schemas.openxmlformats.org/officeDocument/2006/relationships/slide" Target="slides/slide14.xml"/><Relationship Id="rId64" Type="http://schemas.openxmlformats.org/officeDocument/2006/relationships/font" Target="fonts/OpenSans-regular.fntdata"/><Relationship Id="rId63" Type="http://schemas.openxmlformats.org/officeDocument/2006/relationships/font" Target="fonts/FiraCode-bold.fntdata"/><Relationship Id="rId22" Type="http://schemas.openxmlformats.org/officeDocument/2006/relationships/slide" Target="slides/slide16.xml"/><Relationship Id="rId66" Type="http://schemas.openxmlformats.org/officeDocument/2006/relationships/font" Target="fonts/OpenSans-italic.fntdata"/><Relationship Id="rId21" Type="http://schemas.openxmlformats.org/officeDocument/2006/relationships/slide" Target="slides/slide15.xml"/><Relationship Id="rId65" Type="http://schemas.openxmlformats.org/officeDocument/2006/relationships/font" Target="fonts/OpenSans-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OpenSans-boldItalic.fntdata"/><Relationship Id="rId60" Type="http://schemas.openxmlformats.org/officeDocument/2006/relationships/font" Target="fonts/Lat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Lato-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Lato-italic.fntdata"/><Relationship Id="rId14" Type="http://schemas.openxmlformats.org/officeDocument/2006/relationships/slide" Target="slides/slide8.xml"/><Relationship Id="rId58" Type="http://schemas.openxmlformats.org/officeDocument/2006/relationships/font" Target="fonts/Lat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Today we have the third lecture on Machine Learning. We start with a short recap.</a:t>
            </a:r>
            <a:endParaRPr sz="1200">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0fda49e3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0fda49e3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80fda49e3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80fda49e3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58130adff1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58130adff1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This is the basic machine learning recipe that was introduced last week. It starts with choosing features, or characteristics, of the data that will be used to make predictions about new data. Example features for text could include the occurrence of specific words in the document or the average sentence length. Today we will focus on the second step in this recipe, namely choosing the model class. Next week will focus on the last step, choosing a search method.</a:t>
            </a:r>
            <a:endParaRPr sz="1200">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58130adff1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58130adff1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To perform machine learning, we need to engineer certain features. This process allows us to translate generic AI problems into one specific representation on </a:t>
            </a:r>
            <a:r>
              <a:rPr lang="en" sz="1200">
                <a:latin typeface="Calibri"/>
                <a:ea typeface="Calibri"/>
                <a:cs typeface="Calibri"/>
                <a:sym typeface="Calibri"/>
              </a:rPr>
              <a:t>which we can apply several different AI models. For example, we can use the features age and height of a tree to predict their health. Each row in the table of features represents a single tree, or instance.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However, we can engineer these feature matrices for more complicated examples as well, for example the notes in a piano song, or the pixels of an image captured from a camera in a car while the driver turns the steering wheel. The latter example would enable the model to </a:t>
            </a:r>
            <a:r>
              <a:rPr i="1" lang="en" sz="1200">
                <a:latin typeface="Calibri"/>
                <a:ea typeface="Calibri"/>
                <a:cs typeface="Calibri"/>
                <a:sym typeface="Calibri"/>
              </a:rPr>
              <a:t>learn</a:t>
            </a:r>
            <a:r>
              <a:rPr lang="en" sz="1200">
                <a:latin typeface="Calibri"/>
                <a:ea typeface="Calibri"/>
                <a:cs typeface="Calibri"/>
                <a:sym typeface="Calibri"/>
              </a:rPr>
              <a:t> the association between a pattern of pixels and the direction in which the driver turns the steering wheel, so that the model can predict which way to turn the wheel for a new image. These matrices are the input for classifiers such as the Naive Bayes classifier we’ve seen already. </a:t>
            </a:r>
            <a:endParaRPr sz="1200">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58130adff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58130adff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Let’s look at choosing the right model class for a classification problem to make the model more powerful.</a:t>
            </a:r>
            <a:endParaRPr sz="1200">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8130adff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8130adff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Recall our example of using tree age and height features to predict health of new data. On the left is the training data.</a:t>
            </a:r>
            <a:endParaRPr sz="12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Here is a simple idea: draw a line, and call everything above the line </a:t>
            </a:r>
            <a:r>
              <a:rPr b="1" lang="en" sz="1200">
                <a:solidFill>
                  <a:srgbClr val="004FD2"/>
                </a:solidFill>
                <a:latin typeface="Calibri"/>
                <a:ea typeface="Calibri"/>
                <a:cs typeface="Calibri"/>
                <a:sym typeface="Calibri"/>
              </a:rPr>
              <a:t>healthy</a:t>
            </a:r>
            <a:r>
              <a:rPr lang="en" sz="1200">
                <a:solidFill>
                  <a:schemeClr val="dk1"/>
                </a:solidFill>
                <a:latin typeface="Calibri"/>
                <a:ea typeface="Calibri"/>
                <a:cs typeface="Calibri"/>
                <a:sym typeface="Calibri"/>
              </a:rPr>
              <a:t>, and below it</a:t>
            </a:r>
            <a:r>
              <a:rPr lang="en" sz="1200">
                <a:solidFill>
                  <a:srgbClr val="D23200"/>
                </a:solidFill>
                <a:latin typeface="Calibri"/>
                <a:ea typeface="Calibri"/>
                <a:cs typeface="Calibri"/>
                <a:sym typeface="Calibri"/>
              </a:rPr>
              <a:t> </a:t>
            </a:r>
            <a:r>
              <a:rPr b="1" lang="en" sz="1200">
                <a:solidFill>
                  <a:srgbClr val="D23200"/>
                </a:solidFill>
                <a:latin typeface="Calibri"/>
                <a:ea typeface="Calibri"/>
                <a:cs typeface="Calibri"/>
                <a:sym typeface="Calibri"/>
              </a:rPr>
              <a:t>sick</a:t>
            </a:r>
            <a:r>
              <a:rPr lang="en" sz="1200">
                <a:solidFill>
                  <a:schemeClr val="dk1"/>
                </a:solidFill>
                <a:latin typeface="Calibri"/>
                <a:ea typeface="Calibri"/>
                <a:cs typeface="Calibri"/>
                <a:sym typeface="Calibri"/>
              </a:rPr>
              <a:t>. We can draw many lines: the set of all possible lines we can draw is our model class. In the second half, we’ll see how to search the model class for a good model. For now, we just assume that we’ve chosen a reasonable line to classify our data. As you can see, quite a few examples end up misclassified, but most of them are on the correct side of the line. Our classifier would already to better than one that would simply guess at random.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8130adff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8130adff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Drawing a line to divide the data is only possible in two dimensions, i.e. when there are two features. What do we do if we have three features? Four?</a:t>
            </a:r>
            <a:endParaRPr sz="12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In 1D, the equivalent classifier structure is a point. For example if we only have the feature height, any instance less than 170cm is female, any instance more than 170cm is male.</a:t>
            </a:r>
            <a:endParaRPr sz="12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In 3D, we can cut the feature space in two with a plane.</a:t>
            </a:r>
            <a:endParaRPr sz="1200">
              <a:solidFill>
                <a:schemeClr val="dk1"/>
              </a:solidFill>
              <a:latin typeface="Calibri"/>
              <a:ea typeface="Calibri"/>
              <a:cs typeface="Calibri"/>
              <a:sym typeface="Calibri"/>
            </a:endParaRPr>
          </a:p>
          <a:p>
            <a:pPr indent="457200" lvl="0" marL="0" rtl="0" algn="l">
              <a:spcBef>
                <a:spcPts val="0"/>
              </a:spcBef>
              <a:spcAft>
                <a:spcPts val="0"/>
              </a:spcAft>
              <a:buNone/>
            </a:pPr>
            <a:r>
              <a:rPr lang="en" sz="1200">
                <a:solidFill>
                  <a:schemeClr val="dk1"/>
                </a:solidFill>
                <a:latin typeface="Calibri"/>
                <a:ea typeface="Calibri"/>
                <a:cs typeface="Calibri"/>
                <a:sym typeface="Calibri"/>
              </a:rPr>
              <a:t>In 4 or more dimensions, we can no longer draw it intuitively, but luckily the mathematics are very simple.</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The classifier structure is called a </a:t>
            </a:r>
            <a:r>
              <a:rPr b="1" lang="en" sz="1200">
                <a:solidFill>
                  <a:schemeClr val="dk1"/>
                </a:solidFill>
                <a:latin typeface="Calibri"/>
                <a:ea typeface="Calibri"/>
                <a:cs typeface="Calibri"/>
                <a:sym typeface="Calibri"/>
              </a:rPr>
              <a:t>hyperplane</a:t>
            </a:r>
            <a:r>
              <a:rPr lang="en" sz="1200">
                <a:solidFill>
                  <a:schemeClr val="dk1"/>
                </a:solidFill>
                <a:latin typeface="Calibri"/>
                <a:ea typeface="Calibri"/>
                <a:cs typeface="Calibri"/>
                <a:sym typeface="Calibri"/>
              </a:rPr>
              <a:t>. Say we have four features, let’s call them x1, x2, x3, and x4. In four dimensions, every hyperplane is determined by five numbers, let’s say a, b, c, d, e. (in </a:t>
            </a:r>
            <a:r>
              <a:rPr i="1" lang="en" sz="1200">
                <a:solidFill>
                  <a:schemeClr val="dk1"/>
                </a:solidFill>
                <a:latin typeface="Calibri"/>
                <a:ea typeface="Calibri"/>
                <a:cs typeface="Calibri"/>
                <a:sym typeface="Calibri"/>
              </a:rPr>
              <a:t>n</a:t>
            </a:r>
            <a:r>
              <a:rPr lang="en" sz="1200">
                <a:solidFill>
                  <a:schemeClr val="dk1"/>
                </a:solidFill>
                <a:latin typeface="Calibri"/>
                <a:ea typeface="Calibri"/>
                <a:cs typeface="Calibri"/>
                <a:sym typeface="Calibri"/>
              </a:rPr>
              <a:t> dimensions, we require </a:t>
            </a:r>
            <a:r>
              <a:rPr i="1" lang="en" sz="1200">
                <a:solidFill>
                  <a:schemeClr val="dk1"/>
                </a:solidFill>
                <a:latin typeface="Calibri"/>
                <a:ea typeface="Calibri"/>
                <a:cs typeface="Calibri"/>
                <a:sym typeface="Calibri"/>
              </a:rPr>
              <a:t>n+1</a:t>
            </a:r>
            <a:r>
              <a:rPr lang="en" sz="1200">
                <a:solidFill>
                  <a:schemeClr val="dk1"/>
                </a:solidFill>
                <a:latin typeface="Calibri"/>
                <a:ea typeface="Calibri"/>
                <a:cs typeface="Calibri"/>
                <a:sym typeface="Calibri"/>
              </a:rPr>
              <a:t> numbers).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We simply compute the expression above, and if the result is bigger than 0, we classify as </a:t>
            </a:r>
            <a:r>
              <a:rPr lang="en" sz="1200">
                <a:solidFill>
                  <a:srgbClr val="004FD2"/>
                </a:solidFill>
                <a:latin typeface="Calibri"/>
                <a:ea typeface="Calibri"/>
                <a:cs typeface="Calibri"/>
                <a:sym typeface="Calibri"/>
              </a:rPr>
              <a:t>healthy</a:t>
            </a:r>
            <a:r>
              <a:rPr lang="en" sz="1200">
                <a:solidFill>
                  <a:schemeClr val="dk1"/>
                </a:solidFill>
                <a:latin typeface="Calibri"/>
                <a:ea typeface="Calibri"/>
                <a:cs typeface="Calibri"/>
                <a:sym typeface="Calibri"/>
              </a:rPr>
              <a:t>, and otherwise as </a:t>
            </a:r>
            <a:r>
              <a:rPr lang="en" sz="1200">
                <a:solidFill>
                  <a:srgbClr val="D23200"/>
                </a:solidFill>
                <a:latin typeface="Calibri"/>
                <a:ea typeface="Calibri"/>
                <a:cs typeface="Calibri"/>
                <a:sym typeface="Calibri"/>
              </a:rPr>
              <a:t>sick</a:t>
            </a:r>
            <a:r>
              <a:rPr lang="en" sz="1200">
                <a:solidFill>
                  <a:schemeClr val="dk1"/>
                </a:solidFill>
                <a:latin typeface="Calibri"/>
                <a:ea typeface="Calibri"/>
                <a:cs typeface="Calibri"/>
                <a:sym typeface="Calibri"/>
              </a:rPr>
              <a:t>. All we have to do now, is find the values for a, b, c, d and e that define a hyperplane that gives us the best classifications.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Incidentally, the value e is called the </a:t>
            </a:r>
            <a:r>
              <a:rPr b="1" lang="en" sz="1200">
                <a:solidFill>
                  <a:schemeClr val="dk1"/>
                </a:solidFill>
                <a:latin typeface="Calibri"/>
                <a:ea typeface="Calibri"/>
                <a:cs typeface="Calibri"/>
                <a:sym typeface="Calibri"/>
              </a:rPr>
              <a:t>intercept</a:t>
            </a:r>
            <a:r>
              <a:rPr lang="en" sz="1200">
                <a:solidFill>
                  <a:schemeClr val="dk1"/>
                </a:solidFill>
                <a:latin typeface="Calibri"/>
                <a:ea typeface="Calibri"/>
                <a:cs typeface="Calibri"/>
                <a:sym typeface="Calibri"/>
              </a:rPr>
              <a:t>. Without it, every hyperplane would cross the origin. The value e pushes the whole hyperplane up or down.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8130adff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8130adff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 simple way to understand a hyperplane is to look at the 3D graph on the left. The hyperplane that splits the space will be one dimension less, or a 2D structure. On the right we see that three different 1D hyperplanes in a 2D space all accurately split the feature space. Which hyperplane do we choose?</a:t>
            </a:r>
            <a:endParaRPr sz="1200">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58130adff1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58130adff1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Here is a  principle that tends to work very well. We choose the line for which the distances to the nearest example of either class is the greatest. In other words, the line with the maximum margin to all the data points.</a:t>
            </a:r>
            <a:endParaRPr sz="12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The classifier that uses this principle is called the Support Vector Machine (SVM, invented in the 60s). However, I’ve not titled this slide “support vector machine”, because when people talk about SVMs these days, they’re actually talking about a specific use of the SVM, which we’ll come to later.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58130adff1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58130adff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r>
              <a:rPr lang="en" sz="1200">
                <a:solidFill>
                  <a:schemeClr val="dk1"/>
                </a:solidFill>
                <a:latin typeface="Calibri"/>
                <a:ea typeface="Calibri"/>
                <a:cs typeface="Calibri"/>
                <a:sym typeface="Calibri"/>
              </a:rPr>
              <a:t>ack to our dataset. The problem here is that our data is not linearly separable at all. How can we improve performance? It’s tempting to extend the model class, perhaps to include curved lines (circles, ellipses, splines, etc).</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The problem is that such model classes makes the third step of our recipe (searching for a good model) a lot more difficult. Lines are easy to fit, so if at all possible </a:t>
            </a:r>
            <a:r>
              <a:rPr b="1" lang="en" sz="1200">
                <a:solidFill>
                  <a:schemeClr val="dk1"/>
                </a:solidFill>
                <a:latin typeface="Calibri"/>
                <a:ea typeface="Calibri"/>
                <a:cs typeface="Calibri"/>
                <a:sym typeface="Calibri"/>
              </a:rPr>
              <a:t>we’d like to stick with straight lines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45720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So the only other option is to change the features. Of course we can go back to our tree instances and measure more characteristics (trunk diameter, leaf coverage, year of planting). But if we don’t have that luxury, we can</a:t>
            </a:r>
            <a:r>
              <a:rPr b="1" lang="en" sz="1200">
                <a:solidFill>
                  <a:schemeClr val="dk1"/>
                </a:solidFill>
                <a:latin typeface="Calibri"/>
                <a:ea typeface="Calibri"/>
                <a:cs typeface="Calibri"/>
                <a:sym typeface="Calibri"/>
              </a:rPr>
              <a:t> change the features to help us learn a better model</a:t>
            </a: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58130adff1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58130adff1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This is a </a:t>
            </a:r>
            <a:r>
              <a:rPr b="1" lang="en" sz="1200">
                <a:solidFill>
                  <a:schemeClr val="dk1"/>
                </a:solidFill>
                <a:latin typeface="Calibri"/>
                <a:ea typeface="Calibri"/>
                <a:cs typeface="Calibri"/>
                <a:sym typeface="Calibri"/>
              </a:rPr>
              <a:t>design matrix</a:t>
            </a:r>
            <a:r>
              <a:rPr lang="en" sz="1200">
                <a:solidFill>
                  <a:schemeClr val="dk1"/>
                </a:solidFill>
                <a:latin typeface="Calibri"/>
                <a:ea typeface="Calibri"/>
                <a:cs typeface="Calibri"/>
                <a:sym typeface="Calibri"/>
              </a:rPr>
              <a:t>. We’ve taken the original features and added combinations of them as new features. Specifically, we’ve added all</a:t>
            </a:r>
            <a:r>
              <a:rPr b="1" lang="en" sz="1200">
                <a:solidFill>
                  <a:schemeClr val="dk1"/>
                </a:solidFill>
                <a:latin typeface="Calibri"/>
                <a:ea typeface="Calibri"/>
                <a:cs typeface="Calibri"/>
                <a:sym typeface="Calibri"/>
              </a:rPr>
              <a:t> cross-terms</a:t>
            </a:r>
            <a:r>
              <a:rPr lang="en" sz="1200">
                <a:solidFill>
                  <a:schemeClr val="dk1"/>
                </a:solidFill>
                <a:latin typeface="Calibri"/>
                <a:ea typeface="Calibri"/>
                <a:cs typeface="Calibri"/>
                <a:sym typeface="Calibri"/>
              </a:rPr>
              <a:t>: one feature multiplied by itself or another feature.</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We now have a 5D dataset, to which we can fit a hyperplane.</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58130adff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58130adff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If we extend the judgements of this 5D classifier in the original 2D feature space, we get the following result.</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Even though our classifier is linear (and thus still easy to fit), we get a curved line, getting a slightly better fit. The common wisdom is that</a:t>
            </a:r>
            <a:r>
              <a:rPr b="1" lang="en" sz="1200">
                <a:solidFill>
                  <a:schemeClr val="dk1"/>
                </a:solidFill>
                <a:latin typeface="Calibri"/>
                <a:ea typeface="Calibri"/>
                <a:cs typeface="Calibri"/>
                <a:sym typeface="Calibri"/>
              </a:rPr>
              <a:t> all datasets are linearly separable if you project them into a space of high-enough dimension</a:t>
            </a:r>
            <a:r>
              <a:rPr lang="en"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58130adff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58130adff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Here’s an illustration of the power of adding features. On the left we have the original data with features x and y. The blue and red dots are not at all linearly separable. We need a model class that includes circular shapes in order separate these points properly.</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Now, we add a third feature x</a:t>
            </a:r>
            <a:r>
              <a:rPr baseline="30000" lang="en" sz="1200">
                <a:solidFill>
                  <a:schemeClr val="dk1"/>
                </a:solidFill>
                <a:latin typeface="Calibri"/>
                <a:ea typeface="Calibri"/>
                <a:cs typeface="Calibri"/>
                <a:sym typeface="Calibri"/>
              </a:rPr>
              <a:t>2</a:t>
            </a:r>
            <a:r>
              <a:rPr lang="en" sz="1200">
                <a:solidFill>
                  <a:schemeClr val="dk1"/>
                </a:solidFill>
                <a:latin typeface="Calibri"/>
                <a:ea typeface="Calibri"/>
                <a:cs typeface="Calibri"/>
                <a:sym typeface="Calibri"/>
              </a:rPr>
              <a:t> + y</a:t>
            </a:r>
            <a:r>
              <a:rPr baseline="30000" lang="en" sz="1200">
                <a:solidFill>
                  <a:schemeClr val="dk1"/>
                </a:solidFill>
                <a:latin typeface="Calibri"/>
                <a:ea typeface="Calibri"/>
                <a:cs typeface="Calibri"/>
                <a:sym typeface="Calibri"/>
              </a:rPr>
              <a:t>2</a:t>
            </a:r>
            <a:r>
              <a:rPr lang="en" sz="1200">
                <a:solidFill>
                  <a:schemeClr val="dk1"/>
                </a:solidFill>
                <a:latin typeface="Calibri"/>
                <a:ea typeface="Calibri"/>
                <a:cs typeface="Calibri"/>
                <a:sym typeface="Calibri"/>
              </a:rPr>
              <a:t>, which is the square of the distance of each point to the origin. The points now form a cone (middle figure) with the red and blue dots perfectly separable.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Of course, we can also add the cross product  x</a:t>
            </a:r>
            <a:r>
              <a:rPr baseline="30000" lang="en" sz="1200">
                <a:solidFill>
                  <a:schemeClr val="dk1"/>
                </a:solidFill>
                <a:latin typeface="Calibri"/>
                <a:ea typeface="Calibri"/>
                <a:cs typeface="Calibri"/>
                <a:sym typeface="Calibri"/>
              </a:rPr>
              <a:t>2</a:t>
            </a:r>
            <a:r>
              <a:rPr lang="en" sz="1200">
                <a:solidFill>
                  <a:schemeClr val="dk1"/>
                </a:solidFill>
                <a:latin typeface="Calibri"/>
                <a:ea typeface="Calibri"/>
                <a:cs typeface="Calibri"/>
                <a:sym typeface="Calibri"/>
              </a:rPr>
              <a:t> and y</a:t>
            </a:r>
            <a:r>
              <a:rPr baseline="30000" lang="en" sz="1200">
                <a:solidFill>
                  <a:schemeClr val="dk1"/>
                </a:solidFill>
                <a:latin typeface="Calibri"/>
                <a:ea typeface="Calibri"/>
                <a:cs typeface="Calibri"/>
                <a:sym typeface="Calibri"/>
              </a:rPr>
              <a:t>2 </a:t>
            </a:r>
            <a:r>
              <a:rPr lang="en" sz="1200">
                <a:solidFill>
                  <a:schemeClr val="dk1"/>
                </a:solidFill>
                <a:latin typeface="Calibri"/>
                <a:ea typeface="Calibri"/>
                <a:cs typeface="Calibri"/>
                <a:sym typeface="Calibri"/>
              </a:rPr>
              <a:t>as two separate features, as we did with the design matrix. If we discard the original feature we get the feature space shown on the right.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58130adff1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58130adff1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While the results of the classifier on the right looks very impressive, it’s too specific to this data and is called </a:t>
            </a:r>
            <a:r>
              <a:rPr b="1" lang="en" sz="1200">
                <a:solidFill>
                  <a:schemeClr val="dk1"/>
                </a:solidFill>
                <a:latin typeface="Calibri"/>
                <a:ea typeface="Calibri"/>
                <a:cs typeface="Calibri"/>
                <a:sym typeface="Calibri"/>
              </a:rPr>
              <a:t>overfitting</a:t>
            </a:r>
            <a:r>
              <a:rPr b="1" i="1" lang="en" sz="1200">
                <a:solidFill>
                  <a:schemeClr val="dk1"/>
                </a:solidFill>
                <a:latin typeface="Calibri"/>
                <a:ea typeface="Calibri"/>
                <a:cs typeface="Calibri"/>
                <a:sym typeface="Calibri"/>
              </a:rPr>
              <a:t>.</a:t>
            </a:r>
            <a:r>
              <a:rPr b="1" lang="en" sz="12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 The model has perfect performance on the training data, however, all it has done is to describe the exact shape of the training data. It doesn’t generalise. If we draw new data from the same source, we can imagine very well that we would get blue points in the red area. The opposite problem is called </a:t>
            </a:r>
            <a:r>
              <a:rPr b="1" lang="en" sz="1200">
                <a:solidFill>
                  <a:schemeClr val="dk1"/>
                </a:solidFill>
                <a:latin typeface="Calibri"/>
                <a:ea typeface="Calibri"/>
                <a:cs typeface="Calibri"/>
                <a:sym typeface="Calibri"/>
              </a:rPr>
              <a:t>underfitting</a:t>
            </a:r>
            <a:r>
              <a:rPr lang="en" sz="1200">
                <a:solidFill>
                  <a:schemeClr val="dk1"/>
                </a:solidFill>
                <a:latin typeface="Calibri"/>
                <a:ea typeface="Calibri"/>
                <a:cs typeface="Calibri"/>
                <a:sym typeface="Calibri"/>
              </a:rPr>
              <a:t>, meaning the classifier is too general and unspecific for the data.</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In order to recognise that this we have actually learned a bad model, we need to </a:t>
            </a:r>
            <a:r>
              <a:rPr b="1" lang="en" sz="1200">
                <a:solidFill>
                  <a:schemeClr val="dk1"/>
                </a:solidFill>
                <a:latin typeface="Calibri"/>
                <a:ea typeface="Calibri"/>
                <a:cs typeface="Calibri"/>
                <a:sym typeface="Calibri"/>
              </a:rPr>
              <a:t>withhold some training data</a:t>
            </a:r>
            <a:r>
              <a:rPr lang="en" sz="1200">
                <a:solidFill>
                  <a:schemeClr val="dk1"/>
                </a:solidFill>
                <a:latin typeface="Calibri"/>
                <a:ea typeface="Calibri"/>
                <a:cs typeface="Calibri"/>
                <a:sym typeface="Calibri"/>
              </a:rPr>
              <a:t> to estimate the error, called the </a:t>
            </a:r>
            <a:r>
              <a:rPr b="1" lang="en" sz="1200">
                <a:solidFill>
                  <a:schemeClr val="dk1"/>
                </a:solidFill>
                <a:latin typeface="Calibri"/>
                <a:ea typeface="Calibri"/>
                <a:cs typeface="Calibri"/>
                <a:sym typeface="Calibri"/>
              </a:rPr>
              <a:t>test data</a:t>
            </a:r>
            <a:r>
              <a:rPr lang="en" sz="1200">
                <a:solidFill>
                  <a:schemeClr val="dk1"/>
                </a:solidFill>
                <a:latin typeface="Calibri"/>
                <a:ea typeface="Calibri"/>
                <a:cs typeface="Calibri"/>
                <a:sym typeface="Calibri"/>
              </a:rPr>
              <a:t>. You can make sure you don’t get into trouble at the end by estimating the error early on the </a:t>
            </a:r>
            <a:r>
              <a:rPr b="1" lang="en" sz="1200">
                <a:solidFill>
                  <a:schemeClr val="dk1"/>
                </a:solidFill>
                <a:latin typeface="Calibri"/>
                <a:ea typeface="Calibri"/>
                <a:cs typeface="Calibri"/>
                <a:sym typeface="Calibri"/>
              </a:rPr>
              <a:t>validation data</a:t>
            </a:r>
            <a:r>
              <a:rPr lang="en" sz="1200">
                <a:solidFill>
                  <a:schemeClr val="dk1"/>
                </a:solidFill>
                <a:latin typeface="Calibri"/>
                <a:ea typeface="Calibri"/>
                <a:cs typeface="Calibri"/>
                <a:sym typeface="Calibri"/>
              </a:rPr>
              <a:t>.</a:t>
            </a:r>
            <a:endParaRPr>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a594c5a85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a594c5a85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200">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cd635f867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cd635f867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Let’s look specifically at model class selection for regression.</a:t>
            </a:r>
            <a:endParaRPr sz="1200">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1cd635f867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1cd635f867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Recall that regression is the task of predicting a numeric value for a certain instance, e.g. predicting the price of a house. Regression is evaluated in the same way as classification: withhold some data and use that to find how well the model does.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Of course, since we are predicting numbers, all predictions will be at least a little wrong, so we can’t just count how often the model got it right. Instead we sum how far each prediction was from the actual value in the target set in the Mean Squared Error function. We then sum the squares of these distances. We don’t sum the distances themselves, because they would cancel out (being both positive and negative).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1cd635f867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1cd635f867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Model class selection asks how to best represent the data in the model. For the previous example, why should the data be separated with a line? </a:t>
            </a:r>
            <a:endParaRPr sz="1200">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1cd635f867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1cd635f867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regression problems, the goal is to construct a hypothesis </a:t>
            </a:r>
            <a:r>
              <a:rPr i="1" lang="en" sz="1200">
                <a:latin typeface="Calibri"/>
                <a:ea typeface="Calibri"/>
                <a:cs typeface="Calibri"/>
                <a:sym typeface="Calibri"/>
              </a:rPr>
              <a:t>h</a:t>
            </a:r>
            <a:r>
              <a:rPr lang="en" sz="1200">
                <a:latin typeface="Calibri"/>
                <a:ea typeface="Calibri"/>
                <a:cs typeface="Calibri"/>
                <a:sym typeface="Calibri"/>
              </a:rPr>
              <a:t>, in this example a line, so that it agrees with our observed data </a:t>
            </a:r>
            <a:r>
              <a:rPr i="1" lang="en" sz="1200">
                <a:latin typeface="Calibri"/>
                <a:ea typeface="Calibri"/>
                <a:cs typeface="Calibri"/>
                <a:sym typeface="Calibri"/>
              </a:rPr>
              <a:t>f</a:t>
            </a:r>
            <a:r>
              <a:rPr lang="en" sz="1200">
                <a:latin typeface="Calibri"/>
                <a:ea typeface="Calibri"/>
                <a:cs typeface="Calibri"/>
                <a:sym typeface="Calibri"/>
              </a:rPr>
              <a:t>. We say that this hypothesis is consistent when it agrees with all of the data points. </a:t>
            </a:r>
            <a:endParaRPr sz="1200">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1cd635f867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1cd635f867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This first line </a:t>
            </a:r>
            <a:r>
              <a:rPr i="1" lang="en" sz="1200">
                <a:latin typeface="Calibri"/>
                <a:ea typeface="Calibri"/>
                <a:cs typeface="Calibri"/>
                <a:sym typeface="Calibri"/>
              </a:rPr>
              <a:t>f(x)</a:t>
            </a:r>
            <a:r>
              <a:rPr lang="en" sz="1200">
                <a:latin typeface="Calibri"/>
                <a:ea typeface="Calibri"/>
                <a:cs typeface="Calibri"/>
                <a:sym typeface="Calibri"/>
              </a:rPr>
              <a:t> is a linear hypothesis.</a:t>
            </a:r>
            <a:endParaRPr sz="1200">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1cd635f867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1cd635f867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But why choose a straight line when we could use this polynomial? The error rate is much better.</a:t>
            </a:r>
            <a:endParaRPr sz="1200">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1cd635f867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1cd635f867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We could improve the performance of our hypothesis even more with this blue line that is consistent.</a:t>
            </a:r>
            <a:endParaRPr sz="1200">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1cd635f867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1cd635f867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this same line of thinking, this orange line is also consistent. Why is this one less desirable than the other model classes? The problem is that this model class will not work well once new data is introduced. The idea is that the model class should be generalisable to new data.</a:t>
            </a:r>
            <a:endParaRPr sz="1200">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1cd635f867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1cd635f867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Calibri"/>
                <a:ea typeface="Calibri"/>
                <a:cs typeface="Calibri"/>
                <a:sym typeface="Calibri"/>
              </a:rPr>
              <a:t>Occam’s razor </a:t>
            </a:r>
            <a:r>
              <a:rPr lang="en" sz="1200">
                <a:latin typeface="Calibri"/>
                <a:ea typeface="Calibri"/>
                <a:cs typeface="Calibri"/>
                <a:sym typeface="Calibri"/>
              </a:rPr>
              <a:t>is a principle which roughly states that the best answer to a problem is the simplest one. This principle, also called the principle of parsimony, is commonly cited in computer science. Its relevance to machine learning is the lesson that a simpler solution will be better generalisable to new data than a complicated one. Think back to the blue and orange model classes in the last example, which are consistent for the observed data but won’t work for unseen data.</a:t>
            </a:r>
            <a:endParaRPr sz="1200">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1cd635f8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1cd635f8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1cd635f8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1cd635f8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table shows some data that we’ve been seen in a classification context, where the goal is to use the features to determine whether a student belongs to the passing or failing class. Now with regression, the label is a numerical value which we are trying to predict instead. Similarly to what we’ve seen, we still have a learner and a model, however the model performs regression instead of classification. The goal is to feed some data to the model that has learned from the training data, and the regression model will predict a grade.</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Note that we could also model this as a multiclass classification problem, where every grade (5.5, 6, 6.5, etc.) is a class. The benefit of a regression model is that it can predict any real number between 0 and 10, e.g. 5.566.</a:t>
            </a:r>
            <a:endParaRPr sz="1200">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cd635f86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1cd635f86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Imagine that we want to predict the height of a person given their age. This means we have one input feature (age) and one label (height). We have a collection of training data - all the black points in the graph. The goal is for the model to guess the height of a person if only their age is known. The simplest function we can use is a linear model with the form y = mx+b, which looks like the straight black line in the graph.</a:t>
            </a:r>
            <a:endParaRPr sz="1200">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1cd635f8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1cd635f8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some cases a linear function may be inadequate for modeling the data because it follows a different shape. When only using one feature, this isn’t possible. We can use a design matrix to create new features from existing ones in order to create other functions like a polynomial. We won’t be looking into these in this course but it is useful to know that this happens in practice. In this case, feature </a:t>
            </a:r>
            <a:r>
              <a:rPr i="1" lang="en" sz="1200">
                <a:latin typeface="Calibri"/>
                <a:ea typeface="Calibri"/>
                <a:cs typeface="Calibri"/>
                <a:sym typeface="Calibri"/>
              </a:rPr>
              <a:t>a</a:t>
            </a:r>
            <a:r>
              <a:rPr lang="en" sz="1200">
                <a:latin typeface="Calibri"/>
                <a:ea typeface="Calibri"/>
                <a:cs typeface="Calibri"/>
                <a:sym typeface="Calibri"/>
              </a:rPr>
              <a:t> is used to create </a:t>
            </a:r>
            <a:r>
              <a:rPr i="1" lang="en" sz="1200">
                <a:latin typeface="Calibri"/>
                <a:ea typeface="Calibri"/>
                <a:cs typeface="Calibri"/>
                <a:sym typeface="Calibri"/>
              </a:rPr>
              <a:t>a</a:t>
            </a:r>
            <a:r>
              <a:rPr baseline="30000" i="1" lang="en" sz="1200">
                <a:latin typeface="Calibri"/>
                <a:ea typeface="Calibri"/>
                <a:cs typeface="Calibri"/>
                <a:sym typeface="Calibri"/>
              </a:rPr>
              <a:t>2</a:t>
            </a:r>
            <a:r>
              <a:rPr lang="en" sz="1200">
                <a:latin typeface="Calibri"/>
                <a:ea typeface="Calibri"/>
                <a:cs typeface="Calibri"/>
                <a:sym typeface="Calibri"/>
              </a:rPr>
              <a:t>.</a:t>
            </a:r>
            <a:endParaRPr sz="1200">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1cd635f86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1cd635f86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How do we find a model or function that performs well in a regression task?</a:t>
            </a:r>
            <a:endParaRPr sz="1200">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1cd635f86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1cd635f86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To find the best model we can use an evaluation method like the mean squared error function to see which model performs best. The goal is to minimise the error as much as possible. MSE works by taking the distance between the line and each data point and squaring this, then summing over all the data points.</a:t>
            </a: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1cd635f86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1cd635f86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This is an example with two different linear models, h=s</a:t>
            </a:r>
            <a:r>
              <a:rPr baseline="-25000" lang="en" sz="1200">
                <a:latin typeface="Calibri"/>
                <a:ea typeface="Calibri"/>
                <a:cs typeface="Calibri"/>
                <a:sym typeface="Calibri"/>
              </a:rPr>
              <a:t>1</a:t>
            </a:r>
            <a:r>
              <a:rPr lang="en" sz="1200">
                <a:latin typeface="Calibri"/>
                <a:ea typeface="Calibri"/>
                <a:cs typeface="Calibri"/>
                <a:sym typeface="Calibri"/>
              </a:rPr>
              <a:t>a + b</a:t>
            </a:r>
            <a:r>
              <a:rPr baseline="-25000" lang="en" sz="1200">
                <a:latin typeface="Calibri"/>
                <a:ea typeface="Calibri"/>
                <a:cs typeface="Calibri"/>
                <a:sym typeface="Calibri"/>
              </a:rPr>
              <a:t>1</a:t>
            </a:r>
            <a:r>
              <a:rPr lang="en" sz="1200">
                <a:latin typeface="Calibri"/>
                <a:ea typeface="Calibri"/>
                <a:cs typeface="Calibri"/>
                <a:sym typeface="Calibri"/>
              </a:rPr>
              <a:t> and h = s</a:t>
            </a:r>
            <a:r>
              <a:rPr baseline="-25000" lang="en" sz="1200">
                <a:latin typeface="Calibri"/>
                <a:ea typeface="Calibri"/>
                <a:cs typeface="Calibri"/>
                <a:sym typeface="Calibri"/>
              </a:rPr>
              <a:t>2</a:t>
            </a:r>
            <a:r>
              <a:rPr lang="en" sz="1200">
                <a:latin typeface="Calibri"/>
                <a:ea typeface="Calibri"/>
                <a:cs typeface="Calibri"/>
                <a:sym typeface="Calibri"/>
              </a:rPr>
              <a:t>a + b</a:t>
            </a:r>
            <a:r>
              <a:rPr baseline="-25000" lang="en" sz="1200">
                <a:latin typeface="Calibri"/>
                <a:ea typeface="Calibri"/>
                <a:cs typeface="Calibri"/>
                <a:sym typeface="Calibri"/>
              </a:rPr>
              <a:t>2</a:t>
            </a:r>
            <a:r>
              <a:rPr lang="en" sz="1200">
                <a:latin typeface="Calibri"/>
                <a:ea typeface="Calibri"/>
                <a:cs typeface="Calibri"/>
                <a:sym typeface="Calibri"/>
              </a:rPr>
              <a:t>. To get a better idea of which model is best, we usually transfer from the feature into the model space with s and b on the axes. Each point in the model space is some kind of linear model with corresponding s and b parameters. Each point can be transferred back into the feature space to measure its error rate.</a:t>
            </a:r>
            <a:endParaRPr sz="1200">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1cd635f86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1cd635f86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the diagram on the right we still have the model space with axes s and b. After computing the error rate of all possible models, we can combine these into the error surface as our third dimension. The greater the distance between a point in the model space and the error surface, the greater the error. The point on the model space which is closest to the error surface is the best model. In this example, it appears as though s=0 and b=0.5 is the optimal model. Keep in mind that in practice this is usually never visualised, especially because this is not possible for a much higher dimension space given more features.</a:t>
            </a:r>
            <a:endParaRPr sz="1200">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1cd635f86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1cd635f86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There are different techniques for finding the lowest point on the error surface. We will try to do this ourselves.</a:t>
            </a:r>
            <a:endParaRPr sz="1200">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1cd635f86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1cd635f86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Given a set of data points and a line, we can try to fit a model. Try to reason through a solution on your own first. Once the problem is graphed, how do we find the error?</a:t>
            </a:r>
            <a:endParaRPr sz="1200">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1cd635f86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1cd635f86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Once the points and line are graphed, we can take the distance between each point and the line and </a:t>
            </a:r>
            <a:r>
              <a:rPr i="1" lang="en" sz="1200">
                <a:latin typeface="Calibri"/>
                <a:ea typeface="Calibri"/>
                <a:cs typeface="Calibri"/>
                <a:sym typeface="Calibri"/>
              </a:rPr>
              <a:t>square</a:t>
            </a:r>
            <a:r>
              <a:rPr lang="en" sz="1200">
                <a:latin typeface="Calibri"/>
                <a:ea typeface="Calibri"/>
                <a:cs typeface="Calibri"/>
                <a:sym typeface="Calibri"/>
              </a:rPr>
              <a:t> it, giving us these boxes. We can sum these values together to find the error, and then search for the line that minimizes the sizes of these boxes. However, this is difficult and impractical on paper considering that we may have many data points. Let’s look at another method.</a:t>
            </a:r>
            <a:endParaRPr sz="1200">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1cd635f86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1cd635f86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Recall from the calculus you may have had in high school that a </a:t>
            </a:r>
            <a:r>
              <a:rPr b="1" lang="en" sz="1200">
                <a:latin typeface="Calibri"/>
                <a:ea typeface="Calibri"/>
                <a:cs typeface="Calibri"/>
                <a:sym typeface="Calibri"/>
              </a:rPr>
              <a:t>tangent line</a:t>
            </a:r>
            <a:r>
              <a:rPr lang="en" sz="1200">
                <a:latin typeface="Calibri"/>
                <a:ea typeface="Calibri"/>
                <a:cs typeface="Calibri"/>
                <a:sym typeface="Calibri"/>
              </a:rPr>
              <a:t> (as shown in blue) can be found by computing the </a:t>
            </a:r>
            <a:r>
              <a:rPr b="1" lang="en" sz="1200">
                <a:latin typeface="Calibri"/>
                <a:ea typeface="Calibri"/>
                <a:cs typeface="Calibri"/>
                <a:sym typeface="Calibri"/>
              </a:rPr>
              <a:t>derivative</a:t>
            </a:r>
            <a:r>
              <a:rPr lang="en" sz="1200">
                <a:latin typeface="Calibri"/>
                <a:ea typeface="Calibri"/>
                <a:cs typeface="Calibri"/>
                <a:sym typeface="Calibri"/>
              </a:rPr>
              <a:t> of a function.</a:t>
            </a:r>
            <a:endParaRPr sz="1200">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1cd635f86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1cd635f86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You can think of this diagram as a 2D version of the model space and error surface diagram we saw on slides 12 and 13. An </a:t>
            </a:r>
            <a:r>
              <a:rPr b="1" lang="en" sz="1200">
                <a:latin typeface="Calibri"/>
                <a:ea typeface="Calibri"/>
                <a:cs typeface="Calibri"/>
                <a:sym typeface="Calibri"/>
              </a:rPr>
              <a:t>optimum</a:t>
            </a:r>
            <a:r>
              <a:rPr lang="en" sz="1200">
                <a:latin typeface="Calibri"/>
                <a:ea typeface="Calibri"/>
                <a:cs typeface="Calibri"/>
                <a:sym typeface="Calibri"/>
              </a:rPr>
              <a:t> is a point at which the derivative of a function is equal to 0, they look like the peaks in this graph. There are </a:t>
            </a:r>
            <a:r>
              <a:rPr b="1" lang="en" sz="1200">
                <a:latin typeface="Calibri"/>
                <a:ea typeface="Calibri"/>
                <a:cs typeface="Calibri"/>
                <a:sym typeface="Calibri"/>
              </a:rPr>
              <a:t>local optima</a:t>
            </a:r>
            <a:r>
              <a:rPr lang="en" sz="1200">
                <a:latin typeface="Calibri"/>
                <a:ea typeface="Calibri"/>
                <a:cs typeface="Calibri"/>
                <a:sym typeface="Calibri"/>
              </a:rPr>
              <a:t> and there are </a:t>
            </a:r>
            <a:r>
              <a:rPr b="1" lang="en" sz="1200">
                <a:latin typeface="Calibri"/>
                <a:ea typeface="Calibri"/>
                <a:cs typeface="Calibri"/>
                <a:sym typeface="Calibri"/>
              </a:rPr>
              <a:t>global optima</a:t>
            </a:r>
            <a:r>
              <a:rPr lang="en" sz="1200">
                <a:latin typeface="Calibri"/>
                <a:ea typeface="Calibri"/>
                <a:cs typeface="Calibri"/>
                <a:sym typeface="Calibri"/>
              </a:rPr>
              <a:t>. Local optima are points at which the derivative is 0, but it is not the lowest/highest point at which this occurs. Global optima are the minimums or maximums in a graph.</a:t>
            </a:r>
            <a:endParaRPr sz="1200">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1cd635f86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1cd635f86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We can also graph the derivative of a function, shown here in pink. Notice that every local or global optimum in the first graph is a point on the x-axis (y=0) in the graph of the derivative. This is useful because it means that we can find an optimum by setting the derivative equal to zero.</a:t>
            </a:r>
            <a:endParaRPr sz="1200">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1cd635f86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1cd635f86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These are the differentiation rules that you hopefully recall from high school. These are rules you should memorise and you will need to find the derivative of a function by hand. The derivative of a function is always denoted by an apostrophe, e.g. f’(x).</a:t>
            </a:r>
            <a:endParaRPr sz="1200">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1cd635f867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1cd635f867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Let’s practice. The answers will be written below. These problems don’t require the more complex rules from the table.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f(x) = 6x</a:t>
            </a:r>
            <a:r>
              <a:rPr baseline="30000" lang="en" sz="1200">
                <a:latin typeface="Calibri"/>
                <a:ea typeface="Calibri"/>
                <a:cs typeface="Calibri"/>
                <a:sym typeface="Calibri"/>
              </a:rPr>
              <a:t>3</a:t>
            </a:r>
            <a:r>
              <a:rPr lang="en" sz="1200">
                <a:latin typeface="Calibri"/>
                <a:ea typeface="Calibri"/>
                <a:cs typeface="Calibri"/>
                <a:sym typeface="Calibri"/>
              </a:rPr>
              <a:t> - 3x + 45</a:t>
            </a:r>
            <a:endParaRPr sz="1200">
              <a:latin typeface="Calibri"/>
              <a:ea typeface="Calibri"/>
              <a:cs typeface="Calibri"/>
              <a:sym typeface="Calibri"/>
            </a:endParaRPr>
          </a:p>
          <a:p>
            <a:pPr indent="-304800" lvl="0" marL="457200" rtl="0" algn="l">
              <a:spcBef>
                <a:spcPts val="0"/>
              </a:spcBef>
              <a:spcAft>
                <a:spcPts val="0"/>
              </a:spcAft>
              <a:buSzPts val="1200"/>
              <a:buFont typeface="Calibri"/>
              <a:buAutoNum type="arabicPeriod"/>
            </a:pPr>
            <a:r>
              <a:rPr lang="en" sz="1200">
                <a:latin typeface="Calibri"/>
                <a:ea typeface="Calibri"/>
                <a:cs typeface="Calibri"/>
                <a:sym typeface="Calibri"/>
              </a:rPr>
              <a:t>Multiply the exponent by the coefficient in 6x</a:t>
            </a:r>
            <a:r>
              <a:rPr baseline="30000" lang="en" sz="1200">
                <a:latin typeface="Calibri"/>
                <a:ea typeface="Calibri"/>
                <a:cs typeface="Calibri"/>
                <a:sym typeface="Calibri"/>
              </a:rPr>
              <a:t>3</a:t>
            </a:r>
            <a:r>
              <a:rPr lang="en" sz="1200">
                <a:latin typeface="Calibri"/>
                <a:ea typeface="Calibri"/>
                <a:cs typeface="Calibri"/>
                <a:sym typeface="Calibri"/>
              </a:rPr>
              <a:t> and decrease the remaining exponent by 1. We do the same for 3x, but decreasing the exponent of x gets rid of it. 45 is a constant and is removed.</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f’(x) = 18x</a:t>
            </a:r>
            <a:r>
              <a:rPr baseline="30000" lang="en" sz="1200">
                <a:latin typeface="Calibri"/>
                <a:ea typeface="Calibri"/>
                <a:cs typeface="Calibri"/>
                <a:sym typeface="Calibri"/>
              </a:rPr>
              <a:t>2</a:t>
            </a:r>
            <a:r>
              <a:rPr lang="en" sz="1200">
                <a:latin typeface="Calibri"/>
                <a:ea typeface="Calibri"/>
                <a:cs typeface="Calibri"/>
                <a:sym typeface="Calibri"/>
              </a:rPr>
              <a:t> - 3</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f(x) = (3 + 5x)</a:t>
            </a:r>
            <a:r>
              <a:rPr baseline="30000" lang="en" sz="1200">
                <a:latin typeface="Calibri"/>
                <a:ea typeface="Calibri"/>
                <a:cs typeface="Calibri"/>
                <a:sym typeface="Calibri"/>
              </a:rPr>
              <a:t>2</a:t>
            </a:r>
            <a:endParaRPr sz="1200">
              <a:latin typeface="Calibri"/>
              <a:ea typeface="Calibri"/>
              <a:cs typeface="Calibri"/>
              <a:sym typeface="Calibri"/>
            </a:endParaRPr>
          </a:p>
          <a:p>
            <a:pPr indent="-298450" lvl="0" marL="457200" rtl="0" algn="l">
              <a:spcBef>
                <a:spcPts val="0"/>
              </a:spcBef>
              <a:spcAft>
                <a:spcPts val="0"/>
              </a:spcAft>
              <a:buSzPts val="1100"/>
              <a:buAutoNum type="arabicPeriod"/>
            </a:pPr>
            <a:r>
              <a:rPr lang="en"/>
              <a:t>Rewrite</a:t>
            </a:r>
            <a:endParaRPr/>
          </a:p>
          <a:p>
            <a:pPr indent="0" lvl="0" marL="0" rtl="0" algn="l">
              <a:spcBef>
                <a:spcPts val="0"/>
              </a:spcBef>
              <a:spcAft>
                <a:spcPts val="0"/>
              </a:spcAft>
              <a:buNone/>
            </a:pPr>
            <a:r>
              <a:rPr lang="en"/>
              <a:t>f(x) = (3 + 5x)(3 - 5x) = 9 + 25x</a:t>
            </a:r>
            <a:r>
              <a:rPr baseline="30000" lang="en"/>
              <a:t>2</a:t>
            </a:r>
            <a:r>
              <a:rPr lang="en"/>
              <a:t> </a:t>
            </a:r>
            <a:endParaRPr/>
          </a:p>
          <a:p>
            <a:pPr indent="-298450" lvl="0" marL="457200" rtl="0" algn="l">
              <a:spcBef>
                <a:spcPts val="0"/>
              </a:spcBef>
              <a:spcAft>
                <a:spcPts val="0"/>
              </a:spcAft>
              <a:buSzPts val="1100"/>
              <a:buAutoNum type="arabicPeriod"/>
            </a:pPr>
            <a:r>
              <a:rPr lang="en"/>
              <a:t>9 is a constant and is removed. For 25x</a:t>
            </a:r>
            <a:r>
              <a:rPr baseline="30000" lang="en"/>
              <a:t>2</a:t>
            </a:r>
            <a:r>
              <a:rPr lang="en"/>
              <a:t>, multiple the exponent by the coefficient and subtract 1 from the exponent.</a:t>
            </a:r>
            <a:endParaRPr/>
          </a:p>
          <a:p>
            <a:pPr indent="0" lvl="0" marL="0" rtl="0" algn="l">
              <a:spcBef>
                <a:spcPts val="0"/>
              </a:spcBef>
              <a:spcAft>
                <a:spcPts val="0"/>
              </a:spcAft>
              <a:buNone/>
            </a:pPr>
            <a:r>
              <a:rPr lang="en"/>
              <a:t>f’(x) = 50x</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1cd635f86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1cd635f86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optimal model can be found by finding where the derivative is equal to 0. Essentially we’re solving the equation written at the bottom, which just means the derivative of the error function given only s and b, set to 0.</a:t>
            </a:r>
            <a:endParaRPr sz="1200">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1cd635f86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1cd635f86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Study this example well. Notice that, since the line starts at the origin, b = 0. If, for example, the y-intercept at 1, then b = 1.</a:t>
            </a:r>
            <a:endParaRPr sz="1200">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1cd635f86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1cd635f86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What we just did is the 2D version of this diagram. In the model space we only calculated with the parameter s because b = 0. Finding the derivative was finding the error surface, and where the error surface is is the optimal model/global minimum/ lowest error rate. </a:t>
            </a:r>
            <a:endParaRPr sz="1200">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1cd635f86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1cd635f86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So far we have found the optimal case by solving it analytically. In practice these functions are too complex and it is not so easy to find the derivative. Gradient descent is commonly done in practice and we will look at this later in the lecture. In the worst case you could try uninformed optimisation, which means randomly jumping through the model space and calculating error rates.</a:t>
            </a:r>
            <a:endParaRPr sz="1200">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1cd635f867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1cd635f867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Gradient descent is an algorithm which performs the same function as we did analytically, however it starts by choosing two random values for s and b. Then the derivative for this point is calculated and a next point is picked by moving a small step in the opposite direction of the gradient (steepest descent). The idea is to eventually arrive at the minimum.</a:t>
            </a:r>
            <a:endParaRPr sz="1200">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1cd635f867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1cd635f867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Gradient descent may never converge, meaning a minimum is never found. It is also possible to end up stuck in a local minimum. This can happen because, once you are in a local minimum, moving a small step in any direction will always yield a worse result. Thus, the algorithm does not move to any other spot.</a:t>
            </a:r>
            <a:endParaRPr sz="1200">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1cd635f867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1cd635f867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Another version, stochastic gradient descent, undergoes the same process but only uses one sample or a subset of the training data. You do not need to know the details of how it works, but gradient descent is a common practice in AI and it is very useful to be at least familiar with the process.</a:t>
            </a:r>
            <a:r>
              <a:rPr lang="en"/>
              <a:t>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1e4b6a710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1e4b6a710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3000"/>
              </a:lnSpc>
              <a:spcBef>
                <a:spcPts val="0"/>
              </a:spcBef>
              <a:spcAft>
                <a:spcPts val="0"/>
              </a:spcAft>
              <a:buClr>
                <a:schemeClr val="dk1"/>
              </a:buClr>
              <a:buSzPts val="1100"/>
              <a:buFont typeface="Arial"/>
              <a:buNone/>
            </a:pPr>
            <a:r>
              <a:rPr lang="en" sz="1200">
                <a:latin typeface="Calibri"/>
                <a:ea typeface="Calibri"/>
                <a:cs typeface="Calibri"/>
                <a:sym typeface="Calibri"/>
              </a:rPr>
              <a:t>Progress in the intelligent systems framework.</a:t>
            </a:r>
            <a:endParaRPr sz="1200">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80fda49e3d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280fda49e3d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3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ligent Systems" type="title">
  <p:cSld name="TITLE">
    <p:bg>
      <p:bgPr>
        <a:solidFill>
          <a:srgbClr val="1155CC"/>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62522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2500"/>
              <a:buFont typeface="Lato"/>
              <a:buNone/>
              <a:defRPr b="1">
                <a:solidFill>
                  <a:schemeClr val="lt1"/>
                </a:solidFill>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2350200" y="2604600"/>
            <a:ext cx="4443600" cy="544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C9DAF8"/>
              </a:buClr>
              <a:buSzPts val="2000"/>
              <a:buFont typeface="Lato"/>
              <a:buNone/>
              <a:defRPr sz="2000">
                <a:solidFill>
                  <a:srgbClr val="C9DAF8"/>
                </a:solidFill>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A4C2F4"/>
                </a:solidFill>
              </a:defRPr>
            </a:lvl1pPr>
            <a:lvl2pPr lvl="1">
              <a:buNone/>
              <a:defRPr>
                <a:solidFill>
                  <a:srgbClr val="A4C2F4"/>
                </a:solidFill>
              </a:defRPr>
            </a:lvl2pPr>
            <a:lvl3pPr lvl="2">
              <a:buNone/>
              <a:defRPr>
                <a:solidFill>
                  <a:srgbClr val="A4C2F4"/>
                </a:solidFill>
              </a:defRPr>
            </a:lvl3pPr>
            <a:lvl4pPr lvl="3">
              <a:buNone/>
              <a:defRPr>
                <a:solidFill>
                  <a:srgbClr val="A4C2F4"/>
                </a:solidFill>
              </a:defRPr>
            </a:lvl4pPr>
            <a:lvl5pPr lvl="4">
              <a:buNone/>
              <a:defRPr>
                <a:solidFill>
                  <a:srgbClr val="A4C2F4"/>
                </a:solidFill>
              </a:defRPr>
            </a:lvl5pPr>
            <a:lvl6pPr lvl="5">
              <a:buNone/>
              <a:defRPr>
                <a:solidFill>
                  <a:srgbClr val="A4C2F4"/>
                </a:solidFill>
              </a:defRPr>
            </a:lvl6pPr>
            <a:lvl7pPr lvl="6">
              <a:buNone/>
              <a:defRPr>
                <a:solidFill>
                  <a:srgbClr val="A4C2F4"/>
                </a:solidFill>
              </a:defRPr>
            </a:lvl7pPr>
            <a:lvl8pPr lvl="7">
              <a:buNone/>
              <a:defRPr>
                <a:solidFill>
                  <a:srgbClr val="A4C2F4"/>
                </a:solidFill>
              </a:defRPr>
            </a:lvl8pPr>
            <a:lvl9pPr lvl="8">
              <a:buNone/>
              <a:defRPr>
                <a:solidFill>
                  <a:srgbClr val="A4C2F4"/>
                </a:solidFill>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txBox="1"/>
          <p:nvPr/>
        </p:nvSpPr>
        <p:spPr>
          <a:xfrm>
            <a:off x="2933250" y="4299850"/>
            <a:ext cx="3277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6D9EEB"/>
                </a:solidFill>
                <a:latin typeface="Calibri"/>
                <a:ea typeface="Calibri"/>
                <a:cs typeface="Calibri"/>
                <a:sym typeface="Calibri"/>
              </a:rPr>
              <a:t>Intelligent Systems</a:t>
            </a:r>
            <a:endParaRPr sz="1700">
              <a:solidFill>
                <a:srgbClr val="6D9EEB"/>
              </a:solidFill>
              <a:latin typeface="Calibri"/>
              <a:ea typeface="Calibri"/>
              <a:cs typeface="Calibri"/>
              <a:sym typeface="Calibri"/>
            </a:endParaRPr>
          </a:p>
          <a:p>
            <a:pPr indent="0" lvl="0" marL="0" rtl="0" algn="ctr">
              <a:spcBef>
                <a:spcPts val="0"/>
              </a:spcBef>
              <a:spcAft>
                <a:spcPts val="0"/>
              </a:spcAft>
              <a:buNone/>
            </a:pPr>
            <a:r>
              <a:rPr lang="en" sz="1600">
                <a:solidFill>
                  <a:srgbClr val="6D9EEB"/>
                </a:solidFill>
                <a:latin typeface="Calibri"/>
                <a:ea typeface="Calibri"/>
                <a:cs typeface="Calibri"/>
                <a:sym typeface="Calibri"/>
              </a:rPr>
              <a:t>Vrije Universiteit</a:t>
            </a:r>
            <a:endParaRPr sz="1600">
              <a:solidFill>
                <a:srgbClr val="6D9EEB"/>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1155CC"/>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C9DAF8"/>
              </a:buClr>
              <a:buSzPts val="2000"/>
              <a:buFont typeface="Lato"/>
              <a:buNone/>
              <a:defRPr sz="2000">
                <a:solidFill>
                  <a:srgbClr val="C9DAF8"/>
                </a:solidFill>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A4C2F4"/>
                </a:solidFill>
              </a:defRPr>
            </a:lvl1pPr>
            <a:lvl2pPr lvl="1">
              <a:buNone/>
              <a:defRPr>
                <a:solidFill>
                  <a:srgbClr val="A4C2F4"/>
                </a:solidFill>
              </a:defRPr>
            </a:lvl2pPr>
            <a:lvl3pPr lvl="2">
              <a:buNone/>
              <a:defRPr>
                <a:solidFill>
                  <a:srgbClr val="A4C2F4"/>
                </a:solidFill>
              </a:defRPr>
            </a:lvl3pPr>
            <a:lvl4pPr lvl="3">
              <a:buNone/>
              <a:defRPr>
                <a:solidFill>
                  <a:srgbClr val="A4C2F4"/>
                </a:solidFill>
              </a:defRPr>
            </a:lvl4pPr>
            <a:lvl5pPr lvl="4">
              <a:buNone/>
              <a:defRPr>
                <a:solidFill>
                  <a:srgbClr val="A4C2F4"/>
                </a:solidFill>
              </a:defRPr>
            </a:lvl5pPr>
            <a:lvl6pPr lvl="5">
              <a:buNone/>
              <a:defRPr>
                <a:solidFill>
                  <a:srgbClr val="A4C2F4"/>
                </a:solidFill>
              </a:defRPr>
            </a:lvl6pPr>
            <a:lvl7pPr lvl="6">
              <a:buNone/>
              <a:defRPr>
                <a:solidFill>
                  <a:srgbClr val="A4C2F4"/>
                </a:solidFill>
              </a:defRPr>
            </a:lvl7pPr>
            <a:lvl8pPr lvl="7">
              <a:buNone/>
              <a:defRPr>
                <a:solidFill>
                  <a:srgbClr val="A4C2F4"/>
                </a:solidFill>
              </a:defRPr>
            </a:lvl8pPr>
            <a:lvl9pPr lvl="8">
              <a:buNone/>
              <a:defRPr>
                <a:solidFill>
                  <a:srgbClr val="A4C2F4"/>
                </a:solidFill>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nvSpPr>
        <p:spPr>
          <a:xfrm>
            <a:off x="2933250" y="4299850"/>
            <a:ext cx="3277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6D9EEB"/>
                </a:solidFill>
                <a:latin typeface="Calibri"/>
                <a:ea typeface="Calibri"/>
                <a:cs typeface="Calibri"/>
                <a:sym typeface="Calibri"/>
              </a:rPr>
              <a:t>Intelligent Systems</a:t>
            </a:r>
            <a:endParaRPr sz="1700">
              <a:solidFill>
                <a:srgbClr val="6D9EEB"/>
              </a:solidFill>
              <a:latin typeface="Calibri"/>
              <a:ea typeface="Calibri"/>
              <a:cs typeface="Calibri"/>
              <a:sym typeface="Calibri"/>
            </a:endParaRPr>
          </a:p>
          <a:p>
            <a:pPr indent="0" lvl="0" marL="0" rtl="0" algn="ctr">
              <a:spcBef>
                <a:spcPts val="0"/>
              </a:spcBef>
              <a:spcAft>
                <a:spcPts val="0"/>
              </a:spcAft>
              <a:buNone/>
            </a:pPr>
            <a:r>
              <a:rPr lang="en" sz="1600">
                <a:solidFill>
                  <a:srgbClr val="6D9EEB"/>
                </a:solidFill>
                <a:latin typeface="Calibri"/>
                <a:ea typeface="Calibri"/>
                <a:cs typeface="Calibri"/>
                <a:sym typeface="Calibri"/>
              </a:rPr>
              <a:t>Vrije Universiteit</a:t>
            </a:r>
            <a:endParaRPr sz="1600">
              <a:solidFill>
                <a:srgbClr val="6D9EEB"/>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ligent Systems" type="tx">
  <p:cSld name="TITLE_AND_BODY">
    <p:spTree>
      <p:nvGrpSpPr>
        <p:cNvPr id="19" name="Shape 19"/>
        <p:cNvGrpSpPr/>
        <p:nvPr/>
      </p:nvGrpSpPr>
      <p:grpSpPr>
        <a:xfrm>
          <a:off x="0" y="0"/>
          <a:ext cx="0" cy="0"/>
          <a:chOff x="0" y="0"/>
          <a:chExt cx="0" cy="0"/>
        </a:xfrm>
      </p:grpSpPr>
      <p:sp>
        <p:nvSpPr>
          <p:cNvPr id="20" name="Google Shape;20;p4"/>
          <p:cNvSpPr/>
          <p:nvPr/>
        </p:nvSpPr>
        <p:spPr>
          <a:xfrm>
            <a:off x="0" y="247400"/>
            <a:ext cx="8409600" cy="6981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Lato"/>
              <a:buNone/>
              <a:defRPr sz="2200">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Calibri"/>
              <a:buChar char="●"/>
              <a:defRPr>
                <a:solidFill>
                  <a:schemeClr val="dk1"/>
                </a:solidFill>
                <a:latin typeface="Calibri"/>
                <a:ea typeface="Calibri"/>
                <a:cs typeface="Calibri"/>
                <a:sym typeface="Calibri"/>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1155CC"/>
                </a:solidFill>
              </a:defRPr>
            </a:lvl1pPr>
            <a:lvl2pPr lvl="1">
              <a:buNone/>
              <a:defRPr>
                <a:solidFill>
                  <a:srgbClr val="1155CC"/>
                </a:solidFill>
              </a:defRPr>
            </a:lvl2pPr>
            <a:lvl3pPr lvl="2">
              <a:buNone/>
              <a:defRPr>
                <a:solidFill>
                  <a:srgbClr val="1155CC"/>
                </a:solidFill>
              </a:defRPr>
            </a:lvl3pPr>
            <a:lvl4pPr lvl="3">
              <a:buNone/>
              <a:defRPr>
                <a:solidFill>
                  <a:srgbClr val="1155CC"/>
                </a:solidFill>
              </a:defRPr>
            </a:lvl4pPr>
            <a:lvl5pPr lvl="4">
              <a:buNone/>
              <a:defRPr>
                <a:solidFill>
                  <a:srgbClr val="1155CC"/>
                </a:solidFill>
              </a:defRPr>
            </a:lvl5pPr>
            <a:lvl6pPr lvl="5">
              <a:buNone/>
              <a:defRPr>
                <a:solidFill>
                  <a:srgbClr val="1155CC"/>
                </a:solidFill>
              </a:defRPr>
            </a:lvl6pPr>
            <a:lvl7pPr lvl="6">
              <a:buNone/>
              <a:defRPr>
                <a:solidFill>
                  <a:srgbClr val="1155CC"/>
                </a:solidFill>
              </a:defRPr>
            </a:lvl7pPr>
            <a:lvl8pPr lvl="7">
              <a:buNone/>
              <a:defRPr>
                <a:solidFill>
                  <a:srgbClr val="1155CC"/>
                </a:solidFill>
              </a:defRPr>
            </a:lvl8pPr>
            <a:lvl9pPr lvl="8">
              <a:buNone/>
              <a:defRPr>
                <a:solidFill>
                  <a:srgbClr val="1155CC"/>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100550" y="310100"/>
            <a:ext cx="81897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100550" y="310100"/>
            <a:ext cx="81897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57" name="Google Shape;57;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 name="Google Shape;58;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 name="Google Shape;59;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Calibri"/>
              <a:buChar char="●"/>
              <a:defRPr sz="1800">
                <a:solidFill>
                  <a:schemeClr val="dk1"/>
                </a:solidFill>
                <a:latin typeface="Calibri"/>
                <a:ea typeface="Calibri"/>
                <a:cs typeface="Calibri"/>
                <a:sym typeface="Calibri"/>
              </a:defRPr>
            </a:lvl1pPr>
            <a:lvl2pPr indent="-317500" lvl="1" marL="9144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2pPr>
            <a:lvl3pPr indent="-317500" lvl="2" marL="13716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3pPr>
            <a:lvl4pPr indent="-317500" lvl="3" marL="18288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4pPr>
            <a:lvl5pPr indent="-317500" lvl="4" marL="22860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5pPr>
            <a:lvl6pPr indent="-317500" lvl="5" marL="27432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6pPr>
            <a:lvl7pPr indent="-317500" lvl="6" marL="32004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7pPr>
            <a:lvl8pPr indent="-317500" lvl="7" marL="36576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8pPr>
            <a:lvl9pPr indent="-317500" lvl="8" marL="41148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9pPr>
          </a:lstStyle>
          <a:p/>
        </p:txBody>
      </p:sp>
      <p:sp>
        <p:nvSpPr>
          <p:cNvPr id="7" name="Google Shape;7;p1"/>
          <p:cNvSpPr/>
          <p:nvPr/>
        </p:nvSpPr>
        <p:spPr>
          <a:xfrm>
            <a:off x="0" y="247400"/>
            <a:ext cx="8409600" cy="6981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50" y="310100"/>
            <a:ext cx="81897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C9DAF8"/>
              </a:buClr>
              <a:buSzPts val="2500"/>
              <a:buNone/>
              <a:defRPr sz="2500">
                <a:solidFill>
                  <a:srgbClr val="C9DAF8"/>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 name="Google Shape;65;p14"/>
          <p:cNvSpPr txBox="1"/>
          <p:nvPr/>
        </p:nvSpPr>
        <p:spPr>
          <a:xfrm>
            <a:off x="311700" y="2047950"/>
            <a:ext cx="8520600" cy="1375800"/>
          </a:xfrm>
          <a:prstGeom prst="rect">
            <a:avLst/>
          </a:prstGeom>
          <a:noFill/>
          <a:ln>
            <a:noFill/>
          </a:ln>
        </p:spPr>
        <p:txBody>
          <a:bodyPr anchorCtr="0" anchor="b" bIns="91425" lIns="91425" spcFirstLastPara="1" rIns="91425" wrap="square" tIns="91425">
            <a:noAutofit/>
          </a:bodyPr>
          <a:lstStyle/>
          <a:p>
            <a:pPr indent="0" lvl="0" marL="0" rtl="0" algn="ctr">
              <a:lnSpc>
                <a:spcPct val="125000"/>
              </a:lnSpc>
              <a:spcBef>
                <a:spcPts val="0"/>
              </a:spcBef>
              <a:spcAft>
                <a:spcPts val="0"/>
              </a:spcAft>
              <a:buNone/>
            </a:pPr>
            <a:r>
              <a:rPr lang="en" sz="2100">
                <a:solidFill>
                  <a:srgbClr val="A4C2F4"/>
                </a:solidFill>
                <a:latin typeface="Lato"/>
                <a:ea typeface="Lato"/>
                <a:cs typeface="Lato"/>
                <a:sym typeface="Lato"/>
              </a:rPr>
              <a:t>Lecture 11</a:t>
            </a:r>
            <a:endParaRPr b="1" sz="2500">
              <a:solidFill>
                <a:srgbClr val="FFFFFF"/>
              </a:solidFill>
              <a:latin typeface="Lato"/>
              <a:ea typeface="Lato"/>
              <a:cs typeface="Lato"/>
              <a:sym typeface="Lato"/>
            </a:endParaRPr>
          </a:p>
          <a:p>
            <a:pPr indent="0" lvl="0" marL="0" rtl="0" algn="ctr">
              <a:spcBef>
                <a:spcPts val="0"/>
              </a:spcBef>
              <a:spcAft>
                <a:spcPts val="0"/>
              </a:spcAft>
              <a:buNone/>
            </a:pPr>
            <a:r>
              <a:rPr b="1" lang="en" sz="2500">
                <a:solidFill>
                  <a:srgbClr val="FFFFFF"/>
                </a:solidFill>
                <a:latin typeface="Lato"/>
                <a:ea typeface="Lato"/>
                <a:cs typeface="Lato"/>
                <a:sym typeface="Lato"/>
              </a:rPr>
              <a:t>Machine Learning 3</a:t>
            </a:r>
            <a:endParaRPr b="1" sz="2200">
              <a:solidFill>
                <a:srgbClr val="FFFFF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idx="1" type="body"/>
          </p:nvPr>
        </p:nvSpPr>
        <p:spPr>
          <a:xfrm>
            <a:off x="795500" y="1388750"/>
            <a:ext cx="5793000" cy="3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1155CC"/>
                </a:solidFill>
              </a:rPr>
              <a:t>1  </a:t>
            </a:r>
            <a:r>
              <a:rPr lang="en" sz="2200"/>
              <a:t>Recap</a:t>
            </a:r>
            <a:endParaRPr sz="2200"/>
          </a:p>
          <a:p>
            <a:pPr indent="0" lvl="0" marL="0" rtl="0" algn="l">
              <a:spcBef>
                <a:spcPts val="1200"/>
              </a:spcBef>
              <a:spcAft>
                <a:spcPts val="0"/>
              </a:spcAft>
              <a:buNone/>
            </a:pPr>
            <a:r>
              <a:rPr b="1" lang="en" sz="2200">
                <a:solidFill>
                  <a:srgbClr val="1155CC"/>
                </a:solidFill>
              </a:rPr>
              <a:t>2  </a:t>
            </a:r>
            <a:r>
              <a:rPr lang="en" sz="2200"/>
              <a:t>Model Class Selection</a:t>
            </a:r>
            <a:endParaRPr b="1" sz="2200">
              <a:solidFill>
                <a:srgbClr val="1155CC"/>
              </a:solidFill>
            </a:endParaRPr>
          </a:p>
          <a:p>
            <a:pPr indent="0" lvl="0" marL="0" rtl="0" algn="l">
              <a:spcBef>
                <a:spcPts val="1200"/>
              </a:spcBef>
              <a:spcAft>
                <a:spcPts val="0"/>
              </a:spcAft>
              <a:buNone/>
            </a:pPr>
            <a:r>
              <a:rPr b="1" lang="en" sz="2000">
                <a:solidFill>
                  <a:srgbClr val="1155CC"/>
                </a:solidFill>
              </a:rPr>
              <a:t>	2.1 </a:t>
            </a:r>
            <a:r>
              <a:rPr lang="en" sz="2000"/>
              <a:t>Model Class Selection for Regression</a:t>
            </a:r>
            <a:endParaRPr sz="2000"/>
          </a:p>
          <a:p>
            <a:pPr indent="0" lvl="0" marL="0" rtl="0" algn="l">
              <a:spcBef>
                <a:spcPts val="1200"/>
              </a:spcBef>
              <a:spcAft>
                <a:spcPts val="0"/>
              </a:spcAft>
              <a:buNone/>
            </a:pPr>
            <a:r>
              <a:rPr b="1" lang="en" sz="2000">
                <a:solidFill>
                  <a:srgbClr val="1155CC"/>
                </a:solidFill>
              </a:rPr>
              <a:t>	2.2 </a:t>
            </a:r>
            <a:r>
              <a:rPr lang="en" sz="2000"/>
              <a:t>Model Class Selection for Classification</a:t>
            </a:r>
            <a:endParaRPr b="1" sz="2000">
              <a:solidFill>
                <a:srgbClr val="1155CC"/>
              </a:solidFill>
            </a:endParaRPr>
          </a:p>
          <a:p>
            <a:pPr indent="0" lvl="0" marL="0" rtl="0" algn="l">
              <a:spcBef>
                <a:spcPts val="1200"/>
              </a:spcBef>
              <a:spcAft>
                <a:spcPts val="1200"/>
              </a:spcAft>
              <a:buClr>
                <a:schemeClr val="dk1"/>
              </a:buClr>
              <a:buSzPts val="1100"/>
              <a:buFont typeface="Arial"/>
              <a:buNone/>
            </a:pPr>
            <a:r>
              <a:rPr b="1" lang="en" sz="2000">
                <a:solidFill>
                  <a:srgbClr val="1155CC"/>
                </a:solidFill>
              </a:rPr>
              <a:t>	2.3 </a:t>
            </a:r>
            <a:r>
              <a:rPr lang="en" sz="2000"/>
              <a:t>Model Class Selection for Clustering</a:t>
            </a:r>
            <a:endParaRPr b="1" sz="2200">
              <a:solidFill>
                <a:srgbClr val="1155CC"/>
              </a:solidFill>
            </a:endParaRPr>
          </a:p>
        </p:txBody>
      </p:sp>
      <p:sp>
        <p:nvSpPr>
          <p:cNvPr id="71" name="Google Shape;71;p1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a:t>
            </a:r>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1: </a:t>
            </a:r>
            <a:r>
              <a:rPr lang="en">
                <a:solidFill>
                  <a:schemeClr val="lt1"/>
                </a:solidFill>
              </a:rPr>
              <a:t>Recap</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Machine Learning Recipe</a:t>
            </a:r>
            <a:endParaRPr/>
          </a:p>
        </p:txBody>
      </p:sp>
      <p:sp>
        <p:nvSpPr>
          <p:cNvPr id="84" name="Google Shape;84;p17"/>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AutoNum type="arabicPeriod"/>
            </a:pPr>
            <a:r>
              <a:rPr lang="en"/>
              <a:t>Choose the features</a:t>
            </a:r>
            <a:endParaRPr/>
          </a:p>
          <a:p>
            <a:pPr indent="0" lvl="0" marL="457200" rtl="0" algn="l">
              <a:lnSpc>
                <a:spcPct val="200000"/>
              </a:lnSpc>
              <a:spcBef>
                <a:spcPts val="0"/>
              </a:spcBef>
              <a:spcAft>
                <a:spcPts val="0"/>
              </a:spcAft>
              <a:buNone/>
            </a:pPr>
            <a:r>
              <a:rPr i="1" lang="en"/>
              <a:t>e.g. </a:t>
            </a:r>
            <a:r>
              <a:rPr lang="en"/>
              <a:t>for text: word occurrence, average </a:t>
            </a:r>
            <a:r>
              <a:rPr lang="en"/>
              <a:t>sentence</a:t>
            </a:r>
            <a:r>
              <a:rPr lang="en"/>
              <a:t> length</a:t>
            </a:r>
            <a:endParaRPr/>
          </a:p>
          <a:p>
            <a:pPr indent="-342900" lvl="0" marL="457200" rtl="0" algn="l">
              <a:lnSpc>
                <a:spcPct val="200000"/>
              </a:lnSpc>
              <a:spcBef>
                <a:spcPts val="1200"/>
              </a:spcBef>
              <a:spcAft>
                <a:spcPts val="0"/>
              </a:spcAft>
              <a:buSzPts val="1800"/>
              <a:buAutoNum type="arabicPeriod"/>
            </a:pPr>
            <a:r>
              <a:rPr b="1" lang="en"/>
              <a:t>Choose the model class</a:t>
            </a:r>
            <a:endParaRPr b="1"/>
          </a:p>
          <a:p>
            <a:pPr indent="-342900" lvl="0" marL="457200" rtl="0" algn="l">
              <a:lnSpc>
                <a:spcPct val="200000"/>
              </a:lnSpc>
              <a:spcBef>
                <a:spcPts val="0"/>
              </a:spcBef>
              <a:spcAft>
                <a:spcPts val="0"/>
              </a:spcAft>
              <a:buSzPts val="1800"/>
              <a:buAutoNum type="arabicPeriod"/>
            </a:pPr>
            <a:r>
              <a:rPr lang="en"/>
              <a:t>Choose a search method</a:t>
            </a:r>
            <a:endParaRPr/>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Features Revisited</a:t>
            </a:r>
            <a:endParaRPr/>
          </a:p>
        </p:txBody>
      </p:sp>
      <p:sp>
        <p:nvSpPr>
          <p:cNvPr id="91" name="Google Shape;91;p18"/>
          <p:cNvSpPr txBox="1"/>
          <p:nvPr>
            <p:ph idx="1" type="body"/>
          </p:nvPr>
        </p:nvSpPr>
        <p:spPr>
          <a:xfrm>
            <a:off x="3891575" y="1165325"/>
            <a:ext cx="451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Features are characteristics of data that are </a:t>
            </a:r>
            <a:r>
              <a:rPr i="1" lang="en"/>
              <a:t>generic</a:t>
            </a:r>
            <a:r>
              <a:rPr lang="en"/>
              <a:t>; the way we think of features makes ML domain and problem independent.</a:t>
            </a:r>
            <a:endParaRPr sz="1700"/>
          </a:p>
        </p:txBody>
      </p:sp>
      <p:pic>
        <p:nvPicPr>
          <p:cNvPr descr="Generating Piano Music with Dilated Convolutional Neural Networks | by  Thomas Angsten | Towards Data Science" id="92" name="Google Shape;92;p18"/>
          <p:cNvPicPr preferRelativeResize="0"/>
          <p:nvPr/>
        </p:nvPicPr>
        <p:blipFill rotWithShape="1">
          <a:blip r:embed="rId3">
            <a:alphaModFix/>
          </a:blip>
          <a:srcRect b="0" l="0" r="0" t="0"/>
          <a:stretch/>
        </p:blipFill>
        <p:spPr>
          <a:xfrm>
            <a:off x="3755073" y="2404399"/>
            <a:ext cx="3002250" cy="1667925"/>
          </a:xfrm>
          <a:prstGeom prst="rect">
            <a:avLst/>
          </a:prstGeom>
          <a:noFill/>
          <a:ln>
            <a:noFill/>
          </a:ln>
        </p:spPr>
      </p:pic>
      <p:pic>
        <p:nvPicPr>
          <p:cNvPr descr="Image" id="93" name="Google Shape;93;p18"/>
          <p:cNvPicPr preferRelativeResize="0"/>
          <p:nvPr/>
        </p:nvPicPr>
        <p:blipFill rotWithShape="1">
          <a:blip r:embed="rId4">
            <a:alphaModFix/>
          </a:blip>
          <a:srcRect b="15016" l="0" r="0" t="4506"/>
          <a:stretch/>
        </p:blipFill>
        <p:spPr>
          <a:xfrm>
            <a:off x="6328750" y="3122825"/>
            <a:ext cx="2675775" cy="1907575"/>
          </a:xfrm>
          <a:prstGeom prst="rect">
            <a:avLst/>
          </a:prstGeom>
          <a:noFill/>
          <a:ln>
            <a:noFill/>
          </a:ln>
        </p:spPr>
      </p:pic>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95" name="Google Shape;95;p18"/>
          <p:cNvGraphicFramePr/>
          <p:nvPr/>
        </p:nvGraphicFramePr>
        <p:xfrm>
          <a:off x="851743" y="1785585"/>
          <a:ext cx="3000000" cy="3000000"/>
        </p:xfrm>
        <a:graphic>
          <a:graphicData uri="http://schemas.openxmlformats.org/drawingml/2006/table">
            <a:tbl>
              <a:tblPr>
                <a:noFill/>
                <a:tableStyleId>{2D2545A6-D6F3-4E68-B07B-D8FF41F22015}</a:tableStyleId>
              </a:tblPr>
              <a:tblGrid>
                <a:gridCol w="1018575"/>
                <a:gridCol w="1018575"/>
                <a:gridCol w="1018575"/>
              </a:tblGrid>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105</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110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8</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9</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11</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124</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8</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9</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132</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bl>
          </a:graphicData>
        </a:graphic>
      </p:graphicFrame>
      <p:sp>
        <p:nvSpPr>
          <p:cNvPr id="96" name="Google Shape;96;p18"/>
          <p:cNvSpPr txBox="1"/>
          <p:nvPr/>
        </p:nvSpPr>
        <p:spPr>
          <a:xfrm>
            <a:off x="934575" y="1024050"/>
            <a:ext cx="847200" cy="7359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tree </a:t>
            </a:r>
            <a:r>
              <a:rPr b="0" i="0" lang="en" sz="1700" u="none" cap="none" strike="noStrike">
                <a:solidFill>
                  <a:srgbClr val="007ACA"/>
                </a:solidFill>
                <a:latin typeface="Short Stack"/>
                <a:ea typeface="Short Stack"/>
                <a:cs typeface="Short Stack"/>
                <a:sym typeface="Short Stack"/>
              </a:rPr>
              <a:t>age</a:t>
            </a:r>
            <a:endParaRPr b="0" i="0" sz="300" u="none" cap="none" strike="noStrike">
              <a:solidFill>
                <a:srgbClr val="000000"/>
              </a:solidFill>
              <a:latin typeface="Calibri"/>
              <a:ea typeface="Calibri"/>
              <a:cs typeface="Calibri"/>
              <a:sym typeface="Calibri"/>
            </a:endParaRPr>
          </a:p>
        </p:txBody>
      </p:sp>
      <p:sp>
        <p:nvSpPr>
          <p:cNvPr id="97" name="Google Shape;97;p18"/>
          <p:cNvSpPr txBox="1"/>
          <p:nvPr/>
        </p:nvSpPr>
        <p:spPr>
          <a:xfrm>
            <a:off x="1937101" y="1186475"/>
            <a:ext cx="885000" cy="4512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tree </a:t>
            </a:r>
            <a:r>
              <a:rPr b="0" i="0" lang="en" sz="1700" u="none" cap="none" strike="noStrike">
                <a:solidFill>
                  <a:srgbClr val="007ACA"/>
                </a:solidFill>
                <a:latin typeface="Short Stack"/>
                <a:ea typeface="Short Stack"/>
                <a:cs typeface="Short Stack"/>
                <a:sym typeface="Short Stack"/>
              </a:rPr>
              <a:t>height</a:t>
            </a:r>
            <a:endParaRPr b="0" i="0" sz="300" u="none" cap="none" strike="noStrike">
              <a:solidFill>
                <a:srgbClr val="000000"/>
              </a:solidFill>
              <a:latin typeface="Calibri"/>
              <a:ea typeface="Calibri"/>
              <a:cs typeface="Calibri"/>
              <a:sym typeface="Calibri"/>
            </a:endParaRPr>
          </a:p>
        </p:txBody>
      </p:sp>
      <p:sp>
        <p:nvSpPr>
          <p:cNvPr id="98" name="Google Shape;98;p18"/>
          <p:cNvSpPr txBox="1"/>
          <p:nvPr/>
        </p:nvSpPr>
        <p:spPr>
          <a:xfrm>
            <a:off x="2927176" y="1166388"/>
            <a:ext cx="885000" cy="4512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label </a:t>
            </a:r>
            <a:r>
              <a:rPr lang="en" sz="1300">
                <a:solidFill>
                  <a:srgbClr val="007ACA"/>
                </a:solidFill>
                <a:latin typeface="Short Stack"/>
                <a:ea typeface="Short Stack"/>
                <a:cs typeface="Short Stack"/>
                <a:sym typeface="Short Stack"/>
              </a:rPr>
              <a:t>(class)</a:t>
            </a:r>
            <a:endParaRPr b="0" i="0" sz="1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2: </a:t>
            </a:r>
            <a:r>
              <a:rPr lang="en">
                <a:solidFill>
                  <a:schemeClr val="lt1"/>
                </a:solidFill>
              </a:rPr>
              <a:t>Model Class Selection for Classification</a:t>
            </a:r>
            <a:endParaRPr>
              <a:solidFill>
                <a:schemeClr val="lt1"/>
              </a:solidFill>
            </a:endParaRPr>
          </a:p>
        </p:txBody>
      </p:sp>
      <p:sp>
        <p:nvSpPr>
          <p:cNvPr id="104" name="Google Shape;10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Classification</a:t>
            </a:r>
            <a:endParaRPr/>
          </a:p>
        </p:txBody>
      </p:sp>
      <p:sp>
        <p:nvSpPr>
          <p:cNvPr id="110" name="Google Shape;110;p20"/>
          <p:cNvSpPr txBox="1"/>
          <p:nvPr>
            <p:ph idx="1" type="body"/>
          </p:nvPr>
        </p:nvSpPr>
        <p:spPr>
          <a:xfrm>
            <a:off x="699350" y="1317725"/>
            <a:ext cx="2151600" cy="50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Recall our features</a:t>
            </a:r>
            <a:endParaRPr/>
          </a:p>
        </p:txBody>
      </p:sp>
      <p:sp>
        <p:nvSpPr>
          <p:cNvPr id="111" name="Google Shape;111;p20"/>
          <p:cNvSpPr txBox="1"/>
          <p:nvPr/>
        </p:nvSpPr>
        <p:spPr>
          <a:xfrm>
            <a:off x="4041450" y="1346825"/>
            <a:ext cx="4679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Option A: classify linearly (with a straight line)</a:t>
            </a:r>
            <a:endParaRPr sz="1700">
              <a:latin typeface="Calibri"/>
              <a:ea typeface="Calibri"/>
              <a:cs typeface="Calibri"/>
              <a:sym typeface="Calibri"/>
            </a:endParaRPr>
          </a:p>
        </p:txBody>
      </p:sp>
      <p:pic>
        <p:nvPicPr>
          <p:cNvPr descr="linear.pdf" id="112" name="Google Shape;112;p20"/>
          <p:cNvPicPr preferRelativeResize="0"/>
          <p:nvPr/>
        </p:nvPicPr>
        <p:blipFill rotWithShape="1">
          <a:blip r:embed="rId3">
            <a:alphaModFix/>
          </a:blip>
          <a:srcRect b="0" l="0" r="12265" t="11071"/>
          <a:stretch/>
        </p:blipFill>
        <p:spPr>
          <a:xfrm>
            <a:off x="4456350" y="1943000"/>
            <a:ext cx="3616798" cy="3151275"/>
          </a:xfrm>
          <a:prstGeom prst="rect">
            <a:avLst/>
          </a:prstGeom>
          <a:noFill/>
          <a:ln>
            <a:noFill/>
          </a:ln>
        </p:spPr>
      </p:pic>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4" name="Google Shape;114;p20"/>
          <p:cNvGraphicFramePr/>
          <p:nvPr/>
        </p:nvGraphicFramePr>
        <p:xfrm>
          <a:off x="699343" y="2704535"/>
          <a:ext cx="3000000" cy="3000000"/>
        </p:xfrm>
        <a:graphic>
          <a:graphicData uri="http://schemas.openxmlformats.org/drawingml/2006/table">
            <a:tbl>
              <a:tblPr>
                <a:noFill/>
                <a:tableStyleId>{2D2545A6-D6F3-4E68-B07B-D8FF41F22015}</a:tableStyleId>
              </a:tblPr>
              <a:tblGrid>
                <a:gridCol w="1018575"/>
                <a:gridCol w="1018575"/>
                <a:gridCol w="1018575"/>
              </a:tblGrid>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105</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110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8</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9</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11</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124</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127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7</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8</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130</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9</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132</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healthy</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u="none" cap="none" strike="noStrike">
                          <a:latin typeface="Calibri"/>
                          <a:ea typeface="Calibri"/>
                          <a:cs typeface="Calibri"/>
                          <a:sym typeface="Calibri"/>
                        </a:rPr>
                        <a:t>133</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Clr>
                          <a:srgbClr val="DD4800"/>
                        </a:buClr>
                        <a:buSzPts val="1700"/>
                        <a:buFont typeface="Calibri"/>
                        <a:buNone/>
                      </a:pPr>
                      <a:r>
                        <a:rPr b="1" lang="en" sz="1200">
                          <a:solidFill>
                            <a:srgbClr val="DD4800"/>
                          </a:solidFill>
                          <a:latin typeface="Calibri"/>
                          <a:ea typeface="Calibri"/>
                          <a:cs typeface="Calibri"/>
                          <a:sym typeface="Calibri"/>
                        </a:rPr>
                        <a:t>sick</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r h="239450">
                <a:tc>
                  <a:txBody>
                    <a:bodyPr/>
                    <a:lstStyle/>
                    <a:p>
                      <a:pPr indent="0" lvl="0" marL="0" marR="0" rtl="0" algn="ctr">
                        <a:lnSpc>
                          <a:spcPct val="100000"/>
                        </a:lnSpc>
                        <a:spcBef>
                          <a:spcPts val="0"/>
                        </a:spcBef>
                        <a:spcAft>
                          <a:spcPts val="0"/>
                        </a:spcAft>
                        <a:buClr>
                          <a:srgbClr val="000000"/>
                        </a:buClr>
                        <a:buSzPts val="1700"/>
                        <a:buFont typeface="Calibri"/>
                        <a:buNone/>
                      </a:pPr>
                      <a:r>
                        <a:rPr b="1" lang="en" sz="1200">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700"/>
                        <a:buFont typeface="Calibri"/>
                        <a:buNone/>
                      </a:pPr>
                      <a:r>
                        <a:rPr b="1" lang="en" sz="1200">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7ACA"/>
                        </a:buClr>
                        <a:buSzPts val="1700"/>
                        <a:buFont typeface="Calibri"/>
                        <a:buNone/>
                      </a:pPr>
                      <a:r>
                        <a:rPr b="1" lang="en" sz="1200">
                          <a:solidFill>
                            <a:srgbClr val="007ACA"/>
                          </a:solidFill>
                          <a:latin typeface="Calibri"/>
                          <a:ea typeface="Calibri"/>
                          <a:cs typeface="Calibri"/>
                          <a:sym typeface="Calibri"/>
                        </a:rPr>
                        <a:t>…</a:t>
                      </a:r>
                      <a:endParaRPr sz="12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r>
            </a:tbl>
          </a:graphicData>
        </a:graphic>
      </p:graphicFrame>
      <p:sp>
        <p:nvSpPr>
          <p:cNvPr id="115" name="Google Shape;115;p20"/>
          <p:cNvSpPr txBox="1"/>
          <p:nvPr/>
        </p:nvSpPr>
        <p:spPr>
          <a:xfrm>
            <a:off x="782175" y="1943000"/>
            <a:ext cx="847200" cy="7359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tree </a:t>
            </a:r>
            <a:r>
              <a:rPr b="0" i="0" lang="en" sz="1700" u="none" cap="none" strike="noStrike">
                <a:solidFill>
                  <a:srgbClr val="007ACA"/>
                </a:solidFill>
                <a:latin typeface="Short Stack"/>
                <a:ea typeface="Short Stack"/>
                <a:cs typeface="Short Stack"/>
                <a:sym typeface="Short Stack"/>
              </a:rPr>
              <a:t>age</a:t>
            </a:r>
            <a:endParaRPr b="0" i="0" sz="300" u="none" cap="none" strike="noStrike">
              <a:solidFill>
                <a:srgbClr val="000000"/>
              </a:solidFill>
              <a:latin typeface="Calibri"/>
              <a:ea typeface="Calibri"/>
              <a:cs typeface="Calibri"/>
              <a:sym typeface="Calibri"/>
            </a:endParaRPr>
          </a:p>
        </p:txBody>
      </p:sp>
      <p:sp>
        <p:nvSpPr>
          <p:cNvPr id="116" name="Google Shape;116;p20"/>
          <p:cNvSpPr txBox="1"/>
          <p:nvPr/>
        </p:nvSpPr>
        <p:spPr>
          <a:xfrm>
            <a:off x="1784701" y="2105425"/>
            <a:ext cx="885000" cy="4512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tree </a:t>
            </a:r>
            <a:r>
              <a:rPr b="0" i="0" lang="en" sz="1700" u="none" cap="none" strike="noStrike">
                <a:solidFill>
                  <a:srgbClr val="007ACA"/>
                </a:solidFill>
                <a:latin typeface="Short Stack"/>
                <a:ea typeface="Short Stack"/>
                <a:cs typeface="Short Stack"/>
                <a:sym typeface="Short Stack"/>
              </a:rPr>
              <a:t>height</a:t>
            </a:r>
            <a:endParaRPr b="0" i="0" sz="300" u="none" cap="none" strike="noStrike">
              <a:solidFill>
                <a:srgbClr val="000000"/>
              </a:solidFill>
              <a:latin typeface="Calibri"/>
              <a:ea typeface="Calibri"/>
              <a:cs typeface="Calibri"/>
              <a:sym typeface="Calibri"/>
            </a:endParaRPr>
          </a:p>
        </p:txBody>
      </p:sp>
      <p:sp>
        <p:nvSpPr>
          <p:cNvPr id="117" name="Google Shape;117;p20"/>
          <p:cNvSpPr txBox="1"/>
          <p:nvPr/>
        </p:nvSpPr>
        <p:spPr>
          <a:xfrm>
            <a:off x="2774776" y="2085338"/>
            <a:ext cx="885000" cy="451200"/>
          </a:xfrm>
          <a:prstGeom prst="rect">
            <a:avLst/>
          </a:prstGeom>
          <a:noFill/>
          <a:ln>
            <a:noFill/>
          </a:ln>
        </p:spPr>
        <p:txBody>
          <a:bodyPr anchorCtr="0" anchor="ctr" bIns="35700" lIns="35700" spcFirstLastPara="1" rIns="35700" wrap="square" tIns="35700">
            <a:noAutofit/>
          </a:bodyPr>
          <a:lstStyle/>
          <a:p>
            <a:pPr indent="0" lvl="0" marL="0" marR="0" rtl="0" algn="ctr">
              <a:lnSpc>
                <a:spcPct val="120000"/>
              </a:lnSpc>
              <a:spcBef>
                <a:spcPts val="0"/>
              </a:spcBef>
              <a:spcAft>
                <a:spcPts val="0"/>
              </a:spcAft>
              <a:buClr>
                <a:srgbClr val="007ACA"/>
              </a:buClr>
              <a:buSzPts val="2700"/>
              <a:buFont typeface="Short Stack"/>
              <a:buNone/>
            </a:pPr>
            <a:r>
              <a:rPr lang="en" sz="1700">
                <a:solidFill>
                  <a:srgbClr val="007ACA"/>
                </a:solidFill>
                <a:latin typeface="Short Stack"/>
                <a:ea typeface="Short Stack"/>
                <a:cs typeface="Short Stack"/>
                <a:sym typeface="Short Stack"/>
              </a:rPr>
              <a:t>label </a:t>
            </a:r>
            <a:r>
              <a:rPr lang="en" sz="1300">
                <a:solidFill>
                  <a:srgbClr val="007ACA"/>
                </a:solidFill>
                <a:latin typeface="Short Stack"/>
                <a:ea typeface="Short Stack"/>
                <a:cs typeface="Short Stack"/>
                <a:sym typeface="Short Stack"/>
              </a:rPr>
              <a:t>(class)</a:t>
            </a:r>
            <a:endParaRPr b="0" i="0" sz="1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Class and Model Selection for Classification</a:t>
            </a:r>
            <a:endParaRPr/>
          </a:p>
        </p:txBody>
      </p:sp>
      <p:sp>
        <p:nvSpPr>
          <p:cNvPr id="123" name="Google Shape;123;p21"/>
          <p:cNvSpPr txBox="1"/>
          <p:nvPr>
            <p:ph idx="1" type="body"/>
          </p:nvPr>
        </p:nvSpPr>
        <p:spPr>
          <a:xfrm>
            <a:off x="699350" y="1165325"/>
            <a:ext cx="7710300" cy="46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Options B, C, D, … : define higher dimensions (= more columns in the table) </a:t>
            </a:r>
            <a:endParaRPr>
              <a:solidFill>
                <a:srgbClr val="1155CC"/>
              </a:solidFill>
            </a:endParaRPr>
          </a:p>
        </p:txBody>
      </p:sp>
      <p:pic>
        <p:nvPicPr>
          <p:cNvPr descr="Image" id="124" name="Google Shape;124;p21"/>
          <p:cNvPicPr preferRelativeResize="0"/>
          <p:nvPr/>
        </p:nvPicPr>
        <p:blipFill rotWithShape="1">
          <a:blip r:embed="rId3">
            <a:alphaModFix/>
          </a:blip>
          <a:srcRect b="40266" l="0" r="8164" t="0"/>
          <a:stretch/>
        </p:blipFill>
        <p:spPr>
          <a:xfrm>
            <a:off x="2136850" y="1721950"/>
            <a:ext cx="5160249" cy="1743975"/>
          </a:xfrm>
          <a:prstGeom prst="rect">
            <a:avLst/>
          </a:prstGeom>
          <a:noFill/>
          <a:ln>
            <a:noFill/>
          </a:ln>
        </p:spPr>
      </p:pic>
      <p:sp>
        <p:nvSpPr>
          <p:cNvPr id="125" name="Google Shape;125;p21"/>
          <p:cNvSpPr txBox="1"/>
          <p:nvPr/>
        </p:nvSpPr>
        <p:spPr>
          <a:xfrm>
            <a:off x="761763" y="3386475"/>
            <a:ext cx="77103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Instance x</a:t>
            </a:r>
            <a:r>
              <a:rPr baseline="-25000" lang="en">
                <a:solidFill>
                  <a:schemeClr val="dk1"/>
                </a:solidFill>
                <a:latin typeface="Open Sans"/>
                <a:ea typeface="Open Sans"/>
                <a:cs typeface="Open Sans"/>
                <a:sym typeface="Open Sans"/>
              </a:rPr>
              <a:t>1</a:t>
            </a:r>
            <a:r>
              <a:rPr lang="en">
                <a:solidFill>
                  <a:schemeClr val="dk1"/>
                </a:solidFill>
                <a:latin typeface="Open Sans"/>
                <a:ea typeface="Open Sans"/>
                <a:cs typeface="Open Sans"/>
                <a:sym typeface="Open Sans"/>
              </a:rPr>
              <a:t>, x</a:t>
            </a:r>
            <a:r>
              <a:rPr baseline="-25000" lang="en">
                <a:solidFill>
                  <a:schemeClr val="dk1"/>
                </a:solidFill>
                <a:latin typeface="Open Sans"/>
                <a:ea typeface="Open Sans"/>
                <a:cs typeface="Open Sans"/>
                <a:sym typeface="Open Sans"/>
              </a:rPr>
              <a:t>2</a:t>
            </a:r>
            <a:r>
              <a:rPr lang="en">
                <a:solidFill>
                  <a:schemeClr val="dk1"/>
                </a:solidFill>
                <a:latin typeface="Open Sans"/>
                <a:ea typeface="Open Sans"/>
                <a:cs typeface="Open Sans"/>
                <a:sym typeface="Open Sans"/>
              </a:rPr>
              <a:t>, x</a:t>
            </a:r>
            <a:r>
              <a:rPr baseline="-25000" lang="en">
                <a:solidFill>
                  <a:schemeClr val="dk1"/>
                </a:solidFill>
                <a:latin typeface="Open Sans"/>
                <a:ea typeface="Open Sans"/>
                <a:cs typeface="Open Sans"/>
                <a:sym typeface="Open Sans"/>
              </a:rPr>
              <a:t>3</a:t>
            </a:r>
            <a:r>
              <a:rPr lang="en">
                <a:solidFill>
                  <a:schemeClr val="dk1"/>
                </a:solidFill>
                <a:latin typeface="Open Sans"/>
                <a:ea typeface="Open Sans"/>
                <a:cs typeface="Open Sans"/>
                <a:sym typeface="Open Sans"/>
              </a:rPr>
              <a:t>, x</a:t>
            </a:r>
            <a:r>
              <a:rPr baseline="-25000"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None/>
            </a:pP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                    Healthy       if </a:t>
            </a:r>
            <a:r>
              <a:rPr lang="en">
                <a:solidFill>
                  <a:srgbClr val="DD4800"/>
                </a:solidFill>
                <a:latin typeface="Open Sans"/>
                <a:ea typeface="Open Sans"/>
                <a:cs typeface="Open Sans"/>
                <a:sym typeface="Open Sans"/>
              </a:rPr>
              <a:t>a</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1</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b</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2</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c</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3</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d</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e</a:t>
            </a:r>
            <a:r>
              <a:rPr lang="en">
                <a:solidFill>
                  <a:schemeClr val="dk1"/>
                </a:solidFill>
                <a:latin typeface="Open Sans"/>
                <a:ea typeface="Open Sans"/>
                <a:cs typeface="Open Sans"/>
                <a:sym typeface="Open Sans"/>
              </a:rPr>
              <a:t> &gt; 0</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                    Sick              if </a:t>
            </a:r>
            <a:r>
              <a:rPr lang="en">
                <a:solidFill>
                  <a:srgbClr val="DD4800"/>
                </a:solidFill>
                <a:latin typeface="Open Sans"/>
                <a:ea typeface="Open Sans"/>
                <a:cs typeface="Open Sans"/>
                <a:sym typeface="Open Sans"/>
              </a:rPr>
              <a:t>a</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1</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b</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2</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c</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3</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d</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e</a:t>
            </a:r>
            <a:r>
              <a:rPr lang="en">
                <a:solidFill>
                  <a:schemeClr val="dk1"/>
                </a:solidFill>
                <a:latin typeface="Open Sans"/>
                <a:ea typeface="Open Sans"/>
                <a:cs typeface="Open Sans"/>
                <a:sym typeface="Open Sans"/>
              </a:rPr>
              <a:t> &lt; 0</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                    Undecided  if </a:t>
            </a:r>
            <a:r>
              <a:rPr lang="en">
                <a:solidFill>
                  <a:srgbClr val="DD4800"/>
                </a:solidFill>
                <a:latin typeface="Open Sans"/>
                <a:ea typeface="Open Sans"/>
                <a:cs typeface="Open Sans"/>
                <a:sym typeface="Open Sans"/>
              </a:rPr>
              <a:t>a</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1</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b</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2</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c</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3</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d</a:t>
            </a:r>
            <a:r>
              <a:rPr lang="en">
                <a:solidFill>
                  <a:schemeClr val="dk1"/>
                </a:solidFill>
                <a:latin typeface="Open Sans"/>
                <a:ea typeface="Open Sans"/>
                <a:cs typeface="Open Sans"/>
                <a:sym typeface="Open Sans"/>
              </a:rPr>
              <a:t>x</a:t>
            </a:r>
            <a:r>
              <a:rPr baseline="-25000"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 </a:t>
            </a:r>
            <a:r>
              <a:rPr lang="en">
                <a:solidFill>
                  <a:srgbClr val="DD4800"/>
                </a:solidFill>
                <a:latin typeface="Open Sans"/>
                <a:ea typeface="Open Sans"/>
                <a:cs typeface="Open Sans"/>
                <a:sym typeface="Open Sans"/>
              </a:rPr>
              <a:t>e</a:t>
            </a:r>
            <a:r>
              <a:rPr lang="en">
                <a:solidFill>
                  <a:schemeClr val="dk1"/>
                </a:solidFill>
                <a:latin typeface="Open Sans"/>
                <a:ea typeface="Open Sans"/>
                <a:cs typeface="Open Sans"/>
                <a:sym typeface="Open Sans"/>
              </a:rPr>
              <a:t> = 0</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We need to find the parameters </a:t>
            </a:r>
            <a:r>
              <a:rPr lang="en">
                <a:solidFill>
                  <a:srgbClr val="DD4800"/>
                </a:solidFill>
                <a:latin typeface="Open Sans"/>
                <a:ea typeface="Open Sans"/>
                <a:cs typeface="Open Sans"/>
                <a:sym typeface="Open Sans"/>
              </a:rPr>
              <a:t>a, b, c, d, e</a:t>
            </a:r>
            <a:r>
              <a:rPr lang="en">
                <a:solidFill>
                  <a:schemeClr val="dk1"/>
                </a:solidFill>
                <a:latin typeface="Open Sans"/>
                <a:ea typeface="Open Sans"/>
                <a:cs typeface="Open Sans"/>
                <a:sym typeface="Open Sans"/>
              </a:rPr>
              <a:t>.</a:t>
            </a:r>
            <a:endParaRPr sz="1000"/>
          </a:p>
        </p:txBody>
      </p:sp>
      <p:sp>
        <p:nvSpPr>
          <p:cNvPr id="126" name="Google Shape;12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Defining the Hyperplane</a:t>
            </a:r>
            <a:endParaRPr/>
          </a:p>
        </p:txBody>
      </p:sp>
      <p:sp>
        <p:nvSpPr>
          <p:cNvPr id="132" name="Google Shape;132;p22"/>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t>
            </a:r>
            <a:r>
              <a:rPr lang="en">
                <a:solidFill>
                  <a:srgbClr val="1155CC"/>
                </a:solidFill>
              </a:rPr>
              <a:t>hyperplane</a:t>
            </a:r>
            <a:r>
              <a:rPr lang="en"/>
              <a:t> is one dimension less than the dimensions of the feature space. </a:t>
            </a:r>
            <a:endParaRPr/>
          </a:p>
        </p:txBody>
      </p:sp>
      <p:pic>
        <p:nvPicPr>
          <p:cNvPr descr="Image" id="133" name="Google Shape;133;p22"/>
          <p:cNvPicPr preferRelativeResize="0"/>
          <p:nvPr/>
        </p:nvPicPr>
        <p:blipFill rotWithShape="1">
          <a:blip r:embed="rId3">
            <a:alphaModFix/>
          </a:blip>
          <a:srcRect b="0" l="0" r="0" t="0"/>
          <a:stretch/>
        </p:blipFill>
        <p:spPr>
          <a:xfrm>
            <a:off x="4572000" y="2042475"/>
            <a:ext cx="3658400" cy="2801700"/>
          </a:xfrm>
          <a:prstGeom prst="rect">
            <a:avLst/>
          </a:prstGeom>
          <a:noFill/>
          <a:ln>
            <a:noFill/>
          </a:ln>
        </p:spPr>
      </p:pic>
      <p:sp>
        <p:nvSpPr>
          <p:cNvPr id="134" name="Google Shape;134;p22"/>
          <p:cNvSpPr txBox="1"/>
          <p:nvPr/>
        </p:nvSpPr>
        <p:spPr>
          <a:xfrm>
            <a:off x="6422800" y="4324625"/>
            <a:ext cx="2564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3 different hyperplanes with 100% accuracy.</a:t>
            </a:r>
            <a:endParaRPr sz="1600">
              <a:latin typeface="Calibri"/>
              <a:ea typeface="Calibri"/>
              <a:cs typeface="Calibri"/>
              <a:sym typeface="Calibri"/>
            </a:endParaRPr>
          </a:p>
        </p:txBody>
      </p:sp>
      <p:pic>
        <p:nvPicPr>
          <p:cNvPr id="135" name="Google Shape;135;p22"/>
          <p:cNvPicPr preferRelativeResize="0"/>
          <p:nvPr/>
        </p:nvPicPr>
        <p:blipFill>
          <a:blip r:embed="rId4">
            <a:alphaModFix/>
          </a:blip>
          <a:stretch>
            <a:fillRect/>
          </a:stretch>
        </p:blipFill>
        <p:spPr>
          <a:xfrm>
            <a:off x="424100" y="2099050"/>
            <a:ext cx="3726825" cy="2530850"/>
          </a:xfrm>
          <a:prstGeom prst="rect">
            <a:avLst/>
          </a:prstGeom>
          <a:noFill/>
          <a:ln>
            <a:noFill/>
          </a:ln>
        </p:spPr>
      </p:pic>
      <p:sp>
        <p:nvSpPr>
          <p:cNvPr id="136" name="Google Shape;13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Maximum Margin Hyperplane</a:t>
            </a:r>
            <a:endParaRPr/>
          </a:p>
        </p:txBody>
      </p:sp>
      <p:sp>
        <p:nvSpPr>
          <p:cNvPr id="142" name="Google Shape;142;p23"/>
          <p:cNvSpPr txBox="1"/>
          <p:nvPr>
            <p:ph idx="1" type="body"/>
          </p:nvPr>
        </p:nvSpPr>
        <p:spPr>
          <a:xfrm>
            <a:off x="761075" y="1317475"/>
            <a:ext cx="3544500" cy="3134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Choose the hyperplane with the </a:t>
            </a:r>
            <a:r>
              <a:rPr lang="en">
                <a:solidFill>
                  <a:srgbClr val="1155CC"/>
                </a:solidFill>
              </a:rPr>
              <a:t>maximum margin</a:t>
            </a:r>
            <a:r>
              <a:rPr lang="en"/>
              <a:t> between it and the examples in each class.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Principle behind </a:t>
            </a:r>
            <a:r>
              <a:rPr lang="en"/>
              <a:t>the</a:t>
            </a:r>
            <a:r>
              <a:rPr lang="en"/>
              <a:t> very </a:t>
            </a:r>
            <a:r>
              <a:rPr lang="en"/>
              <a:t>successful</a:t>
            </a:r>
            <a:r>
              <a:rPr lang="en"/>
              <a:t> Support Vector Machines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descr="Image" id="143" name="Google Shape;143;p23"/>
          <p:cNvPicPr preferRelativeResize="0"/>
          <p:nvPr/>
        </p:nvPicPr>
        <p:blipFill rotWithShape="1">
          <a:blip r:embed="rId3">
            <a:alphaModFix/>
          </a:blip>
          <a:srcRect b="0" l="0" r="0" t="0"/>
          <a:stretch/>
        </p:blipFill>
        <p:spPr>
          <a:xfrm>
            <a:off x="4473526" y="1773175"/>
            <a:ext cx="3261775" cy="3133975"/>
          </a:xfrm>
          <a:prstGeom prst="rect">
            <a:avLst/>
          </a:prstGeom>
          <a:noFill/>
          <a:ln>
            <a:noFill/>
          </a:ln>
        </p:spPr>
      </p:pic>
      <p:sp>
        <p:nvSpPr>
          <p:cNvPr id="144" name="Google Shape;14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 Linearly-Separable Data</a:t>
            </a:r>
            <a:endParaRPr/>
          </a:p>
        </p:txBody>
      </p:sp>
      <p:pic>
        <p:nvPicPr>
          <p:cNvPr descr="linear.pdf" id="150" name="Google Shape;150;p24"/>
          <p:cNvPicPr preferRelativeResize="0"/>
          <p:nvPr/>
        </p:nvPicPr>
        <p:blipFill rotWithShape="1">
          <a:blip r:embed="rId3">
            <a:alphaModFix/>
          </a:blip>
          <a:srcRect b="0" l="0" r="12265" t="11071"/>
          <a:stretch/>
        </p:blipFill>
        <p:spPr>
          <a:xfrm>
            <a:off x="4600600" y="1328962"/>
            <a:ext cx="3616798" cy="3151275"/>
          </a:xfrm>
          <a:prstGeom prst="rect">
            <a:avLst/>
          </a:prstGeom>
          <a:noFill/>
          <a:ln>
            <a:noFill/>
          </a:ln>
        </p:spPr>
      </p:pic>
      <p:sp>
        <p:nvSpPr>
          <p:cNvPr id="151" name="Google Shape;151;p24"/>
          <p:cNvSpPr txBox="1"/>
          <p:nvPr/>
        </p:nvSpPr>
        <p:spPr>
          <a:xfrm>
            <a:off x="3605050" y="2713550"/>
            <a:ext cx="313800" cy="4035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800">
                <a:solidFill>
                  <a:srgbClr val="000000"/>
                </a:solidFill>
                <a:latin typeface="Calibri"/>
                <a:ea typeface="Calibri"/>
                <a:cs typeface="Calibri"/>
                <a:sym typeface="Calibri"/>
              </a:rPr>
              <a:t>x</a:t>
            </a:r>
            <a:endParaRPr sz="1800">
              <a:solidFill>
                <a:srgbClr val="000000"/>
              </a:solidFill>
              <a:latin typeface="Calibri"/>
              <a:ea typeface="Calibri"/>
              <a:cs typeface="Calibri"/>
              <a:sym typeface="Calibri"/>
            </a:endParaRPr>
          </a:p>
        </p:txBody>
      </p:sp>
      <p:sp>
        <p:nvSpPr>
          <p:cNvPr id="152" name="Google Shape;152;p24"/>
          <p:cNvSpPr txBox="1"/>
          <p:nvPr/>
        </p:nvSpPr>
        <p:spPr>
          <a:xfrm>
            <a:off x="2474263" y="3788250"/>
            <a:ext cx="354000" cy="4035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800">
                <a:solidFill>
                  <a:srgbClr val="000000"/>
                </a:solidFill>
                <a:latin typeface="Calibri"/>
                <a:ea typeface="Calibri"/>
                <a:cs typeface="Calibri"/>
                <a:sym typeface="Calibri"/>
              </a:rPr>
              <a:t>y</a:t>
            </a:r>
            <a:endParaRPr sz="1800">
              <a:solidFill>
                <a:srgbClr val="000000"/>
              </a:solidFill>
              <a:latin typeface="Calibri"/>
              <a:ea typeface="Calibri"/>
              <a:cs typeface="Calibri"/>
              <a:sym typeface="Calibri"/>
            </a:endParaRPr>
          </a:p>
        </p:txBody>
      </p:sp>
      <p:cxnSp>
        <p:nvCxnSpPr>
          <p:cNvPr id="153" name="Google Shape;153;p24"/>
          <p:cNvCxnSpPr/>
          <p:nvPr/>
        </p:nvCxnSpPr>
        <p:spPr>
          <a:xfrm rot="10800000">
            <a:off x="2589538" y="1607998"/>
            <a:ext cx="0" cy="2258700"/>
          </a:xfrm>
          <a:prstGeom prst="straightConnector1">
            <a:avLst/>
          </a:prstGeom>
          <a:noFill/>
          <a:ln cap="flat" cmpd="sng" w="25400">
            <a:solidFill>
              <a:srgbClr val="000000"/>
            </a:solidFill>
            <a:prstDash val="solid"/>
            <a:miter lim="400000"/>
            <a:headEnd len="sm" w="sm" type="none"/>
            <a:tailEnd len="sm" w="sm" type="none"/>
          </a:ln>
        </p:spPr>
      </p:cxnSp>
      <p:cxnSp>
        <p:nvCxnSpPr>
          <p:cNvPr id="154" name="Google Shape;154;p24"/>
          <p:cNvCxnSpPr/>
          <p:nvPr/>
        </p:nvCxnSpPr>
        <p:spPr>
          <a:xfrm>
            <a:off x="1401825" y="2915144"/>
            <a:ext cx="2205300" cy="0"/>
          </a:xfrm>
          <a:prstGeom prst="straightConnector1">
            <a:avLst/>
          </a:prstGeom>
          <a:noFill/>
          <a:ln cap="flat" cmpd="sng" w="25400">
            <a:solidFill>
              <a:srgbClr val="000000"/>
            </a:solidFill>
            <a:prstDash val="solid"/>
            <a:miter lim="400000"/>
            <a:headEnd len="sm" w="sm" type="none"/>
            <a:tailEnd len="sm" w="sm" type="none"/>
          </a:ln>
        </p:spPr>
      </p:cxnSp>
      <p:sp>
        <p:nvSpPr>
          <p:cNvPr id="155" name="Google Shape;155;p24"/>
          <p:cNvSpPr/>
          <p:nvPr/>
        </p:nvSpPr>
        <p:spPr>
          <a:xfrm>
            <a:off x="2132295" y="2597729"/>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56" name="Google Shape;156;p24"/>
          <p:cNvSpPr/>
          <p:nvPr/>
        </p:nvSpPr>
        <p:spPr>
          <a:xfrm>
            <a:off x="2769970" y="2527969"/>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57" name="Google Shape;157;p24"/>
          <p:cNvSpPr/>
          <p:nvPr/>
        </p:nvSpPr>
        <p:spPr>
          <a:xfrm>
            <a:off x="2015618" y="2319743"/>
            <a:ext cx="1136100" cy="1203000"/>
          </a:xfrm>
          <a:prstGeom prst="ellipse">
            <a:avLst/>
          </a:prstGeom>
          <a:noFill/>
          <a:ln cap="rnd" cmpd="sng" w="25400">
            <a:solidFill>
              <a:srgbClr val="000000"/>
            </a:solidFill>
            <a:prstDash val="dashDot"/>
            <a:round/>
            <a:headEnd len="sm" w="sm" type="none"/>
            <a:tailEnd len="sm" w="sm" type="none"/>
          </a:ln>
          <a:effectLst>
            <a:outerShdw blurRad="38100" rotWithShape="0" dir="5400000" dist="25400">
              <a:srgbClr val="000000">
                <a:alpha val="49410"/>
              </a:srgbClr>
            </a:outerShdw>
          </a:effectLst>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58" name="Google Shape;158;p24"/>
          <p:cNvSpPr/>
          <p:nvPr/>
        </p:nvSpPr>
        <p:spPr>
          <a:xfrm>
            <a:off x="2335160" y="2683621"/>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59" name="Google Shape;159;p24"/>
          <p:cNvSpPr/>
          <p:nvPr/>
        </p:nvSpPr>
        <p:spPr>
          <a:xfrm>
            <a:off x="2436852" y="2458209"/>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0" name="Google Shape;160;p24"/>
          <p:cNvSpPr/>
          <p:nvPr/>
        </p:nvSpPr>
        <p:spPr>
          <a:xfrm>
            <a:off x="2583614" y="2823142"/>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1" name="Google Shape;161;p24"/>
          <p:cNvSpPr/>
          <p:nvPr/>
        </p:nvSpPr>
        <p:spPr>
          <a:xfrm>
            <a:off x="2859257" y="2667490"/>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2" name="Google Shape;162;p24"/>
          <p:cNvSpPr/>
          <p:nvPr/>
        </p:nvSpPr>
        <p:spPr>
          <a:xfrm>
            <a:off x="2436852" y="3301289"/>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3" name="Google Shape;163;p24"/>
          <p:cNvSpPr/>
          <p:nvPr/>
        </p:nvSpPr>
        <p:spPr>
          <a:xfrm>
            <a:off x="2791634" y="3103896"/>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4" name="Google Shape;164;p24"/>
          <p:cNvSpPr/>
          <p:nvPr/>
        </p:nvSpPr>
        <p:spPr>
          <a:xfrm>
            <a:off x="2199916" y="3103896"/>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5" name="Google Shape;165;p24"/>
          <p:cNvSpPr/>
          <p:nvPr/>
        </p:nvSpPr>
        <p:spPr>
          <a:xfrm>
            <a:off x="2250498" y="2032465"/>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6" name="Google Shape;166;p24"/>
          <p:cNvSpPr/>
          <p:nvPr/>
        </p:nvSpPr>
        <p:spPr>
          <a:xfrm>
            <a:off x="2132295" y="2174111"/>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7" name="Google Shape;167;p24"/>
          <p:cNvSpPr/>
          <p:nvPr/>
        </p:nvSpPr>
        <p:spPr>
          <a:xfrm>
            <a:off x="3022292" y="2102226"/>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8" name="Google Shape;168;p24"/>
          <p:cNvSpPr/>
          <p:nvPr/>
        </p:nvSpPr>
        <p:spPr>
          <a:xfrm>
            <a:off x="1874452" y="2667490"/>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69" name="Google Shape;169;p24"/>
          <p:cNvSpPr/>
          <p:nvPr/>
        </p:nvSpPr>
        <p:spPr>
          <a:xfrm>
            <a:off x="1874452" y="2285549"/>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0" name="Google Shape;170;p24"/>
          <p:cNvSpPr/>
          <p:nvPr/>
        </p:nvSpPr>
        <p:spPr>
          <a:xfrm>
            <a:off x="1942073" y="3371050"/>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1" name="Google Shape;171;p24"/>
          <p:cNvSpPr/>
          <p:nvPr/>
        </p:nvSpPr>
        <p:spPr>
          <a:xfrm>
            <a:off x="1806830" y="3230547"/>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2" name="Google Shape;172;p24"/>
          <p:cNvSpPr/>
          <p:nvPr/>
        </p:nvSpPr>
        <p:spPr>
          <a:xfrm>
            <a:off x="2683796" y="2076267"/>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3" name="Google Shape;173;p24"/>
          <p:cNvSpPr/>
          <p:nvPr/>
        </p:nvSpPr>
        <p:spPr>
          <a:xfrm>
            <a:off x="3218886" y="2529980"/>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4" name="Google Shape;174;p24"/>
          <p:cNvSpPr/>
          <p:nvPr/>
        </p:nvSpPr>
        <p:spPr>
          <a:xfrm>
            <a:off x="2873363" y="3474978"/>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5" name="Google Shape;175;p24"/>
          <p:cNvSpPr/>
          <p:nvPr/>
        </p:nvSpPr>
        <p:spPr>
          <a:xfrm>
            <a:off x="3089914" y="3587655"/>
            <a:ext cx="135300" cy="1398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6" name="Google Shape;176;p24"/>
          <p:cNvSpPr/>
          <p:nvPr/>
        </p:nvSpPr>
        <p:spPr>
          <a:xfrm>
            <a:off x="2918491" y="2728597"/>
            <a:ext cx="135300" cy="1398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177" name="Google Shape;177;p24"/>
          <p:cNvSpPr txBox="1"/>
          <p:nvPr/>
        </p:nvSpPr>
        <p:spPr>
          <a:xfrm>
            <a:off x="972900" y="4344200"/>
            <a:ext cx="7583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alibri"/>
                <a:ea typeface="Calibri"/>
                <a:cs typeface="Calibri"/>
                <a:sym typeface="Calibri"/>
              </a:rPr>
              <a:t>Option: change the model class (e.g. </a:t>
            </a:r>
            <a:r>
              <a:rPr lang="en" sz="1800">
                <a:latin typeface="Calibri"/>
                <a:ea typeface="Calibri"/>
                <a:cs typeface="Calibri"/>
                <a:sym typeface="Calibri"/>
              </a:rPr>
              <a:t>ellipses</a:t>
            </a:r>
            <a:r>
              <a:rPr lang="en" sz="1800">
                <a:latin typeface="Calibri"/>
                <a:ea typeface="Calibri"/>
                <a:cs typeface="Calibri"/>
                <a:sym typeface="Calibri"/>
              </a:rPr>
              <a:t>, splines, circles)? This makes finding a good model very complex.</a:t>
            </a:r>
            <a:endParaRPr sz="1800">
              <a:latin typeface="Calibri"/>
              <a:ea typeface="Calibri"/>
              <a:cs typeface="Calibri"/>
              <a:sym typeface="Calibri"/>
            </a:endParaRPr>
          </a:p>
        </p:txBody>
      </p:sp>
      <p:sp>
        <p:nvSpPr>
          <p:cNvPr id="178" name="Google Shape;17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 Matrix</a:t>
            </a:r>
            <a:endParaRPr/>
          </a:p>
        </p:txBody>
      </p:sp>
      <p:sp>
        <p:nvSpPr>
          <p:cNvPr id="184" name="Google Shape;184;p25"/>
          <p:cNvSpPr txBox="1"/>
          <p:nvPr>
            <p:ph idx="1" type="body"/>
          </p:nvPr>
        </p:nvSpPr>
        <p:spPr>
          <a:xfrm>
            <a:off x="716850" y="1247175"/>
            <a:ext cx="7710300" cy="48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Instead, we can change our features by creating new ones from existing features.</a:t>
            </a:r>
            <a:endParaRPr/>
          </a:p>
        </p:txBody>
      </p:sp>
      <p:graphicFrame>
        <p:nvGraphicFramePr>
          <p:cNvPr id="185" name="Google Shape;185;p25"/>
          <p:cNvGraphicFramePr/>
          <p:nvPr/>
        </p:nvGraphicFramePr>
        <p:xfrm>
          <a:off x="759919" y="1804632"/>
          <a:ext cx="3000000" cy="3000000"/>
        </p:xfrm>
        <a:graphic>
          <a:graphicData uri="http://schemas.openxmlformats.org/drawingml/2006/table">
            <a:tbl>
              <a:tblPr>
                <a:noFill/>
                <a:tableStyleId>{2D2545A6-D6F3-4E68-B07B-D8FF41F22015}</a:tableStyleId>
              </a:tblPr>
              <a:tblGrid>
                <a:gridCol w="818525"/>
                <a:gridCol w="818525"/>
                <a:gridCol w="818525"/>
                <a:gridCol w="818525"/>
                <a:gridCol w="818525"/>
                <a:gridCol w="818525"/>
              </a:tblGrid>
              <a:tr h="469850">
                <a:tc>
                  <a:txBody>
                    <a:bodyPr/>
                    <a:lstStyle/>
                    <a:p>
                      <a:pPr indent="0" lvl="0" marL="0" marR="0" rtl="0" algn="ctr">
                        <a:lnSpc>
                          <a:spcPct val="120000"/>
                        </a:lnSpc>
                        <a:spcBef>
                          <a:spcPts val="0"/>
                        </a:spcBef>
                        <a:spcAft>
                          <a:spcPts val="0"/>
                        </a:spcAft>
                        <a:buClr>
                          <a:srgbClr val="007ACA"/>
                        </a:buClr>
                        <a:buSzPts val="1100"/>
                        <a:buFont typeface="Short Stack"/>
                        <a:buNone/>
                      </a:pPr>
                      <a:r>
                        <a:rPr lang="en" sz="1800" u="none" cap="none" strike="noStrike">
                          <a:solidFill>
                            <a:srgbClr val="007ACA"/>
                          </a:solidFill>
                          <a:latin typeface="Short Stack"/>
                          <a:ea typeface="Short Stack"/>
                          <a:cs typeface="Short Stack"/>
                          <a:sym typeface="Short Stack"/>
                        </a:rPr>
                        <a:t>a</a:t>
                      </a:r>
                      <a:endParaRPr sz="18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100"/>
                        <a:buFont typeface="Short Stack"/>
                        <a:buNone/>
                      </a:pPr>
                      <a:r>
                        <a:rPr lang="en" sz="1800" u="none" cap="none" strike="noStrike">
                          <a:solidFill>
                            <a:srgbClr val="007ACA"/>
                          </a:solidFill>
                          <a:latin typeface="Short Stack"/>
                          <a:ea typeface="Short Stack"/>
                          <a:cs typeface="Short Stack"/>
                          <a:sym typeface="Short Stack"/>
                        </a:rPr>
                        <a:t>h</a:t>
                      </a:r>
                      <a:endParaRPr sz="18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3200"/>
                        <a:buFont typeface="Short Stack"/>
                        <a:buNone/>
                      </a:pPr>
                      <a:r>
                        <a:rPr b="1" lang="en" sz="1800">
                          <a:solidFill>
                            <a:srgbClr val="6AA84F"/>
                          </a:solidFill>
                          <a:latin typeface="Short Stack"/>
                          <a:ea typeface="Short Stack"/>
                          <a:cs typeface="Short Stack"/>
                          <a:sym typeface="Short Stack"/>
                        </a:rPr>
                        <a:t>a</a:t>
                      </a:r>
                      <a:r>
                        <a:rPr b="1" baseline="30000" lang="en" sz="1800">
                          <a:solidFill>
                            <a:srgbClr val="6AA84F"/>
                          </a:solidFill>
                          <a:latin typeface="Short Stack"/>
                          <a:ea typeface="Short Stack"/>
                          <a:cs typeface="Short Stack"/>
                          <a:sym typeface="Short Stack"/>
                        </a:rPr>
                        <a:t>2</a:t>
                      </a:r>
                      <a:endParaRPr baseline="30000" sz="1800" u="none" cap="none" strike="noStrike">
                        <a:solidFill>
                          <a:srgbClr val="6AA84F"/>
                        </a:solidFill>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3200"/>
                        <a:buFont typeface="Short Stack"/>
                        <a:buNone/>
                      </a:pPr>
                      <a:r>
                        <a:rPr b="1" lang="en" sz="1800" u="none" cap="none" strike="noStrike">
                          <a:solidFill>
                            <a:srgbClr val="6AA84F"/>
                          </a:solidFill>
                          <a:latin typeface="Short Stack"/>
                          <a:ea typeface="Short Stack"/>
                          <a:cs typeface="Short Stack"/>
                          <a:sym typeface="Short Stack"/>
                        </a:rPr>
                        <a:t>ah</a:t>
                      </a:r>
                      <a:endParaRPr b="1" sz="1800" u="none" cap="none" strike="noStrike">
                        <a:solidFill>
                          <a:srgbClr val="6AA84F"/>
                        </a:solidFill>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3200"/>
                        <a:buFont typeface="Short Stack"/>
                        <a:buNone/>
                      </a:pPr>
                      <a:r>
                        <a:rPr b="1" lang="en" sz="1800">
                          <a:solidFill>
                            <a:srgbClr val="6AA84F"/>
                          </a:solidFill>
                          <a:latin typeface="Short Stack"/>
                          <a:ea typeface="Short Stack"/>
                          <a:cs typeface="Short Stack"/>
                          <a:sym typeface="Short Stack"/>
                        </a:rPr>
                        <a:t>h</a:t>
                      </a:r>
                      <a:r>
                        <a:rPr b="1" baseline="30000" lang="en" sz="1800">
                          <a:solidFill>
                            <a:srgbClr val="6AA84F"/>
                          </a:solidFill>
                          <a:latin typeface="Short Stack"/>
                          <a:ea typeface="Short Stack"/>
                          <a:cs typeface="Short Stack"/>
                          <a:sym typeface="Short Stack"/>
                        </a:rPr>
                        <a:t>2</a:t>
                      </a:r>
                      <a:endParaRPr baseline="30000" sz="1800" u="none" cap="none" strike="noStrike">
                        <a:solidFill>
                          <a:srgbClr val="6AA84F"/>
                        </a:solidFill>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spcBef>
                          <a:spcPts val="0"/>
                        </a:spcBef>
                        <a:spcAft>
                          <a:spcPts val="0"/>
                        </a:spcAft>
                        <a:buClr>
                          <a:srgbClr val="000000"/>
                        </a:buClr>
                        <a:buSzPts val="1900"/>
                        <a:buFont typeface="Calibri"/>
                        <a:buNone/>
                      </a:pPr>
                      <a:r>
                        <a:rPr lang="en" sz="1500">
                          <a:latin typeface="Calibri"/>
                          <a:ea typeface="Calibri"/>
                          <a:cs typeface="Calibri"/>
                          <a:sym typeface="Calibri"/>
                        </a:rPr>
                        <a:t>class</a:t>
                      </a:r>
                      <a:endParaRPr sz="15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3</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105</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9</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315</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11025</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900"/>
                        <a:buFont typeface="Open Sans"/>
                        <a:buNone/>
                      </a:pPr>
                      <a:r>
                        <a:rPr b="1" lang="en" sz="1000">
                          <a:solidFill>
                            <a:srgbClr val="007ACA"/>
                          </a:solidFill>
                          <a:latin typeface="Open Sans"/>
                          <a:ea typeface="Open Sans"/>
                          <a:cs typeface="Open Sans"/>
                          <a:sym typeface="Open Sans"/>
                        </a:rPr>
                        <a:t>healthy</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7</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119</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49</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833</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14161</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1900"/>
                        <a:buFont typeface="Open Sans"/>
                        <a:buNone/>
                      </a:pPr>
                      <a:r>
                        <a:rPr b="1" lang="en" sz="1000">
                          <a:solidFill>
                            <a:srgbClr val="007ACA"/>
                          </a:solidFill>
                          <a:latin typeface="Open Sans"/>
                          <a:ea typeface="Open Sans"/>
                          <a:cs typeface="Open Sans"/>
                          <a:sym typeface="Open Sans"/>
                        </a:rPr>
                        <a:t>healthy</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8</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120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64</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960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14400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1900"/>
                        <a:buFont typeface="Open Sans"/>
                        <a:buNone/>
                      </a:pPr>
                      <a:r>
                        <a:rPr b="1" lang="en" sz="1000">
                          <a:solidFill>
                            <a:srgbClr val="007ACA"/>
                          </a:solidFill>
                          <a:latin typeface="Open Sans"/>
                          <a:ea typeface="Open Sans"/>
                          <a:cs typeface="Open Sans"/>
                          <a:sym typeface="Open Sans"/>
                        </a:rPr>
                        <a:t>healthy</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9</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120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81</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1080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14400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1900"/>
                        <a:buFont typeface="Open Sans"/>
                        <a:buNone/>
                      </a:pPr>
                      <a:r>
                        <a:rPr b="1" lang="en" sz="1000">
                          <a:solidFill>
                            <a:srgbClr val="007ACA"/>
                          </a:solidFill>
                          <a:latin typeface="Open Sans"/>
                          <a:ea typeface="Open Sans"/>
                          <a:cs typeface="Open Sans"/>
                          <a:sym typeface="Open Sans"/>
                        </a:rPr>
                        <a:t>healthy</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12</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119</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144</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1428</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14161</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DD4800"/>
                        </a:buClr>
                        <a:buSzPts val="1900"/>
                        <a:buFont typeface="Open Sans"/>
                        <a:buNone/>
                      </a:pPr>
                      <a:r>
                        <a:rPr b="1" lang="en" sz="1000">
                          <a:solidFill>
                            <a:srgbClr val="DD4800"/>
                          </a:solidFill>
                          <a:latin typeface="Open Sans"/>
                          <a:ea typeface="Open Sans"/>
                          <a:cs typeface="Open Sans"/>
                          <a:sym typeface="Open Sans"/>
                        </a:rPr>
                        <a:t>sick</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8</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122</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64</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976</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14884</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DD4800"/>
                        </a:buClr>
                        <a:buSzPts val="1900"/>
                        <a:buFont typeface="Open Sans"/>
                        <a:buNone/>
                      </a:pPr>
                      <a:r>
                        <a:rPr b="1" lang="en" sz="1000">
                          <a:solidFill>
                            <a:srgbClr val="DD4800"/>
                          </a:solidFill>
                          <a:latin typeface="Open Sans"/>
                          <a:ea typeface="Open Sans"/>
                          <a:cs typeface="Open Sans"/>
                          <a:sym typeface="Open Sans"/>
                        </a:rPr>
                        <a:t>sick</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89025">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8</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125</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64</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1000</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u="none" cap="none" strike="noStrike">
                          <a:latin typeface="Open Sans"/>
                          <a:ea typeface="Open Sans"/>
                          <a:cs typeface="Open Sans"/>
                          <a:sym typeface="Open Sans"/>
                        </a:rPr>
                        <a:t>15625</a:t>
                      </a:r>
                      <a:endParaRPr sz="10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DD4800"/>
                        </a:buClr>
                        <a:buSzPts val="1900"/>
                        <a:buFont typeface="Open Sans"/>
                        <a:buNone/>
                      </a:pPr>
                      <a:r>
                        <a:rPr b="1" lang="en" sz="1000">
                          <a:solidFill>
                            <a:srgbClr val="DD4800"/>
                          </a:solidFill>
                          <a:latin typeface="Open Sans"/>
                          <a:ea typeface="Open Sans"/>
                          <a:cs typeface="Open Sans"/>
                          <a:sym typeface="Open Sans"/>
                        </a:rPr>
                        <a:t>sick</a:t>
                      </a:r>
                      <a:endParaRPr sz="1000" u="none" cap="none" strike="noStrike"/>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bl>
          </a:graphicData>
        </a:graphic>
      </p:graphicFrame>
      <p:sp>
        <p:nvSpPr>
          <p:cNvPr id="186" name="Google Shape;186;p25"/>
          <p:cNvSpPr txBox="1"/>
          <p:nvPr/>
        </p:nvSpPr>
        <p:spPr>
          <a:xfrm>
            <a:off x="5759250" y="2234400"/>
            <a:ext cx="3215100" cy="674700"/>
          </a:xfrm>
          <a:prstGeom prst="rect">
            <a:avLst/>
          </a:prstGeom>
          <a:noFill/>
          <a:ln>
            <a:noFill/>
          </a:ln>
        </p:spPr>
        <p:txBody>
          <a:bodyPr anchorCtr="0" anchor="ctr" bIns="35700" lIns="35700" spcFirstLastPara="1" rIns="35700" wrap="square" tIns="35700">
            <a:noAutofit/>
          </a:bodyPr>
          <a:lstStyle/>
          <a:p>
            <a:pPr indent="0" lvl="0" marL="0" marR="0" rtl="0" algn="l">
              <a:lnSpc>
                <a:spcPct val="181192"/>
              </a:lnSpc>
              <a:spcBef>
                <a:spcPts val="0"/>
              </a:spcBef>
              <a:spcAft>
                <a:spcPts val="0"/>
              </a:spcAft>
              <a:buClr>
                <a:srgbClr val="4F81BD"/>
              </a:buClr>
              <a:buSzPts val="2600"/>
              <a:buFont typeface="Open Sans"/>
              <a:buNone/>
            </a:pPr>
            <a:r>
              <a:rPr lang="en" sz="1700">
                <a:solidFill>
                  <a:srgbClr val="4F81BD"/>
                </a:solidFill>
                <a:latin typeface="Open Sans"/>
                <a:ea typeface="Open Sans"/>
                <a:cs typeface="Open Sans"/>
                <a:sym typeface="Open Sans"/>
              </a:rPr>
              <a:t>a</a:t>
            </a:r>
            <a:r>
              <a:rPr lang="en" sz="1700">
                <a:solidFill>
                  <a:srgbClr val="000000"/>
                </a:solidFill>
                <a:latin typeface="Open Sans"/>
                <a:ea typeface="Open Sans"/>
                <a:cs typeface="Open Sans"/>
                <a:sym typeface="Open Sans"/>
              </a:rPr>
              <a:t>q + </a:t>
            </a:r>
            <a:r>
              <a:rPr lang="en" sz="1700">
                <a:solidFill>
                  <a:srgbClr val="4F81BD"/>
                </a:solidFill>
                <a:latin typeface="Open Sans"/>
                <a:ea typeface="Open Sans"/>
                <a:cs typeface="Open Sans"/>
                <a:sym typeface="Open Sans"/>
              </a:rPr>
              <a:t>h</a:t>
            </a:r>
            <a:r>
              <a:rPr lang="en" sz="1700">
                <a:solidFill>
                  <a:srgbClr val="000000"/>
                </a:solidFill>
                <a:latin typeface="Open Sans"/>
                <a:ea typeface="Open Sans"/>
                <a:cs typeface="Open Sans"/>
                <a:sym typeface="Open Sans"/>
              </a:rPr>
              <a:t>r + </a:t>
            </a:r>
            <a:r>
              <a:rPr lang="en" sz="1700">
                <a:solidFill>
                  <a:srgbClr val="4F81BD"/>
                </a:solidFill>
                <a:latin typeface="Open Sans"/>
                <a:ea typeface="Open Sans"/>
                <a:cs typeface="Open Sans"/>
                <a:sym typeface="Open Sans"/>
              </a:rPr>
              <a:t>a</a:t>
            </a:r>
            <a:r>
              <a:rPr baseline="30000" lang="en" sz="1700">
                <a:solidFill>
                  <a:srgbClr val="4F81BD"/>
                </a:solidFill>
                <a:latin typeface="Open Sans"/>
                <a:ea typeface="Open Sans"/>
                <a:cs typeface="Open Sans"/>
                <a:sym typeface="Open Sans"/>
              </a:rPr>
              <a:t>2</a:t>
            </a:r>
            <a:r>
              <a:rPr lang="en" sz="1700">
                <a:solidFill>
                  <a:srgbClr val="000000"/>
                </a:solidFill>
                <a:latin typeface="Open Sans"/>
                <a:ea typeface="Open Sans"/>
                <a:cs typeface="Open Sans"/>
                <a:sym typeface="Open Sans"/>
              </a:rPr>
              <a:t>s + </a:t>
            </a:r>
            <a:r>
              <a:rPr lang="en" sz="1700">
                <a:solidFill>
                  <a:srgbClr val="4F81BD"/>
                </a:solidFill>
                <a:latin typeface="Open Sans"/>
                <a:ea typeface="Open Sans"/>
                <a:cs typeface="Open Sans"/>
                <a:sym typeface="Open Sans"/>
              </a:rPr>
              <a:t>ah</a:t>
            </a:r>
            <a:r>
              <a:rPr lang="en" sz="1700">
                <a:solidFill>
                  <a:srgbClr val="000000"/>
                </a:solidFill>
                <a:latin typeface="Open Sans"/>
                <a:ea typeface="Open Sans"/>
                <a:cs typeface="Open Sans"/>
                <a:sym typeface="Open Sans"/>
              </a:rPr>
              <a:t>t + </a:t>
            </a:r>
            <a:r>
              <a:rPr lang="en" sz="1700">
                <a:solidFill>
                  <a:srgbClr val="4F81BD"/>
                </a:solidFill>
                <a:latin typeface="Open Sans"/>
                <a:ea typeface="Open Sans"/>
                <a:cs typeface="Open Sans"/>
                <a:sym typeface="Open Sans"/>
              </a:rPr>
              <a:t>h</a:t>
            </a:r>
            <a:r>
              <a:rPr baseline="30000" lang="en" sz="1700">
                <a:solidFill>
                  <a:srgbClr val="4F81BD"/>
                </a:solidFill>
                <a:latin typeface="Open Sans"/>
                <a:ea typeface="Open Sans"/>
                <a:cs typeface="Open Sans"/>
                <a:sym typeface="Open Sans"/>
              </a:rPr>
              <a:t>2</a:t>
            </a:r>
            <a:r>
              <a:rPr lang="en" sz="1700">
                <a:solidFill>
                  <a:srgbClr val="000000"/>
                </a:solidFill>
                <a:latin typeface="Open Sans"/>
                <a:ea typeface="Open Sans"/>
                <a:cs typeface="Open Sans"/>
                <a:sym typeface="Open Sans"/>
              </a:rPr>
              <a:t>u + v &gt; 0</a:t>
            </a:r>
            <a:endParaRPr sz="900">
              <a:solidFill>
                <a:srgbClr val="000000"/>
              </a:solidFill>
              <a:latin typeface="Calibri"/>
              <a:ea typeface="Calibri"/>
              <a:cs typeface="Calibri"/>
              <a:sym typeface="Calibri"/>
            </a:endParaRPr>
          </a:p>
        </p:txBody>
      </p:sp>
      <p:sp>
        <p:nvSpPr>
          <p:cNvPr id="187" name="Google Shape;18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88" name="Google Shape;188;p25"/>
          <p:cNvGrpSpPr/>
          <p:nvPr/>
        </p:nvGrpSpPr>
        <p:grpSpPr>
          <a:xfrm>
            <a:off x="5985768" y="3837625"/>
            <a:ext cx="2171995" cy="1066800"/>
            <a:chOff x="7142643" y="3625875"/>
            <a:chExt cx="2171995" cy="1066800"/>
          </a:xfrm>
        </p:grpSpPr>
        <p:sp>
          <p:nvSpPr>
            <p:cNvPr id="189" name="Google Shape;189;p25"/>
            <p:cNvSpPr/>
            <p:nvPr/>
          </p:nvSpPr>
          <p:spPr>
            <a:xfrm rot="6914603">
              <a:off x="7246735" y="3766749"/>
              <a:ext cx="389716" cy="477217"/>
            </a:xfrm>
            <a:prstGeom prst="downArrow">
              <a:avLst>
                <a:gd fmla="val 50000" name="adj1"/>
                <a:gd fmla="val 500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0" name="Google Shape;190;p25"/>
            <p:cNvSpPr txBox="1"/>
            <p:nvPr/>
          </p:nvSpPr>
          <p:spPr>
            <a:xfrm>
              <a:off x="7740538" y="3625875"/>
              <a:ext cx="1574100" cy="106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design matrix</a:t>
              </a:r>
              <a:endParaRPr b="1" sz="1800">
                <a:solidFill>
                  <a:schemeClr val="dk1"/>
                </a:solidFill>
                <a:latin typeface="Calibri"/>
                <a:ea typeface="Calibri"/>
                <a:cs typeface="Calibri"/>
                <a:sym typeface="Calibri"/>
              </a:endParaRPr>
            </a:p>
            <a:p>
              <a:pPr indent="0" lvl="0" marL="0" rtl="0" algn="ctr">
                <a:spcBef>
                  <a:spcPts val="0"/>
                </a:spcBef>
                <a:spcAft>
                  <a:spcPts val="0"/>
                </a:spcAft>
                <a:buNone/>
              </a:pPr>
              <a:r>
                <a:rPr lang="en" sz="1800">
                  <a:solidFill>
                    <a:schemeClr val="dk1"/>
                  </a:solidFill>
                  <a:latin typeface="Calibri"/>
                  <a:ea typeface="Calibri"/>
                  <a:cs typeface="Calibri"/>
                  <a:sym typeface="Calibri"/>
                </a:rPr>
                <a:t>&amp;</a:t>
              </a:r>
              <a:endParaRPr sz="1800">
                <a:solidFill>
                  <a:schemeClr val="dk1"/>
                </a:solidFill>
                <a:latin typeface="Calibri"/>
                <a:ea typeface="Calibri"/>
                <a:cs typeface="Calibri"/>
                <a:sym typeface="Calibri"/>
              </a:endParaRPr>
            </a:p>
            <a:p>
              <a:pPr indent="0" lvl="0" marL="0" rtl="0" algn="ctr">
                <a:spcBef>
                  <a:spcPts val="0"/>
                </a:spcBef>
                <a:spcAft>
                  <a:spcPts val="0"/>
                </a:spcAft>
                <a:buNone/>
              </a:pPr>
              <a:r>
                <a:rPr lang="en" sz="1800">
                  <a:solidFill>
                    <a:schemeClr val="dk1"/>
                  </a:solidFill>
                  <a:latin typeface="Calibri"/>
                  <a:ea typeface="Calibri"/>
                  <a:cs typeface="Calibri"/>
                  <a:sym typeface="Calibri"/>
                </a:rPr>
                <a:t>class (label) column</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Higher Dimension Classifier Result</a:t>
            </a:r>
            <a:endParaRPr/>
          </a:p>
        </p:txBody>
      </p:sp>
      <p:sp>
        <p:nvSpPr>
          <p:cNvPr id="196" name="Google Shape;196;p26"/>
          <p:cNvSpPr txBox="1"/>
          <p:nvPr>
            <p:ph idx="1" type="body"/>
          </p:nvPr>
        </p:nvSpPr>
        <p:spPr>
          <a:xfrm>
            <a:off x="4702800" y="1487250"/>
            <a:ext cx="3706800" cy="324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Projection of 5D classifier onto 2D feature space.</a:t>
            </a:r>
            <a:endParaRPr/>
          </a:p>
          <a:p>
            <a:pPr indent="0" lvl="0" marL="0" rtl="0" algn="l">
              <a:spcBef>
                <a:spcPts val="1200"/>
              </a:spcBef>
              <a:spcAft>
                <a:spcPts val="1200"/>
              </a:spcAft>
              <a:buNone/>
            </a:pPr>
            <a:r>
              <a:rPr lang="en" sz="1600"/>
              <a:t>All datasets are linearly separable once projected into a space of high enough dimension.</a:t>
            </a:r>
            <a:endParaRPr sz="1600"/>
          </a:p>
        </p:txBody>
      </p:sp>
      <p:pic>
        <p:nvPicPr>
          <p:cNvPr descr="Image" id="197" name="Google Shape;197;p26"/>
          <p:cNvPicPr preferRelativeResize="0"/>
          <p:nvPr/>
        </p:nvPicPr>
        <p:blipFill rotWithShape="1">
          <a:blip r:embed="rId3">
            <a:alphaModFix/>
          </a:blip>
          <a:srcRect b="0" l="0" r="12326" t="11111"/>
          <a:stretch/>
        </p:blipFill>
        <p:spPr>
          <a:xfrm>
            <a:off x="699350" y="1317725"/>
            <a:ext cx="3959351" cy="3562350"/>
          </a:xfrm>
          <a:prstGeom prst="rect">
            <a:avLst/>
          </a:prstGeom>
          <a:noFill/>
          <a:ln>
            <a:noFill/>
          </a:ln>
        </p:spPr>
      </p:pic>
      <p:sp>
        <p:nvSpPr>
          <p:cNvPr id="198" name="Google Shape;19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Higher Dimensions </a:t>
            </a:r>
            <a:r>
              <a:rPr i="1" lang="en"/>
              <a:t>Example</a:t>
            </a:r>
            <a:endParaRPr i="1"/>
          </a:p>
        </p:txBody>
      </p:sp>
      <p:sp>
        <p:nvSpPr>
          <p:cNvPr id="204" name="Google Shape;204;p27"/>
          <p:cNvSpPr txBox="1"/>
          <p:nvPr/>
        </p:nvSpPr>
        <p:spPr>
          <a:xfrm>
            <a:off x="2431082" y="2413016"/>
            <a:ext cx="249900" cy="3750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x</a:t>
            </a:r>
            <a:endParaRPr sz="2500">
              <a:solidFill>
                <a:srgbClr val="000000"/>
              </a:solidFill>
              <a:latin typeface="Calibri"/>
              <a:ea typeface="Calibri"/>
              <a:cs typeface="Calibri"/>
              <a:sym typeface="Calibri"/>
            </a:endParaRPr>
          </a:p>
        </p:txBody>
      </p:sp>
      <p:sp>
        <p:nvSpPr>
          <p:cNvPr id="205" name="Google Shape;205;p27"/>
          <p:cNvSpPr txBox="1"/>
          <p:nvPr/>
        </p:nvSpPr>
        <p:spPr>
          <a:xfrm>
            <a:off x="1361956" y="3494438"/>
            <a:ext cx="165900" cy="3750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y</a:t>
            </a:r>
            <a:endParaRPr sz="2500">
              <a:solidFill>
                <a:srgbClr val="000000"/>
              </a:solidFill>
              <a:latin typeface="Calibri"/>
              <a:ea typeface="Calibri"/>
              <a:cs typeface="Calibri"/>
              <a:sym typeface="Calibri"/>
            </a:endParaRPr>
          </a:p>
        </p:txBody>
      </p:sp>
      <p:cxnSp>
        <p:nvCxnSpPr>
          <p:cNvPr id="206" name="Google Shape;206;p27"/>
          <p:cNvCxnSpPr/>
          <p:nvPr/>
        </p:nvCxnSpPr>
        <p:spPr>
          <a:xfrm rot="10800000">
            <a:off x="1450314" y="1430452"/>
            <a:ext cx="0" cy="2100900"/>
          </a:xfrm>
          <a:prstGeom prst="straightConnector1">
            <a:avLst/>
          </a:prstGeom>
          <a:noFill/>
          <a:ln cap="flat" cmpd="sng" w="25400">
            <a:solidFill>
              <a:srgbClr val="000000"/>
            </a:solidFill>
            <a:prstDash val="solid"/>
            <a:miter lim="400000"/>
            <a:headEnd len="sm" w="sm" type="none"/>
            <a:tailEnd len="sm" w="sm" type="none"/>
          </a:ln>
        </p:spPr>
      </p:cxnSp>
      <p:cxnSp>
        <p:nvCxnSpPr>
          <p:cNvPr id="207" name="Google Shape;207;p27"/>
          <p:cNvCxnSpPr/>
          <p:nvPr/>
        </p:nvCxnSpPr>
        <p:spPr>
          <a:xfrm>
            <a:off x="360450" y="2646238"/>
            <a:ext cx="2023800" cy="0"/>
          </a:xfrm>
          <a:prstGeom prst="straightConnector1">
            <a:avLst/>
          </a:prstGeom>
          <a:noFill/>
          <a:ln cap="flat" cmpd="sng" w="25400">
            <a:solidFill>
              <a:srgbClr val="000000"/>
            </a:solidFill>
            <a:prstDash val="solid"/>
            <a:miter lim="400000"/>
            <a:headEnd len="sm" w="sm" type="none"/>
            <a:tailEnd len="sm" w="sm" type="none"/>
          </a:ln>
        </p:spPr>
      </p:cxnSp>
      <p:sp>
        <p:nvSpPr>
          <p:cNvPr id="208" name="Google Shape;208;p27"/>
          <p:cNvSpPr/>
          <p:nvPr/>
        </p:nvSpPr>
        <p:spPr>
          <a:xfrm>
            <a:off x="1030741" y="2350985"/>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09" name="Google Shape;209;p27"/>
          <p:cNvSpPr/>
          <p:nvPr/>
        </p:nvSpPr>
        <p:spPr>
          <a:xfrm>
            <a:off x="1615881" y="2286096"/>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0" name="Google Shape;210;p27"/>
          <p:cNvSpPr/>
          <p:nvPr/>
        </p:nvSpPr>
        <p:spPr>
          <a:xfrm>
            <a:off x="923676" y="2092409"/>
            <a:ext cx="1042500" cy="1119000"/>
          </a:xfrm>
          <a:prstGeom prst="ellipse">
            <a:avLst/>
          </a:prstGeom>
          <a:noFill/>
          <a:ln cap="rnd" cmpd="sng" w="25400">
            <a:solidFill>
              <a:srgbClr val="000000"/>
            </a:solidFill>
            <a:prstDash val="dashDot"/>
            <a:round/>
            <a:headEnd len="sm" w="sm" type="none"/>
            <a:tailEnd len="sm" w="sm" type="none"/>
          </a:ln>
          <a:effectLst>
            <a:outerShdw blurRad="38100" rotWithShape="0" dir="5400000" dist="25400">
              <a:srgbClr val="000000">
                <a:alpha val="49410"/>
              </a:srgbClr>
            </a:outerShdw>
          </a:effectLst>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1" name="Google Shape;211;p27"/>
          <p:cNvSpPr/>
          <p:nvPr/>
        </p:nvSpPr>
        <p:spPr>
          <a:xfrm>
            <a:off x="1216893" y="2430880"/>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2" name="Google Shape;212;p27"/>
          <p:cNvSpPr/>
          <p:nvPr/>
        </p:nvSpPr>
        <p:spPr>
          <a:xfrm>
            <a:off x="1310207" y="2221206"/>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3" name="Google Shape;213;p27"/>
          <p:cNvSpPr/>
          <p:nvPr/>
        </p:nvSpPr>
        <p:spPr>
          <a:xfrm>
            <a:off x="1444878" y="2560659"/>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4" name="Google Shape;214;p27"/>
          <p:cNvSpPr/>
          <p:nvPr/>
        </p:nvSpPr>
        <p:spPr>
          <a:xfrm>
            <a:off x="1697812" y="2415876"/>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5" name="Google Shape;215;p27"/>
          <p:cNvSpPr/>
          <p:nvPr/>
        </p:nvSpPr>
        <p:spPr>
          <a:xfrm>
            <a:off x="1310207" y="3005421"/>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6" name="Google Shape;216;p27"/>
          <p:cNvSpPr/>
          <p:nvPr/>
        </p:nvSpPr>
        <p:spPr>
          <a:xfrm>
            <a:off x="1635760" y="2821811"/>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7" name="Google Shape;217;p27"/>
          <p:cNvSpPr/>
          <p:nvPr/>
        </p:nvSpPr>
        <p:spPr>
          <a:xfrm>
            <a:off x="1092791" y="2821811"/>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8" name="Google Shape;218;p27"/>
          <p:cNvSpPr/>
          <p:nvPr/>
        </p:nvSpPr>
        <p:spPr>
          <a:xfrm>
            <a:off x="1139206" y="1825189"/>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19" name="Google Shape;219;p27"/>
          <p:cNvSpPr/>
          <p:nvPr/>
        </p:nvSpPr>
        <p:spPr>
          <a:xfrm>
            <a:off x="1030741" y="1956945"/>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0" name="Google Shape;220;p27"/>
          <p:cNvSpPr/>
          <p:nvPr/>
        </p:nvSpPr>
        <p:spPr>
          <a:xfrm>
            <a:off x="1847416" y="1890079"/>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1" name="Google Shape;221;p27"/>
          <p:cNvSpPr/>
          <p:nvPr/>
        </p:nvSpPr>
        <p:spPr>
          <a:xfrm>
            <a:off x="794140" y="2415876"/>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2" name="Google Shape;222;p27"/>
          <p:cNvSpPr/>
          <p:nvPr/>
        </p:nvSpPr>
        <p:spPr>
          <a:xfrm>
            <a:off x="794140" y="2060602"/>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3" name="Google Shape;223;p27"/>
          <p:cNvSpPr/>
          <p:nvPr/>
        </p:nvSpPr>
        <p:spPr>
          <a:xfrm>
            <a:off x="856190" y="3070311"/>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4" name="Google Shape;224;p27"/>
          <p:cNvSpPr/>
          <p:nvPr/>
        </p:nvSpPr>
        <p:spPr>
          <a:xfrm>
            <a:off x="732089" y="2939619"/>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5" name="Google Shape;225;p27"/>
          <p:cNvSpPr/>
          <p:nvPr/>
        </p:nvSpPr>
        <p:spPr>
          <a:xfrm>
            <a:off x="1536806" y="1865933"/>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6" name="Google Shape;226;p27"/>
          <p:cNvSpPr/>
          <p:nvPr/>
        </p:nvSpPr>
        <p:spPr>
          <a:xfrm>
            <a:off x="2027813" y="2287967"/>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7" name="Google Shape;227;p27"/>
          <p:cNvSpPr/>
          <p:nvPr/>
        </p:nvSpPr>
        <p:spPr>
          <a:xfrm>
            <a:off x="1710756" y="3166983"/>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8" name="Google Shape;228;p27"/>
          <p:cNvSpPr/>
          <p:nvPr/>
        </p:nvSpPr>
        <p:spPr>
          <a:xfrm>
            <a:off x="1909466" y="3271793"/>
            <a:ext cx="124200" cy="1299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29" name="Google Shape;229;p27"/>
          <p:cNvSpPr/>
          <p:nvPr/>
        </p:nvSpPr>
        <p:spPr>
          <a:xfrm>
            <a:off x="1752166" y="2472716"/>
            <a:ext cx="124200" cy="1299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cxnSp>
        <p:nvCxnSpPr>
          <p:cNvPr id="230" name="Google Shape;230;p27"/>
          <p:cNvCxnSpPr/>
          <p:nvPr/>
        </p:nvCxnSpPr>
        <p:spPr>
          <a:xfrm flipH="1" rot="10800000">
            <a:off x="3455824" y="2681949"/>
            <a:ext cx="1552500" cy="696300"/>
          </a:xfrm>
          <a:prstGeom prst="straightConnector1">
            <a:avLst/>
          </a:prstGeom>
          <a:noFill/>
          <a:ln cap="flat" cmpd="sng" w="25400">
            <a:solidFill>
              <a:srgbClr val="000000"/>
            </a:solidFill>
            <a:prstDash val="solid"/>
            <a:miter lim="400000"/>
            <a:headEnd len="sm" w="sm" type="none"/>
            <a:tailEnd len="sm" w="sm" type="none"/>
          </a:ln>
        </p:spPr>
      </p:cxnSp>
      <p:cxnSp>
        <p:nvCxnSpPr>
          <p:cNvPr id="231" name="Google Shape;231;p27"/>
          <p:cNvCxnSpPr/>
          <p:nvPr/>
        </p:nvCxnSpPr>
        <p:spPr>
          <a:xfrm>
            <a:off x="3268951" y="3030163"/>
            <a:ext cx="1926600" cy="0"/>
          </a:xfrm>
          <a:prstGeom prst="straightConnector1">
            <a:avLst/>
          </a:prstGeom>
          <a:noFill/>
          <a:ln cap="flat" cmpd="sng" w="25400">
            <a:solidFill>
              <a:srgbClr val="000000"/>
            </a:solidFill>
            <a:prstDash val="solid"/>
            <a:miter lim="400000"/>
            <a:headEnd len="sm" w="sm" type="none"/>
            <a:tailEnd len="sm" w="sm" type="none"/>
          </a:ln>
        </p:spPr>
      </p:cxnSp>
      <p:cxnSp>
        <p:nvCxnSpPr>
          <p:cNvPr id="232" name="Google Shape;232;p27"/>
          <p:cNvCxnSpPr/>
          <p:nvPr/>
        </p:nvCxnSpPr>
        <p:spPr>
          <a:xfrm rot="10800000">
            <a:off x="4225997" y="1459376"/>
            <a:ext cx="0" cy="2049900"/>
          </a:xfrm>
          <a:prstGeom prst="straightConnector1">
            <a:avLst/>
          </a:prstGeom>
          <a:noFill/>
          <a:ln cap="flat" cmpd="sng" w="25400">
            <a:solidFill>
              <a:srgbClr val="000000"/>
            </a:solidFill>
            <a:prstDash val="solid"/>
            <a:miter lim="400000"/>
            <a:headEnd len="sm" w="sm" type="none"/>
            <a:tailEnd len="sm" w="sm" type="none"/>
          </a:ln>
        </p:spPr>
      </p:cxnSp>
      <p:sp>
        <p:nvSpPr>
          <p:cNvPr id="233" name="Google Shape;233;p27"/>
          <p:cNvSpPr/>
          <p:nvPr/>
        </p:nvSpPr>
        <p:spPr>
          <a:xfrm>
            <a:off x="4044349" y="2685255"/>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4" name="Google Shape;234;p27"/>
          <p:cNvSpPr/>
          <p:nvPr/>
        </p:nvSpPr>
        <p:spPr>
          <a:xfrm>
            <a:off x="4149273" y="2923854"/>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5" name="Google Shape;235;p27"/>
          <p:cNvSpPr/>
          <p:nvPr/>
        </p:nvSpPr>
        <p:spPr>
          <a:xfrm>
            <a:off x="4001885" y="2513923"/>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6" name="Google Shape;236;p27"/>
          <p:cNvSpPr/>
          <p:nvPr/>
        </p:nvSpPr>
        <p:spPr>
          <a:xfrm>
            <a:off x="4264729" y="2733925"/>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7" name="Google Shape;237;p27"/>
          <p:cNvSpPr/>
          <p:nvPr/>
        </p:nvSpPr>
        <p:spPr>
          <a:xfrm>
            <a:off x="4142972" y="2769269"/>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8" name="Google Shape;238;p27"/>
          <p:cNvSpPr/>
          <p:nvPr/>
        </p:nvSpPr>
        <p:spPr>
          <a:xfrm>
            <a:off x="4238478" y="2558636"/>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39" name="Google Shape;239;p27"/>
          <p:cNvSpPr/>
          <p:nvPr/>
        </p:nvSpPr>
        <p:spPr>
          <a:xfrm>
            <a:off x="4405815" y="2357655"/>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0" name="Google Shape;240;p27"/>
          <p:cNvSpPr/>
          <p:nvPr/>
        </p:nvSpPr>
        <p:spPr>
          <a:xfrm>
            <a:off x="3903262" y="2357655"/>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1" name="Google Shape;241;p27"/>
          <p:cNvSpPr/>
          <p:nvPr/>
        </p:nvSpPr>
        <p:spPr>
          <a:xfrm>
            <a:off x="4248452" y="2420965"/>
            <a:ext cx="141300" cy="1266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2" name="Google Shape;242;p27"/>
          <p:cNvSpPr/>
          <p:nvPr/>
        </p:nvSpPr>
        <p:spPr>
          <a:xfrm>
            <a:off x="4362417" y="1677109"/>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3" name="Google Shape;243;p27"/>
          <p:cNvSpPr/>
          <p:nvPr/>
        </p:nvSpPr>
        <p:spPr>
          <a:xfrm>
            <a:off x="4044349" y="2094315"/>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4" name="Google Shape;244;p27"/>
          <p:cNvSpPr/>
          <p:nvPr/>
        </p:nvSpPr>
        <p:spPr>
          <a:xfrm>
            <a:off x="3762176" y="1962160"/>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5" name="Google Shape;245;p27"/>
          <p:cNvSpPr/>
          <p:nvPr/>
        </p:nvSpPr>
        <p:spPr>
          <a:xfrm>
            <a:off x="4546901" y="1962160"/>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6" name="Google Shape;246;p27"/>
          <p:cNvSpPr/>
          <p:nvPr/>
        </p:nvSpPr>
        <p:spPr>
          <a:xfrm>
            <a:off x="3860798" y="2066799"/>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7" name="Google Shape;247;p27"/>
          <p:cNvSpPr/>
          <p:nvPr/>
        </p:nvSpPr>
        <p:spPr>
          <a:xfrm>
            <a:off x="4448611" y="2148917"/>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8" name="Google Shape;248;p27"/>
          <p:cNvSpPr/>
          <p:nvPr/>
        </p:nvSpPr>
        <p:spPr>
          <a:xfrm>
            <a:off x="5411071" y="1728070"/>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49" name="Google Shape;249;p27"/>
          <p:cNvSpPr/>
          <p:nvPr/>
        </p:nvSpPr>
        <p:spPr>
          <a:xfrm>
            <a:off x="3762176" y="2157624"/>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0" name="Google Shape;250;p27"/>
          <p:cNvSpPr/>
          <p:nvPr/>
        </p:nvSpPr>
        <p:spPr>
          <a:xfrm>
            <a:off x="5242236" y="1803729"/>
            <a:ext cx="141300" cy="1266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1" name="Google Shape;251;p27"/>
          <p:cNvSpPr txBox="1"/>
          <p:nvPr/>
        </p:nvSpPr>
        <p:spPr>
          <a:xfrm>
            <a:off x="5263158" y="2787063"/>
            <a:ext cx="277500" cy="4002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x</a:t>
            </a:r>
            <a:endParaRPr sz="2500">
              <a:solidFill>
                <a:srgbClr val="000000"/>
              </a:solidFill>
              <a:latin typeface="Calibri"/>
              <a:ea typeface="Calibri"/>
              <a:cs typeface="Calibri"/>
              <a:sym typeface="Calibri"/>
            </a:endParaRPr>
          </a:p>
        </p:txBody>
      </p:sp>
      <p:sp>
        <p:nvSpPr>
          <p:cNvPr id="252" name="Google Shape;252;p27"/>
          <p:cNvSpPr txBox="1"/>
          <p:nvPr/>
        </p:nvSpPr>
        <p:spPr>
          <a:xfrm>
            <a:off x="3147130" y="3229888"/>
            <a:ext cx="308700" cy="4002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y</a:t>
            </a:r>
            <a:endParaRPr sz="2500">
              <a:solidFill>
                <a:srgbClr val="000000"/>
              </a:solidFill>
              <a:latin typeface="Calibri"/>
              <a:ea typeface="Calibri"/>
              <a:cs typeface="Calibri"/>
              <a:sym typeface="Calibri"/>
            </a:endParaRPr>
          </a:p>
        </p:txBody>
      </p:sp>
      <p:cxnSp>
        <p:nvCxnSpPr>
          <p:cNvPr id="253" name="Google Shape;253;p27"/>
          <p:cNvCxnSpPr/>
          <p:nvPr/>
        </p:nvCxnSpPr>
        <p:spPr>
          <a:xfrm rot="10800000">
            <a:off x="6781573" y="1528080"/>
            <a:ext cx="0" cy="1905000"/>
          </a:xfrm>
          <a:prstGeom prst="straightConnector1">
            <a:avLst/>
          </a:prstGeom>
          <a:noFill/>
          <a:ln cap="flat" cmpd="sng" w="25400">
            <a:solidFill>
              <a:srgbClr val="000000"/>
            </a:solidFill>
            <a:prstDash val="solid"/>
            <a:miter lim="400000"/>
            <a:headEnd len="sm" w="sm" type="none"/>
            <a:tailEnd len="sm" w="sm" type="none"/>
          </a:ln>
        </p:spPr>
      </p:cxnSp>
      <p:cxnSp>
        <p:nvCxnSpPr>
          <p:cNvPr id="254" name="Google Shape;254;p27"/>
          <p:cNvCxnSpPr/>
          <p:nvPr/>
        </p:nvCxnSpPr>
        <p:spPr>
          <a:xfrm>
            <a:off x="6529762" y="3247713"/>
            <a:ext cx="1912800" cy="0"/>
          </a:xfrm>
          <a:prstGeom prst="straightConnector1">
            <a:avLst/>
          </a:prstGeom>
          <a:noFill/>
          <a:ln cap="flat" cmpd="sng" w="25400">
            <a:solidFill>
              <a:srgbClr val="000000"/>
            </a:solidFill>
            <a:prstDash val="solid"/>
            <a:miter lim="400000"/>
            <a:headEnd len="sm" w="sm" type="none"/>
            <a:tailEnd len="sm" w="sm" type="none"/>
          </a:ln>
        </p:spPr>
      </p:cxnSp>
      <p:sp>
        <p:nvSpPr>
          <p:cNvPr id="255" name="Google Shape;255;p27"/>
          <p:cNvSpPr/>
          <p:nvPr/>
        </p:nvSpPr>
        <p:spPr>
          <a:xfrm>
            <a:off x="6776435" y="2759716"/>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6" name="Google Shape;256;p27"/>
          <p:cNvSpPr/>
          <p:nvPr/>
        </p:nvSpPr>
        <p:spPr>
          <a:xfrm>
            <a:off x="7198651" y="3131001"/>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7" name="Google Shape;257;p27"/>
          <p:cNvSpPr/>
          <p:nvPr/>
        </p:nvSpPr>
        <p:spPr>
          <a:xfrm>
            <a:off x="6817457" y="3062133"/>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8" name="Google Shape;258;p27"/>
          <p:cNvSpPr/>
          <p:nvPr/>
        </p:nvSpPr>
        <p:spPr>
          <a:xfrm>
            <a:off x="6776435" y="2480509"/>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59" name="Google Shape;259;p27"/>
          <p:cNvSpPr/>
          <p:nvPr/>
        </p:nvSpPr>
        <p:spPr>
          <a:xfrm>
            <a:off x="7033659" y="2759716"/>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0" name="Google Shape;260;p27"/>
          <p:cNvSpPr/>
          <p:nvPr/>
        </p:nvSpPr>
        <p:spPr>
          <a:xfrm>
            <a:off x="7114715" y="2991791"/>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1" name="Google Shape;261;p27"/>
          <p:cNvSpPr/>
          <p:nvPr/>
        </p:nvSpPr>
        <p:spPr>
          <a:xfrm>
            <a:off x="6997410" y="3132475"/>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2" name="Google Shape;262;p27"/>
          <p:cNvSpPr/>
          <p:nvPr/>
        </p:nvSpPr>
        <p:spPr>
          <a:xfrm>
            <a:off x="7396435" y="3131001"/>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3" name="Google Shape;263;p27"/>
          <p:cNvSpPr/>
          <p:nvPr/>
        </p:nvSpPr>
        <p:spPr>
          <a:xfrm>
            <a:off x="6857702" y="2921448"/>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4" name="Google Shape;264;p27"/>
          <p:cNvSpPr/>
          <p:nvPr/>
        </p:nvSpPr>
        <p:spPr>
          <a:xfrm>
            <a:off x="7114715" y="1995638"/>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5" name="Google Shape;265;p27"/>
          <p:cNvSpPr/>
          <p:nvPr/>
        </p:nvSpPr>
        <p:spPr>
          <a:xfrm>
            <a:off x="7139999" y="1777487"/>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6" name="Google Shape;266;p27"/>
          <p:cNvSpPr/>
          <p:nvPr/>
        </p:nvSpPr>
        <p:spPr>
          <a:xfrm>
            <a:off x="7279129" y="2204638"/>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7" name="Google Shape;267;p27"/>
          <p:cNvSpPr/>
          <p:nvPr/>
        </p:nvSpPr>
        <p:spPr>
          <a:xfrm>
            <a:off x="6938758" y="2223872"/>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8" name="Google Shape;268;p27"/>
          <p:cNvSpPr/>
          <p:nvPr/>
        </p:nvSpPr>
        <p:spPr>
          <a:xfrm>
            <a:off x="6815296" y="2025674"/>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69" name="Google Shape;269;p27"/>
          <p:cNvSpPr/>
          <p:nvPr/>
        </p:nvSpPr>
        <p:spPr>
          <a:xfrm>
            <a:off x="7794646" y="2579597"/>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0" name="Google Shape;270;p27"/>
          <p:cNvSpPr/>
          <p:nvPr/>
        </p:nvSpPr>
        <p:spPr>
          <a:xfrm>
            <a:off x="7301176" y="2480509"/>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1" name="Google Shape;271;p27"/>
          <p:cNvSpPr/>
          <p:nvPr/>
        </p:nvSpPr>
        <p:spPr>
          <a:xfrm>
            <a:off x="7604720" y="2345322"/>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2" name="Google Shape;272;p27"/>
          <p:cNvSpPr/>
          <p:nvPr/>
        </p:nvSpPr>
        <p:spPr>
          <a:xfrm>
            <a:off x="8082469" y="2136324"/>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3" name="Google Shape;273;p27"/>
          <p:cNvSpPr/>
          <p:nvPr/>
        </p:nvSpPr>
        <p:spPr>
          <a:xfrm>
            <a:off x="7782774" y="3089200"/>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4" name="Google Shape;274;p27"/>
          <p:cNvSpPr/>
          <p:nvPr/>
        </p:nvSpPr>
        <p:spPr>
          <a:xfrm>
            <a:off x="7604720" y="2720282"/>
            <a:ext cx="117300" cy="140700"/>
          </a:xfrm>
          <a:prstGeom prst="ellipse">
            <a:avLst/>
          </a:prstGeom>
          <a:solidFill>
            <a:srgbClr val="004FD2"/>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sp>
        <p:nvSpPr>
          <p:cNvPr id="275" name="Google Shape;275;p27"/>
          <p:cNvSpPr/>
          <p:nvPr/>
        </p:nvSpPr>
        <p:spPr>
          <a:xfrm>
            <a:off x="7279129" y="2991791"/>
            <a:ext cx="117300" cy="140700"/>
          </a:xfrm>
          <a:prstGeom prst="ellipse">
            <a:avLst/>
          </a:prstGeom>
          <a:solidFill>
            <a:srgbClr val="D23200"/>
          </a:solidFill>
          <a:ln>
            <a:noFill/>
          </a:ln>
        </p:spPr>
        <p:txBody>
          <a:bodyPr anchorCtr="0" anchor="ctr" bIns="35700" lIns="35700" spcFirstLastPara="1" rIns="35700" wrap="square" tIns="35700">
            <a:noAutofit/>
          </a:bodyPr>
          <a:lstStyle/>
          <a:p>
            <a:pPr indent="0" lvl="0" marL="0" marR="0" rtl="0" algn="l">
              <a:spcBef>
                <a:spcPts val="0"/>
              </a:spcBef>
              <a:spcAft>
                <a:spcPts val="0"/>
              </a:spcAft>
              <a:buClr>
                <a:srgbClr val="000000"/>
              </a:buClr>
              <a:buSzPts val="1800"/>
              <a:buFont typeface="Calibri"/>
              <a:buNone/>
            </a:pPr>
            <a:r>
              <a:t/>
            </a:r>
            <a:endParaRPr sz="1800">
              <a:solidFill>
                <a:srgbClr val="000000"/>
              </a:solidFill>
              <a:latin typeface="Calibri"/>
              <a:ea typeface="Calibri"/>
              <a:cs typeface="Calibri"/>
              <a:sym typeface="Calibri"/>
            </a:endParaRPr>
          </a:p>
        </p:txBody>
      </p:sp>
      <p:cxnSp>
        <p:nvCxnSpPr>
          <p:cNvPr id="276" name="Google Shape;276;p27"/>
          <p:cNvCxnSpPr/>
          <p:nvPr/>
        </p:nvCxnSpPr>
        <p:spPr>
          <a:xfrm>
            <a:off x="6622431" y="2057622"/>
            <a:ext cx="1192800" cy="1325400"/>
          </a:xfrm>
          <a:prstGeom prst="straightConnector1">
            <a:avLst/>
          </a:prstGeom>
          <a:noFill/>
          <a:ln cap="rnd" cmpd="sng" w="25400">
            <a:solidFill>
              <a:srgbClr val="000000"/>
            </a:solidFill>
            <a:prstDash val="dashDot"/>
            <a:round/>
            <a:headEnd len="sm" w="sm" type="none"/>
            <a:tailEnd len="sm" w="sm" type="none"/>
          </a:ln>
        </p:spPr>
      </p:cxnSp>
      <p:sp>
        <p:nvSpPr>
          <p:cNvPr id="277" name="Google Shape;277;p27"/>
          <p:cNvSpPr txBox="1"/>
          <p:nvPr/>
        </p:nvSpPr>
        <p:spPr>
          <a:xfrm>
            <a:off x="6324473" y="1647725"/>
            <a:ext cx="423300" cy="4002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y</a:t>
            </a:r>
            <a:r>
              <a:rPr baseline="30000" lang="en" sz="2500">
                <a:solidFill>
                  <a:srgbClr val="000000"/>
                </a:solidFill>
                <a:latin typeface="Calibri"/>
                <a:ea typeface="Calibri"/>
                <a:cs typeface="Calibri"/>
                <a:sym typeface="Calibri"/>
              </a:rPr>
              <a:t>2</a:t>
            </a:r>
            <a:endParaRPr baseline="30000" sz="2500">
              <a:solidFill>
                <a:srgbClr val="000000"/>
              </a:solidFill>
              <a:latin typeface="Calibri"/>
              <a:ea typeface="Calibri"/>
              <a:cs typeface="Calibri"/>
              <a:sym typeface="Calibri"/>
            </a:endParaRPr>
          </a:p>
        </p:txBody>
      </p:sp>
      <p:sp>
        <p:nvSpPr>
          <p:cNvPr id="278" name="Google Shape;278;p27"/>
          <p:cNvSpPr txBox="1"/>
          <p:nvPr/>
        </p:nvSpPr>
        <p:spPr>
          <a:xfrm>
            <a:off x="7794645" y="3296875"/>
            <a:ext cx="465900" cy="400200"/>
          </a:xfrm>
          <a:prstGeom prst="rect">
            <a:avLst/>
          </a:prstGeom>
          <a:noFill/>
          <a:ln>
            <a:noFill/>
          </a:ln>
        </p:spPr>
        <p:txBody>
          <a:bodyPr anchorCtr="0" anchor="ctr" bIns="35700" lIns="35700" spcFirstLastPara="1" rIns="35700" wrap="square" tIns="35700">
            <a:noAutofit/>
          </a:bodyPr>
          <a:lstStyle/>
          <a:p>
            <a:pPr indent="0" lvl="0" marL="0" marR="0" rtl="0" algn="l">
              <a:lnSpc>
                <a:spcPct val="120000"/>
              </a:lnSpc>
              <a:spcBef>
                <a:spcPts val="0"/>
              </a:spcBef>
              <a:spcAft>
                <a:spcPts val="0"/>
              </a:spcAft>
              <a:buClr>
                <a:srgbClr val="000000"/>
              </a:buClr>
              <a:buSzPts val="2800"/>
              <a:buFont typeface="Open Sans"/>
              <a:buNone/>
            </a:pPr>
            <a:r>
              <a:rPr lang="en" sz="2500">
                <a:solidFill>
                  <a:srgbClr val="000000"/>
                </a:solidFill>
                <a:latin typeface="Calibri"/>
                <a:ea typeface="Calibri"/>
                <a:cs typeface="Calibri"/>
                <a:sym typeface="Calibri"/>
              </a:rPr>
              <a:t>x</a:t>
            </a:r>
            <a:r>
              <a:rPr baseline="30000" lang="en" sz="2500">
                <a:solidFill>
                  <a:srgbClr val="000000"/>
                </a:solidFill>
                <a:latin typeface="Calibri"/>
                <a:ea typeface="Calibri"/>
                <a:cs typeface="Calibri"/>
                <a:sym typeface="Calibri"/>
              </a:rPr>
              <a:t>2</a:t>
            </a:r>
            <a:endParaRPr baseline="30000" sz="2500">
              <a:solidFill>
                <a:srgbClr val="000000"/>
              </a:solidFill>
              <a:latin typeface="Calibri"/>
              <a:ea typeface="Calibri"/>
              <a:cs typeface="Calibri"/>
              <a:sym typeface="Calibri"/>
            </a:endParaRPr>
          </a:p>
        </p:txBody>
      </p:sp>
      <p:cxnSp>
        <p:nvCxnSpPr>
          <p:cNvPr id="279" name="Google Shape;279;p27"/>
          <p:cNvCxnSpPr/>
          <p:nvPr/>
        </p:nvCxnSpPr>
        <p:spPr>
          <a:xfrm>
            <a:off x="2932888" y="2621925"/>
            <a:ext cx="326400" cy="0"/>
          </a:xfrm>
          <a:prstGeom prst="straightConnector1">
            <a:avLst/>
          </a:prstGeom>
          <a:noFill/>
          <a:ln cap="flat" cmpd="sng" w="28575">
            <a:solidFill>
              <a:srgbClr val="6AA84F"/>
            </a:solidFill>
            <a:prstDash val="solid"/>
            <a:round/>
            <a:headEnd len="med" w="med" type="none"/>
            <a:tailEnd len="med" w="med" type="triangle"/>
          </a:ln>
        </p:spPr>
      </p:cxnSp>
      <p:cxnSp>
        <p:nvCxnSpPr>
          <p:cNvPr id="280" name="Google Shape;280;p27"/>
          <p:cNvCxnSpPr/>
          <p:nvPr/>
        </p:nvCxnSpPr>
        <p:spPr>
          <a:xfrm>
            <a:off x="5847125" y="2600525"/>
            <a:ext cx="326400" cy="0"/>
          </a:xfrm>
          <a:prstGeom prst="straightConnector1">
            <a:avLst/>
          </a:prstGeom>
          <a:noFill/>
          <a:ln cap="flat" cmpd="sng" w="28575">
            <a:solidFill>
              <a:srgbClr val="6AA84F"/>
            </a:solidFill>
            <a:prstDash val="solid"/>
            <a:round/>
            <a:headEnd len="med" w="med" type="none"/>
            <a:tailEnd len="med" w="med" type="triangle"/>
          </a:ln>
        </p:spPr>
      </p:cxnSp>
      <p:sp>
        <p:nvSpPr>
          <p:cNvPr id="281" name="Google Shape;281;p27"/>
          <p:cNvSpPr txBox="1"/>
          <p:nvPr/>
        </p:nvSpPr>
        <p:spPr>
          <a:xfrm rot="-5400000">
            <a:off x="-348550" y="4211625"/>
            <a:ext cx="1259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Fira Code"/>
                <a:ea typeface="Fira Code"/>
                <a:cs typeface="Fira Code"/>
                <a:sym typeface="Fira Code"/>
              </a:rPr>
              <a:t>FEATURES</a:t>
            </a:r>
            <a:endParaRPr sz="1600">
              <a:latin typeface="Fira Code"/>
              <a:ea typeface="Fira Code"/>
              <a:cs typeface="Fira Code"/>
              <a:sym typeface="Fira Code"/>
            </a:endParaRPr>
          </a:p>
        </p:txBody>
      </p:sp>
      <p:sp>
        <p:nvSpPr>
          <p:cNvPr id="282" name="Google Shape;282;p27"/>
          <p:cNvSpPr/>
          <p:nvPr/>
        </p:nvSpPr>
        <p:spPr>
          <a:xfrm>
            <a:off x="1295975" y="4152500"/>
            <a:ext cx="308700" cy="7650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x</a:t>
            </a:r>
            <a:endParaRPr sz="2000">
              <a:latin typeface="Calibri"/>
              <a:ea typeface="Calibri"/>
              <a:cs typeface="Calibri"/>
              <a:sym typeface="Calibri"/>
            </a:endParaRPr>
          </a:p>
          <a:p>
            <a:pPr indent="0" lvl="0" marL="0" rtl="0" algn="l">
              <a:spcBef>
                <a:spcPts val="0"/>
              </a:spcBef>
              <a:spcAft>
                <a:spcPts val="0"/>
              </a:spcAft>
              <a:buNone/>
            </a:pPr>
            <a:r>
              <a:rPr lang="en" sz="2000">
                <a:latin typeface="Calibri"/>
                <a:ea typeface="Calibri"/>
                <a:cs typeface="Calibri"/>
                <a:sym typeface="Calibri"/>
              </a:rPr>
              <a:t>y</a:t>
            </a:r>
            <a:endParaRPr sz="2000">
              <a:latin typeface="Calibri"/>
              <a:ea typeface="Calibri"/>
              <a:cs typeface="Calibri"/>
              <a:sym typeface="Calibri"/>
            </a:endParaRPr>
          </a:p>
        </p:txBody>
      </p:sp>
      <p:sp>
        <p:nvSpPr>
          <p:cNvPr id="283" name="Google Shape;283;p27"/>
          <p:cNvSpPr/>
          <p:nvPr/>
        </p:nvSpPr>
        <p:spPr>
          <a:xfrm>
            <a:off x="3621950" y="4109775"/>
            <a:ext cx="1386300" cy="6963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x</a:t>
            </a:r>
            <a:r>
              <a:rPr lang="en" sz="2000">
                <a:latin typeface="Calibri"/>
                <a:ea typeface="Calibri"/>
                <a:cs typeface="Calibri"/>
                <a:sym typeface="Calibri"/>
              </a:rPr>
              <a:t>      </a:t>
            </a:r>
            <a:r>
              <a:rPr lang="en" sz="2000">
                <a:latin typeface="Calibri"/>
                <a:ea typeface="Calibri"/>
                <a:cs typeface="Calibri"/>
                <a:sym typeface="Calibri"/>
              </a:rPr>
              <a:t> </a:t>
            </a:r>
            <a:r>
              <a:rPr lang="en" sz="2000">
                <a:latin typeface="Calibri"/>
                <a:ea typeface="Calibri"/>
                <a:cs typeface="Calibri"/>
                <a:sym typeface="Calibri"/>
              </a:rPr>
              <a:t>x</a:t>
            </a:r>
            <a:r>
              <a:rPr baseline="30000" lang="en" sz="2000">
                <a:latin typeface="Calibri"/>
                <a:ea typeface="Calibri"/>
                <a:cs typeface="Calibri"/>
                <a:sym typeface="Calibri"/>
              </a:rPr>
              <a:t>2</a:t>
            </a:r>
            <a:r>
              <a:rPr lang="en" sz="2000">
                <a:latin typeface="Calibri"/>
                <a:ea typeface="Calibri"/>
                <a:cs typeface="Calibri"/>
                <a:sym typeface="Calibri"/>
              </a:rPr>
              <a:t> + y</a:t>
            </a:r>
            <a:r>
              <a:rPr baseline="30000" lang="en" sz="2000">
                <a:latin typeface="Calibri"/>
                <a:ea typeface="Calibri"/>
                <a:cs typeface="Calibri"/>
                <a:sym typeface="Calibri"/>
              </a:rPr>
              <a:t>2</a:t>
            </a:r>
            <a:endParaRPr baseline="30000" sz="2000">
              <a:latin typeface="Calibri"/>
              <a:ea typeface="Calibri"/>
              <a:cs typeface="Calibri"/>
              <a:sym typeface="Calibri"/>
            </a:endParaRPr>
          </a:p>
          <a:p>
            <a:pPr indent="0" lvl="0" marL="0" rtl="0" algn="l">
              <a:spcBef>
                <a:spcPts val="0"/>
              </a:spcBef>
              <a:spcAft>
                <a:spcPts val="0"/>
              </a:spcAft>
              <a:buNone/>
            </a:pPr>
            <a:r>
              <a:rPr lang="en" sz="2000">
                <a:latin typeface="Calibri"/>
                <a:ea typeface="Calibri"/>
                <a:cs typeface="Calibri"/>
                <a:sym typeface="Calibri"/>
              </a:rPr>
              <a:t>y</a:t>
            </a:r>
            <a:endParaRPr sz="2000">
              <a:latin typeface="Calibri"/>
              <a:ea typeface="Calibri"/>
              <a:cs typeface="Calibri"/>
              <a:sym typeface="Calibri"/>
            </a:endParaRPr>
          </a:p>
        </p:txBody>
      </p:sp>
      <p:sp>
        <p:nvSpPr>
          <p:cNvPr id="284" name="Google Shape;284;p27"/>
          <p:cNvSpPr/>
          <p:nvPr/>
        </p:nvSpPr>
        <p:spPr>
          <a:xfrm>
            <a:off x="7198650" y="4206125"/>
            <a:ext cx="807900" cy="5148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x</a:t>
            </a:r>
            <a:r>
              <a:rPr baseline="30000" lang="en" sz="2000">
                <a:latin typeface="Calibri"/>
                <a:ea typeface="Calibri"/>
                <a:cs typeface="Calibri"/>
                <a:sym typeface="Calibri"/>
              </a:rPr>
              <a:t>2</a:t>
            </a:r>
            <a:r>
              <a:rPr lang="en" sz="2000">
                <a:latin typeface="Calibri"/>
                <a:ea typeface="Calibri"/>
                <a:cs typeface="Calibri"/>
                <a:sym typeface="Calibri"/>
              </a:rPr>
              <a:t> + y</a:t>
            </a:r>
            <a:r>
              <a:rPr baseline="30000" lang="en" sz="2000">
                <a:latin typeface="Calibri"/>
                <a:ea typeface="Calibri"/>
                <a:cs typeface="Calibri"/>
                <a:sym typeface="Calibri"/>
              </a:rPr>
              <a:t>2</a:t>
            </a:r>
            <a:endParaRPr sz="2000">
              <a:latin typeface="Calibri"/>
              <a:ea typeface="Calibri"/>
              <a:cs typeface="Calibri"/>
              <a:sym typeface="Calibri"/>
            </a:endParaRPr>
          </a:p>
        </p:txBody>
      </p:sp>
      <p:sp>
        <p:nvSpPr>
          <p:cNvPr id="285" name="Google Shape;28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Under/Overfitting</a:t>
            </a:r>
            <a:endParaRPr/>
          </a:p>
        </p:txBody>
      </p:sp>
      <p:pic>
        <p:nvPicPr>
          <p:cNvPr descr="Image" id="291" name="Google Shape;291;p28"/>
          <p:cNvPicPr preferRelativeResize="0"/>
          <p:nvPr/>
        </p:nvPicPr>
        <p:blipFill rotWithShape="1">
          <a:blip r:embed="rId3">
            <a:alphaModFix/>
          </a:blip>
          <a:srcRect b="0" l="0" r="12288" t="12365"/>
          <a:stretch/>
        </p:blipFill>
        <p:spPr>
          <a:xfrm>
            <a:off x="4827550" y="1138400"/>
            <a:ext cx="3582099" cy="2960825"/>
          </a:xfrm>
          <a:prstGeom prst="rect">
            <a:avLst/>
          </a:prstGeom>
          <a:noFill/>
          <a:ln>
            <a:noFill/>
          </a:ln>
        </p:spPr>
      </p:pic>
      <p:pic>
        <p:nvPicPr>
          <p:cNvPr id="292" name="Google Shape;292;p28"/>
          <p:cNvPicPr preferRelativeResize="0"/>
          <p:nvPr/>
        </p:nvPicPr>
        <p:blipFill rotWithShape="1">
          <a:blip r:embed="rId4">
            <a:alphaModFix/>
          </a:blip>
          <a:srcRect b="20829" l="0" r="69784" t="0"/>
          <a:stretch/>
        </p:blipFill>
        <p:spPr>
          <a:xfrm>
            <a:off x="637625" y="1176650"/>
            <a:ext cx="2116451" cy="2402700"/>
          </a:xfrm>
          <a:prstGeom prst="rect">
            <a:avLst/>
          </a:prstGeom>
          <a:noFill/>
          <a:ln>
            <a:noFill/>
          </a:ln>
        </p:spPr>
      </p:pic>
      <p:pic>
        <p:nvPicPr>
          <p:cNvPr id="293" name="Google Shape;293;p28"/>
          <p:cNvPicPr preferRelativeResize="0"/>
          <p:nvPr/>
        </p:nvPicPr>
        <p:blipFill rotWithShape="1">
          <a:blip r:embed="rId4">
            <a:alphaModFix/>
          </a:blip>
          <a:srcRect b="20829" l="69784" r="0" t="0"/>
          <a:stretch/>
        </p:blipFill>
        <p:spPr>
          <a:xfrm>
            <a:off x="2711101" y="2457725"/>
            <a:ext cx="2116451" cy="2402700"/>
          </a:xfrm>
          <a:prstGeom prst="rect">
            <a:avLst/>
          </a:prstGeom>
          <a:noFill/>
          <a:ln>
            <a:noFill/>
          </a:ln>
        </p:spPr>
      </p:pic>
      <p:sp>
        <p:nvSpPr>
          <p:cNvPr id="294" name="Google Shape;294;p28"/>
          <p:cNvSpPr txBox="1"/>
          <p:nvPr/>
        </p:nvSpPr>
        <p:spPr>
          <a:xfrm>
            <a:off x="5769750" y="4292125"/>
            <a:ext cx="231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Overfitting on our data.</a:t>
            </a:r>
            <a:endParaRPr sz="1600">
              <a:latin typeface="Calibri"/>
              <a:ea typeface="Calibri"/>
              <a:cs typeface="Calibri"/>
              <a:sym typeface="Calibri"/>
            </a:endParaRPr>
          </a:p>
        </p:txBody>
      </p:sp>
      <p:sp>
        <p:nvSpPr>
          <p:cNvPr id="295" name="Google Shape;29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Evaluation of Over / Underfitting</a:t>
            </a:r>
            <a:endParaRPr/>
          </a:p>
        </p:txBody>
      </p:sp>
      <p:sp>
        <p:nvSpPr>
          <p:cNvPr id="301" name="Google Shape;30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29"/>
          <p:cNvSpPr/>
          <p:nvPr/>
        </p:nvSpPr>
        <p:spPr>
          <a:xfrm>
            <a:off x="383325" y="1399338"/>
            <a:ext cx="952200" cy="1807800"/>
          </a:xfrm>
          <a:prstGeom prst="rect">
            <a:avLst/>
          </a:prstGeom>
          <a:solidFill>
            <a:srgbClr val="5EAB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training data</a:t>
            </a:r>
            <a:endParaRPr>
              <a:solidFill>
                <a:schemeClr val="lt1"/>
              </a:solidFill>
              <a:latin typeface="Calibri"/>
              <a:ea typeface="Calibri"/>
              <a:cs typeface="Calibri"/>
              <a:sym typeface="Calibri"/>
            </a:endParaRPr>
          </a:p>
        </p:txBody>
      </p:sp>
      <p:sp>
        <p:nvSpPr>
          <p:cNvPr id="303" name="Google Shape;303;p29"/>
          <p:cNvSpPr/>
          <p:nvPr/>
        </p:nvSpPr>
        <p:spPr>
          <a:xfrm>
            <a:off x="383325" y="3208963"/>
            <a:ext cx="952200" cy="802500"/>
          </a:xfrm>
          <a:prstGeom prst="rect">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validation data</a:t>
            </a:r>
            <a:endParaRPr>
              <a:solidFill>
                <a:schemeClr val="lt1"/>
              </a:solidFill>
              <a:latin typeface="Calibri"/>
              <a:ea typeface="Calibri"/>
              <a:cs typeface="Calibri"/>
              <a:sym typeface="Calibri"/>
            </a:endParaRPr>
          </a:p>
        </p:txBody>
      </p:sp>
      <p:sp>
        <p:nvSpPr>
          <p:cNvPr id="304" name="Google Shape;304;p29"/>
          <p:cNvSpPr/>
          <p:nvPr/>
        </p:nvSpPr>
        <p:spPr>
          <a:xfrm>
            <a:off x="383325" y="4013263"/>
            <a:ext cx="952200" cy="802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test data</a:t>
            </a:r>
            <a:endParaRPr>
              <a:solidFill>
                <a:schemeClr val="lt1"/>
              </a:solidFill>
              <a:latin typeface="Calibri"/>
              <a:ea typeface="Calibri"/>
              <a:cs typeface="Calibri"/>
              <a:sym typeface="Calibri"/>
            </a:endParaRPr>
          </a:p>
        </p:txBody>
      </p:sp>
      <p:grpSp>
        <p:nvGrpSpPr>
          <p:cNvPr id="305" name="Google Shape;305;p29"/>
          <p:cNvGrpSpPr/>
          <p:nvPr/>
        </p:nvGrpSpPr>
        <p:grpSpPr>
          <a:xfrm>
            <a:off x="2081900" y="1059299"/>
            <a:ext cx="6158475" cy="3616376"/>
            <a:chOff x="1891400" y="1144462"/>
            <a:chExt cx="6158475" cy="3616376"/>
          </a:xfrm>
        </p:grpSpPr>
        <p:sp>
          <p:nvSpPr>
            <p:cNvPr id="306" name="Google Shape;306;p29"/>
            <p:cNvSpPr/>
            <p:nvPr/>
          </p:nvSpPr>
          <p:spPr>
            <a:xfrm>
              <a:off x="1891400" y="1935738"/>
              <a:ext cx="4021500" cy="2825100"/>
            </a:xfrm>
            <a:prstGeom prst="wedgeRoundRectCallout">
              <a:avLst>
                <a:gd fmla="val 56976" name="adj1"/>
                <a:gd fmla="val -36208"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latin typeface="Calibri"/>
                  <a:ea typeface="Calibri"/>
                  <a:cs typeface="Calibri"/>
                  <a:sym typeface="Calibri"/>
                </a:rPr>
                <a:t>Check whether you’re overfitting by evaluating </a:t>
              </a:r>
              <a:r>
                <a:rPr lang="en" sz="2200">
                  <a:latin typeface="Calibri"/>
                  <a:ea typeface="Calibri"/>
                  <a:cs typeface="Calibri"/>
                  <a:sym typeface="Calibri"/>
                </a:rPr>
                <a:t>different</a:t>
              </a:r>
              <a:r>
                <a:rPr lang="en" sz="2200">
                  <a:latin typeface="Calibri"/>
                  <a:ea typeface="Calibri"/>
                  <a:cs typeface="Calibri"/>
                  <a:sym typeface="Calibri"/>
                </a:rPr>
                <a:t> model settings on the </a:t>
              </a:r>
              <a:r>
                <a:rPr b="1" lang="en" sz="2200">
                  <a:latin typeface="Calibri"/>
                  <a:ea typeface="Calibri"/>
                  <a:cs typeface="Calibri"/>
                  <a:sym typeface="Calibri"/>
                </a:rPr>
                <a:t>validation data</a:t>
              </a:r>
              <a:r>
                <a:rPr lang="en" sz="2200">
                  <a:latin typeface="Calibri"/>
                  <a:ea typeface="Calibri"/>
                  <a:cs typeface="Calibri"/>
                  <a:sym typeface="Calibri"/>
                </a:rPr>
                <a:t>.</a:t>
              </a:r>
              <a:endParaRPr sz="2200">
                <a:latin typeface="Calibri"/>
                <a:ea typeface="Calibri"/>
                <a:cs typeface="Calibri"/>
                <a:sym typeface="Calibri"/>
              </a:endParaRPr>
            </a:p>
            <a:p>
              <a:pPr indent="0" lvl="0" marL="0" rtl="0" algn="ctr">
                <a:spcBef>
                  <a:spcPts val="0"/>
                </a:spcBef>
                <a:spcAft>
                  <a:spcPts val="0"/>
                </a:spcAft>
                <a:buNone/>
              </a:pPr>
              <a:r>
                <a:t/>
              </a:r>
              <a:endParaRPr sz="2200">
                <a:latin typeface="Calibri"/>
                <a:ea typeface="Calibri"/>
                <a:cs typeface="Calibri"/>
                <a:sym typeface="Calibri"/>
              </a:endParaRPr>
            </a:p>
            <a:p>
              <a:pPr indent="0" lvl="0" marL="0" rtl="0" algn="ctr">
                <a:spcBef>
                  <a:spcPts val="0"/>
                </a:spcBef>
                <a:spcAft>
                  <a:spcPts val="0"/>
                </a:spcAft>
                <a:buNone/>
              </a:pPr>
              <a:r>
                <a:rPr lang="en" sz="2200">
                  <a:latin typeface="Calibri"/>
                  <a:ea typeface="Calibri"/>
                  <a:cs typeface="Calibri"/>
                  <a:sym typeface="Calibri"/>
                </a:rPr>
                <a:t>Or use </a:t>
              </a:r>
              <a:r>
                <a:rPr b="1" lang="en" sz="2200">
                  <a:latin typeface="Calibri"/>
                  <a:ea typeface="Calibri"/>
                  <a:cs typeface="Calibri"/>
                  <a:sym typeface="Calibri"/>
                </a:rPr>
                <a:t>cross-validation</a:t>
              </a:r>
              <a:r>
                <a:rPr lang="en" sz="2200">
                  <a:latin typeface="Calibri"/>
                  <a:ea typeface="Calibri"/>
                  <a:cs typeface="Calibri"/>
                  <a:sym typeface="Calibri"/>
                </a:rPr>
                <a:t> when you have a small dataset.</a:t>
              </a:r>
              <a:endParaRPr sz="2200">
                <a:latin typeface="Calibri"/>
                <a:ea typeface="Calibri"/>
                <a:cs typeface="Calibri"/>
                <a:sym typeface="Calibri"/>
              </a:endParaRPr>
            </a:p>
          </p:txBody>
        </p:sp>
        <p:pic>
          <p:nvPicPr>
            <p:cNvPr id="307" name="Google Shape;307;p29"/>
            <p:cNvPicPr preferRelativeResize="0"/>
            <p:nvPr/>
          </p:nvPicPr>
          <p:blipFill>
            <a:blip r:embed="rId3">
              <a:alphaModFix/>
            </a:blip>
            <a:stretch>
              <a:fillRect/>
            </a:stretch>
          </p:blipFill>
          <p:spPr>
            <a:xfrm rot="-334264">
              <a:off x="6192431" y="1223834"/>
              <a:ext cx="1748511" cy="2329181"/>
            </a:xfrm>
            <a:prstGeom prst="rect">
              <a:avLst/>
            </a:prstGeom>
            <a:noFill/>
            <a:ln>
              <a:noFill/>
            </a:ln>
          </p:spPr>
        </p:pic>
        <p:pic>
          <p:nvPicPr>
            <p:cNvPr id="308" name="Google Shape;308;p29"/>
            <p:cNvPicPr preferRelativeResize="0"/>
            <p:nvPr/>
          </p:nvPicPr>
          <p:blipFill rotWithShape="1">
            <a:blip r:embed="rId4">
              <a:alphaModFix/>
            </a:blip>
            <a:srcRect b="0" l="23282" r="23282" t="0"/>
            <a:stretch/>
          </p:blipFill>
          <p:spPr>
            <a:xfrm rot="-2700106">
              <a:off x="6014360" y="1781727"/>
              <a:ext cx="574630" cy="1075398"/>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3: </a:t>
            </a:r>
            <a:r>
              <a:rPr lang="en">
                <a:solidFill>
                  <a:schemeClr val="lt1"/>
                </a:solidFill>
              </a:rPr>
              <a:t>Model Class Selection for Regression</a:t>
            </a:r>
            <a:endParaRPr>
              <a:solidFill>
                <a:schemeClr val="lt1"/>
              </a:solidFill>
            </a:endParaRPr>
          </a:p>
        </p:txBody>
      </p:sp>
      <p:sp>
        <p:nvSpPr>
          <p:cNvPr id="314" name="Google Shape;31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Let’s Start with an Example: Regression</a:t>
            </a:r>
            <a:endParaRPr/>
          </a:p>
        </p:txBody>
      </p:sp>
      <p:sp>
        <p:nvSpPr>
          <p:cNvPr id="320" name="Google Shape;320;p31"/>
          <p:cNvSpPr txBox="1"/>
          <p:nvPr>
            <p:ph idx="1" type="body"/>
          </p:nvPr>
        </p:nvSpPr>
        <p:spPr>
          <a:xfrm>
            <a:off x="699350" y="1317725"/>
            <a:ext cx="7710300" cy="495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Recall </a:t>
            </a:r>
            <a:r>
              <a:rPr lang="en">
                <a:solidFill>
                  <a:srgbClr val="1155CC"/>
                </a:solidFill>
              </a:rPr>
              <a:t>Mean Squared Error (MSE)</a:t>
            </a:r>
            <a:r>
              <a:rPr lang="en"/>
              <a:t> function</a:t>
            </a:r>
            <a:endParaRPr/>
          </a:p>
        </p:txBody>
      </p:sp>
      <p:pic>
        <p:nvPicPr>
          <p:cNvPr descr="Image" id="321" name="Google Shape;321;p31"/>
          <p:cNvPicPr preferRelativeResize="0"/>
          <p:nvPr/>
        </p:nvPicPr>
        <p:blipFill rotWithShape="1">
          <a:blip r:embed="rId3">
            <a:alphaModFix/>
          </a:blip>
          <a:srcRect b="0" l="0" r="0" t="0"/>
          <a:stretch/>
        </p:blipFill>
        <p:spPr>
          <a:xfrm>
            <a:off x="716850" y="1929860"/>
            <a:ext cx="3236399" cy="2918315"/>
          </a:xfrm>
          <a:prstGeom prst="rect">
            <a:avLst/>
          </a:prstGeom>
          <a:noFill/>
          <a:ln>
            <a:noFill/>
          </a:ln>
        </p:spPr>
      </p:pic>
      <p:sp>
        <p:nvSpPr>
          <p:cNvPr id="322" name="Google Shape;322;p31"/>
          <p:cNvSpPr txBox="1"/>
          <p:nvPr/>
        </p:nvSpPr>
        <p:spPr>
          <a:xfrm>
            <a:off x="4243825" y="2839575"/>
            <a:ext cx="4259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rgbClr val="000000"/>
                </a:solidFill>
                <a:latin typeface="Calibri"/>
                <a:ea typeface="Calibri"/>
                <a:cs typeface="Calibri"/>
                <a:sym typeface="Calibri"/>
              </a:rPr>
              <a:t>For each point, take its distance from the prediction, square, and </a:t>
            </a:r>
            <a:r>
              <a:rPr lang="en" sz="1800">
                <a:latin typeface="Calibri"/>
                <a:ea typeface="Calibri"/>
                <a:cs typeface="Calibri"/>
                <a:sym typeface="Calibri"/>
              </a:rPr>
              <a:t>take the average.</a:t>
            </a:r>
            <a:endParaRPr sz="1800">
              <a:solidFill>
                <a:srgbClr val="000000"/>
              </a:solidFill>
              <a:latin typeface="Calibri"/>
              <a:ea typeface="Calibri"/>
              <a:cs typeface="Calibri"/>
              <a:sym typeface="Calibri"/>
            </a:endParaRPr>
          </a:p>
        </p:txBody>
      </p:sp>
      <p:sp>
        <p:nvSpPr>
          <p:cNvPr id="323" name="Google Shape;323;p31"/>
          <p:cNvSpPr/>
          <p:nvPr/>
        </p:nvSpPr>
        <p:spPr>
          <a:xfrm flipH="1">
            <a:off x="4028350" y="4370875"/>
            <a:ext cx="138300" cy="1227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4" name="Google Shape;324;p31"/>
          <p:cNvCxnSpPr/>
          <p:nvPr/>
        </p:nvCxnSpPr>
        <p:spPr>
          <a:xfrm flipH="1">
            <a:off x="4056600" y="4625425"/>
            <a:ext cx="150900" cy="141300"/>
          </a:xfrm>
          <a:prstGeom prst="straightConnector1">
            <a:avLst/>
          </a:prstGeom>
          <a:noFill/>
          <a:ln cap="flat" cmpd="sng" w="28575">
            <a:solidFill>
              <a:srgbClr val="CC0000"/>
            </a:solidFill>
            <a:prstDash val="solid"/>
            <a:round/>
            <a:headEnd len="med" w="med" type="none"/>
            <a:tailEnd len="med" w="med" type="none"/>
          </a:ln>
        </p:spPr>
      </p:cxnSp>
      <p:sp>
        <p:nvSpPr>
          <p:cNvPr id="325" name="Google Shape;32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31"/>
          <p:cNvSpPr txBox="1"/>
          <p:nvPr/>
        </p:nvSpPr>
        <p:spPr>
          <a:xfrm>
            <a:off x="4241750" y="4232125"/>
            <a:ext cx="203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data point       (x,y)</a:t>
            </a:r>
            <a:endParaRPr>
              <a:latin typeface="Calibri"/>
              <a:ea typeface="Calibri"/>
              <a:cs typeface="Calibri"/>
              <a:sym typeface="Calibri"/>
            </a:endParaRPr>
          </a:p>
          <a:p>
            <a:pPr indent="0" lvl="0" marL="0" rtl="0" algn="l">
              <a:lnSpc>
                <a:spcPct val="150000"/>
              </a:lnSpc>
              <a:spcBef>
                <a:spcPts val="0"/>
              </a:spcBef>
              <a:spcAft>
                <a:spcPts val="0"/>
              </a:spcAft>
              <a:buNone/>
            </a:pPr>
            <a:r>
              <a:rPr lang="en">
                <a:latin typeface="Calibri"/>
                <a:ea typeface="Calibri"/>
                <a:cs typeface="Calibri"/>
                <a:sym typeface="Calibri"/>
              </a:rPr>
              <a:t>classifier line  (x, f(x))</a:t>
            </a:r>
            <a:endParaRPr>
              <a:latin typeface="Calibri"/>
              <a:ea typeface="Calibri"/>
              <a:cs typeface="Calibri"/>
              <a:sym typeface="Calibri"/>
            </a:endParaRPr>
          </a:p>
        </p:txBody>
      </p:sp>
      <p:sp>
        <p:nvSpPr>
          <p:cNvPr id="327" name="Google Shape;327;p31"/>
          <p:cNvSpPr txBox="1"/>
          <p:nvPr/>
        </p:nvSpPr>
        <p:spPr>
          <a:xfrm>
            <a:off x="2027125" y="4690525"/>
            <a:ext cx="73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Calibri"/>
                <a:ea typeface="Calibri"/>
                <a:cs typeface="Calibri"/>
                <a:sym typeface="Calibri"/>
              </a:rPr>
              <a:t>x</a:t>
            </a:r>
            <a:endParaRPr sz="1800">
              <a:solidFill>
                <a:srgbClr val="DD4800"/>
              </a:solidFill>
              <a:latin typeface="Calibri"/>
              <a:ea typeface="Calibri"/>
              <a:cs typeface="Calibri"/>
              <a:sym typeface="Calibri"/>
            </a:endParaRPr>
          </a:p>
        </p:txBody>
      </p:sp>
      <p:pic>
        <p:nvPicPr>
          <p:cNvPr descr="{&quot;id&quot;:&quot;3&quot;,&quot;font&quot;:{&quot;color&quot;:&quot;#000000&quot;,&quot;family&quot;:&quot;Arial&quot;,&quot;size&quot;:16.5},&quot;aid&quot;:null,&quot;code&quot;:&quot;$$\\text{MSE}\\left(h,X,y\\right)\\,=\\,\\frac{1}{m}\\sum_{i=1}^{m}\\left(h\\left(X_{i}\\right)-y_{i}\\right)^{2}$$&quot;,&quot;backgroundColor&quot;:&quot;#FFFFFF&quot;,&quot;type&quot;:&quot;$$&quot;,&quot;ts&quot;:1702377669914,&quot;cs&quot;:&quot;miOk5YUwNjXuiLQQlF5GSw==&quot;,&quot;size&quot;:{&quot;width&quot;:415,&quot;height&quot;:66}}" id="328" name="Google Shape;328;p31"/>
          <p:cNvPicPr preferRelativeResize="0"/>
          <p:nvPr/>
        </p:nvPicPr>
        <p:blipFill>
          <a:blip r:embed="rId4">
            <a:alphaModFix/>
          </a:blip>
          <a:stretch>
            <a:fillRect/>
          </a:stretch>
        </p:blipFill>
        <p:spPr>
          <a:xfrm>
            <a:off x="4386755" y="1953815"/>
            <a:ext cx="3952875" cy="628650"/>
          </a:xfrm>
          <a:prstGeom prst="rect">
            <a:avLst/>
          </a:prstGeom>
          <a:noFill/>
          <a:ln>
            <a:noFill/>
          </a:ln>
        </p:spPr>
      </p:pic>
      <p:sp>
        <p:nvSpPr>
          <p:cNvPr id="329" name="Google Shape;329;p31"/>
          <p:cNvSpPr txBox="1"/>
          <p:nvPr/>
        </p:nvSpPr>
        <p:spPr>
          <a:xfrm>
            <a:off x="229075" y="2694650"/>
            <a:ext cx="66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DD4800"/>
                </a:solidFill>
                <a:latin typeface="Calibri"/>
                <a:ea typeface="Calibri"/>
                <a:cs typeface="Calibri"/>
                <a:sym typeface="Calibri"/>
              </a:rPr>
              <a:t>h(x)</a:t>
            </a:r>
            <a:endParaRPr sz="1800">
              <a:solidFill>
                <a:srgbClr val="DD4800"/>
              </a:solidFill>
              <a:latin typeface="Calibri"/>
              <a:ea typeface="Calibri"/>
              <a:cs typeface="Calibri"/>
              <a:sym typeface="Calibri"/>
            </a:endParaRPr>
          </a:p>
        </p:txBody>
      </p:sp>
      <p:sp>
        <p:nvSpPr>
          <p:cNvPr id="330" name="Google Shape;330;p31"/>
          <p:cNvSpPr txBox="1"/>
          <p:nvPr/>
        </p:nvSpPr>
        <p:spPr>
          <a:xfrm>
            <a:off x="343075" y="2998875"/>
            <a:ext cx="54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Calibri"/>
                <a:ea typeface="Calibri"/>
                <a:cs typeface="Calibri"/>
                <a:sym typeface="Calibri"/>
              </a:rPr>
              <a:t>y</a:t>
            </a:r>
            <a:endParaRPr sz="1800">
              <a:solidFill>
                <a:srgbClr val="DD48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Class Selection</a:t>
            </a:r>
            <a:endParaRPr/>
          </a:p>
        </p:txBody>
      </p:sp>
      <p:sp>
        <p:nvSpPr>
          <p:cNvPr id="336" name="Google Shape;336;p32"/>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do we choose to separate this data with a line?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Model class selection refers to choosing how to represent the data in the model.</a:t>
            </a:r>
            <a:endParaRPr/>
          </a:p>
          <a:p>
            <a:pPr indent="0" lvl="0" marL="0" rtl="0" algn="l">
              <a:spcBef>
                <a:spcPts val="1200"/>
              </a:spcBef>
              <a:spcAft>
                <a:spcPts val="1200"/>
              </a:spcAft>
              <a:buNone/>
            </a:pPr>
            <a:r>
              <a:rPr lang="en"/>
              <a:t>What is the hypothesis?</a:t>
            </a:r>
            <a:endParaRPr/>
          </a:p>
        </p:txBody>
      </p:sp>
      <p:pic>
        <p:nvPicPr>
          <p:cNvPr descr="Image" id="337" name="Google Shape;337;p32"/>
          <p:cNvPicPr preferRelativeResize="0"/>
          <p:nvPr/>
        </p:nvPicPr>
        <p:blipFill rotWithShape="1">
          <a:blip r:embed="rId3">
            <a:alphaModFix/>
          </a:blip>
          <a:srcRect b="0" l="0" r="0" t="0"/>
          <a:stretch/>
        </p:blipFill>
        <p:spPr>
          <a:xfrm>
            <a:off x="3764637" y="1843738"/>
            <a:ext cx="1614724" cy="1456025"/>
          </a:xfrm>
          <a:prstGeom prst="rect">
            <a:avLst/>
          </a:prstGeom>
          <a:noFill/>
          <a:ln>
            <a:noFill/>
          </a:ln>
        </p:spPr>
      </p:pic>
      <p:sp>
        <p:nvSpPr>
          <p:cNvPr id="338" name="Google Shape;338;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Selection for Regression</a:t>
            </a:r>
            <a:endParaRPr/>
          </a:p>
        </p:txBody>
      </p:sp>
      <p:sp>
        <p:nvSpPr>
          <p:cNvPr id="344" name="Google Shape;344;p33"/>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simple regression problem: construct hypothesis </a:t>
            </a:r>
            <a:r>
              <a:rPr i="1" lang="en"/>
              <a:t>h</a:t>
            </a:r>
            <a:r>
              <a:rPr lang="en"/>
              <a:t> so that it agrees with what is observed in the dataset </a:t>
            </a:r>
            <a:r>
              <a:rPr i="1" lang="en"/>
              <a:t>f</a:t>
            </a:r>
            <a:r>
              <a:rPr lang="en"/>
              <a:t>.</a:t>
            </a:r>
            <a:endParaRPr/>
          </a:p>
          <a:p>
            <a:pPr indent="-342900" lvl="0" marL="457200" rtl="0" algn="l">
              <a:spcBef>
                <a:spcPts val="1200"/>
              </a:spcBef>
              <a:spcAft>
                <a:spcPts val="0"/>
              </a:spcAft>
              <a:buSzPts val="1800"/>
              <a:buChar char="-"/>
            </a:pPr>
            <a:r>
              <a:rPr i="1" lang="en"/>
              <a:t>h</a:t>
            </a:r>
            <a:r>
              <a:rPr lang="en"/>
              <a:t> is </a:t>
            </a:r>
            <a:r>
              <a:rPr lang="en">
                <a:solidFill>
                  <a:srgbClr val="1155CC"/>
                </a:solidFill>
              </a:rPr>
              <a:t>consistent</a:t>
            </a:r>
            <a:r>
              <a:rPr lang="en"/>
              <a:t> if it agrees with </a:t>
            </a:r>
            <a:r>
              <a:rPr i="1" lang="en"/>
              <a:t>f</a:t>
            </a:r>
            <a:r>
              <a:rPr lang="en"/>
              <a:t> on all examples, </a:t>
            </a:r>
            <a:r>
              <a:rPr i="1" lang="en"/>
              <a:t>e.g.</a:t>
            </a:r>
            <a:r>
              <a:rPr lang="en"/>
              <a:t> curve </a:t>
            </a:r>
            <a:r>
              <a:rPr i="1" lang="en"/>
              <a:t>f(x)</a:t>
            </a:r>
            <a:endParaRPr i="1"/>
          </a:p>
        </p:txBody>
      </p:sp>
      <p:pic>
        <p:nvPicPr>
          <p:cNvPr descr="curve-fitting1c" id="345" name="Google Shape;345;p33"/>
          <p:cNvPicPr preferRelativeResize="0"/>
          <p:nvPr/>
        </p:nvPicPr>
        <p:blipFill rotWithShape="1">
          <a:blip r:embed="rId3">
            <a:alphaModFix/>
          </a:blip>
          <a:srcRect b="0" l="0" r="0" t="0"/>
          <a:stretch/>
        </p:blipFill>
        <p:spPr>
          <a:xfrm>
            <a:off x="3021025" y="2651100"/>
            <a:ext cx="2583407" cy="2380150"/>
          </a:xfrm>
          <a:prstGeom prst="rect">
            <a:avLst/>
          </a:prstGeom>
          <a:noFill/>
          <a:ln>
            <a:noFill/>
          </a:ln>
        </p:spPr>
      </p:pic>
      <p:sp>
        <p:nvSpPr>
          <p:cNvPr id="346" name="Google Shape;34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Selection for Regression</a:t>
            </a:r>
            <a:endParaRPr/>
          </a:p>
        </p:txBody>
      </p:sp>
      <p:sp>
        <p:nvSpPr>
          <p:cNvPr id="352" name="Google Shape;352;p34"/>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simple regression problem: construct hypothesis </a:t>
            </a:r>
            <a:r>
              <a:rPr i="1" lang="en"/>
              <a:t>h</a:t>
            </a:r>
            <a:r>
              <a:rPr lang="en"/>
              <a:t> so that it agrees with what is observed in the dataset </a:t>
            </a:r>
            <a:r>
              <a:rPr i="1" lang="en"/>
              <a:t>f</a:t>
            </a:r>
            <a:r>
              <a:rPr lang="en"/>
              <a:t>.</a:t>
            </a:r>
            <a:endParaRPr/>
          </a:p>
          <a:p>
            <a:pPr indent="-342900" lvl="0" marL="457200" rtl="0" algn="l">
              <a:spcBef>
                <a:spcPts val="1200"/>
              </a:spcBef>
              <a:spcAft>
                <a:spcPts val="0"/>
              </a:spcAft>
              <a:buSzPts val="1800"/>
              <a:buChar char="-"/>
            </a:pPr>
            <a:r>
              <a:rPr i="1" lang="en"/>
              <a:t>h</a:t>
            </a:r>
            <a:r>
              <a:rPr lang="en"/>
              <a:t> is </a:t>
            </a:r>
            <a:r>
              <a:rPr lang="en">
                <a:solidFill>
                  <a:srgbClr val="1155CC"/>
                </a:solidFill>
              </a:rPr>
              <a:t>consistent</a:t>
            </a:r>
            <a:r>
              <a:rPr lang="en"/>
              <a:t> if it agrees with </a:t>
            </a:r>
            <a:r>
              <a:rPr i="1" lang="en"/>
              <a:t>f</a:t>
            </a:r>
            <a:r>
              <a:rPr lang="en"/>
              <a:t> on all examples, </a:t>
            </a:r>
            <a:r>
              <a:rPr i="1" lang="en"/>
              <a:t>e.g.</a:t>
            </a:r>
            <a:r>
              <a:rPr lang="en"/>
              <a:t> curve </a:t>
            </a:r>
            <a:r>
              <a:rPr i="1" lang="en"/>
              <a:t>f(x)</a:t>
            </a:r>
            <a:endParaRPr i="1"/>
          </a:p>
        </p:txBody>
      </p:sp>
      <p:pic>
        <p:nvPicPr>
          <p:cNvPr descr="curve-fitting2c" id="353" name="Google Shape;353;p34"/>
          <p:cNvPicPr preferRelativeResize="0"/>
          <p:nvPr/>
        </p:nvPicPr>
        <p:blipFill rotWithShape="1">
          <a:blip r:embed="rId3">
            <a:alphaModFix/>
          </a:blip>
          <a:srcRect b="0" l="0" r="0" t="0"/>
          <a:stretch/>
        </p:blipFill>
        <p:spPr>
          <a:xfrm>
            <a:off x="3021413" y="2645025"/>
            <a:ext cx="2625275" cy="2390925"/>
          </a:xfrm>
          <a:prstGeom prst="rect">
            <a:avLst/>
          </a:prstGeom>
          <a:noFill/>
          <a:ln>
            <a:noFill/>
          </a:ln>
        </p:spPr>
      </p:pic>
      <p:sp>
        <p:nvSpPr>
          <p:cNvPr id="354" name="Google Shape;35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Selection for Regression</a:t>
            </a:r>
            <a:endParaRPr/>
          </a:p>
        </p:txBody>
      </p:sp>
      <p:sp>
        <p:nvSpPr>
          <p:cNvPr id="360" name="Google Shape;360;p35"/>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simple regression problem: construct hypothesis </a:t>
            </a:r>
            <a:r>
              <a:rPr i="1" lang="en"/>
              <a:t>h</a:t>
            </a:r>
            <a:r>
              <a:rPr lang="en"/>
              <a:t> so that it agrees with what is observed in the dataset </a:t>
            </a:r>
            <a:r>
              <a:rPr i="1" lang="en"/>
              <a:t>f</a:t>
            </a:r>
            <a:r>
              <a:rPr lang="en"/>
              <a:t>.</a:t>
            </a:r>
            <a:endParaRPr/>
          </a:p>
          <a:p>
            <a:pPr indent="-342900" lvl="0" marL="457200" rtl="0" algn="l">
              <a:spcBef>
                <a:spcPts val="1200"/>
              </a:spcBef>
              <a:spcAft>
                <a:spcPts val="0"/>
              </a:spcAft>
              <a:buSzPts val="1800"/>
              <a:buChar char="-"/>
            </a:pPr>
            <a:r>
              <a:rPr i="1" lang="en"/>
              <a:t>h</a:t>
            </a:r>
            <a:r>
              <a:rPr lang="en"/>
              <a:t> is </a:t>
            </a:r>
            <a:r>
              <a:rPr lang="en">
                <a:solidFill>
                  <a:srgbClr val="1155CC"/>
                </a:solidFill>
              </a:rPr>
              <a:t>consistent</a:t>
            </a:r>
            <a:r>
              <a:rPr lang="en"/>
              <a:t> if it agrees with </a:t>
            </a:r>
            <a:r>
              <a:rPr i="1" lang="en"/>
              <a:t>f</a:t>
            </a:r>
            <a:r>
              <a:rPr lang="en"/>
              <a:t> on all examples, </a:t>
            </a:r>
            <a:r>
              <a:rPr i="1" lang="en"/>
              <a:t>e.g.</a:t>
            </a:r>
            <a:r>
              <a:rPr lang="en"/>
              <a:t> curve </a:t>
            </a:r>
            <a:r>
              <a:rPr i="1" lang="en"/>
              <a:t>f(x)</a:t>
            </a:r>
            <a:endParaRPr i="1"/>
          </a:p>
        </p:txBody>
      </p:sp>
      <p:pic>
        <p:nvPicPr>
          <p:cNvPr descr="curve-fitting3c" id="361" name="Google Shape;361;p35"/>
          <p:cNvPicPr preferRelativeResize="0"/>
          <p:nvPr/>
        </p:nvPicPr>
        <p:blipFill rotWithShape="1">
          <a:blip r:embed="rId3">
            <a:alphaModFix/>
          </a:blip>
          <a:srcRect b="0" l="0" r="0" t="0"/>
          <a:stretch/>
        </p:blipFill>
        <p:spPr>
          <a:xfrm>
            <a:off x="3044288" y="2653825"/>
            <a:ext cx="2632491" cy="2390925"/>
          </a:xfrm>
          <a:prstGeom prst="rect">
            <a:avLst/>
          </a:prstGeom>
          <a:noFill/>
          <a:ln>
            <a:noFill/>
          </a:ln>
        </p:spPr>
      </p:pic>
      <p:sp>
        <p:nvSpPr>
          <p:cNvPr id="362" name="Google Shape;36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Selection for Regression</a:t>
            </a:r>
            <a:endParaRPr/>
          </a:p>
        </p:txBody>
      </p:sp>
      <p:sp>
        <p:nvSpPr>
          <p:cNvPr id="368" name="Google Shape;368;p36"/>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simple regression problem: construct hypothesis </a:t>
            </a:r>
            <a:r>
              <a:rPr i="1" lang="en"/>
              <a:t>h</a:t>
            </a:r>
            <a:r>
              <a:rPr lang="en"/>
              <a:t> so that it agrees with what is observed in the dataset </a:t>
            </a:r>
            <a:r>
              <a:rPr i="1" lang="en"/>
              <a:t>f</a:t>
            </a:r>
            <a:r>
              <a:rPr lang="en"/>
              <a:t>.</a:t>
            </a:r>
            <a:endParaRPr/>
          </a:p>
          <a:p>
            <a:pPr indent="-342900" lvl="0" marL="457200" rtl="0" algn="l">
              <a:spcBef>
                <a:spcPts val="1200"/>
              </a:spcBef>
              <a:spcAft>
                <a:spcPts val="0"/>
              </a:spcAft>
              <a:buSzPts val="1800"/>
              <a:buChar char="-"/>
            </a:pPr>
            <a:r>
              <a:rPr i="1" lang="en"/>
              <a:t>h</a:t>
            </a:r>
            <a:r>
              <a:rPr lang="en"/>
              <a:t> is </a:t>
            </a:r>
            <a:r>
              <a:rPr lang="en">
                <a:solidFill>
                  <a:srgbClr val="1155CC"/>
                </a:solidFill>
              </a:rPr>
              <a:t>consistent</a:t>
            </a:r>
            <a:r>
              <a:rPr lang="en"/>
              <a:t> if it agrees with </a:t>
            </a:r>
            <a:r>
              <a:rPr i="1" lang="en"/>
              <a:t>f</a:t>
            </a:r>
            <a:r>
              <a:rPr lang="en"/>
              <a:t> on all examples, </a:t>
            </a:r>
            <a:r>
              <a:rPr i="1" lang="en"/>
              <a:t>e.g.</a:t>
            </a:r>
            <a:r>
              <a:rPr lang="en"/>
              <a:t> curve </a:t>
            </a:r>
            <a:r>
              <a:rPr i="1" lang="en"/>
              <a:t>f(x)</a:t>
            </a:r>
            <a:endParaRPr i="1"/>
          </a:p>
        </p:txBody>
      </p:sp>
      <p:pic>
        <p:nvPicPr>
          <p:cNvPr descr="curve-fitting4c" id="369" name="Google Shape;369;p36"/>
          <p:cNvPicPr preferRelativeResize="0"/>
          <p:nvPr/>
        </p:nvPicPr>
        <p:blipFill rotWithShape="1">
          <a:blip r:embed="rId3">
            <a:alphaModFix/>
          </a:blip>
          <a:srcRect b="10120" l="0" r="0" t="0"/>
          <a:stretch/>
        </p:blipFill>
        <p:spPr>
          <a:xfrm>
            <a:off x="3053875" y="2653825"/>
            <a:ext cx="2654075" cy="2382600"/>
          </a:xfrm>
          <a:prstGeom prst="rect">
            <a:avLst/>
          </a:prstGeom>
          <a:noFill/>
          <a:ln>
            <a:noFill/>
          </a:ln>
        </p:spPr>
      </p:pic>
      <p:sp>
        <p:nvSpPr>
          <p:cNvPr id="370" name="Google Shape;37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Selection for Regression</a:t>
            </a:r>
            <a:endParaRPr/>
          </a:p>
        </p:txBody>
      </p:sp>
      <p:sp>
        <p:nvSpPr>
          <p:cNvPr id="376" name="Google Shape;376;p37"/>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simple regression problem: construct hypothesis </a:t>
            </a:r>
            <a:r>
              <a:rPr i="1" lang="en"/>
              <a:t>h</a:t>
            </a:r>
            <a:r>
              <a:rPr lang="en"/>
              <a:t> so that it agrees with what is observed in the dataset </a:t>
            </a:r>
            <a:r>
              <a:rPr i="1" lang="en"/>
              <a:t>f</a:t>
            </a:r>
            <a:r>
              <a:rPr lang="en"/>
              <a:t>.</a:t>
            </a:r>
            <a:endParaRPr/>
          </a:p>
          <a:p>
            <a:pPr indent="-342900" lvl="0" marL="457200" rtl="0" algn="l">
              <a:spcBef>
                <a:spcPts val="1200"/>
              </a:spcBef>
              <a:spcAft>
                <a:spcPts val="0"/>
              </a:spcAft>
              <a:buSzPts val="1800"/>
              <a:buChar char="-"/>
            </a:pPr>
            <a:r>
              <a:rPr i="1" lang="en"/>
              <a:t>h</a:t>
            </a:r>
            <a:r>
              <a:rPr lang="en"/>
              <a:t> is consistent if it agrees with </a:t>
            </a:r>
            <a:r>
              <a:rPr i="1" lang="en"/>
              <a:t>f</a:t>
            </a:r>
            <a:r>
              <a:rPr lang="en"/>
              <a:t> on all examples, </a:t>
            </a:r>
            <a:r>
              <a:rPr i="1" lang="en"/>
              <a:t>e.g.</a:t>
            </a:r>
            <a:r>
              <a:rPr lang="en"/>
              <a:t> curve </a:t>
            </a:r>
            <a:r>
              <a:rPr i="1" lang="en"/>
              <a:t>f(x)</a:t>
            </a:r>
            <a:endParaRPr i="1"/>
          </a:p>
        </p:txBody>
      </p:sp>
      <p:pic>
        <p:nvPicPr>
          <p:cNvPr descr="curve-fitting5c" id="377" name="Google Shape;377;p37"/>
          <p:cNvPicPr preferRelativeResize="0"/>
          <p:nvPr/>
        </p:nvPicPr>
        <p:blipFill rotWithShape="1">
          <a:blip r:embed="rId3">
            <a:alphaModFix/>
          </a:blip>
          <a:srcRect b="11839" l="0" r="0" t="0"/>
          <a:stretch/>
        </p:blipFill>
        <p:spPr>
          <a:xfrm>
            <a:off x="3045050" y="2653825"/>
            <a:ext cx="2617925" cy="2316450"/>
          </a:xfrm>
          <a:prstGeom prst="rect">
            <a:avLst/>
          </a:prstGeom>
          <a:noFill/>
          <a:ln>
            <a:noFill/>
          </a:ln>
        </p:spPr>
      </p:pic>
      <p:sp>
        <p:nvSpPr>
          <p:cNvPr id="378" name="Google Shape;37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pSp>
        <p:nvGrpSpPr>
          <p:cNvPr id="383" name="Google Shape;383;p38"/>
          <p:cNvGrpSpPr/>
          <p:nvPr/>
        </p:nvGrpSpPr>
        <p:grpSpPr>
          <a:xfrm>
            <a:off x="699350" y="1144462"/>
            <a:ext cx="7350525" cy="2487925"/>
            <a:chOff x="699350" y="1144462"/>
            <a:chExt cx="7350525" cy="2487925"/>
          </a:xfrm>
        </p:grpSpPr>
        <p:sp>
          <p:nvSpPr>
            <p:cNvPr id="384" name="Google Shape;384;p38"/>
            <p:cNvSpPr/>
            <p:nvPr/>
          </p:nvSpPr>
          <p:spPr>
            <a:xfrm>
              <a:off x="699350" y="2272925"/>
              <a:ext cx="5213700" cy="796800"/>
            </a:xfrm>
            <a:prstGeom prst="wedgeRoundRectCallout">
              <a:avLst>
                <a:gd fmla="val 53035" name="adj1"/>
                <a:gd fmla="val -37009"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85" name="Google Shape;385;p38"/>
            <p:cNvPicPr preferRelativeResize="0"/>
            <p:nvPr/>
          </p:nvPicPr>
          <p:blipFill>
            <a:blip r:embed="rId3">
              <a:alphaModFix/>
            </a:blip>
            <a:stretch>
              <a:fillRect/>
            </a:stretch>
          </p:blipFill>
          <p:spPr>
            <a:xfrm rot="-334264">
              <a:off x="6192431" y="1223834"/>
              <a:ext cx="1748511" cy="2329181"/>
            </a:xfrm>
            <a:prstGeom prst="rect">
              <a:avLst/>
            </a:prstGeom>
            <a:noFill/>
            <a:ln>
              <a:noFill/>
            </a:ln>
          </p:spPr>
        </p:pic>
        <p:pic>
          <p:nvPicPr>
            <p:cNvPr id="386" name="Google Shape;386;p38"/>
            <p:cNvPicPr preferRelativeResize="0"/>
            <p:nvPr/>
          </p:nvPicPr>
          <p:blipFill rotWithShape="1">
            <a:blip r:embed="rId4">
              <a:alphaModFix/>
            </a:blip>
            <a:srcRect b="0" l="23282" r="23282" t="0"/>
            <a:stretch/>
          </p:blipFill>
          <p:spPr>
            <a:xfrm rot="-2700106">
              <a:off x="6014360" y="1781727"/>
              <a:ext cx="574630" cy="1075398"/>
            </a:xfrm>
            <a:prstGeom prst="rect">
              <a:avLst/>
            </a:prstGeom>
            <a:noFill/>
            <a:ln>
              <a:noFill/>
            </a:ln>
          </p:spPr>
        </p:pic>
      </p:grpSp>
      <p:sp>
        <p:nvSpPr>
          <p:cNvPr id="387" name="Google Shape;387;p38"/>
          <p:cNvSpPr txBox="1"/>
          <p:nvPr>
            <p:ph idx="1" type="body"/>
          </p:nvPr>
        </p:nvSpPr>
        <p:spPr>
          <a:xfrm>
            <a:off x="699350" y="1317725"/>
            <a:ext cx="5141400" cy="214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William of </a:t>
            </a:r>
            <a:r>
              <a:rPr lang="en">
                <a:solidFill>
                  <a:srgbClr val="38761D"/>
                </a:solidFill>
              </a:rPr>
              <a:t>Occam</a:t>
            </a:r>
            <a:r>
              <a:rPr lang="en"/>
              <a:t> was a 14th century monk.</a:t>
            </a:r>
            <a:endParaRPr/>
          </a:p>
          <a:p>
            <a:pPr indent="0" lvl="0" marL="0" rtl="0" algn="l">
              <a:spcBef>
                <a:spcPts val="1200"/>
              </a:spcBef>
              <a:spcAft>
                <a:spcPts val="0"/>
              </a:spcAft>
              <a:buNone/>
            </a:pPr>
            <a:r>
              <a:rPr lang="en">
                <a:solidFill>
                  <a:srgbClr val="1155CC"/>
                </a:solidFill>
              </a:rPr>
              <a:t>Principle of parsimony</a:t>
            </a:r>
            <a:r>
              <a:rPr lang="en"/>
              <a:t>:</a:t>
            </a:r>
            <a:endParaRPr/>
          </a:p>
          <a:p>
            <a:pPr indent="0" lvl="0" marL="0" rtl="0" algn="ctr">
              <a:spcBef>
                <a:spcPts val="1200"/>
              </a:spcBef>
              <a:spcAft>
                <a:spcPts val="1200"/>
              </a:spcAft>
              <a:buNone/>
            </a:pPr>
            <a:r>
              <a:rPr lang="en"/>
              <a:t>“One should not increase, beyond what is necessary, the number of entities required to explain anything.”</a:t>
            </a:r>
            <a:endParaRPr sz="1700"/>
          </a:p>
        </p:txBody>
      </p:sp>
      <p:sp>
        <p:nvSpPr>
          <p:cNvPr id="388" name="Google Shape;388;p3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Occam’s Razor</a:t>
            </a:r>
            <a:endParaRPr/>
          </a:p>
        </p:txBody>
      </p:sp>
      <p:sp>
        <p:nvSpPr>
          <p:cNvPr id="389" name="Google Shape;38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38"/>
          <p:cNvSpPr txBox="1"/>
          <p:nvPr/>
        </p:nvSpPr>
        <p:spPr>
          <a:xfrm>
            <a:off x="335050" y="3693350"/>
            <a:ext cx="8004900" cy="120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00">
                <a:solidFill>
                  <a:schemeClr val="dk1"/>
                </a:solidFill>
                <a:latin typeface="Calibri"/>
                <a:ea typeface="Calibri"/>
                <a:cs typeface="Calibri"/>
                <a:sym typeface="Calibri"/>
              </a:rPr>
              <a:t>When many solutions are available, choose the simplest one. </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What do we mean by simple?</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700">
                <a:solidFill>
                  <a:schemeClr val="dk1"/>
                </a:solidFill>
                <a:latin typeface="Calibri"/>
                <a:ea typeface="Calibri"/>
                <a:cs typeface="Calibri"/>
                <a:sym typeface="Calibri"/>
              </a:rPr>
              <a:t>We will use prior knowledge of a problem to define what is simple.</a:t>
            </a:r>
            <a:endParaRPr sz="1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2: Model selection for Linear </a:t>
            </a:r>
            <a:r>
              <a:rPr lang="en">
                <a:solidFill>
                  <a:schemeClr val="lt1"/>
                </a:solidFill>
              </a:rPr>
              <a:t>Regression</a:t>
            </a:r>
            <a:endParaRPr/>
          </a:p>
        </p:txBody>
      </p:sp>
      <p:sp>
        <p:nvSpPr>
          <p:cNvPr id="396" name="Google Shape;39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Regression Review</a:t>
            </a:r>
            <a:endParaRPr/>
          </a:p>
        </p:txBody>
      </p:sp>
      <p:pic>
        <p:nvPicPr>
          <p:cNvPr id="402" name="Google Shape;402;p40"/>
          <p:cNvPicPr preferRelativeResize="0"/>
          <p:nvPr/>
        </p:nvPicPr>
        <p:blipFill>
          <a:blip r:embed="rId3">
            <a:alphaModFix/>
          </a:blip>
          <a:stretch>
            <a:fillRect/>
          </a:stretch>
        </p:blipFill>
        <p:spPr>
          <a:xfrm>
            <a:off x="366675" y="1263725"/>
            <a:ext cx="4384931" cy="3177558"/>
          </a:xfrm>
          <a:prstGeom prst="rect">
            <a:avLst/>
          </a:prstGeom>
          <a:noFill/>
          <a:ln>
            <a:noFill/>
          </a:ln>
        </p:spPr>
      </p:pic>
      <p:sp>
        <p:nvSpPr>
          <p:cNvPr id="403" name="Google Shape;403;p40"/>
          <p:cNvSpPr txBox="1"/>
          <p:nvPr/>
        </p:nvSpPr>
        <p:spPr>
          <a:xfrm>
            <a:off x="1975876" y="4441275"/>
            <a:ext cx="93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feature</a:t>
            </a:r>
            <a:endParaRPr>
              <a:latin typeface="Fira Code"/>
              <a:ea typeface="Fira Code"/>
              <a:cs typeface="Fira Code"/>
              <a:sym typeface="Fira Code"/>
            </a:endParaRPr>
          </a:p>
        </p:txBody>
      </p:sp>
      <p:sp>
        <p:nvSpPr>
          <p:cNvPr id="404" name="Google Shape;404;p40"/>
          <p:cNvSpPr txBox="1"/>
          <p:nvPr/>
        </p:nvSpPr>
        <p:spPr>
          <a:xfrm>
            <a:off x="3131575" y="4441275"/>
            <a:ext cx="93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feature</a:t>
            </a:r>
            <a:endParaRPr>
              <a:latin typeface="Fira Code"/>
              <a:ea typeface="Fira Code"/>
              <a:cs typeface="Fira Code"/>
              <a:sym typeface="Fira Code"/>
            </a:endParaRPr>
          </a:p>
        </p:txBody>
      </p:sp>
      <p:sp>
        <p:nvSpPr>
          <p:cNvPr id="405" name="Google Shape;405;p40"/>
          <p:cNvSpPr txBox="1"/>
          <p:nvPr/>
        </p:nvSpPr>
        <p:spPr>
          <a:xfrm>
            <a:off x="4065775" y="4441275"/>
            <a:ext cx="75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label</a:t>
            </a:r>
            <a:endParaRPr>
              <a:latin typeface="Fira Code"/>
              <a:ea typeface="Fira Code"/>
              <a:cs typeface="Fira Code"/>
              <a:sym typeface="Fira Code"/>
            </a:endParaRPr>
          </a:p>
        </p:txBody>
      </p:sp>
      <p:sp>
        <p:nvSpPr>
          <p:cNvPr id="406" name="Google Shape;406;p40"/>
          <p:cNvSpPr txBox="1"/>
          <p:nvPr/>
        </p:nvSpPr>
        <p:spPr>
          <a:xfrm>
            <a:off x="4751604" y="4085417"/>
            <a:ext cx="14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&lt; instance</a:t>
            </a:r>
            <a:endParaRPr>
              <a:latin typeface="Fira Code"/>
              <a:ea typeface="Fira Code"/>
              <a:cs typeface="Fira Code"/>
              <a:sym typeface="Fira Code"/>
            </a:endParaRPr>
          </a:p>
        </p:txBody>
      </p:sp>
      <p:cxnSp>
        <p:nvCxnSpPr>
          <p:cNvPr id="407" name="Google Shape;407;p40"/>
          <p:cNvCxnSpPr>
            <a:stCxn id="402" idx="3"/>
          </p:cNvCxnSpPr>
          <p:nvPr/>
        </p:nvCxnSpPr>
        <p:spPr>
          <a:xfrm>
            <a:off x="4751605" y="2852504"/>
            <a:ext cx="1999200" cy="31800"/>
          </a:xfrm>
          <a:prstGeom prst="straightConnector1">
            <a:avLst/>
          </a:prstGeom>
          <a:noFill/>
          <a:ln cap="flat" cmpd="sng" w="76200">
            <a:solidFill>
              <a:srgbClr val="D9EAD3"/>
            </a:solidFill>
            <a:prstDash val="solid"/>
            <a:round/>
            <a:headEnd len="med" w="med" type="none"/>
            <a:tailEnd len="med" w="med" type="triangle"/>
          </a:ln>
        </p:spPr>
      </p:cxnSp>
      <p:sp>
        <p:nvSpPr>
          <p:cNvPr id="408" name="Google Shape;408;p40"/>
          <p:cNvSpPr/>
          <p:nvPr/>
        </p:nvSpPr>
        <p:spPr>
          <a:xfrm>
            <a:off x="4906156" y="2576502"/>
            <a:ext cx="1230600" cy="56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LEARNER</a:t>
            </a:r>
            <a:endParaRPr>
              <a:latin typeface="Calibri"/>
              <a:ea typeface="Calibri"/>
              <a:cs typeface="Calibri"/>
              <a:sym typeface="Calibri"/>
            </a:endParaRPr>
          </a:p>
        </p:txBody>
      </p:sp>
      <p:graphicFrame>
        <p:nvGraphicFramePr>
          <p:cNvPr id="409" name="Google Shape;409;p40"/>
          <p:cNvGraphicFramePr/>
          <p:nvPr/>
        </p:nvGraphicFramePr>
        <p:xfrm>
          <a:off x="5930475" y="1465175"/>
          <a:ext cx="3000000" cy="3000000"/>
        </p:xfrm>
        <a:graphic>
          <a:graphicData uri="http://schemas.openxmlformats.org/drawingml/2006/table">
            <a:tbl>
              <a:tblPr>
                <a:noFill/>
                <a:tableStyleId>{AFB7F7E1-27EE-40FD-BDA5-204A41DE7B91}</a:tableStyleId>
              </a:tblPr>
              <a:tblGrid>
                <a:gridCol w="783375"/>
                <a:gridCol w="783375"/>
                <a:gridCol w="783375"/>
                <a:gridCol w="783375"/>
              </a:tblGrid>
              <a:tr h="381000">
                <a:tc>
                  <a:txBody>
                    <a:bodyPr/>
                    <a:lstStyle/>
                    <a:p>
                      <a:pPr indent="0" lvl="0" marL="0" rtl="0" algn="l">
                        <a:spcBef>
                          <a:spcPts val="0"/>
                        </a:spcBef>
                        <a:spcAft>
                          <a:spcPts val="0"/>
                        </a:spcAft>
                        <a:buNone/>
                      </a:pPr>
                      <a:r>
                        <a:rPr lang="en"/>
                        <a:t>Vivian</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bl>
          </a:graphicData>
        </a:graphic>
      </p:graphicFrame>
      <p:cxnSp>
        <p:nvCxnSpPr>
          <p:cNvPr id="410" name="Google Shape;410;p40"/>
          <p:cNvCxnSpPr/>
          <p:nvPr/>
        </p:nvCxnSpPr>
        <p:spPr>
          <a:xfrm>
            <a:off x="7507050" y="1872675"/>
            <a:ext cx="9900" cy="2416200"/>
          </a:xfrm>
          <a:prstGeom prst="straightConnector1">
            <a:avLst/>
          </a:prstGeom>
          <a:noFill/>
          <a:ln cap="flat" cmpd="sng" w="76200">
            <a:solidFill>
              <a:srgbClr val="D9EAD3"/>
            </a:solidFill>
            <a:prstDash val="solid"/>
            <a:round/>
            <a:headEnd len="med" w="med" type="none"/>
            <a:tailEnd len="med" w="med" type="triangle"/>
          </a:ln>
        </p:spPr>
      </p:cxnSp>
      <p:sp>
        <p:nvSpPr>
          <p:cNvPr id="411" name="Google Shape;411;p40"/>
          <p:cNvSpPr/>
          <p:nvPr/>
        </p:nvSpPr>
        <p:spPr>
          <a:xfrm>
            <a:off x="6691950" y="2173575"/>
            <a:ext cx="1640100" cy="149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alibri"/>
                <a:ea typeface="Calibri"/>
                <a:cs typeface="Calibri"/>
                <a:sym typeface="Calibri"/>
              </a:rPr>
              <a:t>MODEL</a:t>
            </a:r>
            <a:endParaRPr sz="1600">
              <a:latin typeface="Calibri"/>
              <a:ea typeface="Calibri"/>
              <a:cs typeface="Calibri"/>
              <a:sym typeface="Calibri"/>
            </a:endParaRPr>
          </a:p>
          <a:p>
            <a:pPr indent="0" lvl="0" marL="0" rtl="0" algn="ctr">
              <a:spcBef>
                <a:spcPts val="0"/>
              </a:spcBef>
              <a:spcAft>
                <a:spcPts val="0"/>
              </a:spcAft>
              <a:buNone/>
            </a:pPr>
            <a:r>
              <a:rPr lang="en" sz="1500">
                <a:latin typeface="Calibri"/>
                <a:ea typeface="Calibri"/>
                <a:cs typeface="Calibri"/>
                <a:sym typeface="Calibri"/>
              </a:rPr>
              <a:t>(regression)</a:t>
            </a:r>
            <a:endParaRPr sz="1500">
              <a:latin typeface="Calibri"/>
              <a:ea typeface="Calibri"/>
              <a:cs typeface="Calibri"/>
              <a:sym typeface="Calibri"/>
            </a:endParaRPr>
          </a:p>
        </p:txBody>
      </p:sp>
      <p:sp>
        <p:nvSpPr>
          <p:cNvPr id="412" name="Google Shape;412;p40"/>
          <p:cNvSpPr txBox="1"/>
          <p:nvPr/>
        </p:nvSpPr>
        <p:spPr>
          <a:xfrm>
            <a:off x="7237050" y="4300175"/>
            <a:ext cx="549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1155CC"/>
                </a:solidFill>
                <a:latin typeface="Calibri"/>
                <a:ea typeface="Calibri"/>
                <a:cs typeface="Calibri"/>
                <a:sym typeface="Calibri"/>
              </a:rPr>
              <a:t>9.5</a:t>
            </a:r>
            <a:endParaRPr sz="2100">
              <a:solidFill>
                <a:srgbClr val="1155CC"/>
              </a:solidFill>
              <a:latin typeface="Calibri"/>
              <a:ea typeface="Calibri"/>
              <a:cs typeface="Calibri"/>
              <a:sym typeface="Calibri"/>
            </a:endParaRPr>
          </a:p>
        </p:txBody>
      </p:sp>
      <p:sp>
        <p:nvSpPr>
          <p:cNvPr id="413" name="Google Shape;41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the Best Regression Model: Example</a:t>
            </a:r>
            <a:endParaRPr/>
          </a:p>
        </p:txBody>
      </p:sp>
      <p:sp>
        <p:nvSpPr>
          <p:cNvPr id="419" name="Google Shape;419;p41"/>
          <p:cNvSpPr txBox="1"/>
          <p:nvPr>
            <p:ph idx="1" type="body"/>
          </p:nvPr>
        </p:nvSpPr>
        <p:spPr>
          <a:xfrm>
            <a:off x="4572000" y="1361225"/>
            <a:ext cx="4023000" cy="27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1155CC"/>
                </a:solidFill>
              </a:rPr>
              <a:t>Goal: </a:t>
            </a:r>
            <a:r>
              <a:rPr lang="en"/>
              <a:t>predict height from age</a:t>
            </a:r>
            <a:endParaRPr/>
          </a:p>
          <a:p>
            <a:pPr indent="0" lvl="0" marL="0" rtl="0" algn="l">
              <a:spcBef>
                <a:spcPts val="1200"/>
              </a:spcBef>
              <a:spcAft>
                <a:spcPts val="0"/>
              </a:spcAft>
              <a:buNone/>
            </a:pPr>
            <a:r>
              <a:rPr lang="en">
                <a:solidFill>
                  <a:srgbClr val="1155CC"/>
                </a:solidFill>
              </a:rPr>
              <a:t># of features: </a:t>
            </a:r>
            <a:r>
              <a:rPr lang="en"/>
              <a:t>1</a:t>
            </a:r>
            <a:endParaRPr/>
          </a:p>
          <a:p>
            <a:pPr indent="0" lvl="0" marL="0" rtl="0" algn="l">
              <a:spcBef>
                <a:spcPts val="1200"/>
              </a:spcBef>
              <a:spcAft>
                <a:spcPts val="0"/>
              </a:spcAft>
              <a:buNone/>
            </a:pPr>
            <a:r>
              <a:rPr lang="en">
                <a:solidFill>
                  <a:srgbClr val="1155CC"/>
                </a:solidFill>
              </a:rPr>
              <a:t>Simplest model:</a:t>
            </a:r>
            <a:r>
              <a:rPr lang="en"/>
              <a:t> linear function mapping age to height</a:t>
            </a:r>
            <a:endParaRPr/>
          </a:p>
          <a:p>
            <a:pPr indent="0" lvl="0" marL="0" rtl="0" algn="l">
              <a:spcBef>
                <a:spcPts val="1200"/>
              </a:spcBef>
              <a:spcAft>
                <a:spcPts val="1200"/>
              </a:spcAft>
              <a:buNone/>
            </a:pPr>
            <a:r>
              <a:rPr lang="en"/>
              <a:t>	h(x</a:t>
            </a:r>
            <a:r>
              <a:rPr baseline="-25000" lang="en"/>
              <a:t>i</a:t>
            </a:r>
            <a:r>
              <a:rPr lang="en"/>
              <a:t>) = </a:t>
            </a:r>
            <a:r>
              <a:rPr lang="en">
                <a:solidFill>
                  <a:srgbClr val="CC0000"/>
                </a:solidFill>
              </a:rPr>
              <a:t>s</a:t>
            </a:r>
            <a:r>
              <a:rPr lang="en"/>
              <a:t>x</a:t>
            </a:r>
            <a:r>
              <a:rPr baseline="-25000" lang="en"/>
              <a:t>i</a:t>
            </a:r>
            <a:r>
              <a:rPr lang="en"/>
              <a:t> + </a:t>
            </a:r>
            <a:r>
              <a:rPr lang="en">
                <a:solidFill>
                  <a:srgbClr val="CC0000"/>
                </a:solidFill>
              </a:rPr>
              <a:t>b</a:t>
            </a:r>
            <a:endParaRPr/>
          </a:p>
        </p:txBody>
      </p:sp>
      <p:pic>
        <p:nvPicPr>
          <p:cNvPr id="420" name="Google Shape;420;p41"/>
          <p:cNvPicPr preferRelativeResize="0"/>
          <p:nvPr/>
        </p:nvPicPr>
        <p:blipFill>
          <a:blip r:embed="rId3">
            <a:alphaModFix/>
          </a:blip>
          <a:stretch>
            <a:fillRect/>
          </a:stretch>
        </p:blipFill>
        <p:spPr>
          <a:xfrm>
            <a:off x="545750" y="1201350"/>
            <a:ext cx="3676498" cy="3576274"/>
          </a:xfrm>
          <a:prstGeom prst="rect">
            <a:avLst/>
          </a:prstGeom>
          <a:noFill/>
          <a:ln>
            <a:noFill/>
          </a:ln>
        </p:spPr>
      </p:pic>
      <p:sp>
        <p:nvSpPr>
          <p:cNvPr id="421" name="Google Shape;42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Recap: </a:t>
            </a:r>
            <a:r>
              <a:rPr lang="en"/>
              <a:t>Adding features</a:t>
            </a:r>
            <a:endParaRPr/>
          </a:p>
        </p:txBody>
      </p:sp>
      <p:sp>
        <p:nvSpPr>
          <p:cNvPr id="427" name="Google Shape;427;p42"/>
          <p:cNvSpPr txBox="1"/>
          <p:nvPr>
            <p:ph idx="1" type="body"/>
          </p:nvPr>
        </p:nvSpPr>
        <p:spPr>
          <a:xfrm>
            <a:off x="229075" y="1098200"/>
            <a:ext cx="8180700" cy="193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a:t>
            </a:r>
            <a:r>
              <a:rPr lang="en">
                <a:solidFill>
                  <a:srgbClr val="1155CC"/>
                </a:solidFill>
              </a:rPr>
              <a:t>design matrix</a:t>
            </a:r>
            <a:r>
              <a:rPr lang="en"/>
              <a:t> is a matrix of all the data, which can be used to add features by manipulating existing features.</a:t>
            </a:r>
            <a:endParaRPr/>
          </a:p>
          <a:p>
            <a:pPr indent="0" lvl="0" marL="0" rtl="0" algn="l">
              <a:spcBef>
                <a:spcPts val="1200"/>
              </a:spcBef>
              <a:spcAft>
                <a:spcPts val="1200"/>
              </a:spcAft>
              <a:buNone/>
            </a:pPr>
            <a:r>
              <a:rPr lang="en"/>
              <a:t>Add </a:t>
            </a:r>
            <a:r>
              <a:rPr lang="en">
                <a:solidFill>
                  <a:srgbClr val="38761D"/>
                </a:solidFill>
              </a:rPr>
              <a:t>age</a:t>
            </a:r>
            <a:r>
              <a:rPr baseline="30000" lang="en">
                <a:solidFill>
                  <a:srgbClr val="38761D"/>
                </a:solidFill>
              </a:rPr>
              <a:t>2</a:t>
            </a:r>
            <a:r>
              <a:rPr lang="en"/>
              <a:t> for curved</a:t>
            </a:r>
            <a:br>
              <a:rPr lang="en"/>
            </a:br>
            <a:r>
              <a:rPr lang="en"/>
              <a:t>regression function</a:t>
            </a:r>
            <a:endParaRPr/>
          </a:p>
        </p:txBody>
      </p:sp>
      <p:graphicFrame>
        <p:nvGraphicFramePr>
          <p:cNvPr id="428" name="Google Shape;428;p42"/>
          <p:cNvGraphicFramePr/>
          <p:nvPr/>
        </p:nvGraphicFramePr>
        <p:xfrm>
          <a:off x="2466469" y="2236745"/>
          <a:ext cx="3000000" cy="3000000"/>
        </p:xfrm>
        <a:graphic>
          <a:graphicData uri="http://schemas.openxmlformats.org/drawingml/2006/table">
            <a:tbl>
              <a:tblPr>
                <a:noFill/>
                <a:tableStyleId>{2D2545A6-D6F3-4E68-B07B-D8FF41F22015}</a:tableStyleId>
              </a:tblPr>
              <a:tblGrid>
                <a:gridCol w="816025"/>
                <a:gridCol w="816025"/>
                <a:gridCol w="816025"/>
              </a:tblGrid>
              <a:tr h="437575">
                <a:tc>
                  <a:txBody>
                    <a:bodyPr/>
                    <a:lstStyle/>
                    <a:p>
                      <a:pPr indent="0" lvl="0" marL="0" marR="0" rtl="0" algn="ctr">
                        <a:lnSpc>
                          <a:spcPct val="120000"/>
                        </a:lnSpc>
                        <a:spcBef>
                          <a:spcPts val="0"/>
                        </a:spcBef>
                        <a:spcAft>
                          <a:spcPts val="0"/>
                        </a:spcAft>
                        <a:buClr>
                          <a:srgbClr val="007ACA"/>
                        </a:buClr>
                        <a:buSzPts val="1100"/>
                        <a:buFont typeface="Short Stack"/>
                        <a:buNone/>
                      </a:pPr>
                      <a:r>
                        <a:rPr lang="en" sz="1800">
                          <a:solidFill>
                            <a:srgbClr val="007ACA"/>
                          </a:solidFill>
                          <a:latin typeface="Short Stack"/>
                          <a:ea typeface="Short Stack"/>
                          <a:cs typeface="Short Stack"/>
                          <a:sym typeface="Short Stack"/>
                        </a:rPr>
                        <a:t>age</a:t>
                      </a:r>
                      <a:endParaRPr sz="1800" u="none" cap="none" strike="noStrike"/>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lnSpc>
                          <a:spcPct val="120000"/>
                        </a:lnSpc>
                        <a:spcBef>
                          <a:spcPts val="0"/>
                        </a:spcBef>
                        <a:spcAft>
                          <a:spcPts val="0"/>
                        </a:spcAft>
                        <a:buClr>
                          <a:srgbClr val="007ACA"/>
                        </a:buClr>
                        <a:buSzPts val="3200"/>
                        <a:buFont typeface="Short Stack"/>
                        <a:buNone/>
                      </a:pPr>
                      <a:r>
                        <a:rPr b="1" lang="en" sz="1800">
                          <a:solidFill>
                            <a:srgbClr val="6AA84F"/>
                          </a:solidFill>
                          <a:latin typeface="Short Stack"/>
                          <a:ea typeface="Short Stack"/>
                          <a:cs typeface="Short Stack"/>
                          <a:sym typeface="Short Stack"/>
                        </a:rPr>
                        <a:t>age</a:t>
                      </a:r>
                      <a:r>
                        <a:rPr b="1" baseline="30000" lang="en" sz="1800">
                          <a:solidFill>
                            <a:srgbClr val="6AA84F"/>
                          </a:solidFill>
                          <a:latin typeface="Short Stack"/>
                          <a:ea typeface="Short Stack"/>
                          <a:cs typeface="Short Stack"/>
                          <a:sym typeface="Short Stack"/>
                        </a:rPr>
                        <a:t>2</a:t>
                      </a:r>
                      <a:endParaRPr baseline="30000" sz="1800" u="none" cap="none" strike="noStrike">
                        <a:solidFill>
                          <a:srgbClr val="6AA84F"/>
                        </a:solidFill>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spcBef>
                          <a:spcPts val="0"/>
                        </a:spcBef>
                        <a:spcAft>
                          <a:spcPts val="0"/>
                        </a:spcAft>
                        <a:buClr>
                          <a:srgbClr val="000000"/>
                        </a:buClr>
                        <a:buSzPts val="1900"/>
                        <a:buFont typeface="Calibri"/>
                        <a:buNone/>
                      </a:pPr>
                      <a:r>
                        <a:rPr lang="en" sz="1500">
                          <a:latin typeface="Calibri"/>
                          <a:ea typeface="Calibri"/>
                          <a:cs typeface="Calibri"/>
                          <a:sym typeface="Calibri"/>
                        </a:rPr>
                        <a:t>height</a:t>
                      </a:r>
                      <a:endParaRPr sz="1500" u="none" cap="none" strike="noStrike">
                        <a:latin typeface="Calibri"/>
                        <a:ea typeface="Calibri"/>
                        <a:cs typeface="Calibri"/>
                        <a:sym typeface="Calibri"/>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15</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225</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900"/>
                        <a:buFont typeface="Open Sans"/>
                        <a:buNone/>
                      </a:pPr>
                      <a:r>
                        <a:rPr b="1" lang="en" sz="1000">
                          <a:latin typeface="Open Sans"/>
                          <a:ea typeface="Open Sans"/>
                          <a:cs typeface="Open Sans"/>
                          <a:sym typeface="Open Sans"/>
                        </a:rPr>
                        <a:t>163</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7</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49</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900"/>
                        <a:buFont typeface="Open Sans"/>
                        <a:buNone/>
                      </a:pPr>
                      <a:r>
                        <a:rPr b="1" lang="en" sz="1000">
                          <a:latin typeface="Open Sans"/>
                          <a:ea typeface="Open Sans"/>
                          <a:cs typeface="Open Sans"/>
                          <a:sym typeface="Open Sans"/>
                        </a:rPr>
                        <a:t>100</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30</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900</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900"/>
                        <a:buFont typeface="Open Sans"/>
                        <a:buNone/>
                      </a:pPr>
                      <a:r>
                        <a:rPr b="1" lang="en" sz="1000">
                          <a:latin typeface="Open Sans"/>
                          <a:ea typeface="Open Sans"/>
                          <a:cs typeface="Open Sans"/>
                          <a:sym typeface="Open Sans"/>
                        </a:rPr>
                        <a:t>180</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25</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625</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007ACA"/>
                        </a:buClr>
                        <a:buSzPts val="1900"/>
                        <a:buFont typeface="Open Sans"/>
                        <a:buNone/>
                      </a:pPr>
                      <a:r>
                        <a:rPr b="1" lang="en" sz="1000">
                          <a:latin typeface="Open Sans"/>
                          <a:ea typeface="Open Sans"/>
                          <a:cs typeface="Open Sans"/>
                          <a:sym typeface="Open Sans"/>
                        </a:rPr>
                        <a:t>176</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13</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169</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DD4800"/>
                        </a:buClr>
                        <a:buSzPts val="1900"/>
                        <a:buFont typeface="Open Sans"/>
                        <a:buNone/>
                      </a:pPr>
                      <a:r>
                        <a:rPr b="1" lang="en" sz="1000">
                          <a:latin typeface="Open Sans"/>
                          <a:ea typeface="Open Sans"/>
                          <a:cs typeface="Open Sans"/>
                          <a:sym typeface="Open Sans"/>
                        </a:rPr>
                        <a:t>145</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r h="362300">
                <a:tc>
                  <a:txBody>
                    <a:bodyPr/>
                    <a:lstStyle/>
                    <a:p>
                      <a:pPr indent="0" lvl="0" marL="0" marR="0" rtl="0" algn="ctr">
                        <a:lnSpc>
                          <a:spcPct val="120000"/>
                        </a:lnSpc>
                        <a:spcBef>
                          <a:spcPts val="0"/>
                        </a:spcBef>
                        <a:spcAft>
                          <a:spcPts val="0"/>
                        </a:spcAft>
                        <a:buClr>
                          <a:srgbClr val="000000"/>
                        </a:buClr>
                        <a:buSzPts val="1100"/>
                        <a:buFont typeface="Open Sans"/>
                        <a:buNone/>
                      </a:pPr>
                      <a:r>
                        <a:rPr b="1" lang="en" sz="1000">
                          <a:latin typeface="Open Sans"/>
                          <a:ea typeface="Open Sans"/>
                          <a:cs typeface="Open Sans"/>
                          <a:sym typeface="Open Sans"/>
                        </a:rPr>
                        <a:t>11</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rtl="0" algn="ctr">
                        <a:spcBef>
                          <a:spcPts val="0"/>
                        </a:spcBef>
                        <a:spcAft>
                          <a:spcPts val="0"/>
                        </a:spcAft>
                        <a:buNone/>
                      </a:pPr>
                      <a:r>
                        <a:rPr b="1" lang="en" sz="1000">
                          <a:latin typeface="Open Sans"/>
                          <a:ea typeface="Open Sans"/>
                          <a:cs typeface="Open Sans"/>
                          <a:sym typeface="Open Sans"/>
                        </a:rPr>
                        <a:t>121</a:t>
                      </a:r>
                      <a:endParaRPr b="1" sz="1000">
                        <a:latin typeface="Open Sans"/>
                        <a:ea typeface="Open Sans"/>
                        <a:cs typeface="Open Sans"/>
                        <a:sym typeface="Open Sans"/>
                      </a:endParaRPr>
                    </a:p>
                  </a:txBody>
                  <a:tcPr marT="62500" marB="62500" marR="62500" marL="62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c>
                  <a:txBody>
                    <a:bodyPr/>
                    <a:lstStyle/>
                    <a:p>
                      <a:pPr indent="0" lvl="0" marL="0" marR="0" rtl="0" algn="ctr">
                        <a:lnSpc>
                          <a:spcPct val="120000"/>
                        </a:lnSpc>
                        <a:spcBef>
                          <a:spcPts val="0"/>
                        </a:spcBef>
                        <a:spcAft>
                          <a:spcPts val="0"/>
                        </a:spcAft>
                        <a:buClr>
                          <a:srgbClr val="DD4800"/>
                        </a:buClr>
                        <a:buSzPts val="1900"/>
                        <a:buFont typeface="Open Sans"/>
                        <a:buNone/>
                      </a:pPr>
                      <a:r>
                        <a:rPr b="1" lang="en" sz="1000">
                          <a:latin typeface="Open Sans"/>
                          <a:ea typeface="Open Sans"/>
                          <a:cs typeface="Open Sans"/>
                          <a:sym typeface="Open Sans"/>
                        </a:rPr>
                        <a:t>122</a:t>
                      </a:r>
                      <a:endParaRPr b="1" sz="1000">
                        <a:latin typeface="Open Sans"/>
                        <a:ea typeface="Open Sans"/>
                        <a:cs typeface="Open Sans"/>
                        <a:sym typeface="Open Sans"/>
                      </a:endParaRPr>
                    </a:p>
                  </a:txBody>
                  <a:tcPr marT="35725" marB="35725" marR="35725" marL="3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dashDot"/>
                      <a:round/>
                      <a:headEnd len="sm" w="sm" type="none"/>
                      <a:tailEnd len="sm" w="sm" type="none"/>
                    </a:lnT>
                    <a:lnB cap="flat" cmpd="sng" w="12700">
                      <a:solidFill>
                        <a:srgbClr val="000000"/>
                      </a:solidFill>
                      <a:prstDash val="dashDot"/>
                      <a:round/>
                      <a:headEnd len="sm" w="sm" type="none"/>
                      <a:tailEnd len="sm" w="sm" type="none"/>
                    </a:lnB>
                  </a:tcPr>
                </a:tc>
              </a:tr>
            </a:tbl>
          </a:graphicData>
        </a:graphic>
      </p:graphicFrame>
      <p:pic>
        <p:nvPicPr>
          <p:cNvPr id="429" name="Google Shape;429;p42"/>
          <p:cNvPicPr preferRelativeResize="0"/>
          <p:nvPr/>
        </p:nvPicPr>
        <p:blipFill>
          <a:blip r:embed="rId3">
            <a:alphaModFix/>
          </a:blip>
          <a:stretch>
            <a:fillRect/>
          </a:stretch>
        </p:blipFill>
        <p:spPr>
          <a:xfrm>
            <a:off x="5171423" y="1876125"/>
            <a:ext cx="3379551" cy="3136900"/>
          </a:xfrm>
          <a:prstGeom prst="rect">
            <a:avLst/>
          </a:prstGeom>
          <a:noFill/>
          <a:ln>
            <a:noFill/>
          </a:ln>
        </p:spPr>
      </p:pic>
      <p:sp>
        <p:nvSpPr>
          <p:cNvPr id="430" name="Google Shape;43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31" name="Google Shape;431;p42"/>
          <p:cNvGrpSpPr/>
          <p:nvPr/>
        </p:nvGrpSpPr>
        <p:grpSpPr>
          <a:xfrm flipH="1">
            <a:off x="-10" y="3144613"/>
            <a:ext cx="2373928" cy="1066800"/>
            <a:chOff x="7142643" y="3625875"/>
            <a:chExt cx="2321690" cy="1066800"/>
          </a:xfrm>
        </p:grpSpPr>
        <p:sp>
          <p:nvSpPr>
            <p:cNvPr id="432" name="Google Shape;432;p42"/>
            <p:cNvSpPr/>
            <p:nvPr/>
          </p:nvSpPr>
          <p:spPr>
            <a:xfrm rot="6914603">
              <a:off x="7246735" y="3766749"/>
              <a:ext cx="389716" cy="477217"/>
            </a:xfrm>
            <a:prstGeom prst="downArrow">
              <a:avLst>
                <a:gd fmla="val 50000" name="adj1"/>
                <a:gd fmla="val 50000" name="adj2"/>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3" name="Google Shape;433;p42"/>
            <p:cNvSpPr txBox="1"/>
            <p:nvPr/>
          </p:nvSpPr>
          <p:spPr>
            <a:xfrm>
              <a:off x="7740533" y="3625875"/>
              <a:ext cx="1723800" cy="106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00000"/>
                  </a:solidFill>
                  <a:latin typeface="Calibri"/>
                  <a:ea typeface="Calibri"/>
                  <a:cs typeface="Calibri"/>
                  <a:sym typeface="Calibri"/>
                </a:rPr>
                <a:t>design matrix</a:t>
              </a:r>
              <a:r>
                <a:rPr b="1" lang="en" sz="1800">
                  <a:solidFill>
                    <a:srgbClr val="000000"/>
                  </a:solidFill>
                  <a:latin typeface="Calibri"/>
                  <a:ea typeface="Calibri"/>
                  <a:cs typeface="Calibri"/>
                  <a:sym typeface="Calibri"/>
                </a:rPr>
                <a:t> </a:t>
              </a:r>
              <a:r>
                <a:rPr b="1" i="1" lang="en" sz="1800">
                  <a:solidFill>
                    <a:srgbClr val="000000"/>
                  </a:solidFill>
                  <a:latin typeface="Calibri"/>
                  <a:ea typeface="Calibri"/>
                  <a:cs typeface="Calibri"/>
                  <a:sym typeface="Calibri"/>
                </a:rPr>
                <a:t>X</a:t>
              </a:r>
              <a:endParaRPr b="1" i="1" sz="1800">
                <a:solidFill>
                  <a:srgbClr val="000000"/>
                </a:solidFill>
                <a:latin typeface="Calibri"/>
                <a:ea typeface="Calibri"/>
                <a:cs typeface="Calibri"/>
                <a:sym typeface="Calibri"/>
              </a:endParaRPr>
            </a:p>
            <a:p>
              <a:pPr indent="0" lvl="0" marL="0" rtl="0" algn="ctr">
                <a:spcBef>
                  <a:spcPts val="0"/>
                </a:spcBef>
                <a:spcAft>
                  <a:spcPts val="0"/>
                </a:spcAft>
                <a:buNone/>
              </a:pPr>
              <a:r>
                <a:rPr lang="en" sz="1800">
                  <a:solidFill>
                    <a:srgbClr val="000000"/>
                  </a:solidFill>
                  <a:latin typeface="Calibri"/>
                  <a:ea typeface="Calibri"/>
                  <a:cs typeface="Calibri"/>
                  <a:sym typeface="Calibri"/>
                </a:rPr>
                <a:t>&amp;</a:t>
              </a:r>
              <a:endParaRPr sz="1800">
                <a:solidFill>
                  <a:srgbClr val="000000"/>
                </a:solidFill>
                <a:latin typeface="Calibri"/>
                <a:ea typeface="Calibri"/>
                <a:cs typeface="Calibri"/>
                <a:sym typeface="Calibri"/>
              </a:endParaRPr>
            </a:p>
            <a:p>
              <a:pPr indent="0" lvl="0" marL="0" rtl="0" algn="ctr">
                <a:spcBef>
                  <a:spcPts val="0"/>
                </a:spcBef>
                <a:spcAft>
                  <a:spcPts val="0"/>
                </a:spcAft>
                <a:buNone/>
              </a:pPr>
              <a:r>
                <a:rPr lang="en" sz="1800">
                  <a:latin typeface="Calibri"/>
                  <a:ea typeface="Calibri"/>
                  <a:cs typeface="Calibri"/>
                  <a:sym typeface="Calibri"/>
                </a:rPr>
                <a:t>target variable </a:t>
              </a:r>
              <a:r>
                <a:rPr b="1" i="1" lang="en" sz="1800">
                  <a:latin typeface="Calibri"/>
                  <a:ea typeface="Calibri"/>
                  <a:cs typeface="Calibri"/>
                  <a:sym typeface="Calibri"/>
                </a:rPr>
                <a:t>y</a:t>
              </a:r>
              <a:endParaRPr b="1" i="1" sz="1800">
                <a:solidFill>
                  <a:srgbClr val="000000"/>
                </a:solidFill>
                <a:latin typeface="Calibri"/>
                <a:ea typeface="Calibri"/>
                <a:cs typeface="Calibri"/>
                <a:sym typeface="Calibri"/>
              </a:endParaRPr>
            </a:p>
          </p:txBody>
        </p:sp>
      </p:grpSp>
      <p:sp>
        <p:nvSpPr>
          <p:cNvPr id="434" name="Google Shape;434;p42"/>
          <p:cNvSpPr txBox="1"/>
          <p:nvPr/>
        </p:nvSpPr>
        <p:spPr>
          <a:xfrm>
            <a:off x="229075" y="4319325"/>
            <a:ext cx="1891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latin typeface="Calibri"/>
                <a:ea typeface="Calibri"/>
                <a:cs typeface="Calibri"/>
                <a:sym typeface="Calibri"/>
              </a:rPr>
              <a:t>h(a</a:t>
            </a:r>
            <a:r>
              <a:rPr baseline="-25000" lang="en" sz="1800">
                <a:solidFill>
                  <a:schemeClr val="dk1"/>
                </a:solidFill>
                <a:latin typeface="Calibri"/>
                <a:ea typeface="Calibri"/>
                <a:cs typeface="Calibri"/>
                <a:sym typeface="Calibri"/>
              </a:rPr>
              <a:t>i</a:t>
            </a:r>
            <a:r>
              <a:rPr lang="en" sz="1800">
                <a:solidFill>
                  <a:schemeClr val="dk1"/>
                </a:solidFill>
                <a:latin typeface="Calibri"/>
                <a:ea typeface="Calibri"/>
                <a:cs typeface="Calibri"/>
                <a:sym typeface="Calibri"/>
              </a:rPr>
              <a:t>) = </a:t>
            </a:r>
            <a:r>
              <a:rPr lang="en" sz="1800">
                <a:solidFill>
                  <a:srgbClr val="CC0000"/>
                </a:solidFill>
                <a:latin typeface="Calibri"/>
                <a:ea typeface="Calibri"/>
                <a:cs typeface="Calibri"/>
                <a:sym typeface="Calibri"/>
              </a:rPr>
              <a:t>s</a:t>
            </a:r>
            <a:r>
              <a:rPr lang="en" sz="1800">
                <a:solidFill>
                  <a:srgbClr val="38761D"/>
                </a:solidFill>
                <a:latin typeface="Calibri"/>
                <a:ea typeface="Calibri"/>
                <a:cs typeface="Calibri"/>
                <a:sym typeface="Calibri"/>
              </a:rPr>
              <a:t>a</a:t>
            </a:r>
            <a:r>
              <a:rPr baseline="-25000" lang="en" sz="1800">
                <a:solidFill>
                  <a:srgbClr val="38761D"/>
                </a:solidFill>
                <a:latin typeface="Calibri"/>
                <a:ea typeface="Calibri"/>
                <a:cs typeface="Calibri"/>
                <a:sym typeface="Calibri"/>
              </a:rPr>
              <a:t>i</a:t>
            </a:r>
            <a:r>
              <a:rPr lang="en" sz="1800">
                <a:solidFill>
                  <a:schemeClr val="dk1"/>
                </a:solidFill>
                <a:latin typeface="Calibri"/>
                <a:ea typeface="Calibri"/>
                <a:cs typeface="Calibri"/>
                <a:sym typeface="Calibri"/>
              </a:rPr>
              <a:t> + </a:t>
            </a:r>
            <a:r>
              <a:rPr lang="en" sz="1800">
                <a:solidFill>
                  <a:srgbClr val="CC0000"/>
                </a:solidFill>
                <a:latin typeface="Calibri"/>
                <a:ea typeface="Calibri"/>
                <a:cs typeface="Calibri"/>
                <a:sym typeface="Calibri"/>
              </a:rPr>
              <a:t>p</a:t>
            </a:r>
            <a:r>
              <a:rPr lang="en" sz="1800">
                <a:solidFill>
                  <a:srgbClr val="38761D"/>
                </a:solidFill>
                <a:latin typeface="Calibri"/>
                <a:ea typeface="Calibri"/>
                <a:cs typeface="Calibri"/>
                <a:sym typeface="Calibri"/>
              </a:rPr>
              <a:t>a</a:t>
            </a:r>
            <a:r>
              <a:rPr baseline="-25000" lang="en" sz="1800">
                <a:solidFill>
                  <a:srgbClr val="38761D"/>
                </a:solidFill>
                <a:latin typeface="Calibri"/>
                <a:ea typeface="Calibri"/>
                <a:cs typeface="Calibri"/>
                <a:sym typeface="Calibri"/>
              </a:rPr>
              <a:t>i</a:t>
            </a:r>
            <a:r>
              <a:rPr baseline="30000" lang="en" sz="1800">
                <a:solidFill>
                  <a:srgbClr val="38761D"/>
                </a:solidFill>
                <a:latin typeface="Calibri"/>
                <a:ea typeface="Calibri"/>
                <a:cs typeface="Calibri"/>
                <a:sym typeface="Calibri"/>
              </a:rPr>
              <a:t>2</a:t>
            </a:r>
            <a:r>
              <a:rPr lang="en" sz="1800">
                <a:solidFill>
                  <a:schemeClr val="dk1"/>
                </a:solidFill>
                <a:latin typeface="Calibri"/>
                <a:ea typeface="Calibri"/>
                <a:cs typeface="Calibri"/>
                <a:sym typeface="Calibri"/>
              </a:rPr>
              <a:t>+ </a:t>
            </a:r>
            <a:r>
              <a:rPr lang="en" sz="1800">
                <a:solidFill>
                  <a:srgbClr val="CC0000"/>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2.1: </a:t>
            </a:r>
            <a:r>
              <a:rPr lang="en">
                <a:solidFill>
                  <a:schemeClr val="lt1"/>
                </a:solidFill>
              </a:rPr>
              <a:t>Finding a Model</a:t>
            </a:r>
            <a:endParaRPr/>
          </a:p>
        </p:txBody>
      </p:sp>
      <p:sp>
        <p:nvSpPr>
          <p:cNvPr id="440" name="Google Shape;44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Mean Squared Error of Regression</a:t>
            </a:r>
            <a:endParaRPr/>
          </a:p>
        </p:txBody>
      </p:sp>
      <p:sp>
        <p:nvSpPr>
          <p:cNvPr id="446" name="Google Shape;446;p44"/>
          <p:cNvSpPr txBox="1"/>
          <p:nvPr>
            <p:ph idx="1" type="body"/>
          </p:nvPr>
        </p:nvSpPr>
        <p:spPr>
          <a:xfrm>
            <a:off x="699350" y="1317725"/>
            <a:ext cx="7710300" cy="495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Recall </a:t>
            </a:r>
            <a:r>
              <a:rPr lang="en">
                <a:solidFill>
                  <a:srgbClr val="1155CC"/>
                </a:solidFill>
              </a:rPr>
              <a:t>Mean Squared Error (MSE)</a:t>
            </a:r>
            <a:r>
              <a:rPr lang="en"/>
              <a:t> function</a:t>
            </a:r>
            <a:endParaRPr/>
          </a:p>
        </p:txBody>
      </p:sp>
      <p:pic>
        <p:nvPicPr>
          <p:cNvPr descr="Image" id="447" name="Google Shape;447;p44"/>
          <p:cNvPicPr preferRelativeResize="0"/>
          <p:nvPr/>
        </p:nvPicPr>
        <p:blipFill rotWithShape="1">
          <a:blip r:embed="rId3">
            <a:alphaModFix/>
          </a:blip>
          <a:srcRect b="0" l="0" r="0" t="0"/>
          <a:stretch/>
        </p:blipFill>
        <p:spPr>
          <a:xfrm>
            <a:off x="716850" y="1929860"/>
            <a:ext cx="3236399" cy="2918315"/>
          </a:xfrm>
          <a:prstGeom prst="rect">
            <a:avLst/>
          </a:prstGeom>
          <a:noFill/>
          <a:ln>
            <a:noFill/>
          </a:ln>
        </p:spPr>
      </p:pic>
      <p:sp>
        <p:nvSpPr>
          <p:cNvPr id="448" name="Google Shape;448;p44"/>
          <p:cNvSpPr txBox="1"/>
          <p:nvPr/>
        </p:nvSpPr>
        <p:spPr>
          <a:xfrm>
            <a:off x="4243825" y="2610975"/>
            <a:ext cx="4259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rgbClr val="000000"/>
                </a:solidFill>
                <a:latin typeface="Calibri"/>
                <a:ea typeface="Calibri"/>
                <a:cs typeface="Calibri"/>
                <a:sym typeface="Calibri"/>
              </a:rPr>
              <a:t>For each point, take its distance from the prediction, square, and </a:t>
            </a:r>
            <a:r>
              <a:rPr lang="en" sz="1800">
                <a:latin typeface="Calibri"/>
                <a:ea typeface="Calibri"/>
                <a:cs typeface="Calibri"/>
                <a:sym typeface="Calibri"/>
              </a:rPr>
              <a:t>take the average.</a:t>
            </a:r>
            <a:endParaRPr sz="1800">
              <a:solidFill>
                <a:srgbClr val="000000"/>
              </a:solidFill>
              <a:latin typeface="Calibri"/>
              <a:ea typeface="Calibri"/>
              <a:cs typeface="Calibri"/>
              <a:sym typeface="Calibri"/>
            </a:endParaRPr>
          </a:p>
        </p:txBody>
      </p:sp>
      <p:sp>
        <p:nvSpPr>
          <p:cNvPr id="449" name="Google Shape;449;p44"/>
          <p:cNvSpPr/>
          <p:nvPr/>
        </p:nvSpPr>
        <p:spPr>
          <a:xfrm flipH="1">
            <a:off x="4028350" y="4370875"/>
            <a:ext cx="138300" cy="1227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0" name="Google Shape;450;p44"/>
          <p:cNvCxnSpPr/>
          <p:nvPr/>
        </p:nvCxnSpPr>
        <p:spPr>
          <a:xfrm flipH="1">
            <a:off x="4056600" y="4625425"/>
            <a:ext cx="150900" cy="141300"/>
          </a:xfrm>
          <a:prstGeom prst="straightConnector1">
            <a:avLst/>
          </a:prstGeom>
          <a:noFill/>
          <a:ln cap="flat" cmpd="sng" w="28575">
            <a:solidFill>
              <a:srgbClr val="CC0000"/>
            </a:solidFill>
            <a:prstDash val="solid"/>
            <a:round/>
            <a:headEnd len="med" w="med" type="none"/>
            <a:tailEnd len="med" w="med" type="none"/>
          </a:ln>
        </p:spPr>
      </p:cxnSp>
      <p:sp>
        <p:nvSpPr>
          <p:cNvPr id="451" name="Google Shape;45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44"/>
          <p:cNvSpPr txBox="1"/>
          <p:nvPr/>
        </p:nvSpPr>
        <p:spPr>
          <a:xfrm>
            <a:off x="4241750" y="4232125"/>
            <a:ext cx="203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data point       (x,y)</a:t>
            </a:r>
            <a:endParaRPr>
              <a:latin typeface="Calibri"/>
              <a:ea typeface="Calibri"/>
              <a:cs typeface="Calibri"/>
              <a:sym typeface="Calibri"/>
            </a:endParaRPr>
          </a:p>
          <a:p>
            <a:pPr indent="0" lvl="0" marL="0" rtl="0" algn="l">
              <a:lnSpc>
                <a:spcPct val="150000"/>
              </a:lnSpc>
              <a:spcBef>
                <a:spcPts val="0"/>
              </a:spcBef>
              <a:spcAft>
                <a:spcPts val="0"/>
              </a:spcAft>
              <a:buNone/>
            </a:pPr>
            <a:r>
              <a:rPr lang="en">
                <a:latin typeface="Calibri"/>
                <a:ea typeface="Calibri"/>
                <a:cs typeface="Calibri"/>
                <a:sym typeface="Calibri"/>
              </a:rPr>
              <a:t>classifier line  (x, f(x))</a:t>
            </a:r>
            <a:endParaRPr>
              <a:latin typeface="Calibri"/>
              <a:ea typeface="Calibri"/>
              <a:cs typeface="Calibri"/>
              <a:sym typeface="Calibri"/>
            </a:endParaRPr>
          </a:p>
        </p:txBody>
      </p:sp>
      <p:sp>
        <p:nvSpPr>
          <p:cNvPr id="453" name="Google Shape;453;p44"/>
          <p:cNvSpPr txBox="1"/>
          <p:nvPr/>
        </p:nvSpPr>
        <p:spPr>
          <a:xfrm>
            <a:off x="2027125" y="4690525"/>
            <a:ext cx="73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Calibri"/>
                <a:ea typeface="Calibri"/>
                <a:cs typeface="Calibri"/>
                <a:sym typeface="Calibri"/>
              </a:rPr>
              <a:t>x</a:t>
            </a:r>
            <a:endParaRPr sz="1800">
              <a:solidFill>
                <a:srgbClr val="DD4800"/>
              </a:solidFill>
              <a:latin typeface="Calibri"/>
              <a:ea typeface="Calibri"/>
              <a:cs typeface="Calibri"/>
              <a:sym typeface="Calibri"/>
            </a:endParaRPr>
          </a:p>
        </p:txBody>
      </p:sp>
      <p:sp>
        <p:nvSpPr>
          <p:cNvPr id="454" name="Google Shape;454;p44"/>
          <p:cNvSpPr txBox="1"/>
          <p:nvPr/>
        </p:nvSpPr>
        <p:spPr>
          <a:xfrm>
            <a:off x="4355825" y="3434800"/>
            <a:ext cx="4147500" cy="78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1"/>
                </a:solidFill>
                <a:latin typeface="Calibri"/>
                <a:ea typeface="Calibri"/>
                <a:cs typeface="Calibri"/>
                <a:sym typeface="Calibri"/>
              </a:rPr>
              <a:t>The best model is the one with the </a:t>
            </a:r>
            <a:r>
              <a:rPr b="1" i="1" lang="en" sz="1800">
                <a:solidFill>
                  <a:schemeClr val="dk1"/>
                </a:solidFill>
                <a:latin typeface="Calibri"/>
                <a:ea typeface="Calibri"/>
                <a:cs typeface="Calibri"/>
                <a:sym typeface="Calibri"/>
              </a:rPr>
              <a:t>lowest error.</a:t>
            </a:r>
            <a:endParaRPr b="1" i="1" sz="1800">
              <a:solidFill>
                <a:schemeClr val="dk1"/>
              </a:solidFill>
              <a:latin typeface="Calibri"/>
              <a:ea typeface="Calibri"/>
              <a:cs typeface="Calibri"/>
              <a:sym typeface="Calibri"/>
            </a:endParaRPr>
          </a:p>
        </p:txBody>
      </p:sp>
      <p:pic>
        <p:nvPicPr>
          <p:cNvPr descr="{&quot;id&quot;:&quot;3&quot;,&quot;font&quot;:{&quot;color&quot;:&quot;#000000&quot;,&quot;family&quot;:&quot;Arial&quot;,&quot;size&quot;:16.5},&quot;aid&quot;:null,&quot;code&quot;:&quot;$$\\text{MSE}\\left(h,X,y\\right)\\,=\\,\\frac{1}{m}\\sum_{i=1}^{m}\\left(h\\left(X_{i}\\right)-y_{i}\\right)^{2}$$&quot;,&quot;backgroundColor&quot;:&quot;#FFFFFF&quot;,&quot;type&quot;:&quot;$$&quot;,&quot;ts&quot;:1702377669914,&quot;cs&quot;:&quot;miOk5YUwNjXuiLQQlF5GSw==&quot;,&quot;size&quot;:{&quot;width&quot;:415,&quot;height&quot;:66}}" id="455" name="Google Shape;455;p44"/>
          <p:cNvPicPr preferRelativeResize="0"/>
          <p:nvPr/>
        </p:nvPicPr>
        <p:blipFill>
          <a:blip r:embed="rId4">
            <a:alphaModFix/>
          </a:blip>
          <a:stretch>
            <a:fillRect/>
          </a:stretch>
        </p:blipFill>
        <p:spPr>
          <a:xfrm>
            <a:off x="4386755" y="1953815"/>
            <a:ext cx="3952875" cy="628650"/>
          </a:xfrm>
          <a:prstGeom prst="rect">
            <a:avLst/>
          </a:prstGeom>
          <a:noFill/>
          <a:ln>
            <a:noFill/>
          </a:ln>
        </p:spPr>
      </p:pic>
      <p:sp>
        <p:nvSpPr>
          <p:cNvPr id="456" name="Google Shape;456;p44"/>
          <p:cNvSpPr txBox="1"/>
          <p:nvPr/>
        </p:nvSpPr>
        <p:spPr>
          <a:xfrm>
            <a:off x="229075" y="2694650"/>
            <a:ext cx="66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DD4800"/>
                </a:solidFill>
                <a:latin typeface="Calibri"/>
                <a:ea typeface="Calibri"/>
                <a:cs typeface="Calibri"/>
                <a:sym typeface="Calibri"/>
              </a:rPr>
              <a:t>h(x)</a:t>
            </a:r>
            <a:endParaRPr sz="1800">
              <a:solidFill>
                <a:srgbClr val="DD4800"/>
              </a:solidFill>
              <a:latin typeface="Calibri"/>
              <a:ea typeface="Calibri"/>
              <a:cs typeface="Calibri"/>
              <a:sym typeface="Calibri"/>
            </a:endParaRPr>
          </a:p>
        </p:txBody>
      </p:sp>
      <p:sp>
        <p:nvSpPr>
          <p:cNvPr id="457" name="Google Shape;457;p44"/>
          <p:cNvSpPr txBox="1"/>
          <p:nvPr/>
        </p:nvSpPr>
        <p:spPr>
          <a:xfrm>
            <a:off x="343075" y="2998875"/>
            <a:ext cx="54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Calibri"/>
                <a:ea typeface="Calibri"/>
                <a:cs typeface="Calibri"/>
                <a:sym typeface="Calibri"/>
              </a:rPr>
              <a:t>y</a:t>
            </a:r>
            <a:endParaRPr sz="1800">
              <a:solidFill>
                <a:srgbClr val="DD48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the Best Model </a:t>
            </a:r>
            <a:r>
              <a:rPr i="1" lang="en"/>
              <a:t>Example</a:t>
            </a:r>
            <a:endParaRPr i="1"/>
          </a:p>
        </p:txBody>
      </p:sp>
      <p:pic>
        <p:nvPicPr>
          <p:cNvPr id="463" name="Google Shape;463;p45"/>
          <p:cNvPicPr preferRelativeResize="0"/>
          <p:nvPr/>
        </p:nvPicPr>
        <p:blipFill rotWithShape="1">
          <a:blip r:embed="rId3">
            <a:alphaModFix/>
          </a:blip>
          <a:srcRect b="29474" l="2579" r="45318" t="14765"/>
          <a:stretch/>
        </p:blipFill>
        <p:spPr>
          <a:xfrm>
            <a:off x="618725" y="1728450"/>
            <a:ext cx="4103859" cy="2382900"/>
          </a:xfrm>
          <a:prstGeom prst="rect">
            <a:avLst/>
          </a:prstGeom>
          <a:noFill/>
          <a:ln>
            <a:noFill/>
          </a:ln>
        </p:spPr>
      </p:pic>
      <p:sp>
        <p:nvSpPr>
          <p:cNvPr id="464" name="Google Shape;46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65" name="Google Shape;465;p45"/>
          <p:cNvCxnSpPr/>
          <p:nvPr/>
        </p:nvCxnSpPr>
        <p:spPr>
          <a:xfrm>
            <a:off x="5673657" y="1520475"/>
            <a:ext cx="12300" cy="23829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45"/>
          <p:cNvCxnSpPr/>
          <p:nvPr/>
        </p:nvCxnSpPr>
        <p:spPr>
          <a:xfrm>
            <a:off x="5698324" y="3903441"/>
            <a:ext cx="2478300" cy="0"/>
          </a:xfrm>
          <a:prstGeom prst="straightConnector1">
            <a:avLst/>
          </a:prstGeom>
          <a:noFill/>
          <a:ln cap="flat" cmpd="sng" w="9525">
            <a:solidFill>
              <a:schemeClr val="dk2"/>
            </a:solidFill>
            <a:prstDash val="solid"/>
            <a:round/>
            <a:headEnd len="med" w="med" type="none"/>
            <a:tailEnd len="med" w="med" type="none"/>
          </a:ln>
        </p:spPr>
      </p:cxnSp>
      <p:sp>
        <p:nvSpPr>
          <p:cNvPr id="467" name="Google Shape;467;p45"/>
          <p:cNvSpPr txBox="1"/>
          <p:nvPr/>
        </p:nvSpPr>
        <p:spPr>
          <a:xfrm>
            <a:off x="5168200" y="2448639"/>
            <a:ext cx="413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Calibri"/>
                <a:ea typeface="Calibri"/>
                <a:cs typeface="Calibri"/>
                <a:sym typeface="Calibri"/>
              </a:rPr>
              <a:t>b</a:t>
            </a:r>
            <a:endParaRPr sz="2000">
              <a:latin typeface="Calibri"/>
              <a:ea typeface="Calibri"/>
              <a:cs typeface="Calibri"/>
              <a:sym typeface="Calibri"/>
            </a:endParaRPr>
          </a:p>
        </p:txBody>
      </p:sp>
      <p:sp>
        <p:nvSpPr>
          <p:cNvPr id="468" name="Google Shape;468;p45"/>
          <p:cNvSpPr txBox="1"/>
          <p:nvPr/>
        </p:nvSpPr>
        <p:spPr>
          <a:xfrm>
            <a:off x="6730846" y="3903328"/>
            <a:ext cx="413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Calibri"/>
                <a:ea typeface="Calibri"/>
                <a:cs typeface="Calibri"/>
                <a:sym typeface="Calibri"/>
              </a:rPr>
              <a:t>s</a:t>
            </a:r>
            <a:endParaRPr sz="2000">
              <a:latin typeface="Calibri"/>
              <a:ea typeface="Calibri"/>
              <a:cs typeface="Calibri"/>
              <a:sym typeface="Calibri"/>
            </a:endParaRPr>
          </a:p>
        </p:txBody>
      </p:sp>
      <p:sp>
        <p:nvSpPr>
          <p:cNvPr id="469" name="Google Shape;469;p45"/>
          <p:cNvSpPr/>
          <p:nvPr/>
        </p:nvSpPr>
        <p:spPr>
          <a:xfrm>
            <a:off x="6481955" y="3022074"/>
            <a:ext cx="151200" cy="13860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0" name="Google Shape;470;p45"/>
          <p:cNvSpPr/>
          <p:nvPr/>
        </p:nvSpPr>
        <p:spPr>
          <a:xfrm>
            <a:off x="7563114" y="2112702"/>
            <a:ext cx="151200" cy="138600"/>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p45"/>
          <p:cNvSpPr txBox="1"/>
          <p:nvPr/>
        </p:nvSpPr>
        <p:spPr>
          <a:xfrm>
            <a:off x="2031300" y="4395925"/>
            <a:ext cx="149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feature space</a:t>
            </a:r>
            <a:endParaRPr sz="1700">
              <a:latin typeface="Calibri"/>
              <a:ea typeface="Calibri"/>
              <a:cs typeface="Calibri"/>
              <a:sym typeface="Calibri"/>
            </a:endParaRPr>
          </a:p>
        </p:txBody>
      </p:sp>
      <p:sp>
        <p:nvSpPr>
          <p:cNvPr id="472" name="Google Shape;472;p45"/>
          <p:cNvSpPr/>
          <p:nvPr/>
        </p:nvSpPr>
        <p:spPr>
          <a:xfrm>
            <a:off x="4468900" y="2495625"/>
            <a:ext cx="245700" cy="245700"/>
          </a:xfrm>
          <a:prstGeom prst="rect">
            <a:avLst/>
          </a:prstGeom>
          <a:solidFill>
            <a:srgbClr val="D5FF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3" name="Google Shape;473;p45"/>
          <p:cNvSpPr txBox="1"/>
          <p:nvPr/>
        </p:nvSpPr>
        <p:spPr>
          <a:xfrm>
            <a:off x="6481950" y="4395925"/>
            <a:ext cx="129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model space</a:t>
            </a:r>
            <a:endParaRPr sz="17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46"/>
          <p:cNvPicPr preferRelativeResize="0"/>
          <p:nvPr/>
        </p:nvPicPr>
        <p:blipFill rotWithShape="1">
          <a:blip r:embed="rId3">
            <a:alphaModFix/>
          </a:blip>
          <a:srcRect b="931" l="0" r="0" t="0"/>
          <a:stretch/>
        </p:blipFill>
        <p:spPr>
          <a:xfrm>
            <a:off x="4240600" y="1342100"/>
            <a:ext cx="4610026" cy="2943875"/>
          </a:xfrm>
          <a:prstGeom prst="rect">
            <a:avLst/>
          </a:prstGeom>
          <a:noFill/>
          <a:ln>
            <a:noFill/>
          </a:ln>
        </p:spPr>
      </p:pic>
      <p:sp>
        <p:nvSpPr>
          <p:cNvPr id="479" name="Google Shape;479;p4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Error surface (for training set)</a:t>
            </a:r>
            <a:endParaRPr/>
          </a:p>
        </p:txBody>
      </p:sp>
      <p:sp>
        <p:nvSpPr>
          <p:cNvPr id="480" name="Google Shape;480;p46"/>
          <p:cNvSpPr txBox="1"/>
          <p:nvPr>
            <p:ph idx="1" type="body"/>
          </p:nvPr>
        </p:nvSpPr>
        <p:spPr>
          <a:xfrm>
            <a:off x="355875" y="1764375"/>
            <a:ext cx="4697700" cy="28182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a:solidFill>
                  <a:srgbClr val="1155CC"/>
                </a:solidFill>
              </a:rPr>
              <a:t>Model </a:t>
            </a:r>
            <a:r>
              <a:rPr lang="en"/>
              <a:t>f(x</a:t>
            </a:r>
            <a:r>
              <a:rPr baseline="-25000" lang="en"/>
              <a:t>i</a:t>
            </a:r>
            <a:r>
              <a:rPr lang="en"/>
              <a:t>) = </a:t>
            </a:r>
            <a:r>
              <a:rPr lang="en">
                <a:solidFill>
                  <a:srgbClr val="CC0000"/>
                </a:solidFill>
              </a:rPr>
              <a:t>s</a:t>
            </a:r>
            <a:r>
              <a:rPr lang="en"/>
              <a:t>x</a:t>
            </a:r>
            <a:r>
              <a:rPr baseline="-25000" lang="en"/>
              <a:t>i</a:t>
            </a:r>
            <a:r>
              <a:rPr lang="en"/>
              <a:t> + </a:t>
            </a:r>
            <a:r>
              <a:rPr lang="en">
                <a:solidFill>
                  <a:srgbClr val="CC0000"/>
                </a:solidFill>
              </a:rPr>
              <a:t>b</a:t>
            </a:r>
            <a:endParaRPr>
              <a:solidFill>
                <a:srgbClr val="CC0000"/>
              </a:solidFill>
            </a:endParaRPr>
          </a:p>
          <a:p>
            <a:pPr indent="0" lvl="0" marL="0" rtl="0" algn="l">
              <a:lnSpc>
                <a:spcPct val="200000"/>
              </a:lnSpc>
              <a:spcBef>
                <a:spcPts val="1200"/>
              </a:spcBef>
              <a:spcAft>
                <a:spcPts val="0"/>
              </a:spcAft>
              <a:buNone/>
            </a:pPr>
            <a:r>
              <a:rPr lang="en">
                <a:solidFill>
                  <a:srgbClr val="1155CC"/>
                </a:solidFill>
              </a:rPr>
              <a:t>Error for instance </a:t>
            </a:r>
            <a:r>
              <a:rPr i="1" lang="en">
                <a:solidFill>
                  <a:srgbClr val="1155CC"/>
                </a:solidFill>
              </a:rPr>
              <a:t>i </a:t>
            </a:r>
            <a:r>
              <a:rPr lang="en"/>
              <a:t>f(x</a:t>
            </a:r>
            <a:r>
              <a:rPr baseline="-25000" lang="en"/>
              <a:t>i</a:t>
            </a:r>
            <a:r>
              <a:rPr lang="en"/>
              <a:t>) - y = </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endParaRPr baseline="-25000">
              <a:solidFill>
                <a:srgbClr val="1155CC"/>
              </a:solidFill>
            </a:endParaRPr>
          </a:p>
          <a:p>
            <a:pPr indent="0" lvl="0" marL="0" rtl="0" algn="l">
              <a:lnSpc>
                <a:spcPct val="200000"/>
              </a:lnSpc>
              <a:spcBef>
                <a:spcPts val="1200"/>
              </a:spcBef>
              <a:spcAft>
                <a:spcPts val="0"/>
              </a:spcAft>
              <a:buNone/>
            </a:pPr>
            <a:r>
              <a:rPr lang="en">
                <a:solidFill>
                  <a:srgbClr val="1155CC"/>
                </a:solidFill>
              </a:rPr>
              <a:t>Squared error </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a:p>
            <a:pPr indent="0" lvl="0" marL="0" rtl="0" algn="l">
              <a:lnSpc>
                <a:spcPct val="200000"/>
              </a:lnSpc>
              <a:spcBef>
                <a:spcPts val="1200"/>
              </a:spcBef>
              <a:spcAft>
                <a:spcPts val="1200"/>
              </a:spcAft>
              <a:buNone/>
            </a:pPr>
            <a:r>
              <a:rPr lang="en">
                <a:solidFill>
                  <a:srgbClr val="1155CC"/>
                </a:solidFill>
              </a:rPr>
              <a:t>Sum of squared errors </a:t>
            </a:r>
            <a:r>
              <a:rPr lang="en"/>
              <a:t>error(</a:t>
            </a:r>
            <a:r>
              <a:rPr lang="en">
                <a:solidFill>
                  <a:srgbClr val="CC0000"/>
                </a:solidFill>
              </a:rPr>
              <a:t>s</a:t>
            </a:r>
            <a:r>
              <a:rPr lang="en"/>
              <a:t>,</a:t>
            </a:r>
            <a:r>
              <a:rPr lang="en">
                <a:solidFill>
                  <a:srgbClr val="CC0000"/>
                </a:solidFill>
              </a:rPr>
              <a:t>b</a:t>
            </a:r>
            <a:r>
              <a:rPr lang="en"/>
              <a:t>) = Σ</a:t>
            </a:r>
            <a:r>
              <a:rPr baseline="-25000" lang="en"/>
              <a:t>i</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p:txBody>
      </p:sp>
      <p:sp>
        <p:nvSpPr>
          <p:cNvPr id="481" name="Google Shape;481;p46"/>
          <p:cNvSpPr txBox="1"/>
          <p:nvPr/>
        </p:nvSpPr>
        <p:spPr>
          <a:xfrm rot="-5400000">
            <a:off x="3927200" y="2214925"/>
            <a:ext cx="886200" cy="400200"/>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error(</a:t>
            </a:r>
            <a:r>
              <a:rPr lang="en">
                <a:solidFill>
                  <a:srgbClr val="CC0000"/>
                </a:solidFill>
                <a:latin typeface="Calibri"/>
                <a:ea typeface="Calibri"/>
                <a:cs typeface="Calibri"/>
                <a:sym typeface="Calibri"/>
              </a:rPr>
              <a:t>s</a:t>
            </a:r>
            <a:r>
              <a:rPr lang="en">
                <a:latin typeface="Calibri"/>
                <a:ea typeface="Calibri"/>
                <a:cs typeface="Calibri"/>
                <a:sym typeface="Calibri"/>
              </a:rPr>
              <a:t>,</a:t>
            </a:r>
            <a:r>
              <a:rPr lang="en">
                <a:solidFill>
                  <a:srgbClr val="CC0000"/>
                </a:solidFill>
                <a:latin typeface="Calibri"/>
                <a:ea typeface="Calibri"/>
                <a:cs typeface="Calibri"/>
                <a:sym typeface="Calibri"/>
              </a:rPr>
              <a:t>b</a:t>
            </a:r>
            <a:r>
              <a:rPr lang="en">
                <a:latin typeface="Calibri"/>
                <a:ea typeface="Calibri"/>
                <a:cs typeface="Calibri"/>
                <a:sym typeface="Calibri"/>
              </a:rPr>
              <a:t>)</a:t>
            </a:r>
            <a:endParaRPr>
              <a:latin typeface="Calibri"/>
              <a:ea typeface="Calibri"/>
              <a:cs typeface="Calibri"/>
              <a:sym typeface="Calibri"/>
            </a:endParaRPr>
          </a:p>
        </p:txBody>
      </p:sp>
      <p:sp>
        <p:nvSpPr>
          <p:cNvPr id="482" name="Google Shape;482;p46"/>
          <p:cNvSpPr txBox="1"/>
          <p:nvPr/>
        </p:nvSpPr>
        <p:spPr>
          <a:xfrm rot="2095589">
            <a:off x="5044085" y="3659756"/>
            <a:ext cx="300773" cy="41562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s</a:t>
            </a:r>
            <a:endParaRPr sz="1500">
              <a:latin typeface="Calibri"/>
              <a:ea typeface="Calibri"/>
              <a:cs typeface="Calibri"/>
              <a:sym typeface="Calibri"/>
            </a:endParaRPr>
          </a:p>
        </p:txBody>
      </p:sp>
      <p:sp>
        <p:nvSpPr>
          <p:cNvPr id="483" name="Google Shape;483;p46"/>
          <p:cNvSpPr txBox="1"/>
          <p:nvPr/>
        </p:nvSpPr>
        <p:spPr>
          <a:xfrm rot="-1259050">
            <a:off x="7358255" y="3920079"/>
            <a:ext cx="300746" cy="41546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b</a:t>
            </a:r>
            <a:endParaRPr sz="1500">
              <a:latin typeface="Calibri"/>
              <a:ea typeface="Calibri"/>
              <a:cs typeface="Calibri"/>
              <a:sym typeface="Calibri"/>
            </a:endParaRPr>
          </a:p>
        </p:txBody>
      </p:sp>
      <p:cxnSp>
        <p:nvCxnSpPr>
          <p:cNvPr id="484" name="Google Shape;484;p46"/>
          <p:cNvCxnSpPr/>
          <p:nvPr/>
        </p:nvCxnSpPr>
        <p:spPr>
          <a:xfrm rot="10800000">
            <a:off x="7375950" y="1964475"/>
            <a:ext cx="403500" cy="0"/>
          </a:xfrm>
          <a:prstGeom prst="straightConnector1">
            <a:avLst/>
          </a:prstGeom>
          <a:noFill/>
          <a:ln cap="flat" cmpd="sng" w="9525">
            <a:solidFill>
              <a:srgbClr val="1155CC"/>
            </a:solidFill>
            <a:prstDash val="solid"/>
            <a:round/>
            <a:headEnd len="med" w="med" type="none"/>
            <a:tailEnd len="med" w="med" type="triangle"/>
          </a:ln>
        </p:spPr>
      </p:cxnSp>
      <p:sp>
        <p:nvSpPr>
          <p:cNvPr id="485" name="Google Shape;485;p46"/>
          <p:cNvSpPr txBox="1"/>
          <p:nvPr/>
        </p:nvSpPr>
        <p:spPr>
          <a:xfrm>
            <a:off x="7723425" y="1764375"/>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error surface</a:t>
            </a:r>
            <a:endParaRPr sz="1600">
              <a:latin typeface="Calibri"/>
              <a:ea typeface="Calibri"/>
              <a:cs typeface="Calibri"/>
              <a:sym typeface="Calibri"/>
            </a:endParaRPr>
          </a:p>
        </p:txBody>
      </p:sp>
      <p:cxnSp>
        <p:nvCxnSpPr>
          <p:cNvPr id="486" name="Google Shape;486;p46"/>
          <p:cNvCxnSpPr>
            <a:stCxn id="487" idx="0"/>
          </p:cNvCxnSpPr>
          <p:nvPr/>
        </p:nvCxnSpPr>
        <p:spPr>
          <a:xfrm rot="10800000">
            <a:off x="8125725" y="3873475"/>
            <a:ext cx="306600" cy="412500"/>
          </a:xfrm>
          <a:prstGeom prst="straightConnector1">
            <a:avLst/>
          </a:prstGeom>
          <a:noFill/>
          <a:ln cap="flat" cmpd="sng" w="9525">
            <a:solidFill>
              <a:srgbClr val="1155CC"/>
            </a:solidFill>
            <a:prstDash val="solid"/>
            <a:round/>
            <a:headEnd len="med" w="med" type="none"/>
            <a:tailEnd len="med" w="med" type="triangle"/>
          </a:ln>
        </p:spPr>
      </p:cxnSp>
      <p:sp>
        <p:nvSpPr>
          <p:cNvPr id="487" name="Google Shape;487;p46"/>
          <p:cNvSpPr txBox="1"/>
          <p:nvPr/>
        </p:nvSpPr>
        <p:spPr>
          <a:xfrm>
            <a:off x="7799625" y="4285975"/>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model space</a:t>
            </a:r>
            <a:endParaRPr sz="1600">
              <a:latin typeface="Calibri"/>
              <a:ea typeface="Calibri"/>
              <a:cs typeface="Calibri"/>
              <a:sym typeface="Calibri"/>
            </a:endParaRPr>
          </a:p>
        </p:txBody>
      </p:sp>
      <p:sp>
        <p:nvSpPr>
          <p:cNvPr id="488" name="Google Shape;488;p46"/>
          <p:cNvSpPr/>
          <p:nvPr/>
        </p:nvSpPr>
        <p:spPr>
          <a:xfrm rot="-2700000">
            <a:off x="6815932" y="3444082"/>
            <a:ext cx="201525" cy="22783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9" name="Google Shape;4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90" name="Google Shape;490;p46"/>
          <p:cNvCxnSpPr/>
          <p:nvPr/>
        </p:nvCxnSpPr>
        <p:spPr>
          <a:xfrm flipH="1">
            <a:off x="5601400" y="3553875"/>
            <a:ext cx="1391400" cy="296700"/>
          </a:xfrm>
          <a:prstGeom prst="straightConnector1">
            <a:avLst/>
          </a:prstGeom>
          <a:noFill/>
          <a:ln cap="flat" cmpd="sng" w="9525">
            <a:solidFill>
              <a:srgbClr val="38761D"/>
            </a:solidFill>
            <a:prstDash val="solid"/>
            <a:round/>
            <a:headEnd len="med" w="med" type="none"/>
            <a:tailEnd len="med" w="med" type="none"/>
          </a:ln>
        </p:spPr>
      </p:cxnSp>
      <p:cxnSp>
        <p:nvCxnSpPr>
          <p:cNvPr id="491" name="Google Shape;491;p46"/>
          <p:cNvCxnSpPr/>
          <p:nvPr/>
        </p:nvCxnSpPr>
        <p:spPr>
          <a:xfrm>
            <a:off x="6962850" y="3573725"/>
            <a:ext cx="449100" cy="284100"/>
          </a:xfrm>
          <a:prstGeom prst="straightConnector1">
            <a:avLst/>
          </a:prstGeom>
          <a:noFill/>
          <a:ln cap="flat" cmpd="sng" w="9525">
            <a:solidFill>
              <a:srgbClr val="38761D"/>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47"/>
          <p:cNvPicPr preferRelativeResize="0"/>
          <p:nvPr/>
        </p:nvPicPr>
        <p:blipFill rotWithShape="1">
          <a:blip r:embed="rId3">
            <a:alphaModFix/>
          </a:blip>
          <a:srcRect b="931" l="0" r="0" t="0"/>
          <a:stretch/>
        </p:blipFill>
        <p:spPr>
          <a:xfrm>
            <a:off x="4240600" y="1342100"/>
            <a:ext cx="4610026" cy="2943875"/>
          </a:xfrm>
          <a:prstGeom prst="rect">
            <a:avLst/>
          </a:prstGeom>
          <a:noFill/>
          <a:ln>
            <a:noFill/>
          </a:ln>
        </p:spPr>
      </p:pic>
      <p:sp>
        <p:nvSpPr>
          <p:cNvPr id="497" name="Google Shape;497;p4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Error surface (for training set)</a:t>
            </a:r>
            <a:endParaRPr/>
          </a:p>
        </p:txBody>
      </p:sp>
      <p:sp>
        <p:nvSpPr>
          <p:cNvPr id="498" name="Google Shape;498;p47"/>
          <p:cNvSpPr txBox="1"/>
          <p:nvPr>
            <p:ph idx="1" type="body"/>
          </p:nvPr>
        </p:nvSpPr>
        <p:spPr>
          <a:xfrm>
            <a:off x="355875" y="1764375"/>
            <a:ext cx="4697700" cy="28182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a:solidFill>
                  <a:srgbClr val="1155CC"/>
                </a:solidFill>
              </a:rPr>
              <a:t>Model </a:t>
            </a:r>
            <a:r>
              <a:rPr lang="en"/>
              <a:t>f(x</a:t>
            </a:r>
            <a:r>
              <a:rPr baseline="-25000" lang="en"/>
              <a:t>i</a:t>
            </a:r>
            <a:r>
              <a:rPr lang="en"/>
              <a:t>) = </a:t>
            </a:r>
            <a:r>
              <a:rPr lang="en">
                <a:solidFill>
                  <a:srgbClr val="CC0000"/>
                </a:solidFill>
              </a:rPr>
              <a:t>s</a:t>
            </a:r>
            <a:r>
              <a:rPr lang="en"/>
              <a:t>x</a:t>
            </a:r>
            <a:r>
              <a:rPr baseline="-25000" lang="en"/>
              <a:t>i</a:t>
            </a:r>
            <a:r>
              <a:rPr lang="en"/>
              <a:t> + </a:t>
            </a:r>
            <a:r>
              <a:rPr lang="en">
                <a:solidFill>
                  <a:srgbClr val="CC0000"/>
                </a:solidFill>
              </a:rPr>
              <a:t>b</a:t>
            </a:r>
            <a:endParaRPr>
              <a:solidFill>
                <a:srgbClr val="CC0000"/>
              </a:solidFill>
            </a:endParaRPr>
          </a:p>
          <a:p>
            <a:pPr indent="0" lvl="0" marL="0" rtl="0" algn="l">
              <a:lnSpc>
                <a:spcPct val="200000"/>
              </a:lnSpc>
              <a:spcBef>
                <a:spcPts val="1200"/>
              </a:spcBef>
              <a:spcAft>
                <a:spcPts val="0"/>
              </a:spcAft>
              <a:buNone/>
            </a:pPr>
            <a:r>
              <a:rPr lang="en">
                <a:solidFill>
                  <a:srgbClr val="1155CC"/>
                </a:solidFill>
              </a:rPr>
              <a:t>Error for instance </a:t>
            </a:r>
            <a:r>
              <a:rPr i="1" lang="en">
                <a:solidFill>
                  <a:srgbClr val="1155CC"/>
                </a:solidFill>
              </a:rPr>
              <a:t>i </a:t>
            </a:r>
            <a:r>
              <a:rPr lang="en"/>
              <a:t>f(x</a:t>
            </a:r>
            <a:r>
              <a:rPr baseline="-25000" lang="en"/>
              <a:t>i</a:t>
            </a:r>
            <a:r>
              <a:rPr lang="en"/>
              <a:t>) - y = </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endParaRPr baseline="-25000">
              <a:solidFill>
                <a:srgbClr val="1155CC"/>
              </a:solidFill>
            </a:endParaRPr>
          </a:p>
          <a:p>
            <a:pPr indent="0" lvl="0" marL="0" rtl="0" algn="l">
              <a:lnSpc>
                <a:spcPct val="200000"/>
              </a:lnSpc>
              <a:spcBef>
                <a:spcPts val="1200"/>
              </a:spcBef>
              <a:spcAft>
                <a:spcPts val="0"/>
              </a:spcAft>
              <a:buNone/>
            </a:pPr>
            <a:r>
              <a:rPr lang="en">
                <a:solidFill>
                  <a:srgbClr val="1155CC"/>
                </a:solidFill>
              </a:rPr>
              <a:t>Squared error </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a:p>
            <a:pPr indent="0" lvl="0" marL="0" rtl="0" algn="l">
              <a:lnSpc>
                <a:spcPct val="200000"/>
              </a:lnSpc>
              <a:spcBef>
                <a:spcPts val="1200"/>
              </a:spcBef>
              <a:spcAft>
                <a:spcPts val="1200"/>
              </a:spcAft>
              <a:buNone/>
            </a:pPr>
            <a:r>
              <a:rPr lang="en">
                <a:solidFill>
                  <a:srgbClr val="1155CC"/>
                </a:solidFill>
              </a:rPr>
              <a:t>Sum of squared errors </a:t>
            </a:r>
            <a:r>
              <a:rPr lang="en"/>
              <a:t>error(</a:t>
            </a:r>
            <a:r>
              <a:rPr lang="en">
                <a:solidFill>
                  <a:srgbClr val="CC0000"/>
                </a:solidFill>
              </a:rPr>
              <a:t>s</a:t>
            </a:r>
            <a:r>
              <a:rPr lang="en"/>
              <a:t>,</a:t>
            </a:r>
            <a:r>
              <a:rPr lang="en">
                <a:solidFill>
                  <a:srgbClr val="CC0000"/>
                </a:solidFill>
              </a:rPr>
              <a:t>b</a:t>
            </a:r>
            <a:r>
              <a:rPr lang="en"/>
              <a:t>) = Σ</a:t>
            </a:r>
            <a:r>
              <a:rPr baseline="-25000" lang="en"/>
              <a:t>i</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p:txBody>
      </p:sp>
      <p:sp>
        <p:nvSpPr>
          <p:cNvPr id="499" name="Google Shape;499;p47"/>
          <p:cNvSpPr txBox="1"/>
          <p:nvPr/>
        </p:nvSpPr>
        <p:spPr>
          <a:xfrm rot="-5400000">
            <a:off x="3927200" y="2214925"/>
            <a:ext cx="886200" cy="400200"/>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error(</a:t>
            </a:r>
            <a:r>
              <a:rPr lang="en">
                <a:solidFill>
                  <a:srgbClr val="CC0000"/>
                </a:solidFill>
                <a:latin typeface="Calibri"/>
                <a:ea typeface="Calibri"/>
                <a:cs typeface="Calibri"/>
                <a:sym typeface="Calibri"/>
              </a:rPr>
              <a:t>s</a:t>
            </a:r>
            <a:r>
              <a:rPr lang="en">
                <a:latin typeface="Calibri"/>
                <a:ea typeface="Calibri"/>
                <a:cs typeface="Calibri"/>
                <a:sym typeface="Calibri"/>
              </a:rPr>
              <a:t>,</a:t>
            </a:r>
            <a:r>
              <a:rPr lang="en">
                <a:solidFill>
                  <a:srgbClr val="CC0000"/>
                </a:solidFill>
                <a:latin typeface="Calibri"/>
                <a:ea typeface="Calibri"/>
                <a:cs typeface="Calibri"/>
                <a:sym typeface="Calibri"/>
              </a:rPr>
              <a:t>b</a:t>
            </a:r>
            <a:r>
              <a:rPr lang="en">
                <a:latin typeface="Calibri"/>
                <a:ea typeface="Calibri"/>
                <a:cs typeface="Calibri"/>
                <a:sym typeface="Calibri"/>
              </a:rPr>
              <a:t>)</a:t>
            </a:r>
            <a:endParaRPr>
              <a:latin typeface="Calibri"/>
              <a:ea typeface="Calibri"/>
              <a:cs typeface="Calibri"/>
              <a:sym typeface="Calibri"/>
            </a:endParaRPr>
          </a:p>
        </p:txBody>
      </p:sp>
      <p:sp>
        <p:nvSpPr>
          <p:cNvPr id="500" name="Google Shape;500;p47"/>
          <p:cNvSpPr txBox="1"/>
          <p:nvPr/>
        </p:nvSpPr>
        <p:spPr>
          <a:xfrm rot="2095589">
            <a:off x="5044085" y="3659756"/>
            <a:ext cx="300773" cy="41562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s</a:t>
            </a:r>
            <a:endParaRPr sz="1500">
              <a:latin typeface="Calibri"/>
              <a:ea typeface="Calibri"/>
              <a:cs typeface="Calibri"/>
              <a:sym typeface="Calibri"/>
            </a:endParaRPr>
          </a:p>
        </p:txBody>
      </p:sp>
      <p:sp>
        <p:nvSpPr>
          <p:cNvPr id="501" name="Google Shape;501;p47"/>
          <p:cNvSpPr txBox="1"/>
          <p:nvPr/>
        </p:nvSpPr>
        <p:spPr>
          <a:xfrm rot="-1259050">
            <a:off x="7358255" y="3920079"/>
            <a:ext cx="300746" cy="41546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b</a:t>
            </a:r>
            <a:endParaRPr sz="1500">
              <a:latin typeface="Calibri"/>
              <a:ea typeface="Calibri"/>
              <a:cs typeface="Calibri"/>
              <a:sym typeface="Calibri"/>
            </a:endParaRPr>
          </a:p>
        </p:txBody>
      </p:sp>
      <p:cxnSp>
        <p:nvCxnSpPr>
          <p:cNvPr id="502" name="Google Shape;502;p47"/>
          <p:cNvCxnSpPr/>
          <p:nvPr/>
        </p:nvCxnSpPr>
        <p:spPr>
          <a:xfrm rot="10800000">
            <a:off x="7375950" y="1964475"/>
            <a:ext cx="403500" cy="0"/>
          </a:xfrm>
          <a:prstGeom prst="straightConnector1">
            <a:avLst/>
          </a:prstGeom>
          <a:noFill/>
          <a:ln cap="flat" cmpd="sng" w="9525">
            <a:solidFill>
              <a:srgbClr val="1155CC"/>
            </a:solidFill>
            <a:prstDash val="solid"/>
            <a:round/>
            <a:headEnd len="med" w="med" type="none"/>
            <a:tailEnd len="med" w="med" type="triangle"/>
          </a:ln>
        </p:spPr>
      </p:cxnSp>
      <p:sp>
        <p:nvSpPr>
          <p:cNvPr id="503" name="Google Shape;503;p47"/>
          <p:cNvSpPr txBox="1"/>
          <p:nvPr/>
        </p:nvSpPr>
        <p:spPr>
          <a:xfrm>
            <a:off x="7723425" y="1764375"/>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error surface</a:t>
            </a:r>
            <a:endParaRPr sz="1600">
              <a:latin typeface="Calibri"/>
              <a:ea typeface="Calibri"/>
              <a:cs typeface="Calibri"/>
              <a:sym typeface="Calibri"/>
            </a:endParaRPr>
          </a:p>
        </p:txBody>
      </p:sp>
      <p:cxnSp>
        <p:nvCxnSpPr>
          <p:cNvPr id="504" name="Google Shape;504;p47"/>
          <p:cNvCxnSpPr>
            <a:stCxn id="505" idx="0"/>
          </p:cNvCxnSpPr>
          <p:nvPr/>
        </p:nvCxnSpPr>
        <p:spPr>
          <a:xfrm rot="10800000">
            <a:off x="8125725" y="3873475"/>
            <a:ext cx="306600" cy="412500"/>
          </a:xfrm>
          <a:prstGeom prst="straightConnector1">
            <a:avLst/>
          </a:prstGeom>
          <a:noFill/>
          <a:ln cap="flat" cmpd="sng" w="9525">
            <a:solidFill>
              <a:srgbClr val="1155CC"/>
            </a:solidFill>
            <a:prstDash val="solid"/>
            <a:round/>
            <a:headEnd len="med" w="med" type="none"/>
            <a:tailEnd len="med" w="med" type="triangle"/>
          </a:ln>
        </p:spPr>
      </p:cxnSp>
      <p:sp>
        <p:nvSpPr>
          <p:cNvPr id="505" name="Google Shape;505;p47"/>
          <p:cNvSpPr txBox="1"/>
          <p:nvPr/>
        </p:nvSpPr>
        <p:spPr>
          <a:xfrm>
            <a:off x="7799625" y="4285975"/>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model space</a:t>
            </a:r>
            <a:endParaRPr sz="1600">
              <a:latin typeface="Calibri"/>
              <a:ea typeface="Calibri"/>
              <a:cs typeface="Calibri"/>
              <a:sym typeface="Calibri"/>
            </a:endParaRPr>
          </a:p>
        </p:txBody>
      </p:sp>
      <p:sp>
        <p:nvSpPr>
          <p:cNvPr id="506" name="Google Shape;506;p47"/>
          <p:cNvSpPr/>
          <p:nvPr/>
        </p:nvSpPr>
        <p:spPr>
          <a:xfrm>
            <a:off x="6906550" y="3638175"/>
            <a:ext cx="324900" cy="5610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07" name="Google Shape;507;p47"/>
          <p:cNvCxnSpPr>
            <a:stCxn id="506" idx="3"/>
          </p:cNvCxnSpPr>
          <p:nvPr/>
        </p:nvCxnSpPr>
        <p:spPr>
          <a:xfrm flipH="1">
            <a:off x="6693550" y="3666225"/>
            <a:ext cx="537900" cy="72900"/>
          </a:xfrm>
          <a:prstGeom prst="straightConnector1">
            <a:avLst/>
          </a:prstGeom>
          <a:noFill/>
          <a:ln cap="flat" cmpd="sng" w="38100">
            <a:solidFill>
              <a:srgbClr val="E69138"/>
            </a:solidFill>
            <a:prstDash val="solid"/>
            <a:round/>
            <a:headEnd len="med" w="med" type="none"/>
            <a:tailEnd len="med" w="med" type="none"/>
          </a:ln>
        </p:spPr>
      </p:cxnSp>
      <p:cxnSp>
        <p:nvCxnSpPr>
          <p:cNvPr id="508" name="Google Shape;508;p47"/>
          <p:cNvCxnSpPr/>
          <p:nvPr/>
        </p:nvCxnSpPr>
        <p:spPr>
          <a:xfrm rot="10800000">
            <a:off x="6671250" y="2506525"/>
            <a:ext cx="33600" cy="1221300"/>
          </a:xfrm>
          <a:prstGeom prst="straightConnector1">
            <a:avLst/>
          </a:prstGeom>
          <a:noFill/>
          <a:ln cap="flat" cmpd="sng" w="38100">
            <a:solidFill>
              <a:srgbClr val="E69138"/>
            </a:solidFill>
            <a:prstDash val="solid"/>
            <a:round/>
            <a:headEnd len="med" w="med" type="none"/>
            <a:tailEnd len="med" w="med" type="none"/>
          </a:ln>
        </p:spPr>
      </p:cxnSp>
      <p:cxnSp>
        <p:nvCxnSpPr>
          <p:cNvPr id="509" name="Google Shape;509;p47"/>
          <p:cNvCxnSpPr/>
          <p:nvPr/>
        </p:nvCxnSpPr>
        <p:spPr>
          <a:xfrm rot="10800000">
            <a:off x="6693900" y="2528600"/>
            <a:ext cx="313500" cy="773400"/>
          </a:xfrm>
          <a:prstGeom prst="straightConnector1">
            <a:avLst/>
          </a:prstGeom>
          <a:noFill/>
          <a:ln cap="flat" cmpd="sng" w="38100">
            <a:solidFill>
              <a:srgbClr val="E69138"/>
            </a:solidFill>
            <a:prstDash val="solid"/>
            <a:round/>
            <a:headEnd len="med" w="med" type="none"/>
            <a:tailEnd len="med" w="med" type="none"/>
          </a:ln>
        </p:spPr>
      </p:cxnSp>
      <p:sp>
        <p:nvSpPr>
          <p:cNvPr id="510" name="Google Shape;51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a Model </a:t>
            </a:r>
            <a:r>
              <a:rPr i="1" lang="en"/>
              <a:t>Practice</a:t>
            </a:r>
            <a:endParaRPr i="1"/>
          </a:p>
        </p:txBody>
      </p:sp>
      <p:sp>
        <p:nvSpPr>
          <p:cNvPr id="516" name="Google Shape;516;p48"/>
          <p:cNvSpPr txBox="1"/>
          <p:nvPr>
            <p:ph idx="1" type="body"/>
          </p:nvPr>
        </p:nvSpPr>
        <p:spPr>
          <a:xfrm>
            <a:off x="690800" y="1494550"/>
            <a:ext cx="4332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 a model for the following data points.</a:t>
            </a:r>
            <a:endParaRPr/>
          </a:p>
          <a:p>
            <a:pPr indent="0" lvl="0" marL="0" rtl="0" algn="l">
              <a:spcBef>
                <a:spcPts val="1200"/>
              </a:spcBef>
              <a:spcAft>
                <a:spcPts val="0"/>
              </a:spcAft>
              <a:buNone/>
            </a:pPr>
            <a:r>
              <a:t/>
            </a:r>
            <a:endParaRPr/>
          </a:p>
          <a:p>
            <a:pPr indent="457200" lvl="0" marL="0" rtl="0" algn="l">
              <a:spcBef>
                <a:spcPts val="1200"/>
              </a:spcBef>
              <a:spcAft>
                <a:spcPts val="0"/>
              </a:spcAft>
              <a:buNone/>
            </a:pPr>
            <a:r>
              <a:rPr lang="en"/>
              <a:t>(1,1),  (2,1),  (3,4)</a:t>
            </a:r>
            <a:endParaRPr/>
          </a:p>
          <a:p>
            <a:pPr indent="457200" lvl="0" marL="0" rtl="0" algn="l">
              <a:spcBef>
                <a:spcPts val="1200"/>
              </a:spcBef>
              <a:spcAft>
                <a:spcPts val="1200"/>
              </a:spcAft>
              <a:buNone/>
            </a:pPr>
            <a:r>
              <a:rPr lang="en"/>
              <a:t>Line through origin (0,0)</a:t>
            </a:r>
            <a:endParaRPr/>
          </a:p>
        </p:txBody>
      </p:sp>
      <p:sp>
        <p:nvSpPr>
          <p:cNvPr id="517" name="Google Shape;51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18" name="Google Shape;518;p48"/>
          <p:cNvCxnSpPr/>
          <p:nvPr/>
        </p:nvCxnSpPr>
        <p:spPr>
          <a:xfrm>
            <a:off x="5667200" y="1932325"/>
            <a:ext cx="0" cy="20586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48"/>
          <p:cNvCxnSpPr/>
          <p:nvPr/>
        </p:nvCxnSpPr>
        <p:spPr>
          <a:xfrm flipH="1">
            <a:off x="5669225" y="3970450"/>
            <a:ext cx="2394600" cy="2190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48"/>
          <p:cNvCxnSpPr/>
          <p:nvPr/>
        </p:nvCxnSpPr>
        <p:spPr>
          <a:xfrm>
            <a:off x="6310825" y="3918075"/>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48"/>
          <p:cNvCxnSpPr/>
          <p:nvPr/>
        </p:nvCxnSpPr>
        <p:spPr>
          <a:xfrm>
            <a:off x="6959250" y="3918075"/>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48"/>
          <p:cNvCxnSpPr/>
          <p:nvPr/>
        </p:nvCxnSpPr>
        <p:spPr>
          <a:xfrm>
            <a:off x="7607675" y="3905950"/>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48"/>
          <p:cNvCxnSpPr/>
          <p:nvPr/>
        </p:nvCxnSpPr>
        <p:spPr>
          <a:xfrm rot="10800000">
            <a:off x="5596850" y="3415675"/>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524" name="Google Shape;524;p48"/>
          <p:cNvCxnSpPr/>
          <p:nvPr/>
        </p:nvCxnSpPr>
        <p:spPr>
          <a:xfrm rot="10800000">
            <a:off x="5596850" y="2860900"/>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525" name="Google Shape;525;p48"/>
          <p:cNvCxnSpPr/>
          <p:nvPr/>
        </p:nvCxnSpPr>
        <p:spPr>
          <a:xfrm rot="10800000">
            <a:off x="5596850" y="2306125"/>
            <a:ext cx="140700" cy="1200"/>
          </a:xfrm>
          <a:prstGeom prst="straightConnector1">
            <a:avLst/>
          </a:prstGeom>
          <a:noFill/>
          <a:ln cap="flat" cmpd="sng" w="9525">
            <a:solidFill>
              <a:schemeClr val="dk2"/>
            </a:solidFill>
            <a:prstDash val="solid"/>
            <a:round/>
            <a:headEnd len="med" w="med" type="none"/>
            <a:tailEnd len="med" w="med" type="none"/>
          </a:ln>
        </p:spPr>
      </p:cxnSp>
      <p:grpSp>
        <p:nvGrpSpPr>
          <p:cNvPr id="526" name="Google Shape;526;p48"/>
          <p:cNvGrpSpPr/>
          <p:nvPr/>
        </p:nvGrpSpPr>
        <p:grpSpPr>
          <a:xfrm>
            <a:off x="6263725" y="1750247"/>
            <a:ext cx="1271524" cy="1689578"/>
            <a:chOff x="6263725" y="1750247"/>
            <a:chExt cx="1271524" cy="1689578"/>
          </a:xfrm>
        </p:grpSpPr>
        <p:sp>
          <p:nvSpPr>
            <p:cNvPr id="527" name="Google Shape;527;p48"/>
            <p:cNvSpPr/>
            <p:nvPr/>
          </p:nvSpPr>
          <p:spPr>
            <a:xfrm>
              <a:off x="6263725" y="3392725"/>
              <a:ext cx="47100" cy="47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8" name="Google Shape;528;p48"/>
            <p:cNvSpPr/>
            <p:nvPr/>
          </p:nvSpPr>
          <p:spPr>
            <a:xfrm flipH="1" rot="-2700000">
              <a:off x="7478402" y="1760000"/>
              <a:ext cx="47093" cy="47093"/>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9" name="Google Shape;529;p48"/>
            <p:cNvSpPr/>
            <p:nvPr/>
          </p:nvSpPr>
          <p:spPr>
            <a:xfrm flipH="1" rot="-2712234">
              <a:off x="6939685" y="3343426"/>
              <a:ext cx="59609" cy="59609"/>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cxnSp>
        <p:nvCxnSpPr>
          <p:cNvPr id="530" name="Google Shape;530;p48"/>
          <p:cNvCxnSpPr/>
          <p:nvPr/>
        </p:nvCxnSpPr>
        <p:spPr>
          <a:xfrm flipH="1" rot="10800000">
            <a:off x="5689075" y="1953825"/>
            <a:ext cx="2119500" cy="2037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a Model </a:t>
            </a:r>
            <a:r>
              <a:rPr i="1" lang="en"/>
              <a:t>Practice</a:t>
            </a:r>
            <a:endParaRPr i="1"/>
          </a:p>
        </p:txBody>
      </p:sp>
      <p:sp>
        <p:nvSpPr>
          <p:cNvPr id="536" name="Google Shape;536;p49"/>
          <p:cNvSpPr txBox="1"/>
          <p:nvPr>
            <p:ph idx="1" type="body"/>
          </p:nvPr>
        </p:nvSpPr>
        <p:spPr>
          <a:xfrm>
            <a:off x="690800" y="1494550"/>
            <a:ext cx="4380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 a model for the following data points.</a:t>
            </a:r>
            <a:endParaRPr/>
          </a:p>
          <a:p>
            <a:pPr indent="0" lvl="0" marL="0" rtl="0" algn="l">
              <a:spcBef>
                <a:spcPts val="1200"/>
              </a:spcBef>
              <a:spcAft>
                <a:spcPts val="0"/>
              </a:spcAft>
              <a:buNone/>
            </a:pPr>
            <a:r>
              <a:t/>
            </a:r>
            <a:endParaRPr/>
          </a:p>
          <a:p>
            <a:pPr indent="457200" lvl="0" marL="0" rtl="0" algn="l">
              <a:spcBef>
                <a:spcPts val="1200"/>
              </a:spcBef>
              <a:spcAft>
                <a:spcPts val="0"/>
              </a:spcAft>
              <a:buNone/>
            </a:pPr>
            <a:r>
              <a:rPr lang="en"/>
              <a:t>(1,1),  (2,1),  (3,4)</a:t>
            </a:r>
            <a:endParaRPr/>
          </a:p>
          <a:p>
            <a:pPr indent="457200" lvl="0" marL="0" rtl="0" algn="l">
              <a:spcBef>
                <a:spcPts val="1200"/>
              </a:spcBef>
              <a:spcAft>
                <a:spcPts val="1200"/>
              </a:spcAft>
              <a:buNone/>
            </a:pPr>
            <a:r>
              <a:rPr lang="en"/>
              <a:t>Line through origin (0,0)</a:t>
            </a:r>
            <a:endParaRPr/>
          </a:p>
        </p:txBody>
      </p:sp>
      <p:sp>
        <p:nvSpPr>
          <p:cNvPr id="537" name="Google Shape;53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38" name="Google Shape;538;p49"/>
          <p:cNvCxnSpPr/>
          <p:nvPr/>
        </p:nvCxnSpPr>
        <p:spPr>
          <a:xfrm>
            <a:off x="5667200" y="1932325"/>
            <a:ext cx="0" cy="20586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49"/>
          <p:cNvCxnSpPr/>
          <p:nvPr/>
        </p:nvCxnSpPr>
        <p:spPr>
          <a:xfrm flipH="1">
            <a:off x="5669225" y="3970450"/>
            <a:ext cx="2394600" cy="219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49"/>
          <p:cNvCxnSpPr/>
          <p:nvPr/>
        </p:nvCxnSpPr>
        <p:spPr>
          <a:xfrm>
            <a:off x="6310825" y="3918075"/>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41" name="Google Shape;541;p49"/>
          <p:cNvCxnSpPr/>
          <p:nvPr/>
        </p:nvCxnSpPr>
        <p:spPr>
          <a:xfrm>
            <a:off x="6959250" y="3918075"/>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49"/>
          <p:cNvCxnSpPr/>
          <p:nvPr/>
        </p:nvCxnSpPr>
        <p:spPr>
          <a:xfrm>
            <a:off x="7607675" y="3905950"/>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49"/>
          <p:cNvCxnSpPr/>
          <p:nvPr/>
        </p:nvCxnSpPr>
        <p:spPr>
          <a:xfrm rot="10800000">
            <a:off x="5596850" y="3415675"/>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544" name="Google Shape;544;p49"/>
          <p:cNvCxnSpPr/>
          <p:nvPr/>
        </p:nvCxnSpPr>
        <p:spPr>
          <a:xfrm rot="10800000">
            <a:off x="5596850" y="2860900"/>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49"/>
          <p:cNvCxnSpPr/>
          <p:nvPr/>
        </p:nvCxnSpPr>
        <p:spPr>
          <a:xfrm rot="10800000">
            <a:off x="5596850" y="2306125"/>
            <a:ext cx="140700" cy="1200"/>
          </a:xfrm>
          <a:prstGeom prst="straightConnector1">
            <a:avLst/>
          </a:prstGeom>
          <a:noFill/>
          <a:ln cap="flat" cmpd="sng" w="9525">
            <a:solidFill>
              <a:schemeClr val="dk2"/>
            </a:solidFill>
            <a:prstDash val="solid"/>
            <a:round/>
            <a:headEnd len="med" w="med" type="none"/>
            <a:tailEnd len="med" w="med" type="none"/>
          </a:ln>
        </p:spPr>
      </p:cxnSp>
      <p:sp>
        <p:nvSpPr>
          <p:cNvPr id="546" name="Google Shape;546;p49"/>
          <p:cNvSpPr/>
          <p:nvPr/>
        </p:nvSpPr>
        <p:spPr>
          <a:xfrm>
            <a:off x="6263725" y="3392725"/>
            <a:ext cx="47100" cy="47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7" name="Google Shape;547;p49"/>
          <p:cNvSpPr/>
          <p:nvPr/>
        </p:nvSpPr>
        <p:spPr>
          <a:xfrm flipH="1" rot="-2700000">
            <a:off x="7478402" y="1760000"/>
            <a:ext cx="47093" cy="47093"/>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48" name="Google Shape;548;p49"/>
          <p:cNvCxnSpPr/>
          <p:nvPr/>
        </p:nvCxnSpPr>
        <p:spPr>
          <a:xfrm flipH="1" rot="10800000">
            <a:off x="5689075" y="1953825"/>
            <a:ext cx="2119500" cy="2037600"/>
          </a:xfrm>
          <a:prstGeom prst="straightConnector1">
            <a:avLst/>
          </a:prstGeom>
          <a:noFill/>
          <a:ln cap="flat" cmpd="sng" w="9525">
            <a:solidFill>
              <a:schemeClr val="dk2"/>
            </a:solidFill>
            <a:prstDash val="solid"/>
            <a:round/>
            <a:headEnd len="med" w="med" type="none"/>
            <a:tailEnd len="med" w="med" type="triangle"/>
          </a:ln>
        </p:spPr>
      </p:cxnSp>
      <p:cxnSp>
        <p:nvCxnSpPr>
          <p:cNvPr id="549" name="Google Shape;549;p49"/>
          <p:cNvCxnSpPr>
            <a:stCxn id="547" idx="5"/>
          </p:cNvCxnSpPr>
          <p:nvPr/>
        </p:nvCxnSpPr>
        <p:spPr>
          <a:xfrm>
            <a:off x="7501949" y="1807094"/>
            <a:ext cx="0" cy="422700"/>
          </a:xfrm>
          <a:prstGeom prst="straightConnector1">
            <a:avLst/>
          </a:prstGeom>
          <a:noFill/>
          <a:ln cap="flat" cmpd="sng" w="9525">
            <a:solidFill>
              <a:srgbClr val="CC0000"/>
            </a:solidFill>
            <a:prstDash val="solid"/>
            <a:round/>
            <a:headEnd len="med" w="med" type="none"/>
            <a:tailEnd len="med" w="med" type="none"/>
          </a:ln>
        </p:spPr>
      </p:cxnSp>
      <p:cxnSp>
        <p:nvCxnSpPr>
          <p:cNvPr id="550" name="Google Shape;550;p49"/>
          <p:cNvCxnSpPr/>
          <p:nvPr/>
        </p:nvCxnSpPr>
        <p:spPr>
          <a:xfrm>
            <a:off x="6965677" y="2778298"/>
            <a:ext cx="0" cy="564300"/>
          </a:xfrm>
          <a:prstGeom prst="straightConnector1">
            <a:avLst/>
          </a:prstGeom>
          <a:noFill/>
          <a:ln cap="flat" cmpd="sng" w="9525">
            <a:solidFill>
              <a:srgbClr val="CC0000"/>
            </a:solidFill>
            <a:prstDash val="solid"/>
            <a:round/>
            <a:headEnd len="med" w="med" type="none"/>
            <a:tailEnd len="med" w="med" type="none"/>
          </a:ln>
        </p:spPr>
      </p:cxnSp>
      <p:cxnSp>
        <p:nvCxnSpPr>
          <p:cNvPr id="551" name="Google Shape;551;p49"/>
          <p:cNvCxnSpPr/>
          <p:nvPr/>
        </p:nvCxnSpPr>
        <p:spPr>
          <a:xfrm>
            <a:off x="6973730" y="3372780"/>
            <a:ext cx="561600" cy="0"/>
          </a:xfrm>
          <a:prstGeom prst="straightConnector1">
            <a:avLst/>
          </a:prstGeom>
          <a:noFill/>
          <a:ln cap="flat" cmpd="sng" w="9525">
            <a:solidFill>
              <a:schemeClr val="dk2"/>
            </a:solidFill>
            <a:prstDash val="dash"/>
            <a:round/>
            <a:headEnd len="med" w="med" type="none"/>
            <a:tailEnd len="med" w="med" type="none"/>
          </a:ln>
        </p:spPr>
      </p:cxnSp>
      <p:cxnSp>
        <p:nvCxnSpPr>
          <p:cNvPr id="552" name="Google Shape;552;p49"/>
          <p:cNvCxnSpPr/>
          <p:nvPr/>
        </p:nvCxnSpPr>
        <p:spPr>
          <a:xfrm>
            <a:off x="7524713" y="2778298"/>
            <a:ext cx="0" cy="580200"/>
          </a:xfrm>
          <a:prstGeom prst="straightConnector1">
            <a:avLst/>
          </a:prstGeom>
          <a:noFill/>
          <a:ln cap="flat" cmpd="sng" w="9525">
            <a:solidFill>
              <a:schemeClr val="dk2"/>
            </a:solidFill>
            <a:prstDash val="dash"/>
            <a:round/>
            <a:headEnd len="med" w="med" type="none"/>
            <a:tailEnd len="med" w="med" type="none"/>
          </a:ln>
        </p:spPr>
      </p:cxnSp>
      <p:cxnSp>
        <p:nvCxnSpPr>
          <p:cNvPr id="553" name="Google Shape;553;p49"/>
          <p:cNvCxnSpPr/>
          <p:nvPr/>
        </p:nvCxnSpPr>
        <p:spPr>
          <a:xfrm rot="10800000">
            <a:off x="7062299" y="1783550"/>
            <a:ext cx="416100" cy="0"/>
          </a:xfrm>
          <a:prstGeom prst="straightConnector1">
            <a:avLst/>
          </a:prstGeom>
          <a:noFill/>
          <a:ln cap="flat" cmpd="sng" w="9525">
            <a:solidFill>
              <a:schemeClr val="dk2"/>
            </a:solidFill>
            <a:prstDash val="dash"/>
            <a:round/>
            <a:headEnd len="med" w="med" type="none"/>
            <a:tailEnd len="med" w="med" type="none"/>
          </a:ln>
        </p:spPr>
      </p:cxnSp>
      <p:cxnSp>
        <p:nvCxnSpPr>
          <p:cNvPr id="554" name="Google Shape;554;p49"/>
          <p:cNvCxnSpPr/>
          <p:nvPr/>
        </p:nvCxnSpPr>
        <p:spPr>
          <a:xfrm rot="10800000">
            <a:off x="7070177" y="1799678"/>
            <a:ext cx="0" cy="402300"/>
          </a:xfrm>
          <a:prstGeom prst="straightConnector1">
            <a:avLst/>
          </a:prstGeom>
          <a:noFill/>
          <a:ln cap="flat" cmpd="sng" w="9525">
            <a:solidFill>
              <a:schemeClr val="dk2"/>
            </a:solidFill>
            <a:prstDash val="dash"/>
            <a:round/>
            <a:headEnd len="med" w="med" type="none"/>
            <a:tailEnd len="med" w="med" type="none"/>
          </a:ln>
        </p:spPr>
      </p:cxnSp>
      <p:cxnSp>
        <p:nvCxnSpPr>
          <p:cNvPr id="555" name="Google Shape;555;p49"/>
          <p:cNvCxnSpPr/>
          <p:nvPr/>
        </p:nvCxnSpPr>
        <p:spPr>
          <a:xfrm>
            <a:off x="6965674" y="2777301"/>
            <a:ext cx="561600" cy="0"/>
          </a:xfrm>
          <a:prstGeom prst="straightConnector1">
            <a:avLst/>
          </a:prstGeom>
          <a:noFill/>
          <a:ln cap="flat" cmpd="sng" w="9525">
            <a:solidFill>
              <a:schemeClr val="dk2"/>
            </a:solidFill>
            <a:prstDash val="dash"/>
            <a:round/>
            <a:headEnd len="med" w="med" type="none"/>
            <a:tailEnd len="med" w="med" type="none"/>
          </a:ln>
        </p:spPr>
      </p:cxnSp>
      <p:cxnSp>
        <p:nvCxnSpPr>
          <p:cNvPr id="556" name="Google Shape;556;p49"/>
          <p:cNvCxnSpPr/>
          <p:nvPr/>
        </p:nvCxnSpPr>
        <p:spPr>
          <a:xfrm rot="10800000">
            <a:off x="7062299" y="2211125"/>
            <a:ext cx="416100" cy="0"/>
          </a:xfrm>
          <a:prstGeom prst="straightConnector1">
            <a:avLst/>
          </a:prstGeom>
          <a:noFill/>
          <a:ln cap="flat" cmpd="sng" w="9525">
            <a:solidFill>
              <a:schemeClr val="dk2"/>
            </a:solidFill>
            <a:prstDash val="dash"/>
            <a:round/>
            <a:headEnd len="med" w="med" type="none"/>
            <a:tailEnd len="med" w="med" type="none"/>
          </a:ln>
        </p:spPr>
      </p:cxnSp>
      <p:sp>
        <p:nvSpPr>
          <p:cNvPr id="557" name="Google Shape;557;p49"/>
          <p:cNvSpPr/>
          <p:nvPr/>
        </p:nvSpPr>
        <p:spPr>
          <a:xfrm flipH="1" rot="-2712234">
            <a:off x="6939685" y="3343426"/>
            <a:ext cx="59609" cy="59609"/>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Tangent Line</a:t>
            </a:r>
            <a:endParaRPr/>
          </a:p>
        </p:txBody>
      </p:sp>
      <p:pic>
        <p:nvPicPr>
          <p:cNvPr id="563" name="Google Shape;563;p50"/>
          <p:cNvPicPr preferRelativeResize="0"/>
          <p:nvPr/>
        </p:nvPicPr>
        <p:blipFill>
          <a:blip r:embed="rId3">
            <a:alphaModFix/>
          </a:blip>
          <a:stretch>
            <a:fillRect/>
          </a:stretch>
        </p:blipFill>
        <p:spPr>
          <a:xfrm>
            <a:off x="2766452" y="1478100"/>
            <a:ext cx="3613425" cy="3095625"/>
          </a:xfrm>
          <a:prstGeom prst="rect">
            <a:avLst/>
          </a:prstGeom>
          <a:noFill/>
          <a:ln>
            <a:noFill/>
          </a:ln>
        </p:spPr>
      </p:pic>
      <p:sp>
        <p:nvSpPr>
          <p:cNvPr id="564" name="Google Shape;56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Properties of Optima</a:t>
            </a:r>
            <a:endParaRPr/>
          </a:p>
        </p:txBody>
      </p:sp>
      <p:pic>
        <p:nvPicPr>
          <p:cNvPr id="570" name="Google Shape;570;p51"/>
          <p:cNvPicPr preferRelativeResize="0"/>
          <p:nvPr/>
        </p:nvPicPr>
        <p:blipFill>
          <a:blip r:embed="rId3">
            <a:alphaModFix/>
          </a:blip>
          <a:stretch>
            <a:fillRect/>
          </a:stretch>
        </p:blipFill>
        <p:spPr>
          <a:xfrm>
            <a:off x="1789449" y="1317725"/>
            <a:ext cx="5530125" cy="3312274"/>
          </a:xfrm>
          <a:prstGeom prst="rect">
            <a:avLst/>
          </a:prstGeom>
          <a:noFill/>
          <a:ln>
            <a:noFill/>
          </a:ln>
        </p:spPr>
      </p:pic>
      <p:sp>
        <p:nvSpPr>
          <p:cNvPr id="571" name="Google Shape;57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Properties of Optima</a:t>
            </a:r>
            <a:endParaRPr/>
          </a:p>
        </p:txBody>
      </p:sp>
      <p:pic>
        <p:nvPicPr>
          <p:cNvPr id="577" name="Google Shape;577;p52"/>
          <p:cNvPicPr preferRelativeResize="0"/>
          <p:nvPr/>
        </p:nvPicPr>
        <p:blipFill rotWithShape="1">
          <a:blip r:embed="rId3">
            <a:alphaModFix/>
          </a:blip>
          <a:srcRect b="7172" l="0" r="0" t="7750"/>
          <a:stretch/>
        </p:blipFill>
        <p:spPr>
          <a:xfrm>
            <a:off x="2784600" y="945500"/>
            <a:ext cx="3841772" cy="4198002"/>
          </a:xfrm>
          <a:prstGeom prst="rect">
            <a:avLst/>
          </a:prstGeom>
          <a:noFill/>
          <a:ln>
            <a:noFill/>
          </a:ln>
        </p:spPr>
      </p:pic>
      <p:sp>
        <p:nvSpPr>
          <p:cNvPr id="578" name="Google Shape;57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Differentiation Rules</a:t>
            </a:r>
            <a:endParaRPr/>
          </a:p>
        </p:txBody>
      </p:sp>
      <p:sp>
        <p:nvSpPr>
          <p:cNvPr id="584" name="Google Shape;584;p53"/>
          <p:cNvSpPr txBox="1"/>
          <p:nvPr>
            <p:ph idx="1" type="body"/>
          </p:nvPr>
        </p:nvSpPr>
        <p:spPr>
          <a:xfrm>
            <a:off x="699350" y="1419425"/>
            <a:ext cx="7710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f(c) has f’(c) = 0 for a constant c                              f(x) = a⋅x</a:t>
            </a:r>
            <a:r>
              <a:rPr baseline="30000" lang="en"/>
              <a:t>n</a:t>
            </a:r>
            <a:r>
              <a:rPr lang="en"/>
              <a:t> has f’(x) = n⋅a⋅x</a:t>
            </a:r>
            <a:r>
              <a:rPr baseline="30000" lang="en"/>
              <a:t>n-1</a:t>
            </a:r>
            <a:endParaRPr baseline="30000"/>
          </a:p>
        </p:txBody>
      </p:sp>
      <p:pic>
        <p:nvPicPr>
          <p:cNvPr id="585" name="Google Shape;585;p53"/>
          <p:cNvPicPr preferRelativeResize="0"/>
          <p:nvPr/>
        </p:nvPicPr>
        <p:blipFill>
          <a:blip r:embed="rId3">
            <a:alphaModFix/>
          </a:blip>
          <a:stretch>
            <a:fillRect/>
          </a:stretch>
        </p:blipFill>
        <p:spPr>
          <a:xfrm>
            <a:off x="699350" y="2106737"/>
            <a:ext cx="7710302" cy="2578663"/>
          </a:xfrm>
          <a:prstGeom prst="rect">
            <a:avLst/>
          </a:prstGeom>
          <a:noFill/>
          <a:ln>
            <a:noFill/>
          </a:ln>
        </p:spPr>
      </p:pic>
      <p:sp>
        <p:nvSpPr>
          <p:cNvPr id="586" name="Google Shape;58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7" name="Google Shape;587;p53"/>
          <p:cNvSpPr txBox="1"/>
          <p:nvPr/>
        </p:nvSpPr>
        <p:spPr>
          <a:xfrm>
            <a:off x="5000625" y="1065525"/>
            <a:ext cx="393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Power rule</a:t>
            </a:r>
            <a:endParaRPr sz="1800">
              <a:solidFill>
                <a:schemeClr val="dk1"/>
              </a:solidFill>
              <a:latin typeface="Calibri"/>
              <a:ea typeface="Calibri"/>
              <a:cs typeface="Calibri"/>
              <a:sym typeface="Calibri"/>
            </a:endParaRPr>
          </a:p>
        </p:txBody>
      </p:sp>
      <p:sp>
        <p:nvSpPr>
          <p:cNvPr id="588" name="Google Shape;588;p53"/>
          <p:cNvSpPr txBox="1"/>
          <p:nvPr/>
        </p:nvSpPr>
        <p:spPr>
          <a:xfrm>
            <a:off x="636900" y="1065525"/>
            <a:ext cx="393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Constant </a:t>
            </a:r>
            <a:r>
              <a:rPr lang="en" sz="1800">
                <a:solidFill>
                  <a:schemeClr val="dk1"/>
                </a:solidFill>
                <a:latin typeface="Calibri"/>
                <a:ea typeface="Calibri"/>
                <a:cs typeface="Calibri"/>
                <a:sym typeface="Calibri"/>
              </a:rPr>
              <a:t>rule</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Differentiation </a:t>
            </a:r>
            <a:r>
              <a:rPr i="1" lang="en"/>
              <a:t>Practice</a:t>
            </a:r>
            <a:endParaRPr i="1"/>
          </a:p>
        </p:txBody>
      </p:sp>
      <p:sp>
        <p:nvSpPr>
          <p:cNvPr id="594" name="Google Shape;594;p54"/>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f(x) = 6x</a:t>
            </a:r>
            <a:r>
              <a:rPr baseline="30000" lang="en"/>
              <a:t>3</a:t>
            </a:r>
            <a:r>
              <a:rPr lang="en"/>
              <a:t> - 3x + 45            f’(x) = ?</a:t>
            </a:r>
            <a:endParaRPr/>
          </a:p>
          <a:p>
            <a:pPr indent="0" lvl="0" marL="0" rtl="0" algn="l">
              <a:spcBef>
                <a:spcPts val="1200"/>
              </a:spcBef>
              <a:spcAft>
                <a:spcPts val="1200"/>
              </a:spcAft>
              <a:buNone/>
            </a:pPr>
            <a:r>
              <a:rPr lang="en"/>
              <a:t>f(x) = (3 + 5x)</a:t>
            </a:r>
            <a:r>
              <a:rPr baseline="30000" lang="en"/>
              <a:t>2 </a:t>
            </a:r>
            <a:r>
              <a:rPr lang="en"/>
              <a:t>                  f’(x) = ?</a:t>
            </a:r>
            <a:endParaRPr/>
          </a:p>
        </p:txBody>
      </p:sp>
      <p:pic>
        <p:nvPicPr>
          <p:cNvPr id="595" name="Google Shape;595;p54"/>
          <p:cNvPicPr preferRelativeResize="0"/>
          <p:nvPr/>
        </p:nvPicPr>
        <p:blipFill>
          <a:blip r:embed="rId3">
            <a:alphaModFix/>
          </a:blip>
          <a:stretch>
            <a:fillRect/>
          </a:stretch>
        </p:blipFill>
        <p:spPr>
          <a:xfrm>
            <a:off x="1068275" y="2447500"/>
            <a:ext cx="6837101" cy="2286625"/>
          </a:xfrm>
          <a:prstGeom prst="rect">
            <a:avLst/>
          </a:prstGeom>
          <a:noFill/>
          <a:ln>
            <a:noFill/>
          </a:ln>
        </p:spPr>
      </p:pic>
      <p:sp>
        <p:nvSpPr>
          <p:cNvPr id="596" name="Google Shape;596;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the Optimal Model</a:t>
            </a:r>
            <a:endParaRPr/>
          </a:p>
        </p:txBody>
      </p:sp>
      <p:sp>
        <p:nvSpPr>
          <p:cNvPr id="602" name="Google Shape;602;p55"/>
          <p:cNvSpPr txBox="1"/>
          <p:nvPr>
            <p:ph idx="1" type="body"/>
          </p:nvPr>
        </p:nvSpPr>
        <p:spPr>
          <a:xfrm>
            <a:off x="654525" y="3268400"/>
            <a:ext cx="7776000" cy="159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is optimal if error(s,b) is minimal, which is when </a:t>
            </a:r>
            <a:r>
              <a:rPr b="1" lang="en"/>
              <a:t>error(x,b)’ = 0</a:t>
            </a:r>
            <a:r>
              <a:rPr lang="en"/>
              <a:t>.</a:t>
            </a:r>
            <a:endParaRPr/>
          </a:p>
          <a:p>
            <a:pPr indent="0" lvl="0" marL="0" rtl="0" algn="l">
              <a:spcBef>
                <a:spcPts val="1200"/>
              </a:spcBef>
              <a:spcAft>
                <a:spcPts val="0"/>
              </a:spcAft>
              <a:buNone/>
            </a:pPr>
            <a:r>
              <a:rPr lang="en"/>
              <a:t>For </a:t>
            </a:r>
            <a:r>
              <a:rPr i="1" lang="en"/>
              <a:t>n</a:t>
            </a:r>
            <a:r>
              <a:rPr lang="en"/>
              <a:t> training examples:</a:t>
            </a:r>
            <a:endParaRPr/>
          </a:p>
          <a:p>
            <a:pPr indent="0" lvl="0" marL="0" rtl="0" algn="ctr">
              <a:spcBef>
                <a:spcPts val="1200"/>
              </a:spcBef>
              <a:spcAft>
                <a:spcPts val="1200"/>
              </a:spcAft>
              <a:buNone/>
            </a:pPr>
            <a:r>
              <a:rPr lang="en"/>
              <a:t>((sx</a:t>
            </a:r>
            <a:r>
              <a:rPr baseline="-25000" lang="en"/>
              <a:t>1</a:t>
            </a:r>
            <a:r>
              <a:rPr lang="en"/>
              <a:t> + b - y</a:t>
            </a:r>
            <a:r>
              <a:rPr baseline="-25000" lang="en"/>
              <a:t>1</a:t>
            </a:r>
            <a:r>
              <a:rPr lang="en"/>
              <a:t>)</a:t>
            </a:r>
            <a:r>
              <a:rPr baseline="30000" lang="en"/>
              <a:t>2</a:t>
            </a:r>
            <a:r>
              <a:rPr lang="en"/>
              <a:t> + (sx</a:t>
            </a:r>
            <a:r>
              <a:rPr baseline="-25000" lang="en"/>
              <a:t>2</a:t>
            </a:r>
            <a:r>
              <a:rPr lang="en"/>
              <a:t> + b - y</a:t>
            </a:r>
            <a:r>
              <a:rPr baseline="-25000" lang="en"/>
              <a:t>2</a:t>
            </a:r>
            <a:r>
              <a:rPr lang="en"/>
              <a:t>)</a:t>
            </a:r>
            <a:r>
              <a:rPr baseline="30000" lang="en"/>
              <a:t>2</a:t>
            </a:r>
            <a:r>
              <a:rPr lang="en"/>
              <a:t> + … + (sx</a:t>
            </a:r>
            <a:r>
              <a:rPr baseline="-25000" lang="en"/>
              <a:t>n</a:t>
            </a:r>
            <a:r>
              <a:rPr lang="en"/>
              <a:t> + b - y</a:t>
            </a:r>
            <a:r>
              <a:rPr baseline="-25000" lang="en"/>
              <a:t>n</a:t>
            </a:r>
            <a:r>
              <a:rPr lang="en"/>
              <a:t>)</a:t>
            </a:r>
            <a:r>
              <a:rPr baseline="30000" lang="en"/>
              <a:t>2</a:t>
            </a:r>
            <a:r>
              <a:rPr lang="en"/>
              <a:t>)’ = 0</a:t>
            </a:r>
            <a:endParaRPr/>
          </a:p>
        </p:txBody>
      </p:sp>
      <p:sp>
        <p:nvSpPr>
          <p:cNvPr id="603" name="Google Shape;603;p55"/>
          <p:cNvSpPr txBox="1"/>
          <p:nvPr>
            <p:ph idx="1" type="body"/>
          </p:nvPr>
        </p:nvSpPr>
        <p:spPr>
          <a:xfrm>
            <a:off x="654525" y="1271300"/>
            <a:ext cx="4697700" cy="1997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solidFill>
                  <a:srgbClr val="1155CC"/>
                </a:solidFill>
              </a:rPr>
              <a:t>Model </a:t>
            </a:r>
            <a:r>
              <a:rPr lang="en"/>
              <a:t>f(x</a:t>
            </a:r>
            <a:r>
              <a:rPr baseline="-25000" lang="en"/>
              <a:t>i</a:t>
            </a:r>
            <a:r>
              <a:rPr lang="en"/>
              <a:t>) = </a:t>
            </a:r>
            <a:r>
              <a:rPr lang="en">
                <a:solidFill>
                  <a:srgbClr val="CC0000"/>
                </a:solidFill>
              </a:rPr>
              <a:t>s</a:t>
            </a:r>
            <a:r>
              <a:rPr lang="en"/>
              <a:t>x</a:t>
            </a:r>
            <a:r>
              <a:rPr baseline="-25000" lang="en"/>
              <a:t>i</a:t>
            </a:r>
            <a:r>
              <a:rPr lang="en"/>
              <a:t> + </a:t>
            </a:r>
            <a:r>
              <a:rPr lang="en">
                <a:solidFill>
                  <a:srgbClr val="CC0000"/>
                </a:solidFill>
              </a:rPr>
              <a:t>b</a:t>
            </a:r>
            <a:endParaRPr>
              <a:solidFill>
                <a:srgbClr val="CC0000"/>
              </a:solidFill>
            </a:endParaRPr>
          </a:p>
          <a:p>
            <a:pPr indent="0" lvl="0" marL="0" rtl="0" algn="l">
              <a:lnSpc>
                <a:spcPct val="115000"/>
              </a:lnSpc>
              <a:spcBef>
                <a:spcPts val="1200"/>
              </a:spcBef>
              <a:spcAft>
                <a:spcPts val="0"/>
              </a:spcAft>
              <a:buNone/>
            </a:pPr>
            <a:r>
              <a:rPr lang="en">
                <a:solidFill>
                  <a:srgbClr val="1155CC"/>
                </a:solidFill>
              </a:rPr>
              <a:t>Error for instance </a:t>
            </a:r>
            <a:r>
              <a:rPr i="1" lang="en">
                <a:solidFill>
                  <a:srgbClr val="1155CC"/>
                </a:solidFill>
              </a:rPr>
              <a:t>i </a:t>
            </a:r>
            <a:r>
              <a:rPr lang="en"/>
              <a:t>f(x</a:t>
            </a:r>
            <a:r>
              <a:rPr baseline="-25000" lang="en"/>
              <a:t>i</a:t>
            </a:r>
            <a:r>
              <a:rPr lang="en"/>
              <a:t>) - y = </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endParaRPr baseline="-25000">
              <a:solidFill>
                <a:srgbClr val="1155CC"/>
              </a:solidFill>
            </a:endParaRPr>
          </a:p>
          <a:p>
            <a:pPr indent="0" lvl="0" marL="0" rtl="0" algn="l">
              <a:lnSpc>
                <a:spcPct val="115000"/>
              </a:lnSpc>
              <a:spcBef>
                <a:spcPts val="1200"/>
              </a:spcBef>
              <a:spcAft>
                <a:spcPts val="0"/>
              </a:spcAft>
              <a:buNone/>
            </a:pPr>
            <a:r>
              <a:rPr lang="en">
                <a:solidFill>
                  <a:srgbClr val="1155CC"/>
                </a:solidFill>
              </a:rPr>
              <a:t>Squared error </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a:p>
            <a:pPr indent="0" lvl="0" marL="0" rtl="0" algn="l">
              <a:lnSpc>
                <a:spcPct val="115000"/>
              </a:lnSpc>
              <a:spcBef>
                <a:spcPts val="1200"/>
              </a:spcBef>
              <a:spcAft>
                <a:spcPts val="1200"/>
              </a:spcAft>
              <a:buNone/>
            </a:pPr>
            <a:r>
              <a:rPr lang="en">
                <a:solidFill>
                  <a:srgbClr val="1155CC"/>
                </a:solidFill>
              </a:rPr>
              <a:t>Sum of squared errors </a:t>
            </a:r>
            <a:r>
              <a:rPr lang="en"/>
              <a:t>error(</a:t>
            </a:r>
            <a:r>
              <a:rPr lang="en">
                <a:solidFill>
                  <a:srgbClr val="CC0000"/>
                </a:solidFill>
              </a:rPr>
              <a:t>s</a:t>
            </a:r>
            <a:r>
              <a:rPr lang="en"/>
              <a:t>,</a:t>
            </a:r>
            <a:r>
              <a:rPr lang="en">
                <a:solidFill>
                  <a:srgbClr val="CC0000"/>
                </a:solidFill>
              </a:rPr>
              <a:t>b</a:t>
            </a:r>
            <a:r>
              <a:rPr lang="en"/>
              <a:t>) = Σ</a:t>
            </a:r>
            <a:r>
              <a:rPr baseline="-25000" lang="en"/>
              <a:t>i</a:t>
            </a:r>
            <a:r>
              <a:rPr lang="en"/>
              <a:t>(</a:t>
            </a:r>
            <a:r>
              <a:rPr lang="en">
                <a:solidFill>
                  <a:srgbClr val="CC0000"/>
                </a:solidFill>
              </a:rPr>
              <a:t>s</a:t>
            </a:r>
            <a:r>
              <a:rPr lang="en"/>
              <a:t>x</a:t>
            </a:r>
            <a:r>
              <a:rPr baseline="-25000" lang="en"/>
              <a:t>i</a:t>
            </a:r>
            <a:r>
              <a:rPr lang="en"/>
              <a:t> + </a:t>
            </a:r>
            <a:r>
              <a:rPr lang="en">
                <a:solidFill>
                  <a:srgbClr val="CC0000"/>
                </a:solidFill>
              </a:rPr>
              <a:t>b</a:t>
            </a:r>
            <a:r>
              <a:rPr lang="en"/>
              <a:t> - y</a:t>
            </a:r>
            <a:r>
              <a:rPr baseline="-25000" lang="en"/>
              <a:t>i</a:t>
            </a:r>
            <a:r>
              <a:rPr lang="en"/>
              <a:t>)</a:t>
            </a:r>
            <a:r>
              <a:rPr baseline="30000" lang="en"/>
              <a:t>2</a:t>
            </a:r>
            <a:endParaRPr baseline="30000">
              <a:solidFill>
                <a:srgbClr val="1155CC"/>
              </a:solidFill>
            </a:endParaRPr>
          </a:p>
        </p:txBody>
      </p:sp>
      <p:sp>
        <p:nvSpPr>
          <p:cNvPr id="604" name="Google Shape;604;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6"/>
          <p:cNvSpPr txBox="1"/>
          <p:nvPr>
            <p:ph idx="1" type="body"/>
          </p:nvPr>
        </p:nvSpPr>
        <p:spPr>
          <a:xfrm>
            <a:off x="699350" y="1013750"/>
            <a:ext cx="7710300" cy="415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1500"/>
              <a:t>Data</a:t>
            </a:r>
            <a:r>
              <a:rPr lang="en" sz="1500"/>
              <a:t> (x,y): (1,1), (2,3), (3,1)          </a:t>
            </a:r>
            <a:r>
              <a:rPr b="1" lang="en" sz="1500"/>
              <a:t>Model class</a:t>
            </a:r>
            <a:r>
              <a:rPr lang="en" sz="1500"/>
              <a:t>: line through origin (0,0) → </a:t>
            </a:r>
            <a:r>
              <a:rPr b="1" lang="en" sz="1500"/>
              <a:t> </a:t>
            </a:r>
            <a:r>
              <a:rPr b="1" lang="en"/>
              <a:t>h(x</a:t>
            </a:r>
            <a:r>
              <a:rPr b="1" baseline="-25000" lang="en"/>
              <a:t>i</a:t>
            </a:r>
            <a:r>
              <a:rPr b="1" lang="en"/>
              <a:t>) = </a:t>
            </a:r>
            <a:r>
              <a:rPr b="1" lang="en">
                <a:solidFill>
                  <a:srgbClr val="CC0000"/>
                </a:solidFill>
              </a:rPr>
              <a:t>s</a:t>
            </a:r>
            <a:r>
              <a:rPr b="1" lang="en"/>
              <a:t>x</a:t>
            </a:r>
            <a:r>
              <a:rPr b="1" baseline="-25000" lang="en"/>
              <a:t>i</a:t>
            </a:r>
            <a:endParaRPr sz="1500"/>
          </a:p>
        </p:txBody>
      </p:sp>
      <p:sp>
        <p:nvSpPr>
          <p:cNvPr id="610" name="Google Shape;610;p5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 a Model </a:t>
            </a:r>
            <a:r>
              <a:rPr i="1" lang="en"/>
              <a:t>Example</a:t>
            </a:r>
            <a:endParaRPr i="1"/>
          </a:p>
        </p:txBody>
      </p:sp>
      <p:sp>
        <p:nvSpPr>
          <p:cNvPr id="611" name="Google Shape;611;p56"/>
          <p:cNvSpPr txBox="1"/>
          <p:nvPr/>
        </p:nvSpPr>
        <p:spPr>
          <a:xfrm>
            <a:off x="699350" y="1429250"/>
            <a:ext cx="69120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500">
                <a:solidFill>
                  <a:schemeClr val="dk1"/>
                </a:solidFill>
                <a:latin typeface="Calibri"/>
                <a:ea typeface="Calibri"/>
                <a:cs typeface="Calibri"/>
                <a:sym typeface="Calibri"/>
              </a:rPr>
              <a:t>Find s where</a:t>
            </a:r>
            <a:r>
              <a:rPr lang="en" sz="1500">
                <a:solidFill>
                  <a:schemeClr val="dk1"/>
                </a:solidFill>
                <a:latin typeface="Calibri"/>
                <a:ea typeface="Calibri"/>
                <a:cs typeface="Calibri"/>
                <a:sym typeface="Calibri"/>
              </a:rPr>
              <a:t>  error’ = 0  →  ((sx</a:t>
            </a:r>
            <a:r>
              <a:rPr baseline="-25000" lang="en" sz="1500">
                <a:solidFill>
                  <a:schemeClr val="dk1"/>
                </a:solidFill>
                <a:latin typeface="Calibri"/>
                <a:ea typeface="Calibri"/>
                <a:cs typeface="Calibri"/>
                <a:sym typeface="Calibri"/>
              </a:rPr>
              <a:t>1</a:t>
            </a:r>
            <a:r>
              <a:rPr lang="en" sz="1500">
                <a:solidFill>
                  <a:schemeClr val="dk1"/>
                </a:solidFill>
                <a:latin typeface="Calibri"/>
                <a:ea typeface="Calibri"/>
                <a:cs typeface="Calibri"/>
                <a:sym typeface="Calibri"/>
              </a:rPr>
              <a:t> - y</a:t>
            </a:r>
            <a:r>
              <a:rPr baseline="-25000" lang="en" sz="1500">
                <a:solidFill>
                  <a:schemeClr val="dk1"/>
                </a:solidFill>
                <a:latin typeface="Calibri"/>
                <a:ea typeface="Calibri"/>
                <a:cs typeface="Calibri"/>
                <a:sym typeface="Calibri"/>
              </a:rPr>
              <a:t>1</a:t>
            </a:r>
            <a:r>
              <a:rPr lang="en" sz="1500">
                <a:solidFill>
                  <a:schemeClr val="dk1"/>
                </a:solidFill>
                <a:latin typeface="Calibri"/>
                <a:ea typeface="Calibri"/>
                <a:cs typeface="Calibri"/>
                <a:sym typeface="Calibri"/>
              </a:rPr>
              <a:t>)</a:t>
            </a:r>
            <a:r>
              <a:rPr baseline="30000" lang="en" sz="1500">
                <a:solidFill>
                  <a:schemeClr val="dk1"/>
                </a:solidFill>
                <a:latin typeface="Calibri"/>
                <a:ea typeface="Calibri"/>
                <a:cs typeface="Calibri"/>
                <a:sym typeface="Calibri"/>
              </a:rPr>
              <a:t>2</a:t>
            </a:r>
            <a:r>
              <a:rPr lang="en" sz="1500">
                <a:solidFill>
                  <a:schemeClr val="dk1"/>
                </a:solidFill>
                <a:latin typeface="Calibri"/>
                <a:ea typeface="Calibri"/>
                <a:cs typeface="Calibri"/>
                <a:sym typeface="Calibri"/>
              </a:rPr>
              <a:t> + (sx</a:t>
            </a:r>
            <a:r>
              <a:rPr baseline="-25000" lang="en" sz="1500">
                <a:solidFill>
                  <a:schemeClr val="dk1"/>
                </a:solidFill>
                <a:latin typeface="Calibri"/>
                <a:ea typeface="Calibri"/>
                <a:cs typeface="Calibri"/>
                <a:sym typeface="Calibri"/>
              </a:rPr>
              <a:t>2</a:t>
            </a:r>
            <a:r>
              <a:rPr lang="en" sz="1500">
                <a:solidFill>
                  <a:schemeClr val="dk1"/>
                </a:solidFill>
                <a:latin typeface="Calibri"/>
                <a:ea typeface="Calibri"/>
                <a:cs typeface="Calibri"/>
                <a:sym typeface="Calibri"/>
              </a:rPr>
              <a:t> - y</a:t>
            </a:r>
            <a:r>
              <a:rPr baseline="-25000" lang="en" sz="1500">
                <a:solidFill>
                  <a:schemeClr val="dk1"/>
                </a:solidFill>
                <a:latin typeface="Calibri"/>
                <a:ea typeface="Calibri"/>
                <a:cs typeface="Calibri"/>
                <a:sym typeface="Calibri"/>
              </a:rPr>
              <a:t>2</a:t>
            </a:r>
            <a:r>
              <a:rPr lang="en" sz="1500">
                <a:solidFill>
                  <a:schemeClr val="dk1"/>
                </a:solidFill>
                <a:latin typeface="Calibri"/>
                <a:ea typeface="Calibri"/>
                <a:cs typeface="Calibri"/>
                <a:sym typeface="Calibri"/>
              </a:rPr>
              <a:t>)</a:t>
            </a:r>
            <a:r>
              <a:rPr baseline="30000" lang="en" sz="1500">
                <a:solidFill>
                  <a:schemeClr val="dk1"/>
                </a:solidFill>
                <a:latin typeface="Calibri"/>
                <a:ea typeface="Calibri"/>
                <a:cs typeface="Calibri"/>
                <a:sym typeface="Calibri"/>
              </a:rPr>
              <a:t>2</a:t>
            </a:r>
            <a:r>
              <a:rPr lang="en" sz="1500">
                <a:solidFill>
                  <a:schemeClr val="dk1"/>
                </a:solidFill>
                <a:latin typeface="Calibri"/>
                <a:ea typeface="Calibri"/>
                <a:cs typeface="Calibri"/>
                <a:sym typeface="Calibri"/>
              </a:rPr>
              <a:t> + … + (sx</a:t>
            </a:r>
            <a:r>
              <a:rPr baseline="-25000" lang="en" sz="1500">
                <a:solidFill>
                  <a:schemeClr val="dk1"/>
                </a:solidFill>
                <a:latin typeface="Calibri"/>
                <a:ea typeface="Calibri"/>
                <a:cs typeface="Calibri"/>
                <a:sym typeface="Calibri"/>
              </a:rPr>
              <a:t>n</a:t>
            </a:r>
            <a:r>
              <a:rPr lang="en" sz="1500">
                <a:solidFill>
                  <a:schemeClr val="dk1"/>
                </a:solidFill>
                <a:latin typeface="Calibri"/>
                <a:ea typeface="Calibri"/>
                <a:cs typeface="Calibri"/>
                <a:sym typeface="Calibri"/>
              </a:rPr>
              <a:t> - y</a:t>
            </a:r>
            <a:r>
              <a:rPr baseline="-25000" lang="en" sz="1500">
                <a:solidFill>
                  <a:schemeClr val="dk1"/>
                </a:solidFill>
                <a:latin typeface="Calibri"/>
                <a:ea typeface="Calibri"/>
                <a:cs typeface="Calibri"/>
                <a:sym typeface="Calibri"/>
              </a:rPr>
              <a:t>n</a:t>
            </a:r>
            <a:r>
              <a:rPr lang="en" sz="1500">
                <a:solidFill>
                  <a:schemeClr val="dk1"/>
                </a:solidFill>
                <a:latin typeface="Calibri"/>
                <a:ea typeface="Calibri"/>
                <a:cs typeface="Calibri"/>
                <a:sym typeface="Calibri"/>
              </a:rPr>
              <a:t>)</a:t>
            </a:r>
            <a:r>
              <a:rPr baseline="30000" lang="en" sz="1500">
                <a:solidFill>
                  <a:schemeClr val="dk1"/>
                </a:solidFill>
                <a:latin typeface="Calibri"/>
                <a:ea typeface="Calibri"/>
                <a:cs typeface="Calibri"/>
                <a:sym typeface="Calibri"/>
              </a:rPr>
              <a:t>2</a:t>
            </a:r>
            <a:r>
              <a:rPr lang="en" sz="1500">
                <a:solidFill>
                  <a:schemeClr val="dk1"/>
                </a:solidFill>
                <a:latin typeface="Calibri"/>
                <a:ea typeface="Calibri"/>
                <a:cs typeface="Calibri"/>
                <a:sym typeface="Calibri"/>
              </a:rPr>
              <a:t>)’ = 0</a:t>
            </a:r>
            <a:endParaRPr sz="1500">
              <a:solidFill>
                <a:schemeClr val="dk1"/>
              </a:solidFill>
              <a:latin typeface="Calibri"/>
              <a:ea typeface="Calibri"/>
              <a:cs typeface="Calibri"/>
              <a:sym typeface="Calibri"/>
            </a:endParaRPr>
          </a:p>
        </p:txBody>
      </p:sp>
      <p:sp>
        <p:nvSpPr>
          <p:cNvPr id="612" name="Google Shape;61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13" name="Google Shape;613;p56"/>
          <p:cNvGrpSpPr/>
          <p:nvPr/>
        </p:nvGrpSpPr>
        <p:grpSpPr>
          <a:xfrm>
            <a:off x="5596850" y="2597400"/>
            <a:ext cx="2466975" cy="2136650"/>
            <a:chOff x="5596850" y="2597400"/>
            <a:chExt cx="2466975" cy="2136650"/>
          </a:xfrm>
        </p:grpSpPr>
        <p:cxnSp>
          <p:nvCxnSpPr>
            <p:cNvPr id="614" name="Google Shape;614;p56"/>
            <p:cNvCxnSpPr/>
            <p:nvPr/>
          </p:nvCxnSpPr>
          <p:spPr>
            <a:xfrm>
              <a:off x="5667200" y="2597400"/>
              <a:ext cx="0" cy="2058600"/>
            </a:xfrm>
            <a:prstGeom prst="straightConnector1">
              <a:avLst/>
            </a:prstGeom>
            <a:noFill/>
            <a:ln cap="flat" cmpd="sng" w="9525">
              <a:solidFill>
                <a:schemeClr val="dk2"/>
              </a:solidFill>
              <a:prstDash val="solid"/>
              <a:round/>
              <a:headEnd len="med" w="med" type="none"/>
              <a:tailEnd len="med" w="med" type="none"/>
            </a:ln>
          </p:spPr>
        </p:cxnSp>
        <p:cxnSp>
          <p:nvCxnSpPr>
            <p:cNvPr id="615" name="Google Shape;615;p56"/>
            <p:cNvCxnSpPr/>
            <p:nvPr/>
          </p:nvCxnSpPr>
          <p:spPr>
            <a:xfrm flipH="1">
              <a:off x="5669225" y="4635525"/>
              <a:ext cx="2394600" cy="219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56"/>
            <p:cNvCxnSpPr/>
            <p:nvPr/>
          </p:nvCxnSpPr>
          <p:spPr>
            <a:xfrm>
              <a:off x="6310825" y="4583150"/>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617" name="Google Shape;617;p56"/>
            <p:cNvCxnSpPr/>
            <p:nvPr/>
          </p:nvCxnSpPr>
          <p:spPr>
            <a:xfrm>
              <a:off x="6959250" y="4583150"/>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56"/>
            <p:cNvCxnSpPr/>
            <p:nvPr/>
          </p:nvCxnSpPr>
          <p:spPr>
            <a:xfrm>
              <a:off x="7607675" y="4571025"/>
              <a:ext cx="4800" cy="1509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56"/>
            <p:cNvCxnSpPr/>
            <p:nvPr/>
          </p:nvCxnSpPr>
          <p:spPr>
            <a:xfrm rot="10800000">
              <a:off x="5596850" y="4080750"/>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56"/>
            <p:cNvCxnSpPr/>
            <p:nvPr/>
          </p:nvCxnSpPr>
          <p:spPr>
            <a:xfrm rot="10800000">
              <a:off x="5596850" y="3525975"/>
              <a:ext cx="140700" cy="12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56"/>
            <p:cNvCxnSpPr/>
            <p:nvPr/>
          </p:nvCxnSpPr>
          <p:spPr>
            <a:xfrm rot="10800000">
              <a:off x="5596850" y="2971200"/>
              <a:ext cx="140700" cy="1200"/>
            </a:xfrm>
            <a:prstGeom prst="straightConnector1">
              <a:avLst/>
            </a:prstGeom>
            <a:noFill/>
            <a:ln cap="flat" cmpd="sng" w="9525">
              <a:solidFill>
                <a:schemeClr val="dk2"/>
              </a:solidFill>
              <a:prstDash val="solid"/>
              <a:round/>
              <a:headEnd len="med" w="med" type="none"/>
              <a:tailEnd len="med" w="med" type="none"/>
            </a:ln>
          </p:spPr>
        </p:cxnSp>
      </p:grpSp>
      <p:grpSp>
        <p:nvGrpSpPr>
          <p:cNvPr id="622" name="Google Shape;622;p56"/>
          <p:cNvGrpSpPr/>
          <p:nvPr/>
        </p:nvGrpSpPr>
        <p:grpSpPr>
          <a:xfrm>
            <a:off x="6263725" y="2929206"/>
            <a:ext cx="1347724" cy="1175694"/>
            <a:chOff x="6263725" y="2264131"/>
            <a:chExt cx="1347724" cy="1175694"/>
          </a:xfrm>
        </p:grpSpPr>
        <p:sp>
          <p:nvSpPr>
            <p:cNvPr id="623" name="Google Shape;623;p56"/>
            <p:cNvSpPr/>
            <p:nvPr/>
          </p:nvSpPr>
          <p:spPr>
            <a:xfrm>
              <a:off x="6263725" y="3392725"/>
              <a:ext cx="47100" cy="47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4" name="Google Shape;624;p56"/>
            <p:cNvSpPr/>
            <p:nvPr/>
          </p:nvSpPr>
          <p:spPr>
            <a:xfrm flipH="1" rot="-2700000">
              <a:off x="7554602" y="3360200"/>
              <a:ext cx="47093" cy="47093"/>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5" name="Google Shape;625;p56"/>
            <p:cNvSpPr/>
            <p:nvPr/>
          </p:nvSpPr>
          <p:spPr>
            <a:xfrm flipH="1" rot="-2712234">
              <a:off x="6863485" y="2276626"/>
              <a:ext cx="59609" cy="59609"/>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cxnSp>
        <p:nvCxnSpPr>
          <p:cNvPr id="626" name="Google Shape;626;p56"/>
          <p:cNvCxnSpPr/>
          <p:nvPr/>
        </p:nvCxnSpPr>
        <p:spPr>
          <a:xfrm flipH="1" rot="10800000">
            <a:off x="5676900" y="3327300"/>
            <a:ext cx="2286000" cy="1320900"/>
          </a:xfrm>
          <a:prstGeom prst="straightConnector1">
            <a:avLst/>
          </a:prstGeom>
          <a:noFill/>
          <a:ln cap="flat" cmpd="sng" w="38100">
            <a:solidFill>
              <a:srgbClr val="DD4800"/>
            </a:solidFill>
            <a:prstDash val="solid"/>
            <a:round/>
            <a:headEnd len="med" w="med" type="none"/>
            <a:tailEnd len="med" w="med" type="none"/>
          </a:ln>
        </p:spPr>
      </p:cxnSp>
      <p:sp>
        <p:nvSpPr>
          <p:cNvPr id="627" name="Google Shape;627;p56"/>
          <p:cNvSpPr txBox="1"/>
          <p:nvPr>
            <p:ph idx="1" type="body"/>
          </p:nvPr>
        </p:nvSpPr>
        <p:spPr>
          <a:xfrm>
            <a:off x="610450" y="1981200"/>
            <a:ext cx="4380600" cy="3057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Calculate</a:t>
            </a:r>
            <a:endParaRPr sz="1500"/>
          </a:p>
          <a:p>
            <a:pPr indent="0" lvl="0" marL="0" rtl="0" algn="l">
              <a:spcBef>
                <a:spcPts val="0"/>
              </a:spcBef>
              <a:spcAft>
                <a:spcPts val="0"/>
              </a:spcAft>
              <a:buNone/>
            </a:pPr>
            <a:r>
              <a:rPr lang="en" sz="1500"/>
              <a:t>	</a:t>
            </a:r>
            <a:r>
              <a:rPr lang="en" sz="1500">
                <a:solidFill>
                  <a:srgbClr val="38761D"/>
                </a:solidFill>
              </a:rPr>
              <a:t>(1s – 1)</a:t>
            </a:r>
            <a:r>
              <a:rPr baseline="30000" lang="en" sz="1500">
                <a:solidFill>
                  <a:srgbClr val="38761D"/>
                </a:solidFill>
              </a:rPr>
              <a:t>2</a:t>
            </a:r>
            <a:r>
              <a:rPr lang="en" sz="1500">
                <a:solidFill>
                  <a:srgbClr val="38761D"/>
                </a:solidFill>
              </a:rPr>
              <a:t> + (2s - 3)</a:t>
            </a:r>
            <a:r>
              <a:rPr baseline="30000" lang="en" sz="1500">
                <a:solidFill>
                  <a:srgbClr val="38761D"/>
                </a:solidFill>
              </a:rPr>
              <a:t>2</a:t>
            </a:r>
            <a:r>
              <a:rPr lang="en" sz="1500">
                <a:solidFill>
                  <a:srgbClr val="38761D"/>
                </a:solidFill>
              </a:rPr>
              <a:t> + (3s - 1)</a:t>
            </a:r>
            <a:r>
              <a:rPr baseline="30000" lang="en" sz="1500">
                <a:solidFill>
                  <a:srgbClr val="38761D"/>
                </a:solidFill>
              </a:rPr>
              <a:t>2</a:t>
            </a:r>
            <a:endParaRPr sz="1500">
              <a:solidFill>
                <a:srgbClr val="38761D"/>
              </a:solidFill>
            </a:endParaRPr>
          </a:p>
          <a:p>
            <a:pPr indent="457200" lvl="0" marL="0" rtl="0" algn="l">
              <a:spcBef>
                <a:spcPts val="0"/>
              </a:spcBef>
              <a:spcAft>
                <a:spcPts val="0"/>
              </a:spcAft>
              <a:buNone/>
            </a:pPr>
            <a:r>
              <a:rPr lang="en" sz="1500">
                <a:solidFill>
                  <a:srgbClr val="38761D"/>
                </a:solidFill>
              </a:rPr>
              <a:t>= (s</a:t>
            </a:r>
            <a:r>
              <a:rPr baseline="30000" lang="en" sz="1500">
                <a:solidFill>
                  <a:srgbClr val="38761D"/>
                </a:solidFill>
              </a:rPr>
              <a:t>2</a:t>
            </a:r>
            <a:r>
              <a:rPr lang="en" sz="1500">
                <a:solidFill>
                  <a:srgbClr val="38761D"/>
                </a:solidFill>
              </a:rPr>
              <a:t> -2s +1) + (4s</a:t>
            </a:r>
            <a:r>
              <a:rPr baseline="30000" lang="en" sz="1500">
                <a:solidFill>
                  <a:srgbClr val="38761D"/>
                </a:solidFill>
              </a:rPr>
              <a:t>2</a:t>
            </a:r>
            <a:r>
              <a:rPr lang="en" sz="1500">
                <a:solidFill>
                  <a:srgbClr val="38761D"/>
                </a:solidFill>
              </a:rPr>
              <a:t> – 12s + 9) + (9s</a:t>
            </a:r>
            <a:r>
              <a:rPr baseline="30000" lang="en" sz="1500">
                <a:solidFill>
                  <a:srgbClr val="38761D"/>
                </a:solidFill>
              </a:rPr>
              <a:t>2</a:t>
            </a:r>
            <a:r>
              <a:rPr lang="en" sz="1500">
                <a:solidFill>
                  <a:srgbClr val="38761D"/>
                </a:solidFill>
              </a:rPr>
              <a:t> - 6s + 1)</a:t>
            </a:r>
            <a:endParaRPr sz="1500">
              <a:solidFill>
                <a:srgbClr val="38761D"/>
              </a:solidFill>
            </a:endParaRPr>
          </a:p>
          <a:p>
            <a:pPr indent="457200" lvl="0" marL="0" rtl="0" algn="l">
              <a:spcBef>
                <a:spcPts val="0"/>
              </a:spcBef>
              <a:spcAft>
                <a:spcPts val="0"/>
              </a:spcAft>
              <a:buNone/>
            </a:pPr>
            <a:r>
              <a:rPr lang="en" sz="1500">
                <a:solidFill>
                  <a:srgbClr val="38761D"/>
                </a:solidFill>
              </a:rPr>
              <a:t>= 14s</a:t>
            </a:r>
            <a:r>
              <a:rPr baseline="30000" lang="en" sz="1500">
                <a:solidFill>
                  <a:srgbClr val="38761D"/>
                </a:solidFill>
              </a:rPr>
              <a:t>2</a:t>
            </a:r>
            <a:r>
              <a:rPr lang="en" sz="1500">
                <a:solidFill>
                  <a:srgbClr val="38761D"/>
                </a:solidFill>
              </a:rPr>
              <a:t> -20s + 11 </a:t>
            </a:r>
            <a:endParaRPr sz="1500">
              <a:solidFill>
                <a:srgbClr val="38761D"/>
              </a:solidFill>
            </a:endParaRPr>
          </a:p>
          <a:p>
            <a:pPr indent="-323850" lvl="0" marL="457200" rtl="0" algn="l">
              <a:spcBef>
                <a:spcPts val="0"/>
              </a:spcBef>
              <a:spcAft>
                <a:spcPts val="0"/>
              </a:spcAft>
              <a:buSzPts val="1500"/>
              <a:buAutoNum type="arabicPeriod"/>
            </a:pPr>
            <a:r>
              <a:rPr lang="en" sz="1500"/>
              <a:t>Derive</a:t>
            </a:r>
            <a:endParaRPr sz="1500"/>
          </a:p>
          <a:p>
            <a:pPr indent="0" lvl="0" marL="457200" rtl="0" algn="l">
              <a:spcBef>
                <a:spcPts val="0"/>
              </a:spcBef>
              <a:spcAft>
                <a:spcPts val="0"/>
              </a:spcAft>
              <a:buNone/>
            </a:pPr>
            <a:r>
              <a:rPr lang="en" sz="1500">
                <a:solidFill>
                  <a:srgbClr val="38761D"/>
                </a:solidFill>
              </a:rPr>
              <a:t>error’ = 28s - 20</a:t>
            </a:r>
            <a:endParaRPr sz="1500"/>
          </a:p>
          <a:p>
            <a:pPr indent="-323850" lvl="0" marL="457200" rtl="0" algn="l">
              <a:spcBef>
                <a:spcPts val="0"/>
              </a:spcBef>
              <a:spcAft>
                <a:spcPts val="0"/>
              </a:spcAft>
              <a:buSzPts val="1500"/>
              <a:buAutoNum type="arabicPeriod"/>
            </a:pPr>
            <a:r>
              <a:rPr lang="en" sz="1500"/>
              <a:t>Set equal to 0 and solve</a:t>
            </a:r>
            <a:endParaRPr sz="1500"/>
          </a:p>
          <a:p>
            <a:pPr indent="457200" lvl="0" marL="0" marR="0" rtl="0" algn="l">
              <a:lnSpc>
                <a:spcPct val="115000"/>
              </a:lnSpc>
              <a:spcBef>
                <a:spcPts val="0"/>
              </a:spcBef>
              <a:spcAft>
                <a:spcPts val="0"/>
              </a:spcAft>
              <a:buNone/>
            </a:pPr>
            <a:r>
              <a:rPr lang="en" sz="1500">
                <a:solidFill>
                  <a:srgbClr val="38761D"/>
                </a:solidFill>
              </a:rPr>
              <a:t>28s - 20 = 0</a:t>
            </a:r>
            <a:endParaRPr sz="1500">
              <a:solidFill>
                <a:srgbClr val="38761D"/>
              </a:solidFill>
            </a:endParaRPr>
          </a:p>
          <a:p>
            <a:pPr indent="457200" lvl="0" marL="0" marR="0" rtl="0" algn="l">
              <a:lnSpc>
                <a:spcPct val="115000"/>
              </a:lnSpc>
              <a:spcBef>
                <a:spcPts val="0"/>
              </a:spcBef>
              <a:spcAft>
                <a:spcPts val="0"/>
              </a:spcAft>
              <a:buNone/>
            </a:pPr>
            <a:r>
              <a:rPr lang="en" sz="1500">
                <a:solidFill>
                  <a:srgbClr val="38761D"/>
                </a:solidFill>
              </a:rPr>
              <a:t>28s = 20</a:t>
            </a:r>
            <a:endParaRPr sz="1500">
              <a:solidFill>
                <a:srgbClr val="38761D"/>
              </a:solidFill>
            </a:endParaRPr>
          </a:p>
          <a:p>
            <a:pPr indent="457200" lvl="0" marL="0" marR="0" rtl="0" algn="l">
              <a:lnSpc>
                <a:spcPct val="115000"/>
              </a:lnSpc>
              <a:spcBef>
                <a:spcPts val="0"/>
              </a:spcBef>
              <a:spcAft>
                <a:spcPts val="0"/>
              </a:spcAft>
              <a:buNone/>
            </a:pPr>
            <a:r>
              <a:rPr lang="en" sz="1500">
                <a:solidFill>
                  <a:srgbClr val="38761D"/>
                </a:solidFill>
              </a:rPr>
              <a:t>s = 0.71</a:t>
            </a:r>
            <a:endParaRPr sz="1500">
              <a:solidFill>
                <a:srgbClr val="38761D"/>
              </a:solidFill>
            </a:endParaRPr>
          </a:p>
          <a:p>
            <a:pPr indent="457200" lvl="0" marL="0" marR="0" rtl="0" algn="l">
              <a:lnSpc>
                <a:spcPct val="115000"/>
              </a:lnSpc>
              <a:spcBef>
                <a:spcPts val="0"/>
              </a:spcBef>
              <a:spcAft>
                <a:spcPts val="0"/>
              </a:spcAft>
              <a:buNone/>
            </a:pPr>
            <a:r>
              <a:rPr lang="en" sz="1500">
                <a:solidFill>
                  <a:srgbClr val="38761D"/>
                </a:solidFill>
              </a:rPr>
              <a:t>f(x) = 0.71*x is optimal model</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Higher Dimensions</a:t>
            </a:r>
            <a:endParaRPr/>
          </a:p>
        </p:txBody>
      </p:sp>
      <p:pic>
        <p:nvPicPr>
          <p:cNvPr id="633" name="Google Shape;633;p57"/>
          <p:cNvPicPr preferRelativeResize="0"/>
          <p:nvPr/>
        </p:nvPicPr>
        <p:blipFill rotWithShape="1">
          <a:blip r:embed="rId3">
            <a:alphaModFix/>
          </a:blip>
          <a:srcRect b="931" l="0" r="0" t="0"/>
          <a:stretch/>
        </p:blipFill>
        <p:spPr>
          <a:xfrm>
            <a:off x="4058907" y="2046975"/>
            <a:ext cx="4312506" cy="2817789"/>
          </a:xfrm>
          <a:prstGeom prst="rect">
            <a:avLst/>
          </a:prstGeom>
          <a:noFill/>
          <a:ln>
            <a:noFill/>
          </a:ln>
        </p:spPr>
      </p:pic>
      <p:sp>
        <p:nvSpPr>
          <p:cNvPr id="634" name="Google Shape;634;p57"/>
          <p:cNvSpPr txBox="1"/>
          <p:nvPr/>
        </p:nvSpPr>
        <p:spPr>
          <a:xfrm rot="-5400000">
            <a:off x="3710750" y="2932126"/>
            <a:ext cx="964800" cy="400200"/>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error(</a:t>
            </a:r>
            <a:r>
              <a:rPr lang="en">
                <a:solidFill>
                  <a:srgbClr val="CC0000"/>
                </a:solidFill>
                <a:latin typeface="Calibri"/>
                <a:ea typeface="Calibri"/>
                <a:cs typeface="Calibri"/>
                <a:sym typeface="Calibri"/>
              </a:rPr>
              <a:t>s</a:t>
            </a:r>
            <a:r>
              <a:rPr lang="en">
                <a:latin typeface="Calibri"/>
                <a:ea typeface="Calibri"/>
                <a:cs typeface="Calibri"/>
                <a:sym typeface="Calibri"/>
              </a:rPr>
              <a:t>,</a:t>
            </a:r>
            <a:r>
              <a:rPr lang="en">
                <a:solidFill>
                  <a:srgbClr val="CC0000"/>
                </a:solidFill>
                <a:latin typeface="Calibri"/>
                <a:ea typeface="Calibri"/>
                <a:cs typeface="Calibri"/>
                <a:sym typeface="Calibri"/>
              </a:rPr>
              <a:t>b</a:t>
            </a:r>
            <a:r>
              <a:rPr lang="en">
                <a:latin typeface="Calibri"/>
                <a:ea typeface="Calibri"/>
                <a:cs typeface="Calibri"/>
                <a:sym typeface="Calibri"/>
              </a:rPr>
              <a:t>)</a:t>
            </a:r>
            <a:endParaRPr>
              <a:latin typeface="Calibri"/>
              <a:ea typeface="Calibri"/>
              <a:cs typeface="Calibri"/>
              <a:sym typeface="Calibri"/>
            </a:endParaRPr>
          </a:p>
        </p:txBody>
      </p:sp>
      <p:sp>
        <p:nvSpPr>
          <p:cNvPr id="635" name="Google Shape;635;p57"/>
          <p:cNvSpPr txBox="1"/>
          <p:nvPr/>
        </p:nvSpPr>
        <p:spPr>
          <a:xfrm rot="2131415">
            <a:off x="4803619" y="4264937"/>
            <a:ext cx="283458" cy="41555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s</a:t>
            </a:r>
            <a:endParaRPr sz="1500">
              <a:latin typeface="Calibri"/>
              <a:ea typeface="Calibri"/>
              <a:cs typeface="Calibri"/>
              <a:sym typeface="Calibri"/>
            </a:endParaRPr>
          </a:p>
        </p:txBody>
      </p:sp>
      <p:sp>
        <p:nvSpPr>
          <p:cNvPr id="636" name="Google Shape;636;p57"/>
          <p:cNvSpPr txBox="1"/>
          <p:nvPr/>
        </p:nvSpPr>
        <p:spPr>
          <a:xfrm rot="-1286378">
            <a:off x="6978218" y="4514463"/>
            <a:ext cx="282337" cy="415519"/>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b</a:t>
            </a:r>
            <a:endParaRPr sz="1500">
              <a:latin typeface="Calibri"/>
              <a:ea typeface="Calibri"/>
              <a:cs typeface="Calibri"/>
              <a:sym typeface="Calibri"/>
            </a:endParaRPr>
          </a:p>
        </p:txBody>
      </p:sp>
      <p:cxnSp>
        <p:nvCxnSpPr>
          <p:cNvPr id="637" name="Google Shape;637;p57"/>
          <p:cNvCxnSpPr/>
          <p:nvPr/>
        </p:nvCxnSpPr>
        <p:spPr>
          <a:xfrm rot="10800000">
            <a:off x="7219050" y="2816100"/>
            <a:ext cx="403500" cy="0"/>
          </a:xfrm>
          <a:prstGeom prst="straightConnector1">
            <a:avLst/>
          </a:prstGeom>
          <a:noFill/>
          <a:ln cap="flat" cmpd="sng" w="9525">
            <a:solidFill>
              <a:srgbClr val="1155CC"/>
            </a:solidFill>
            <a:prstDash val="solid"/>
            <a:round/>
            <a:headEnd len="med" w="med" type="none"/>
            <a:tailEnd len="med" w="med" type="triangle"/>
          </a:ln>
        </p:spPr>
      </p:cxnSp>
      <p:sp>
        <p:nvSpPr>
          <p:cNvPr id="638" name="Google Shape;638;p57"/>
          <p:cNvSpPr txBox="1"/>
          <p:nvPr/>
        </p:nvSpPr>
        <p:spPr>
          <a:xfrm>
            <a:off x="7693350" y="2531750"/>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error surface</a:t>
            </a:r>
            <a:endParaRPr sz="1600">
              <a:latin typeface="Calibri"/>
              <a:ea typeface="Calibri"/>
              <a:cs typeface="Calibri"/>
              <a:sym typeface="Calibri"/>
            </a:endParaRPr>
          </a:p>
        </p:txBody>
      </p:sp>
      <p:cxnSp>
        <p:nvCxnSpPr>
          <p:cNvPr id="639" name="Google Shape;639;p57"/>
          <p:cNvCxnSpPr>
            <a:stCxn id="640" idx="0"/>
          </p:cNvCxnSpPr>
          <p:nvPr/>
        </p:nvCxnSpPr>
        <p:spPr>
          <a:xfrm rot="10800000">
            <a:off x="7895851" y="4249675"/>
            <a:ext cx="286800" cy="394800"/>
          </a:xfrm>
          <a:prstGeom prst="straightConnector1">
            <a:avLst/>
          </a:prstGeom>
          <a:noFill/>
          <a:ln cap="flat" cmpd="sng" w="9525">
            <a:solidFill>
              <a:srgbClr val="1155CC"/>
            </a:solidFill>
            <a:prstDash val="solid"/>
            <a:round/>
            <a:headEnd len="med" w="med" type="none"/>
            <a:tailEnd len="med" w="med" type="triangle"/>
          </a:ln>
        </p:spPr>
      </p:cxnSp>
      <p:sp>
        <p:nvSpPr>
          <p:cNvPr id="640" name="Google Shape;640;p57"/>
          <p:cNvSpPr txBox="1"/>
          <p:nvPr/>
        </p:nvSpPr>
        <p:spPr>
          <a:xfrm>
            <a:off x="7515751" y="4644475"/>
            <a:ext cx="133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model space</a:t>
            </a:r>
            <a:endParaRPr sz="1600">
              <a:latin typeface="Calibri"/>
              <a:ea typeface="Calibri"/>
              <a:cs typeface="Calibri"/>
              <a:sym typeface="Calibri"/>
            </a:endParaRPr>
          </a:p>
        </p:txBody>
      </p:sp>
      <p:sp>
        <p:nvSpPr>
          <p:cNvPr id="641" name="Google Shape;641;p57"/>
          <p:cNvSpPr/>
          <p:nvPr/>
        </p:nvSpPr>
        <p:spPr>
          <a:xfrm>
            <a:off x="6552803" y="4244709"/>
            <a:ext cx="303900" cy="5370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2" name="Google Shape;642;p57"/>
          <p:cNvSpPr txBox="1"/>
          <p:nvPr>
            <p:ph idx="1" type="body"/>
          </p:nvPr>
        </p:nvSpPr>
        <p:spPr>
          <a:xfrm>
            <a:off x="703950" y="1205775"/>
            <a:ext cx="7736100" cy="136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Tangent line → tangent hyperplane</a:t>
            </a:r>
            <a:endParaRPr/>
          </a:p>
          <a:p>
            <a:pPr indent="0" lvl="0" marL="0" rtl="0" algn="l">
              <a:spcBef>
                <a:spcPts val="1200"/>
              </a:spcBef>
              <a:spcAft>
                <a:spcPts val="0"/>
              </a:spcAft>
              <a:buNone/>
            </a:pPr>
            <a:r>
              <a:rPr lang="en"/>
              <a:t>Derivative → partial derivative (slope of tangent hyperplane in one direction)</a:t>
            </a:r>
            <a:endParaRPr/>
          </a:p>
          <a:p>
            <a:pPr indent="0" lvl="0" marL="0" rtl="0" algn="l">
              <a:spcBef>
                <a:spcPts val="1200"/>
              </a:spcBef>
              <a:spcAft>
                <a:spcPts val="1200"/>
              </a:spcAft>
              <a:buNone/>
            </a:pPr>
            <a:r>
              <a:rPr lang="en">
                <a:solidFill>
                  <a:srgbClr val="3C78D8"/>
                </a:solidFill>
              </a:rPr>
              <a:t>Gradient</a:t>
            </a:r>
            <a:r>
              <a:rPr lang="en"/>
              <a:t> → all partial derivatives</a:t>
            </a:r>
            <a:endParaRPr/>
          </a:p>
        </p:txBody>
      </p:sp>
      <p:cxnSp>
        <p:nvCxnSpPr>
          <p:cNvPr id="643" name="Google Shape;643;p57"/>
          <p:cNvCxnSpPr/>
          <p:nvPr/>
        </p:nvCxnSpPr>
        <p:spPr>
          <a:xfrm rot="10800000">
            <a:off x="5349675" y="2724900"/>
            <a:ext cx="234000" cy="412200"/>
          </a:xfrm>
          <a:prstGeom prst="straightConnector1">
            <a:avLst/>
          </a:prstGeom>
          <a:noFill/>
          <a:ln cap="flat" cmpd="sng" w="28575">
            <a:solidFill>
              <a:srgbClr val="6AA84F"/>
            </a:solidFill>
            <a:prstDash val="solid"/>
            <a:round/>
            <a:headEnd len="med" w="med" type="none"/>
            <a:tailEnd len="med" w="med" type="triangle"/>
          </a:ln>
        </p:spPr>
      </p:cxnSp>
      <p:sp>
        <p:nvSpPr>
          <p:cNvPr id="644" name="Google Shape;644;p57"/>
          <p:cNvSpPr txBox="1"/>
          <p:nvPr/>
        </p:nvSpPr>
        <p:spPr>
          <a:xfrm>
            <a:off x="805625" y="3852000"/>
            <a:ext cx="3120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Too complex to solve analytically!</a:t>
            </a:r>
            <a:endParaRPr sz="1700">
              <a:latin typeface="Calibri"/>
              <a:ea typeface="Calibri"/>
              <a:cs typeface="Calibri"/>
              <a:sym typeface="Calibri"/>
            </a:endParaRPr>
          </a:p>
        </p:txBody>
      </p:sp>
      <p:sp>
        <p:nvSpPr>
          <p:cNvPr id="645" name="Google Shape;64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of Finding a Model</a:t>
            </a:r>
            <a:endParaRPr/>
          </a:p>
        </p:txBody>
      </p:sp>
      <p:sp>
        <p:nvSpPr>
          <p:cNvPr id="651" name="Google Shape;651;p58"/>
          <p:cNvSpPr txBox="1"/>
          <p:nvPr>
            <p:ph idx="1" type="body"/>
          </p:nvPr>
        </p:nvSpPr>
        <p:spPr>
          <a:xfrm>
            <a:off x="3137850" y="1518200"/>
            <a:ext cx="2868300" cy="2922000"/>
          </a:xfrm>
          <a:prstGeom prst="rect">
            <a:avLst/>
          </a:prstGeom>
        </p:spPr>
        <p:txBody>
          <a:bodyPr anchorCtr="0" anchor="t" bIns="91425" lIns="91425" spcFirstLastPara="1" rIns="91425" wrap="square" tIns="91425">
            <a:normAutofit/>
          </a:bodyPr>
          <a:lstStyle/>
          <a:p>
            <a:pPr indent="0" lvl="0" marL="0" rtl="0" algn="ctr">
              <a:lnSpc>
                <a:spcPct val="200000"/>
              </a:lnSpc>
              <a:spcBef>
                <a:spcPts val="0"/>
              </a:spcBef>
              <a:spcAft>
                <a:spcPts val="0"/>
              </a:spcAft>
              <a:buNone/>
            </a:pPr>
            <a:r>
              <a:rPr lang="en" sz="2000"/>
              <a:t>Analytical solutions</a:t>
            </a:r>
            <a:endParaRPr sz="2000"/>
          </a:p>
          <a:p>
            <a:pPr indent="0" lvl="0" marL="0" rtl="0" algn="ctr">
              <a:lnSpc>
                <a:spcPct val="200000"/>
              </a:lnSpc>
              <a:spcBef>
                <a:spcPts val="1200"/>
              </a:spcBef>
              <a:spcAft>
                <a:spcPts val="0"/>
              </a:spcAft>
              <a:buNone/>
            </a:pPr>
            <a:r>
              <a:rPr lang="en" sz="2000"/>
              <a:t>Convex problems</a:t>
            </a:r>
            <a:endParaRPr sz="2000"/>
          </a:p>
          <a:p>
            <a:pPr indent="0" lvl="0" marL="0" rtl="0" algn="ctr">
              <a:lnSpc>
                <a:spcPct val="200000"/>
              </a:lnSpc>
              <a:spcBef>
                <a:spcPts val="1200"/>
              </a:spcBef>
              <a:spcAft>
                <a:spcPts val="0"/>
              </a:spcAft>
              <a:buNone/>
            </a:pPr>
            <a:r>
              <a:rPr lang="en" sz="2000"/>
              <a:t>Gradient descent</a:t>
            </a:r>
            <a:endParaRPr sz="2000"/>
          </a:p>
          <a:p>
            <a:pPr indent="0" lvl="0" marL="0" rtl="0" algn="ctr">
              <a:lnSpc>
                <a:spcPct val="200000"/>
              </a:lnSpc>
              <a:spcBef>
                <a:spcPts val="1200"/>
              </a:spcBef>
              <a:spcAft>
                <a:spcPts val="1200"/>
              </a:spcAft>
              <a:buNone/>
            </a:pPr>
            <a:r>
              <a:rPr lang="en" sz="2000"/>
              <a:t>Uninformed Optimisation</a:t>
            </a:r>
            <a:endParaRPr sz="2000"/>
          </a:p>
        </p:txBody>
      </p:sp>
      <p:sp>
        <p:nvSpPr>
          <p:cNvPr id="652" name="Google Shape;652;p58"/>
          <p:cNvSpPr txBox="1"/>
          <p:nvPr/>
        </p:nvSpPr>
        <p:spPr>
          <a:xfrm>
            <a:off x="1195450" y="1585025"/>
            <a:ext cx="118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38761D"/>
                </a:solidFill>
                <a:latin typeface="Calibri"/>
                <a:ea typeface="Calibri"/>
                <a:cs typeface="Calibri"/>
                <a:sym typeface="Calibri"/>
              </a:rPr>
              <a:t>best case</a:t>
            </a:r>
            <a:endParaRPr sz="1900">
              <a:solidFill>
                <a:srgbClr val="38761D"/>
              </a:solidFill>
              <a:latin typeface="Calibri"/>
              <a:ea typeface="Calibri"/>
              <a:cs typeface="Calibri"/>
              <a:sym typeface="Calibri"/>
            </a:endParaRPr>
          </a:p>
        </p:txBody>
      </p:sp>
      <p:sp>
        <p:nvSpPr>
          <p:cNvPr id="653" name="Google Shape;653;p58"/>
          <p:cNvSpPr txBox="1"/>
          <p:nvPr/>
        </p:nvSpPr>
        <p:spPr>
          <a:xfrm>
            <a:off x="1195450" y="3797875"/>
            <a:ext cx="1384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CC0000"/>
                </a:solidFill>
                <a:latin typeface="Calibri"/>
                <a:ea typeface="Calibri"/>
                <a:cs typeface="Calibri"/>
                <a:sym typeface="Calibri"/>
              </a:rPr>
              <a:t>worst case</a:t>
            </a:r>
            <a:endParaRPr sz="1900">
              <a:solidFill>
                <a:srgbClr val="CC0000"/>
              </a:solidFill>
              <a:latin typeface="Calibri"/>
              <a:ea typeface="Calibri"/>
              <a:cs typeface="Calibri"/>
              <a:sym typeface="Calibri"/>
            </a:endParaRPr>
          </a:p>
        </p:txBody>
      </p:sp>
      <p:sp>
        <p:nvSpPr>
          <p:cNvPr id="654" name="Google Shape;65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Search via Gradient Descent</a:t>
            </a:r>
            <a:endParaRPr/>
          </a:p>
        </p:txBody>
      </p:sp>
      <p:sp>
        <p:nvSpPr>
          <p:cNvPr id="660" name="Google Shape;660;p59"/>
          <p:cNvSpPr txBox="1"/>
          <p:nvPr>
            <p:ph idx="1" type="body"/>
          </p:nvPr>
        </p:nvSpPr>
        <p:spPr>
          <a:xfrm>
            <a:off x="543400" y="2059950"/>
            <a:ext cx="3748200" cy="2742000"/>
          </a:xfrm>
          <a:prstGeom prst="rect">
            <a:avLst/>
          </a:prstGeom>
        </p:spPr>
        <p:txBody>
          <a:bodyPr anchorCtr="0" anchor="t" bIns="91425" lIns="91425" spcFirstLastPara="1" rIns="91425" wrap="square" tIns="91425">
            <a:normAutofit/>
          </a:bodyPr>
          <a:lstStyle/>
          <a:p>
            <a:pPr indent="-342900" lvl="0" marL="457200" rtl="0" algn="l">
              <a:lnSpc>
                <a:spcPct val="170000"/>
              </a:lnSpc>
              <a:spcBef>
                <a:spcPts val="0"/>
              </a:spcBef>
              <a:spcAft>
                <a:spcPts val="0"/>
              </a:spcAft>
              <a:buSzPts val="1800"/>
              <a:buAutoNum type="arabicPeriod"/>
            </a:pPr>
            <a:r>
              <a:rPr lang="en"/>
              <a:t>Pick random parameters </a:t>
            </a:r>
            <a:r>
              <a:rPr lang="en">
                <a:solidFill>
                  <a:srgbClr val="CC0000"/>
                </a:solidFill>
              </a:rPr>
              <a:t>s</a:t>
            </a:r>
            <a:r>
              <a:rPr lang="en"/>
              <a:t>,</a:t>
            </a:r>
            <a:r>
              <a:rPr lang="en">
                <a:solidFill>
                  <a:srgbClr val="CC0000"/>
                </a:solidFill>
              </a:rPr>
              <a:t>b</a:t>
            </a:r>
            <a:endParaRPr>
              <a:solidFill>
                <a:srgbClr val="CC0000"/>
              </a:solidFill>
            </a:endParaRPr>
          </a:p>
          <a:p>
            <a:pPr indent="-342900" lvl="0" marL="457200" rtl="0" algn="l">
              <a:lnSpc>
                <a:spcPct val="170000"/>
              </a:lnSpc>
              <a:spcBef>
                <a:spcPts val="1000"/>
              </a:spcBef>
              <a:spcAft>
                <a:spcPts val="0"/>
              </a:spcAft>
              <a:buSzPts val="1800"/>
              <a:buAutoNum type="arabicPeriod"/>
            </a:pPr>
            <a:r>
              <a:rPr lang="en"/>
              <a:t>Compute the gradient</a:t>
            </a:r>
            <a:endParaRPr/>
          </a:p>
          <a:p>
            <a:pPr indent="-342900" lvl="0" marL="457200" rtl="0" algn="l">
              <a:lnSpc>
                <a:spcPct val="170000"/>
              </a:lnSpc>
              <a:spcBef>
                <a:spcPts val="1000"/>
              </a:spcBef>
              <a:spcAft>
                <a:spcPts val="0"/>
              </a:spcAft>
              <a:buSzPts val="1800"/>
              <a:buAutoNum type="arabicPeriod"/>
            </a:pPr>
            <a:r>
              <a:rPr lang="en"/>
              <a:t>Move a </a:t>
            </a:r>
            <a:r>
              <a:rPr lang="en">
                <a:solidFill>
                  <a:srgbClr val="1155CC"/>
                </a:solidFill>
              </a:rPr>
              <a:t>small step</a:t>
            </a:r>
            <a:r>
              <a:rPr lang="en"/>
              <a:t> in the opposite direction</a:t>
            </a:r>
            <a:endParaRPr/>
          </a:p>
          <a:p>
            <a:pPr indent="-342900" lvl="0" marL="457200" rtl="0" algn="l">
              <a:lnSpc>
                <a:spcPct val="170000"/>
              </a:lnSpc>
              <a:spcBef>
                <a:spcPts val="1000"/>
              </a:spcBef>
              <a:spcAft>
                <a:spcPts val="1000"/>
              </a:spcAft>
              <a:buSzPts val="1800"/>
              <a:buAutoNum type="arabicPeriod"/>
            </a:pPr>
            <a:r>
              <a:rPr lang="en"/>
              <a:t>Repeat</a:t>
            </a:r>
            <a:endParaRPr/>
          </a:p>
        </p:txBody>
      </p:sp>
      <p:pic>
        <p:nvPicPr>
          <p:cNvPr id="661" name="Google Shape;661;p59"/>
          <p:cNvPicPr preferRelativeResize="0"/>
          <p:nvPr/>
        </p:nvPicPr>
        <p:blipFill rotWithShape="1">
          <a:blip r:embed="rId3">
            <a:alphaModFix/>
          </a:blip>
          <a:srcRect b="931" l="0" r="0" t="0"/>
          <a:stretch/>
        </p:blipFill>
        <p:spPr>
          <a:xfrm>
            <a:off x="4196050" y="1768525"/>
            <a:ext cx="4610026" cy="2943875"/>
          </a:xfrm>
          <a:prstGeom prst="rect">
            <a:avLst/>
          </a:prstGeom>
          <a:noFill/>
          <a:ln>
            <a:noFill/>
          </a:ln>
        </p:spPr>
      </p:pic>
      <p:sp>
        <p:nvSpPr>
          <p:cNvPr id="662" name="Google Shape;662;p59"/>
          <p:cNvSpPr txBox="1"/>
          <p:nvPr/>
        </p:nvSpPr>
        <p:spPr>
          <a:xfrm rot="-5400000">
            <a:off x="3882650" y="2641350"/>
            <a:ext cx="886200" cy="400200"/>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error(</a:t>
            </a:r>
            <a:r>
              <a:rPr lang="en">
                <a:solidFill>
                  <a:srgbClr val="CC0000"/>
                </a:solidFill>
                <a:latin typeface="Calibri"/>
                <a:ea typeface="Calibri"/>
                <a:cs typeface="Calibri"/>
                <a:sym typeface="Calibri"/>
              </a:rPr>
              <a:t>s</a:t>
            </a:r>
            <a:r>
              <a:rPr lang="en">
                <a:latin typeface="Calibri"/>
                <a:ea typeface="Calibri"/>
                <a:cs typeface="Calibri"/>
                <a:sym typeface="Calibri"/>
              </a:rPr>
              <a:t>,</a:t>
            </a:r>
            <a:r>
              <a:rPr lang="en">
                <a:solidFill>
                  <a:srgbClr val="CC0000"/>
                </a:solidFill>
                <a:latin typeface="Calibri"/>
                <a:ea typeface="Calibri"/>
                <a:cs typeface="Calibri"/>
                <a:sym typeface="Calibri"/>
              </a:rPr>
              <a:t>b</a:t>
            </a:r>
            <a:r>
              <a:rPr lang="en">
                <a:latin typeface="Calibri"/>
                <a:ea typeface="Calibri"/>
                <a:cs typeface="Calibri"/>
                <a:sym typeface="Calibri"/>
              </a:rPr>
              <a:t>)</a:t>
            </a:r>
            <a:endParaRPr>
              <a:latin typeface="Calibri"/>
              <a:ea typeface="Calibri"/>
              <a:cs typeface="Calibri"/>
              <a:sym typeface="Calibri"/>
            </a:endParaRPr>
          </a:p>
        </p:txBody>
      </p:sp>
      <p:sp>
        <p:nvSpPr>
          <p:cNvPr id="663" name="Google Shape;663;p59"/>
          <p:cNvSpPr txBox="1"/>
          <p:nvPr/>
        </p:nvSpPr>
        <p:spPr>
          <a:xfrm rot="2095589">
            <a:off x="4999535" y="4086181"/>
            <a:ext cx="300773" cy="41562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s</a:t>
            </a:r>
            <a:endParaRPr sz="1500">
              <a:latin typeface="Calibri"/>
              <a:ea typeface="Calibri"/>
              <a:cs typeface="Calibri"/>
              <a:sym typeface="Calibri"/>
            </a:endParaRPr>
          </a:p>
        </p:txBody>
      </p:sp>
      <p:sp>
        <p:nvSpPr>
          <p:cNvPr id="664" name="Google Shape;664;p59"/>
          <p:cNvSpPr txBox="1"/>
          <p:nvPr/>
        </p:nvSpPr>
        <p:spPr>
          <a:xfrm rot="-1259050">
            <a:off x="7313705" y="4346504"/>
            <a:ext cx="300746" cy="41546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b</a:t>
            </a:r>
            <a:endParaRPr sz="1500">
              <a:latin typeface="Calibri"/>
              <a:ea typeface="Calibri"/>
              <a:cs typeface="Calibri"/>
              <a:sym typeface="Calibri"/>
            </a:endParaRPr>
          </a:p>
        </p:txBody>
      </p:sp>
      <p:cxnSp>
        <p:nvCxnSpPr>
          <p:cNvPr id="665" name="Google Shape;665;p59"/>
          <p:cNvCxnSpPr/>
          <p:nvPr/>
        </p:nvCxnSpPr>
        <p:spPr>
          <a:xfrm rot="10800000">
            <a:off x="7331400" y="2390900"/>
            <a:ext cx="403500" cy="0"/>
          </a:xfrm>
          <a:prstGeom prst="straightConnector1">
            <a:avLst/>
          </a:prstGeom>
          <a:noFill/>
          <a:ln cap="flat" cmpd="sng" w="9525">
            <a:solidFill>
              <a:srgbClr val="1155CC"/>
            </a:solidFill>
            <a:prstDash val="solid"/>
            <a:round/>
            <a:headEnd len="med" w="med" type="none"/>
            <a:tailEnd len="med" w="med" type="triangle"/>
          </a:ln>
        </p:spPr>
      </p:cxnSp>
      <p:sp>
        <p:nvSpPr>
          <p:cNvPr id="666" name="Google Shape;666;p59"/>
          <p:cNvSpPr txBox="1"/>
          <p:nvPr/>
        </p:nvSpPr>
        <p:spPr>
          <a:xfrm>
            <a:off x="7678875" y="2190800"/>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error surface</a:t>
            </a:r>
            <a:endParaRPr sz="1600">
              <a:latin typeface="Calibri"/>
              <a:ea typeface="Calibri"/>
              <a:cs typeface="Calibri"/>
              <a:sym typeface="Calibri"/>
            </a:endParaRPr>
          </a:p>
        </p:txBody>
      </p:sp>
      <p:cxnSp>
        <p:nvCxnSpPr>
          <p:cNvPr id="667" name="Google Shape;667;p59"/>
          <p:cNvCxnSpPr>
            <a:stCxn id="668" idx="0"/>
          </p:cNvCxnSpPr>
          <p:nvPr/>
        </p:nvCxnSpPr>
        <p:spPr>
          <a:xfrm rot="10800000">
            <a:off x="7866775" y="4299900"/>
            <a:ext cx="306600" cy="412500"/>
          </a:xfrm>
          <a:prstGeom prst="straightConnector1">
            <a:avLst/>
          </a:prstGeom>
          <a:noFill/>
          <a:ln cap="flat" cmpd="sng" w="9525">
            <a:solidFill>
              <a:srgbClr val="1155CC"/>
            </a:solidFill>
            <a:prstDash val="solid"/>
            <a:round/>
            <a:headEnd len="med" w="med" type="none"/>
            <a:tailEnd len="med" w="med" type="triangle"/>
          </a:ln>
        </p:spPr>
      </p:cxnSp>
      <p:sp>
        <p:nvSpPr>
          <p:cNvPr id="668" name="Google Shape;668;p59"/>
          <p:cNvSpPr txBox="1"/>
          <p:nvPr/>
        </p:nvSpPr>
        <p:spPr>
          <a:xfrm>
            <a:off x="7540675" y="4712400"/>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model space</a:t>
            </a:r>
            <a:endParaRPr sz="1600">
              <a:latin typeface="Calibri"/>
              <a:ea typeface="Calibri"/>
              <a:cs typeface="Calibri"/>
              <a:sym typeface="Calibri"/>
            </a:endParaRPr>
          </a:p>
        </p:txBody>
      </p:sp>
      <p:sp>
        <p:nvSpPr>
          <p:cNvPr id="669" name="Google Shape;669;p59"/>
          <p:cNvSpPr/>
          <p:nvPr/>
        </p:nvSpPr>
        <p:spPr>
          <a:xfrm>
            <a:off x="6862000" y="4064600"/>
            <a:ext cx="324900" cy="5610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0" name="Google Shape;670;p59"/>
          <p:cNvSpPr txBox="1"/>
          <p:nvPr/>
        </p:nvSpPr>
        <p:spPr>
          <a:xfrm>
            <a:off x="694250" y="1210300"/>
            <a:ext cx="76935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1155CC"/>
                </a:solidFill>
                <a:latin typeface="Calibri"/>
                <a:ea typeface="Calibri"/>
                <a:cs typeface="Calibri"/>
                <a:sym typeface="Calibri"/>
              </a:rPr>
              <a:t>Gradient descent</a:t>
            </a:r>
            <a:r>
              <a:rPr lang="en" sz="1900">
                <a:latin typeface="Calibri"/>
                <a:ea typeface="Calibri"/>
                <a:cs typeface="Calibri"/>
                <a:sym typeface="Calibri"/>
              </a:rPr>
              <a:t> is an optimisation algorithm for finding the minimum of a differentiable function.</a:t>
            </a:r>
            <a:endParaRPr sz="1900">
              <a:latin typeface="Calibri"/>
              <a:ea typeface="Calibri"/>
              <a:cs typeface="Calibri"/>
              <a:sym typeface="Calibri"/>
            </a:endParaRPr>
          </a:p>
        </p:txBody>
      </p:sp>
      <p:sp>
        <p:nvSpPr>
          <p:cNvPr id="671" name="Google Shape;67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672" name="Google Shape;672;p59"/>
          <p:cNvCxnSpPr/>
          <p:nvPr/>
        </p:nvCxnSpPr>
        <p:spPr>
          <a:xfrm>
            <a:off x="6881200" y="2588850"/>
            <a:ext cx="73200" cy="311400"/>
          </a:xfrm>
          <a:prstGeom prst="straightConnector1">
            <a:avLst/>
          </a:prstGeom>
          <a:noFill/>
          <a:ln cap="flat" cmpd="sng" w="28575">
            <a:solidFill>
              <a:srgbClr val="CC0000"/>
            </a:solidFill>
            <a:prstDash val="solid"/>
            <a:round/>
            <a:headEnd len="med" w="med" type="none"/>
            <a:tailEnd len="med" w="med" type="none"/>
          </a:ln>
        </p:spPr>
      </p:cxnSp>
      <p:cxnSp>
        <p:nvCxnSpPr>
          <p:cNvPr id="673" name="Google Shape;673;p59"/>
          <p:cNvCxnSpPr/>
          <p:nvPr/>
        </p:nvCxnSpPr>
        <p:spPr>
          <a:xfrm>
            <a:off x="6954400" y="2893950"/>
            <a:ext cx="174000" cy="226200"/>
          </a:xfrm>
          <a:prstGeom prst="straightConnector1">
            <a:avLst/>
          </a:prstGeom>
          <a:noFill/>
          <a:ln cap="flat" cmpd="sng" w="28575">
            <a:solidFill>
              <a:srgbClr val="CC0000"/>
            </a:solidFill>
            <a:prstDash val="solid"/>
            <a:round/>
            <a:headEnd len="med" w="med" type="none"/>
            <a:tailEnd len="med" w="med" type="none"/>
          </a:ln>
        </p:spPr>
      </p:cxnSp>
      <p:cxnSp>
        <p:nvCxnSpPr>
          <p:cNvPr id="674" name="Google Shape;674;p59"/>
          <p:cNvCxnSpPr/>
          <p:nvPr/>
        </p:nvCxnSpPr>
        <p:spPr>
          <a:xfrm flipH="1">
            <a:off x="7103400" y="3115850"/>
            <a:ext cx="14400" cy="265500"/>
          </a:xfrm>
          <a:prstGeom prst="straightConnector1">
            <a:avLst/>
          </a:prstGeom>
          <a:noFill/>
          <a:ln cap="flat" cmpd="sng" w="28575">
            <a:solidFill>
              <a:srgbClr val="CC0000"/>
            </a:solidFill>
            <a:prstDash val="solid"/>
            <a:round/>
            <a:headEnd len="med" w="med" type="none"/>
            <a:tailEnd len="med" w="med" type="none"/>
          </a:ln>
        </p:spPr>
      </p:cxnSp>
      <p:cxnSp>
        <p:nvCxnSpPr>
          <p:cNvPr id="675" name="Google Shape;675;p59"/>
          <p:cNvCxnSpPr/>
          <p:nvPr/>
        </p:nvCxnSpPr>
        <p:spPr>
          <a:xfrm>
            <a:off x="7085200" y="3376600"/>
            <a:ext cx="166500" cy="257100"/>
          </a:xfrm>
          <a:prstGeom prst="straightConnector1">
            <a:avLst/>
          </a:prstGeom>
          <a:noFill/>
          <a:ln cap="flat" cmpd="sng" w="28575">
            <a:solidFill>
              <a:srgbClr val="CC0000"/>
            </a:solidFill>
            <a:prstDash val="solid"/>
            <a:round/>
            <a:headEnd len="med" w="med" type="none"/>
            <a:tailEnd len="med" w="med" type="none"/>
          </a:ln>
        </p:spPr>
      </p:cxnSp>
      <p:cxnSp>
        <p:nvCxnSpPr>
          <p:cNvPr id="676" name="Google Shape;676;p59"/>
          <p:cNvCxnSpPr/>
          <p:nvPr/>
        </p:nvCxnSpPr>
        <p:spPr>
          <a:xfrm flipH="1" rot="10800000">
            <a:off x="7106925" y="3630075"/>
            <a:ext cx="152400" cy="192000"/>
          </a:xfrm>
          <a:prstGeom prst="straightConnector1">
            <a:avLst/>
          </a:prstGeom>
          <a:noFill/>
          <a:ln cap="flat" cmpd="sng" w="28575">
            <a:solidFill>
              <a:srgbClr val="CC0000"/>
            </a:solidFill>
            <a:prstDash val="solid"/>
            <a:round/>
            <a:headEnd len="med" w="med" type="none"/>
            <a:tailEnd len="med" w="med" type="none"/>
          </a:ln>
        </p:spPr>
      </p:cxnSp>
      <p:cxnSp>
        <p:nvCxnSpPr>
          <p:cNvPr id="677" name="Google Shape;677;p59"/>
          <p:cNvCxnSpPr/>
          <p:nvPr/>
        </p:nvCxnSpPr>
        <p:spPr>
          <a:xfrm flipH="1" rot="10800000">
            <a:off x="7106925" y="3816250"/>
            <a:ext cx="3600" cy="235200"/>
          </a:xfrm>
          <a:prstGeom prst="straightConnector1">
            <a:avLst/>
          </a:prstGeom>
          <a:noFill/>
          <a:ln cap="flat" cmpd="sng" w="28575">
            <a:solidFill>
              <a:srgbClr val="CC0000"/>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p60"/>
          <p:cNvPicPr preferRelativeResize="0"/>
          <p:nvPr/>
        </p:nvPicPr>
        <p:blipFill>
          <a:blip r:embed="rId3">
            <a:alphaModFix/>
          </a:blip>
          <a:stretch>
            <a:fillRect/>
          </a:stretch>
        </p:blipFill>
        <p:spPr>
          <a:xfrm>
            <a:off x="3756200" y="1680950"/>
            <a:ext cx="5232250" cy="3278650"/>
          </a:xfrm>
          <a:prstGeom prst="rect">
            <a:avLst/>
          </a:prstGeom>
          <a:noFill/>
          <a:ln>
            <a:noFill/>
          </a:ln>
        </p:spPr>
      </p:pic>
      <p:sp>
        <p:nvSpPr>
          <p:cNvPr id="683" name="Google Shape;683;p6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Gradient Descent Properties</a:t>
            </a:r>
            <a:endParaRPr/>
          </a:p>
        </p:txBody>
      </p:sp>
      <p:sp>
        <p:nvSpPr>
          <p:cNvPr id="684" name="Google Shape;684;p60"/>
          <p:cNvSpPr txBox="1"/>
          <p:nvPr>
            <p:ph idx="1" type="body"/>
          </p:nvPr>
        </p:nvSpPr>
        <p:spPr>
          <a:xfrm>
            <a:off x="699350" y="1317725"/>
            <a:ext cx="5022600" cy="26901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No guarantee of convergence</a:t>
            </a:r>
            <a:endParaRPr/>
          </a:p>
          <a:p>
            <a:pPr indent="-342900" lvl="0" marL="457200" rtl="0" algn="l">
              <a:lnSpc>
                <a:spcPct val="150000"/>
              </a:lnSpc>
              <a:spcBef>
                <a:spcPts val="0"/>
              </a:spcBef>
              <a:spcAft>
                <a:spcPts val="0"/>
              </a:spcAft>
              <a:buSzPts val="1800"/>
              <a:buChar char="-"/>
            </a:pPr>
            <a:r>
              <a:rPr lang="en"/>
              <a:t>Difficult to choose/control the learning rate</a:t>
            </a:r>
            <a:endParaRPr/>
          </a:p>
          <a:p>
            <a:pPr indent="-342900" lvl="0" marL="457200" rtl="0" algn="l">
              <a:lnSpc>
                <a:spcPct val="150000"/>
              </a:lnSpc>
              <a:spcBef>
                <a:spcPts val="0"/>
              </a:spcBef>
              <a:spcAft>
                <a:spcPts val="0"/>
              </a:spcAft>
              <a:buSzPts val="1800"/>
              <a:buChar char="-"/>
            </a:pPr>
            <a:r>
              <a:rPr lang="en"/>
              <a:t>May get stuck in local minima</a:t>
            </a:r>
            <a:endParaRPr/>
          </a:p>
          <a:p>
            <a:pPr indent="-342900" lvl="0" marL="457200" rtl="0" algn="l">
              <a:lnSpc>
                <a:spcPct val="150000"/>
              </a:lnSpc>
              <a:spcBef>
                <a:spcPts val="0"/>
              </a:spcBef>
              <a:spcAft>
                <a:spcPts val="0"/>
              </a:spcAft>
              <a:buSzPts val="1800"/>
              <a:buChar char="-"/>
            </a:pPr>
            <a:r>
              <a:rPr lang="en"/>
              <a:t>Powerful models</a:t>
            </a:r>
            <a:endParaRPr/>
          </a:p>
        </p:txBody>
      </p:sp>
      <p:sp>
        <p:nvSpPr>
          <p:cNvPr id="685" name="Google Shape;685;p60"/>
          <p:cNvSpPr/>
          <p:nvPr/>
        </p:nvSpPr>
        <p:spPr>
          <a:xfrm>
            <a:off x="4451200" y="4007750"/>
            <a:ext cx="1489300" cy="714825"/>
          </a:xfrm>
          <a:custGeom>
            <a:rect b="b" l="l" r="r" t="t"/>
            <a:pathLst>
              <a:path extrusionOk="0" h="28593" w="74661">
                <a:moveTo>
                  <a:pt x="74661" y="0"/>
                </a:moveTo>
                <a:cubicBezTo>
                  <a:pt x="74661" y="26650"/>
                  <a:pt x="26650" y="28593"/>
                  <a:pt x="0" y="28593"/>
                </a:cubicBezTo>
              </a:path>
            </a:pathLst>
          </a:custGeom>
          <a:noFill/>
          <a:ln cap="flat" cmpd="sng" w="9525">
            <a:solidFill>
              <a:schemeClr val="dk2"/>
            </a:solidFill>
            <a:prstDash val="solid"/>
            <a:round/>
            <a:headEnd len="med" w="med" type="none"/>
            <a:tailEnd len="med" w="med" type="none"/>
          </a:ln>
        </p:spPr>
      </p:sp>
      <p:sp>
        <p:nvSpPr>
          <p:cNvPr id="686" name="Google Shape;686;p60"/>
          <p:cNvSpPr txBox="1"/>
          <p:nvPr/>
        </p:nvSpPr>
        <p:spPr>
          <a:xfrm>
            <a:off x="3210175" y="4499825"/>
            <a:ext cx="13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local minimum</a:t>
            </a:r>
            <a:endParaRPr>
              <a:latin typeface="Calibri"/>
              <a:ea typeface="Calibri"/>
              <a:cs typeface="Calibri"/>
              <a:sym typeface="Calibri"/>
            </a:endParaRPr>
          </a:p>
        </p:txBody>
      </p:sp>
      <p:sp>
        <p:nvSpPr>
          <p:cNvPr id="687" name="Google Shape;687;p60"/>
          <p:cNvSpPr/>
          <p:nvPr/>
        </p:nvSpPr>
        <p:spPr>
          <a:xfrm>
            <a:off x="7102075" y="4136800"/>
            <a:ext cx="787243" cy="714863"/>
          </a:xfrm>
          <a:custGeom>
            <a:rect b="b" l="l" r="r" t="t"/>
            <a:pathLst>
              <a:path extrusionOk="0" h="32962" w="16332">
                <a:moveTo>
                  <a:pt x="15024" y="0"/>
                </a:moveTo>
                <a:cubicBezTo>
                  <a:pt x="15894" y="5223"/>
                  <a:pt x="17391" y="11149"/>
                  <a:pt x="15024" y="15886"/>
                </a:cubicBezTo>
                <a:cubicBezTo>
                  <a:pt x="12414" y="21108"/>
                  <a:pt x="2497" y="19996"/>
                  <a:pt x="330" y="25417"/>
                </a:cubicBezTo>
                <a:cubicBezTo>
                  <a:pt x="-990" y="28720"/>
                  <a:pt x="4319" y="32962"/>
                  <a:pt x="7876" y="32962"/>
                </a:cubicBezTo>
              </a:path>
            </a:pathLst>
          </a:custGeom>
          <a:noFill/>
          <a:ln cap="flat" cmpd="sng" w="9525">
            <a:solidFill>
              <a:schemeClr val="dk2"/>
            </a:solidFill>
            <a:prstDash val="solid"/>
            <a:round/>
            <a:headEnd len="med" w="med" type="none"/>
            <a:tailEnd len="med" w="med" type="none"/>
          </a:ln>
        </p:spPr>
      </p:sp>
      <p:sp>
        <p:nvSpPr>
          <p:cNvPr id="688" name="Google Shape;688;p60"/>
          <p:cNvSpPr txBox="1"/>
          <p:nvPr/>
        </p:nvSpPr>
        <p:spPr>
          <a:xfrm>
            <a:off x="7453050" y="4622450"/>
            <a:ext cx="158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global minimum</a:t>
            </a:r>
            <a:endParaRPr>
              <a:latin typeface="Calibri"/>
              <a:ea typeface="Calibri"/>
              <a:cs typeface="Calibri"/>
              <a:sym typeface="Calibri"/>
            </a:endParaRPr>
          </a:p>
        </p:txBody>
      </p:sp>
      <p:sp>
        <p:nvSpPr>
          <p:cNvPr id="689" name="Google Shape;689;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6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Stochastic Gradient Descent</a:t>
            </a:r>
            <a:endParaRPr/>
          </a:p>
        </p:txBody>
      </p:sp>
      <p:sp>
        <p:nvSpPr>
          <p:cNvPr id="695" name="Google Shape;695;p61"/>
          <p:cNvSpPr txBox="1"/>
          <p:nvPr>
            <p:ph idx="1" type="body"/>
          </p:nvPr>
        </p:nvSpPr>
        <p:spPr>
          <a:xfrm>
            <a:off x="699350" y="1317725"/>
            <a:ext cx="7710300" cy="513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a:solidFill>
                  <a:srgbClr val="1155CC"/>
                </a:solidFill>
              </a:rPr>
              <a:t>Idea:</a:t>
            </a:r>
            <a:r>
              <a:rPr lang="en"/>
              <a:t> only use one (random) sample or a subset of the training data to tune parameters</a:t>
            </a:r>
            <a:endParaRPr/>
          </a:p>
        </p:txBody>
      </p:sp>
      <p:sp>
        <p:nvSpPr>
          <p:cNvPr id="696" name="Google Shape;69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97" name="Google Shape;697;p61"/>
          <p:cNvPicPr preferRelativeResize="0"/>
          <p:nvPr/>
        </p:nvPicPr>
        <p:blipFill rotWithShape="1">
          <a:blip r:embed="rId3">
            <a:alphaModFix/>
          </a:blip>
          <a:srcRect b="931" l="0" r="0" t="0"/>
          <a:stretch/>
        </p:blipFill>
        <p:spPr>
          <a:xfrm>
            <a:off x="4196050" y="1768525"/>
            <a:ext cx="4610026" cy="2943875"/>
          </a:xfrm>
          <a:prstGeom prst="rect">
            <a:avLst/>
          </a:prstGeom>
          <a:noFill/>
          <a:ln>
            <a:noFill/>
          </a:ln>
        </p:spPr>
      </p:pic>
      <p:sp>
        <p:nvSpPr>
          <p:cNvPr id="698" name="Google Shape;698;p61"/>
          <p:cNvSpPr txBox="1"/>
          <p:nvPr/>
        </p:nvSpPr>
        <p:spPr>
          <a:xfrm rot="-5400000">
            <a:off x="3882650" y="2641350"/>
            <a:ext cx="886200" cy="400200"/>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error(</a:t>
            </a:r>
            <a:r>
              <a:rPr lang="en">
                <a:solidFill>
                  <a:srgbClr val="CC0000"/>
                </a:solidFill>
                <a:latin typeface="Calibri"/>
                <a:ea typeface="Calibri"/>
                <a:cs typeface="Calibri"/>
                <a:sym typeface="Calibri"/>
              </a:rPr>
              <a:t>s</a:t>
            </a:r>
            <a:r>
              <a:rPr lang="en">
                <a:latin typeface="Calibri"/>
                <a:ea typeface="Calibri"/>
                <a:cs typeface="Calibri"/>
                <a:sym typeface="Calibri"/>
              </a:rPr>
              <a:t>,</a:t>
            </a:r>
            <a:r>
              <a:rPr lang="en">
                <a:solidFill>
                  <a:srgbClr val="CC0000"/>
                </a:solidFill>
                <a:latin typeface="Calibri"/>
                <a:ea typeface="Calibri"/>
                <a:cs typeface="Calibri"/>
                <a:sym typeface="Calibri"/>
              </a:rPr>
              <a:t>b</a:t>
            </a:r>
            <a:r>
              <a:rPr lang="en">
                <a:latin typeface="Calibri"/>
                <a:ea typeface="Calibri"/>
                <a:cs typeface="Calibri"/>
                <a:sym typeface="Calibri"/>
              </a:rPr>
              <a:t>)</a:t>
            </a:r>
            <a:endParaRPr>
              <a:latin typeface="Calibri"/>
              <a:ea typeface="Calibri"/>
              <a:cs typeface="Calibri"/>
              <a:sym typeface="Calibri"/>
            </a:endParaRPr>
          </a:p>
        </p:txBody>
      </p:sp>
      <p:sp>
        <p:nvSpPr>
          <p:cNvPr id="699" name="Google Shape;699;p61"/>
          <p:cNvSpPr txBox="1"/>
          <p:nvPr/>
        </p:nvSpPr>
        <p:spPr>
          <a:xfrm rot="2095589">
            <a:off x="4999535" y="4086181"/>
            <a:ext cx="300773" cy="41562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s</a:t>
            </a:r>
            <a:endParaRPr sz="1500">
              <a:latin typeface="Calibri"/>
              <a:ea typeface="Calibri"/>
              <a:cs typeface="Calibri"/>
              <a:sym typeface="Calibri"/>
            </a:endParaRPr>
          </a:p>
        </p:txBody>
      </p:sp>
      <p:sp>
        <p:nvSpPr>
          <p:cNvPr id="700" name="Google Shape;700;p61"/>
          <p:cNvSpPr txBox="1"/>
          <p:nvPr/>
        </p:nvSpPr>
        <p:spPr>
          <a:xfrm rot="-1259050">
            <a:off x="7313705" y="4346504"/>
            <a:ext cx="300746" cy="415461"/>
          </a:xfrm>
          <a:prstGeom prst="rect">
            <a:avLst/>
          </a:prstGeom>
          <a:solidFill>
            <a:srgbClr val="FBFB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CC0000"/>
                </a:solidFill>
                <a:latin typeface="Calibri"/>
                <a:ea typeface="Calibri"/>
                <a:cs typeface="Calibri"/>
                <a:sym typeface="Calibri"/>
              </a:rPr>
              <a:t>b</a:t>
            </a:r>
            <a:endParaRPr sz="1500">
              <a:latin typeface="Calibri"/>
              <a:ea typeface="Calibri"/>
              <a:cs typeface="Calibri"/>
              <a:sym typeface="Calibri"/>
            </a:endParaRPr>
          </a:p>
        </p:txBody>
      </p:sp>
      <p:cxnSp>
        <p:nvCxnSpPr>
          <p:cNvPr id="701" name="Google Shape;701;p61"/>
          <p:cNvCxnSpPr/>
          <p:nvPr/>
        </p:nvCxnSpPr>
        <p:spPr>
          <a:xfrm rot="10800000">
            <a:off x="7331400" y="2390900"/>
            <a:ext cx="403500" cy="0"/>
          </a:xfrm>
          <a:prstGeom prst="straightConnector1">
            <a:avLst/>
          </a:prstGeom>
          <a:noFill/>
          <a:ln cap="flat" cmpd="sng" w="9525">
            <a:solidFill>
              <a:srgbClr val="1155CC"/>
            </a:solidFill>
            <a:prstDash val="solid"/>
            <a:round/>
            <a:headEnd len="med" w="med" type="none"/>
            <a:tailEnd len="med" w="med" type="triangle"/>
          </a:ln>
        </p:spPr>
      </p:cxnSp>
      <p:sp>
        <p:nvSpPr>
          <p:cNvPr id="702" name="Google Shape;702;p61"/>
          <p:cNvSpPr txBox="1"/>
          <p:nvPr/>
        </p:nvSpPr>
        <p:spPr>
          <a:xfrm>
            <a:off x="7678875" y="2190800"/>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error surface</a:t>
            </a:r>
            <a:endParaRPr sz="1600">
              <a:latin typeface="Calibri"/>
              <a:ea typeface="Calibri"/>
              <a:cs typeface="Calibri"/>
              <a:sym typeface="Calibri"/>
            </a:endParaRPr>
          </a:p>
        </p:txBody>
      </p:sp>
      <p:cxnSp>
        <p:nvCxnSpPr>
          <p:cNvPr id="703" name="Google Shape;703;p61"/>
          <p:cNvCxnSpPr>
            <a:stCxn id="704" idx="0"/>
          </p:cNvCxnSpPr>
          <p:nvPr/>
        </p:nvCxnSpPr>
        <p:spPr>
          <a:xfrm rot="10800000">
            <a:off x="7866775" y="4299900"/>
            <a:ext cx="306600" cy="412500"/>
          </a:xfrm>
          <a:prstGeom prst="straightConnector1">
            <a:avLst/>
          </a:prstGeom>
          <a:noFill/>
          <a:ln cap="flat" cmpd="sng" w="9525">
            <a:solidFill>
              <a:srgbClr val="1155CC"/>
            </a:solidFill>
            <a:prstDash val="solid"/>
            <a:round/>
            <a:headEnd len="med" w="med" type="none"/>
            <a:tailEnd len="med" w="med" type="triangle"/>
          </a:ln>
        </p:spPr>
      </p:cxnSp>
      <p:sp>
        <p:nvSpPr>
          <p:cNvPr id="704" name="Google Shape;704;p61"/>
          <p:cNvSpPr txBox="1"/>
          <p:nvPr/>
        </p:nvSpPr>
        <p:spPr>
          <a:xfrm>
            <a:off x="7540675" y="4712400"/>
            <a:ext cx="126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model space</a:t>
            </a:r>
            <a:endParaRPr sz="1600">
              <a:latin typeface="Calibri"/>
              <a:ea typeface="Calibri"/>
              <a:cs typeface="Calibri"/>
              <a:sym typeface="Calibri"/>
            </a:endParaRPr>
          </a:p>
        </p:txBody>
      </p:sp>
      <p:sp>
        <p:nvSpPr>
          <p:cNvPr id="705" name="Google Shape;705;p61"/>
          <p:cNvSpPr/>
          <p:nvPr/>
        </p:nvSpPr>
        <p:spPr>
          <a:xfrm>
            <a:off x="6862000" y="4064600"/>
            <a:ext cx="324900" cy="56100"/>
          </a:xfrm>
          <a:prstGeom prst="rect">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06" name="Google Shape;70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61"/>
          <p:cNvSpPr txBox="1"/>
          <p:nvPr>
            <p:ph idx="1" type="body"/>
          </p:nvPr>
        </p:nvSpPr>
        <p:spPr>
          <a:xfrm>
            <a:off x="716850" y="1885350"/>
            <a:ext cx="3479100" cy="282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55CC"/>
                </a:solidFill>
              </a:rPr>
              <a:t>Properties:</a:t>
            </a:r>
            <a:endParaRPr>
              <a:solidFill>
                <a:srgbClr val="1155CC"/>
              </a:solidFill>
            </a:endParaRPr>
          </a:p>
          <a:p>
            <a:pPr indent="-342900" lvl="0" marL="457200" rtl="0" algn="l">
              <a:spcBef>
                <a:spcPts val="1200"/>
              </a:spcBef>
              <a:spcAft>
                <a:spcPts val="0"/>
              </a:spcAft>
              <a:buSzPts val="1800"/>
              <a:buChar char="-"/>
            </a:pPr>
            <a:r>
              <a:rPr lang="en"/>
              <a:t>More efficient, especially given a lot of training data</a:t>
            </a:r>
            <a:endParaRPr/>
          </a:p>
          <a:p>
            <a:pPr indent="-342900" lvl="0" marL="457200" rtl="0" algn="l">
              <a:spcBef>
                <a:spcPts val="0"/>
              </a:spcBef>
              <a:spcAft>
                <a:spcPts val="0"/>
              </a:spcAft>
              <a:buSzPts val="1800"/>
              <a:buChar char="-"/>
            </a:pPr>
            <a:r>
              <a:rPr lang="en"/>
              <a:t>Faster</a:t>
            </a:r>
            <a:endParaRPr/>
          </a:p>
          <a:p>
            <a:pPr indent="-342900" lvl="0" marL="457200" rtl="0" algn="l">
              <a:spcBef>
                <a:spcPts val="0"/>
              </a:spcBef>
              <a:spcAft>
                <a:spcPts val="0"/>
              </a:spcAft>
              <a:buSzPts val="1800"/>
              <a:buChar char="-"/>
            </a:pPr>
            <a:r>
              <a:rPr b="1" lang="en"/>
              <a:t>But: </a:t>
            </a:r>
            <a:r>
              <a:rPr lang="en"/>
              <a:t>Can still get stuck in local minima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Intelligent Systems Framework</a:t>
            </a:r>
            <a:endParaRPr/>
          </a:p>
        </p:txBody>
      </p:sp>
      <p:sp>
        <p:nvSpPr>
          <p:cNvPr id="713" name="Google Shape;713;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4" name="Google Shape;714;p62"/>
          <p:cNvGraphicFramePr/>
          <p:nvPr/>
        </p:nvGraphicFramePr>
        <p:xfrm>
          <a:off x="829450" y="1836975"/>
          <a:ext cx="3000000" cy="3000000"/>
        </p:xfrm>
        <a:graphic>
          <a:graphicData uri="http://schemas.openxmlformats.org/drawingml/2006/table">
            <a:tbl>
              <a:tblPr>
                <a:noFill/>
                <a:tableStyleId>{AFB7F7E1-27EE-40FD-BDA5-204A41DE7B91}</a:tableStyleId>
              </a:tblPr>
              <a:tblGrid>
                <a:gridCol w="1502175"/>
                <a:gridCol w="3797100"/>
                <a:gridCol w="1939725"/>
              </a:tblGrid>
              <a:tr h="381000">
                <a:tc rowSpan="5">
                  <a:txBody>
                    <a:bodyPr/>
                    <a:lstStyle/>
                    <a:p>
                      <a:pPr indent="0" lvl="0" marL="0" rtl="0" algn="ctr">
                        <a:spcBef>
                          <a:spcPts val="0"/>
                        </a:spcBef>
                        <a:spcAft>
                          <a:spcPts val="0"/>
                        </a:spcAft>
                        <a:buNone/>
                      </a:pPr>
                      <a:r>
                        <a:rPr lang="en"/>
                        <a:t>Efficient, simple, correct, well-understood, generic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Find best decision based on experience.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t>Weeks 6 &amp; 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with knowledge &amp; reason.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t>Weeks 3, 4, 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in multiple agent setting.</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rowSpan="3">
                  <a:txBody>
                    <a:bodyPr/>
                    <a:lstStyle/>
                    <a:p>
                      <a:pPr indent="0" lvl="0" marL="0" rtl="0" algn="l">
                        <a:spcBef>
                          <a:spcPts val="0"/>
                        </a:spcBef>
                        <a:spcAft>
                          <a:spcPts val="0"/>
                        </a:spcAft>
                        <a:buNone/>
                      </a:pPr>
                      <a:r>
                        <a:rPr lang="en"/>
                        <a:t>Weeks 1 &amp; 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with heuristics.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vMerge="1"/>
              </a:tr>
              <a:tr h="381000">
                <a:tc vMerge="1"/>
                <a:tc>
                  <a:txBody>
                    <a:bodyPr/>
                    <a:lstStyle/>
                    <a:p>
                      <a:pPr indent="0" lvl="0" marL="0" rtl="0" algn="l">
                        <a:spcBef>
                          <a:spcPts val="0"/>
                        </a:spcBef>
                        <a:spcAft>
                          <a:spcPts val="0"/>
                        </a:spcAft>
                        <a:buNone/>
                      </a:pPr>
                      <a:r>
                        <a:rPr lang="en"/>
                        <a:t>Systematically find all possible solutions.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vMerge="1"/>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sp>
        <p:nvSpPr>
          <p:cNvPr id="720" name="Google Shape;720;p63"/>
          <p:cNvSpPr txBox="1"/>
          <p:nvPr>
            <p:ph idx="1" type="body"/>
          </p:nvPr>
        </p:nvSpPr>
        <p:spPr>
          <a:xfrm>
            <a:off x="549375" y="1089450"/>
            <a:ext cx="7744500" cy="39675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900"/>
              <a:t>Take Home Message</a:t>
            </a:r>
            <a:endParaRPr sz="1900"/>
          </a:p>
          <a:p>
            <a:pPr indent="0" lvl="0" marL="0" rtl="0" algn="l">
              <a:lnSpc>
                <a:spcPct val="150000"/>
              </a:lnSpc>
              <a:spcBef>
                <a:spcPts val="1200"/>
              </a:spcBef>
              <a:spcAft>
                <a:spcPts val="0"/>
              </a:spcAft>
              <a:buNone/>
            </a:pPr>
            <a:r>
              <a:rPr lang="en" sz="1400"/>
              <a:t>Different models are better equipped to deal with different </a:t>
            </a:r>
            <a:r>
              <a:rPr b="1" lang="en" sz="1400"/>
              <a:t>dimensionality</a:t>
            </a:r>
            <a:r>
              <a:rPr lang="en" sz="1400"/>
              <a:t>, like how many </a:t>
            </a:r>
            <a:r>
              <a:rPr b="1" lang="en" sz="1400"/>
              <a:t>features</a:t>
            </a:r>
            <a:r>
              <a:rPr lang="en" sz="1400"/>
              <a:t> we want to consider. Low dimensionality with high performance is the best case scenario.</a:t>
            </a:r>
            <a:endParaRPr sz="1400"/>
          </a:p>
          <a:p>
            <a:pPr indent="0" lvl="0" marL="0" rtl="0" algn="l">
              <a:lnSpc>
                <a:spcPct val="150000"/>
              </a:lnSpc>
              <a:spcBef>
                <a:spcPts val="1200"/>
              </a:spcBef>
              <a:spcAft>
                <a:spcPts val="0"/>
              </a:spcAft>
              <a:buNone/>
            </a:pPr>
            <a:r>
              <a:rPr b="1" lang="en" sz="1400"/>
              <a:t>Underfitting</a:t>
            </a:r>
            <a:r>
              <a:rPr lang="en" sz="1400"/>
              <a:t> is when our classifier is too simple for the data. </a:t>
            </a:r>
            <a:r>
              <a:rPr b="1" lang="en" sz="1400"/>
              <a:t>Overfitting</a:t>
            </a:r>
            <a:r>
              <a:rPr lang="en" sz="1400"/>
              <a:t> happens when our classifier is too complex for the data (too tailored to the training data and not generalisable).</a:t>
            </a:r>
            <a:endParaRPr sz="1400"/>
          </a:p>
          <a:p>
            <a:pPr indent="0" lvl="0" marL="0" rtl="0" algn="l">
              <a:spcBef>
                <a:spcPts val="1200"/>
              </a:spcBef>
              <a:spcAft>
                <a:spcPts val="0"/>
              </a:spcAft>
              <a:buClr>
                <a:schemeClr val="dk1"/>
              </a:buClr>
              <a:buSzPts val="1100"/>
              <a:buFont typeface="Arial"/>
              <a:buNone/>
            </a:pPr>
            <a:r>
              <a:rPr b="1" lang="en" sz="1450"/>
              <a:t>Features</a:t>
            </a:r>
            <a:r>
              <a:rPr lang="en" sz="1450"/>
              <a:t> can be made from existing ones using a </a:t>
            </a:r>
            <a:r>
              <a:rPr b="1" lang="en" sz="1450"/>
              <a:t>design matrix</a:t>
            </a:r>
            <a:r>
              <a:rPr lang="en" sz="1450"/>
              <a:t>. The number of features changes which model is best. </a:t>
            </a:r>
            <a:r>
              <a:rPr b="1" lang="en" sz="1450"/>
              <a:t>Regression</a:t>
            </a:r>
            <a:r>
              <a:rPr lang="en" sz="1450"/>
              <a:t> models can be evaluated with mean squared error as a </a:t>
            </a:r>
            <a:r>
              <a:rPr b="1" lang="en" sz="1450"/>
              <a:t>loss function</a:t>
            </a:r>
            <a:r>
              <a:rPr lang="en" sz="1450"/>
              <a:t>.</a:t>
            </a:r>
            <a:endParaRPr sz="1450"/>
          </a:p>
          <a:p>
            <a:pPr indent="0" lvl="0" marL="0" rtl="0" algn="l">
              <a:spcBef>
                <a:spcPts val="1200"/>
              </a:spcBef>
              <a:spcAft>
                <a:spcPts val="1200"/>
              </a:spcAft>
              <a:buNone/>
            </a:pPr>
            <a:r>
              <a:rPr lang="en" sz="1450"/>
              <a:t>We can find a model by setting the </a:t>
            </a:r>
            <a:r>
              <a:rPr b="1" lang="en" sz="1450"/>
              <a:t>derivative</a:t>
            </a:r>
            <a:r>
              <a:rPr lang="en" sz="1450"/>
              <a:t> of the function to 0. </a:t>
            </a:r>
            <a:r>
              <a:rPr b="1" lang="en" sz="1450"/>
              <a:t>Gradient descent</a:t>
            </a:r>
            <a:r>
              <a:rPr lang="en" sz="1450"/>
              <a:t> also finds model optima (</a:t>
            </a:r>
            <a:r>
              <a:rPr b="1" lang="en" sz="1450"/>
              <a:t>local/global minima</a:t>
            </a:r>
            <a:r>
              <a:rPr lang="en" sz="1450"/>
              <a:t>).</a:t>
            </a:r>
            <a:endParaRPr sz="1500"/>
          </a:p>
        </p:txBody>
      </p:sp>
      <p:sp>
        <p:nvSpPr>
          <p:cNvPr id="721" name="Google Shape;721;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722" name="Google Shape;722;p63"/>
          <p:cNvCxnSpPr/>
          <p:nvPr/>
        </p:nvCxnSpPr>
        <p:spPr>
          <a:xfrm>
            <a:off x="622875" y="1555375"/>
            <a:ext cx="7594500" cy="0"/>
          </a:xfrm>
          <a:prstGeom prst="straightConnector1">
            <a:avLst/>
          </a:prstGeom>
          <a:noFill/>
          <a:ln cap="flat" cmpd="sng" w="19050">
            <a:solidFill>
              <a:srgbClr val="1155CC"/>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