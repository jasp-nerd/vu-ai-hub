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"/>
  </p:notesMasterIdLst>
  <p:handoutMasterIdLst>
    <p:handoutMasterId r:id="rId7"/>
  </p:handoutMasterIdLst>
  <p:sldIdLst>
    <p:sldId id="385" r:id="rId2"/>
    <p:sldId id="364" r:id="rId3"/>
    <p:sldId id="386" r:id="rId4"/>
    <p:sldId id="388" r:id="rId5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2665" autoAdjust="0"/>
  </p:normalViewPr>
  <p:slideViewPr>
    <p:cSldViewPr>
      <p:cViewPr varScale="1">
        <p:scale>
          <a:sx n="75" d="100"/>
          <a:sy n="75" d="100"/>
        </p:scale>
        <p:origin x="82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35" tIns="47668" rIns="95335" bIns="47668" numCol="1" anchor="t" anchorCtr="0" compatLnSpc="1">
            <a:prstTxWarp prst="textNoShape">
              <a:avLst/>
            </a:prstTxWarp>
          </a:bodyPr>
          <a:lstStyle>
            <a:lvl1pPr defTabSz="954088" eaLnBrk="1" hangingPunct="1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nl-NL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35" tIns="47668" rIns="95335" bIns="47668" numCol="1" anchor="t" anchorCtr="0" compatLnSpc="1">
            <a:prstTxWarp prst="textNoShape">
              <a:avLst/>
            </a:prstTxWarp>
          </a:bodyPr>
          <a:lstStyle>
            <a:lvl1pPr algn="r" defTabSz="954088" eaLnBrk="1" hangingPunct="1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nl-NL" altLang="en-US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35" tIns="47668" rIns="95335" bIns="47668" numCol="1" anchor="b" anchorCtr="0" compatLnSpc="1">
            <a:prstTxWarp prst="textNoShape">
              <a:avLst/>
            </a:prstTxWarp>
          </a:bodyPr>
          <a:lstStyle>
            <a:lvl1pPr defTabSz="954088" eaLnBrk="1" hangingPunct="1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nl-NL" altLang="en-US"/>
          </a:p>
        </p:txBody>
      </p:sp>
      <p:sp>
        <p:nvSpPr>
          <p:cNvPr id="389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35" tIns="47668" rIns="95335" bIns="47668" numCol="1" anchor="b" anchorCtr="0" compatLnSpc="1">
            <a:prstTxWarp prst="textNoShape">
              <a:avLst/>
            </a:prstTxWarp>
          </a:bodyPr>
          <a:lstStyle>
            <a:lvl1pPr algn="r" defTabSz="954088" eaLnBrk="1" hangingPunct="1">
              <a:defRPr sz="1300" b="0"/>
            </a:lvl1pPr>
          </a:lstStyle>
          <a:p>
            <a:fld id="{03AE384A-DFE5-4F94-9561-C91FCD1A139C}" type="slidenum">
              <a:rPr lang="nl-NL" altLang="en-US"/>
              <a:pPr/>
              <a:t>‹nr.›</a:t>
            </a:fld>
            <a:endParaRPr lang="nl-NL" altLang="en-US"/>
          </a:p>
        </p:txBody>
      </p:sp>
    </p:spTree>
    <p:extLst>
      <p:ext uri="{BB962C8B-B14F-4D97-AF65-F5344CB8AC3E}">
        <p14:creationId xmlns:p14="http://schemas.microsoft.com/office/powerpoint/2010/main" val="3781574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nl-NL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0CD1BA94-4624-40DA-B973-DD32A8699030}" type="datetimeFigureOut">
              <a:rPr lang="en-US" altLang="en-US"/>
              <a:pPr>
                <a:defRPr/>
              </a:pPr>
              <a:t>2/23/2021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nl-NL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89B3943F-0747-40C8-8BB3-8BA0BF848D35}" type="slidenum">
              <a:rPr lang="en-US" altLang="en-US"/>
              <a:pPr/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15426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A342A5-25F3-419A-B825-599430D8A826}" type="slidenum">
              <a:rPr lang="en-US" altLang="en-US"/>
              <a:pPr/>
              <a:t>‹nr.›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A11001-E1E3-46DD-9376-E8C4EDF149FF}" type="slidenum">
              <a:rPr lang="en-US" altLang="en-US"/>
              <a:pPr/>
              <a:t>‹nr.›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7459DE-4A50-4A03-9239-CD5ECF51F7DF}" type="slidenum">
              <a:rPr lang="en-US" altLang="en-US"/>
              <a:pPr/>
              <a:t>‹nr.›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563718-DBB5-4700-AC1E-901353FB6A79}" type="slidenum">
              <a:rPr lang="en-US" altLang="en-US"/>
              <a:pPr/>
              <a:t>‹nr.›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3FBBF6-9541-47BC-838A-1D520D6928DC}" type="slidenum">
              <a:rPr lang="en-US" altLang="en-US"/>
              <a:pPr/>
              <a:t>‹nr.›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C295E2-484C-44E3-B188-D21BECFA4E84}" type="slidenum">
              <a:rPr lang="en-US" altLang="en-US"/>
              <a:pPr/>
              <a:t>‹nr.›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E0637F-9125-4A1A-BD62-2E3BC82BADF3}" type="slidenum">
              <a:rPr lang="en-US" altLang="en-US"/>
              <a:pPr/>
              <a:t>‹nr.›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F4A0F6-8F5C-4123-A842-7BC15CCAB2A4}" type="slidenum">
              <a:rPr lang="en-US" altLang="en-US"/>
              <a:pPr/>
              <a:t>‹nr.›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0795DB-35A8-490F-AD37-47A527703106}" type="slidenum">
              <a:rPr lang="en-US" altLang="en-US"/>
              <a:pPr/>
              <a:t>‹nr.›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6D71E1-1E27-4628-872C-752C8936D529}" type="slidenum">
              <a:rPr lang="en-US" altLang="en-US"/>
              <a:pPr/>
              <a:t>‹nr.›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5C1E0E-AAB2-451F-9DF7-62D6C5CCCA80}" type="slidenum">
              <a:rPr lang="en-US" altLang="en-US"/>
              <a:pPr/>
              <a:t>‹nr.›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/>
            </a:lvl1pPr>
          </a:lstStyle>
          <a:p>
            <a:fld id="{35E35C0D-CFB6-4303-B5C8-A60DC8680C70}" type="slidenum">
              <a:rPr lang="en-US" altLang="en-US"/>
              <a:pPr/>
              <a:t>‹nr.›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410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0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0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0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0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1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1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1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1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1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1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1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1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1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1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2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2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2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2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2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2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2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2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2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2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3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3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3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3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3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  <p:sp>
          <p:nvSpPr>
            <p:cNvPr id="413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nl-NL" altLang="en-US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en-US" smtClean="0"/>
              <a:t>List of Concepts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l-NL" altLang="en-US" dirty="0" smtClean="0"/>
              <a:t>Input </a:t>
            </a:r>
            <a:r>
              <a:rPr lang="nl-NL" altLang="en-US" dirty="0" err="1" smtClean="0"/>
              <a:t>states</a:t>
            </a:r>
            <a:r>
              <a:rPr lang="nl-NL" altLang="en-US" dirty="0" smtClean="0"/>
              <a:t> (</a:t>
            </a:r>
            <a:r>
              <a:rPr lang="nl-NL" altLang="en-US" dirty="0" err="1" smtClean="0"/>
              <a:t>observations</a:t>
            </a:r>
            <a:r>
              <a:rPr lang="nl-NL" altLang="en-US" dirty="0" smtClean="0"/>
              <a:t>)</a:t>
            </a:r>
          </a:p>
          <a:p>
            <a:pPr lvl="1"/>
            <a:r>
              <a:rPr lang="nl-NL" altLang="en-US" dirty="0" smtClean="0"/>
              <a:t>…</a:t>
            </a:r>
          </a:p>
          <a:p>
            <a:pPr lvl="1"/>
            <a:r>
              <a:rPr lang="nl-NL" altLang="en-US" dirty="0" smtClean="0"/>
              <a:t>…</a:t>
            </a:r>
          </a:p>
          <a:p>
            <a:pPr lvl="1"/>
            <a:r>
              <a:rPr lang="nl-NL" altLang="en-US" dirty="0" smtClean="0"/>
              <a:t>…</a:t>
            </a:r>
          </a:p>
          <a:p>
            <a:r>
              <a:rPr lang="nl-NL" altLang="en-US" dirty="0" err="1" smtClean="0"/>
              <a:t>Internal</a:t>
            </a:r>
            <a:r>
              <a:rPr lang="nl-NL" altLang="en-US" dirty="0" smtClean="0"/>
              <a:t> </a:t>
            </a:r>
            <a:r>
              <a:rPr lang="nl-NL" altLang="en-US" dirty="0" err="1" smtClean="0"/>
              <a:t>states</a:t>
            </a:r>
            <a:endParaRPr lang="nl-NL" altLang="en-US" dirty="0" smtClean="0"/>
          </a:p>
          <a:p>
            <a:pPr lvl="1"/>
            <a:r>
              <a:rPr lang="nl-NL" altLang="en-US" dirty="0" smtClean="0"/>
              <a:t>…</a:t>
            </a:r>
          </a:p>
          <a:p>
            <a:pPr lvl="1"/>
            <a:r>
              <a:rPr lang="en-US" altLang="en-US" dirty="0" smtClean="0"/>
              <a:t>…</a:t>
            </a:r>
          </a:p>
          <a:p>
            <a:pPr lvl="1"/>
            <a:r>
              <a:rPr lang="en-US" altLang="en-US" dirty="0" smtClean="0"/>
              <a:t>… </a:t>
            </a:r>
            <a:endParaRPr lang="nl-NL" altLang="en-US" dirty="0" smtClean="0"/>
          </a:p>
          <a:p>
            <a:r>
              <a:rPr lang="nl-NL" altLang="en-US" dirty="0" smtClean="0"/>
              <a:t>Output </a:t>
            </a:r>
            <a:r>
              <a:rPr lang="nl-NL" altLang="en-US" dirty="0" err="1" smtClean="0"/>
              <a:t>states</a:t>
            </a:r>
            <a:r>
              <a:rPr lang="nl-NL" altLang="en-US" dirty="0" smtClean="0"/>
              <a:t> (</a:t>
            </a:r>
            <a:r>
              <a:rPr lang="nl-NL" altLang="en-US" dirty="0" err="1" smtClean="0"/>
              <a:t>actions</a:t>
            </a:r>
            <a:r>
              <a:rPr lang="nl-NL" altLang="en-US" dirty="0" smtClean="0"/>
              <a:t>)</a:t>
            </a:r>
          </a:p>
          <a:p>
            <a:pPr lvl="1"/>
            <a:r>
              <a:rPr lang="nl-NL" altLang="en-US" dirty="0" smtClean="0"/>
              <a:t>…</a:t>
            </a:r>
          </a:p>
          <a:p>
            <a:pPr lvl="1"/>
            <a:r>
              <a:rPr lang="nl-NL" altLang="en-US" dirty="0" smtClean="0"/>
              <a:t>…</a:t>
            </a:r>
          </a:p>
          <a:p>
            <a:pPr lvl="1"/>
            <a:r>
              <a:rPr lang="nl-NL" altLang="en-US" dirty="0" smtClean="0"/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NL" altLang="en-US" smtClean="0"/>
              <a:t>Relations between Concepts</a:t>
            </a:r>
          </a:p>
        </p:txBody>
      </p:sp>
      <p:sp>
        <p:nvSpPr>
          <p:cNvPr id="22556" name="Oval 8"/>
          <p:cNvSpPr>
            <a:spLocks noChangeArrowheads="1"/>
          </p:cNvSpPr>
          <p:nvPr/>
        </p:nvSpPr>
        <p:spPr bwMode="auto">
          <a:xfrm>
            <a:off x="4639062" y="2735608"/>
            <a:ext cx="287655" cy="288251"/>
          </a:xfrm>
          <a:prstGeom prst="ellips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/>
            <a:endParaRPr lang="nl-NL" altLang="en-US"/>
          </a:p>
        </p:txBody>
      </p:sp>
      <p:sp>
        <p:nvSpPr>
          <p:cNvPr id="22557" name="TextBox 9"/>
          <p:cNvSpPr txBox="1">
            <a:spLocks noChangeArrowheads="1"/>
          </p:cNvSpPr>
          <p:nvPr/>
        </p:nvSpPr>
        <p:spPr bwMode="auto">
          <a:xfrm>
            <a:off x="4063751" y="2332446"/>
            <a:ext cx="1438275" cy="338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nl-NL" altLang="en-US" sz="1600" b="0" dirty="0" smtClean="0"/>
              <a:t>name</a:t>
            </a:r>
            <a:endParaRPr lang="nl-NL" altLang="en-US" sz="1600" b="0" dirty="0"/>
          </a:p>
        </p:txBody>
      </p:sp>
      <p:cxnSp>
        <p:nvCxnSpPr>
          <p:cNvPr id="22540" name="Straight Arrow Connector 21"/>
          <p:cNvCxnSpPr>
            <a:cxnSpLocks noChangeShapeType="1"/>
          </p:cNvCxnSpPr>
          <p:nvPr/>
        </p:nvCxnSpPr>
        <p:spPr bwMode="auto">
          <a:xfrm flipV="1">
            <a:off x="3420541" y="3511282"/>
            <a:ext cx="2087563" cy="1079500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22544" name="Rectangle 43"/>
          <p:cNvSpPr>
            <a:spLocks noChangeArrowheads="1"/>
          </p:cNvSpPr>
          <p:nvPr/>
        </p:nvSpPr>
        <p:spPr bwMode="auto">
          <a:xfrm>
            <a:off x="1691680" y="1845022"/>
            <a:ext cx="5545286" cy="4032250"/>
          </a:xfrm>
          <a:prstGeom prst="rect">
            <a:avLst/>
          </a:prstGeom>
          <a:noFill/>
          <a:ln w="2540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pPr eaLnBrk="1" hangingPunct="1"/>
            <a:endParaRPr lang="nl-NL" altLang="en-US"/>
          </a:p>
        </p:txBody>
      </p:sp>
      <p:cxnSp>
        <p:nvCxnSpPr>
          <p:cNvPr id="41" name="Straight Arrow Connector 21"/>
          <p:cNvCxnSpPr>
            <a:cxnSpLocks noChangeShapeType="1"/>
          </p:cNvCxnSpPr>
          <p:nvPr/>
        </p:nvCxnSpPr>
        <p:spPr bwMode="auto">
          <a:xfrm flipV="1">
            <a:off x="3676982" y="2879733"/>
            <a:ext cx="790106" cy="9109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/>
            <a:tailEnd type="triangle" w="lg" len="lg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980991"/>
              </p:ext>
            </p:extLst>
          </p:nvPr>
        </p:nvGraphicFramePr>
        <p:xfrm>
          <a:off x="395288" y="1631950"/>
          <a:ext cx="6913562" cy="1581152"/>
        </p:xfrm>
        <a:graphic>
          <a:graphicData uri="http://schemas.openxmlformats.org/drawingml/2006/table">
            <a:tbl>
              <a:tblPr/>
              <a:tblGrid>
                <a:gridCol w="305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2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" pitchFamily="18" charset="0"/>
                          <a:ea typeface="Times" pitchFamily="18" charset="0"/>
                          <a:cs typeface="Times New Roman" pitchFamily="18" charset="0"/>
                        </a:rPr>
                        <a:t>Concept</a:t>
                      </a:r>
                      <a:endParaRPr kumimoji="0" lang="en-US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" pitchFamily="18" charset="0"/>
                        <a:ea typeface="Times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" pitchFamily="18" charset="0"/>
                          <a:ea typeface="Times" pitchFamily="18" charset="0"/>
                          <a:cs typeface="Times New Roman" pitchFamily="18" charset="0"/>
                        </a:rPr>
                        <a:t>Predicate</a:t>
                      </a:r>
                      <a:endParaRPr kumimoji="0" lang="en-US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" pitchFamily="18" charset="0"/>
                        <a:ea typeface="Times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" pitchFamily="18" charset="0"/>
                          <a:ea typeface="Times" pitchFamily="18" charset="0"/>
                          <a:cs typeface="Times New Roman" pitchFamily="18" charset="0"/>
                        </a:rPr>
                        <a:t>observations (switch, touch, voice)</a:t>
                      </a:r>
                      <a:endParaRPr kumimoji="0" lang="en-US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" pitchFamily="18" charset="0"/>
                        <a:ea typeface="Times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Helvetica" pitchFamily="34" charset="0"/>
                          <a:ea typeface="Times" pitchFamily="18" charset="0"/>
                          <a:cs typeface="Helvetica" pitchFamily="34" charset="0"/>
                        </a:rPr>
                        <a:t>observed</a:t>
                      </a:r>
                      <a:r>
                        <a:rPr kumimoji="0" lang="nl-NL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Helvetica" pitchFamily="34" charset="0"/>
                          <a:ea typeface="Times" pitchFamily="18" charset="0"/>
                          <a:cs typeface="Helvetica" pitchFamily="34" charset="0"/>
                        </a:rPr>
                        <a:t> : AGENT x INFO_ELEMENT</a:t>
                      </a:r>
                      <a:endParaRPr kumimoji="0" lang="en-US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Helvetica" pitchFamily="34" charset="0"/>
                        <a:ea typeface="Times" pitchFamily="18" charset="0"/>
                        <a:cs typeface="Helvetica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" pitchFamily="18" charset="0"/>
                          <a:ea typeface="Times" pitchFamily="18" charset="0"/>
                          <a:cs typeface="Times New Roman" pitchFamily="18" charset="0"/>
                        </a:rPr>
                        <a:t>internal</a:t>
                      </a:r>
                      <a:r>
                        <a:rPr kumimoji="0" lang="nl-NL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" pitchFamily="18" charset="0"/>
                          <a:ea typeface="Times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nl-NL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" pitchFamily="18" charset="0"/>
                          <a:ea typeface="Times" pitchFamily="18" charset="0"/>
                          <a:cs typeface="Times New Roman" pitchFamily="18" charset="0"/>
                        </a:rPr>
                        <a:t>states</a:t>
                      </a:r>
                      <a:r>
                        <a:rPr kumimoji="0" lang="nl-NL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" pitchFamily="18" charset="0"/>
                          <a:ea typeface="Times" pitchFamily="18" charset="0"/>
                          <a:cs typeface="Times New Roman" pitchFamily="18" charset="0"/>
                        </a:rPr>
                        <a:t> (mode, sr, </a:t>
                      </a:r>
                      <a:r>
                        <a:rPr kumimoji="0" lang="nl-NL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" pitchFamily="18" charset="0"/>
                          <a:ea typeface="Times" pitchFamily="18" charset="0"/>
                          <a:cs typeface="Times New Roman" pitchFamily="18" charset="0"/>
                        </a:rPr>
                        <a:t>ps</a:t>
                      </a:r>
                      <a:r>
                        <a:rPr kumimoji="0" lang="nl-NL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" pitchFamily="18" charset="0"/>
                          <a:ea typeface="Times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" pitchFamily="18" charset="0"/>
                        <a:ea typeface="Times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Helvetica" pitchFamily="34" charset="0"/>
                          <a:ea typeface="Times" pitchFamily="18" charset="0"/>
                          <a:cs typeface="Helvetica" pitchFamily="34" charset="0"/>
                        </a:rPr>
                        <a:t>…</a:t>
                      </a:r>
                      <a:endParaRPr kumimoji="0" lang="en-US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Helvetica" pitchFamily="34" charset="0"/>
                        <a:ea typeface="Times" pitchFamily="18" charset="0"/>
                        <a:cs typeface="Helvetica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" pitchFamily="18" charset="0"/>
                          <a:ea typeface="Times" pitchFamily="18" charset="0"/>
                          <a:cs typeface="Times New Roman" pitchFamily="18" charset="0"/>
                        </a:rPr>
                        <a:t>actions (sounds, tail, eye blinks)</a:t>
                      </a:r>
                      <a:endParaRPr kumimoji="0" lang="en-US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" pitchFamily="18" charset="0"/>
                        <a:ea typeface="Times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l-NL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Helvetica" pitchFamily="34" charset="0"/>
                          <a:ea typeface="Times" pitchFamily="18" charset="0"/>
                          <a:cs typeface="Helvetica" pitchFamily="34" charset="0"/>
                        </a:rPr>
                        <a:t>…</a:t>
                      </a:r>
                      <a:endParaRPr kumimoji="0" lang="en-US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Helvetica" pitchFamily="34" charset="0"/>
                        <a:ea typeface="Times" pitchFamily="18" charset="0"/>
                        <a:cs typeface="Helvetica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en-US" smtClean="0"/>
              <a:t/>
            </a:r>
            <a:br>
              <a:rPr lang="nl-NL" altLang="en-US" smtClean="0"/>
            </a:br>
            <a:r>
              <a:rPr lang="nl-NL" altLang="en-US" smtClean="0"/>
              <a:t>Formal Ontology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5288" y="3573463"/>
          <a:ext cx="6913562" cy="2767009"/>
        </p:xfrm>
        <a:graphic>
          <a:graphicData uri="http://schemas.openxmlformats.org/drawingml/2006/table">
            <a:tbl>
              <a:tblPr/>
              <a:tblGrid>
                <a:gridCol w="194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" pitchFamily="18" charset="0"/>
                          <a:ea typeface="Times" pitchFamily="18" charset="0"/>
                          <a:cs typeface="Times New Roman" pitchFamily="18" charset="0"/>
                        </a:rPr>
                        <a:t>Sort</a:t>
                      </a:r>
                      <a:endParaRPr kumimoji="0" lang="en-US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" pitchFamily="18" charset="0"/>
                        <a:ea typeface="Times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" pitchFamily="18" charset="0"/>
                          <a:ea typeface="Times" pitchFamily="18" charset="0"/>
                          <a:cs typeface="Times New Roman" pitchFamily="18" charset="0"/>
                        </a:rPr>
                        <a:t>Elements</a:t>
                      </a:r>
                      <a:endParaRPr kumimoji="0" lang="en-US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" pitchFamily="18" charset="0"/>
                        <a:ea typeface="Times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Helvetica" pitchFamily="34" charset="0"/>
                          <a:ea typeface="Times" pitchFamily="18" charset="0"/>
                          <a:cs typeface="Times New Roman" pitchFamily="18" charset="0"/>
                        </a:rPr>
                        <a:t>AGENT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" pitchFamily="18" charset="0"/>
                        <a:ea typeface="Times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Helvetica" pitchFamily="34" charset="0"/>
                          <a:ea typeface="Times" pitchFamily="18" charset="0"/>
                          <a:cs typeface="Times New Roman" pitchFamily="18" charset="0"/>
                        </a:rPr>
                        <a:t>paro</a:t>
                      </a:r>
                      <a:endParaRPr kumimoji="0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" pitchFamily="18" charset="0"/>
                        <a:ea typeface="Times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Helvetica" pitchFamily="34" charset="0"/>
                          <a:ea typeface="Times" pitchFamily="18" charset="0"/>
                          <a:cs typeface="Times New Roman" pitchFamily="18" charset="0"/>
                        </a:rPr>
                        <a:t>INFO_ELEMENT</a:t>
                      </a:r>
                      <a:endParaRPr kumimoji="0" lang="en-US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" pitchFamily="18" charset="0"/>
                        <a:ea typeface="Times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Helvetica" pitchFamily="34" charset="0"/>
                          <a:ea typeface="Times" pitchFamily="18" charset="0"/>
                          <a:cs typeface="Times New Roman" pitchFamily="18" charset="0"/>
                        </a:rPr>
                        <a:t>...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" pitchFamily="18" charset="0"/>
                        <a:ea typeface="Times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Helvetica" pitchFamily="34" charset="0"/>
                          <a:ea typeface="Times" pitchFamily="18" charset="0"/>
                          <a:cs typeface="Times New Roman" pitchFamily="18" charset="0"/>
                        </a:rPr>
                        <a:t>...</a:t>
                      </a:r>
                      <a:endParaRPr kumimoji="0" lang="en-US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" pitchFamily="18" charset="0"/>
                        <a:ea typeface="Times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Helvetica" pitchFamily="34" charset="0"/>
                          <a:ea typeface="Times" pitchFamily="18" charset="0"/>
                          <a:cs typeface="Times New Roman" pitchFamily="18" charset="0"/>
                        </a:rPr>
                        <a:t>...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" pitchFamily="18" charset="0"/>
                        <a:ea typeface="Times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Helvetica" pitchFamily="34" charset="0"/>
                          <a:ea typeface="Times" pitchFamily="18" charset="0"/>
                          <a:cs typeface="Times New Roman" pitchFamily="18" charset="0"/>
                        </a:rPr>
                        <a:t>...</a:t>
                      </a:r>
                      <a:endParaRPr kumimoji="0" lang="en-US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" pitchFamily="18" charset="0"/>
                        <a:ea typeface="Times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Helvetica" pitchFamily="34" charset="0"/>
                          <a:ea typeface="Times" pitchFamily="18" charset="0"/>
                          <a:cs typeface="Times New Roman" pitchFamily="18" charset="0"/>
                        </a:rPr>
                        <a:t>...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" pitchFamily="18" charset="0"/>
                        <a:ea typeface="Times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Helvetica" pitchFamily="34" charset="0"/>
                          <a:ea typeface="Times" pitchFamily="18" charset="0"/>
                          <a:cs typeface="Times New Roman" pitchFamily="18" charset="0"/>
                        </a:rPr>
                        <a:t>...</a:t>
                      </a:r>
                      <a:endParaRPr kumimoji="0" lang="en-US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" pitchFamily="18" charset="0"/>
                        <a:ea typeface="Times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Helvetica" pitchFamily="34" charset="0"/>
                          <a:ea typeface="Times" pitchFamily="18" charset="0"/>
                          <a:cs typeface="Times New Roman" pitchFamily="18" charset="0"/>
                        </a:rPr>
                        <a:t>...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" pitchFamily="18" charset="0"/>
                        <a:ea typeface="Times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Helvetica" pitchFamily="34" charset="0"/>
                          <a:ea typeface="Times" pitchFamily="18" charset="0"/>
                          <a:cs typeface="Times New Roman" pitchFamily="18" charset="0"/>
                        </a:rPr>
                        <a:t>...</a:t>
                      </a:r>
                      <a:endParaRPr kumimoji="0" lang="en-US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" pitchFamily="18" charset="0"/>
                        <a:ea typeface="Times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Helvetica" pitchFamily="34" charset="0"/>
                          <a:ea typeface="Times" pitchFamily="18" charset="0"/>
                          <a:cs typeface="Times New Roman" pitchFamily="18" charset="0"/>
                        </a:rPr>
                        <a:t>...</a:t>
                      </a:r>
                      <a:endParaRPr kumimoji="0" lang="en-US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" pitchFamily="18" charset="0"/>
                        <a:ea typeface="Times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NL" altLang="en-US" smtClean="0"/>
              <a:t/>
            </a:r>
            <a:br>
              <a:rPr lang="nl-NL" altLang="en-US" smtClean="0"/>
            </a:br>
            <a:r>
              <a:rPr lang="nl-NL" altLang="en-US" smtClean="0"/>
              <a:t>Formal Rules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nl-NL" altLang="en-US" sz="1600" b="1" dirty="0" smtClean="0">
                <a:solidFill>
                  <a:srgbClr val="000000"/>
                </a:solidFill>
              </a:rPr>
              <a:t>R1a</a:t>
            </a:r>
          </a:p>
          <a:p>
            <a:pPr eaLnBrk="1" hangingPunct="1">
              <a:buFont typeface="Wingdings" pitchFamily="2" charset="2"/>
              <a:buNone/>
            </a:pPr>
            <a:r>
              <a:rPr lang="nl-NL" altLang="en-US" sz="1600" dirty="0" smtClean="0">
                <a:solidFill>
                  <a:srgbClr val="000000"/>
                </a:solidFill>
              </a:rPr>
              <a:t>…</a:t>
            </a:r>
          </a:p>
          <a:p>
            <a:pPr eaLnBrk="1" hangingPunct="1">
              <a:buFont typeface="Wingdings" pitchFamily="2" charset="2"/>
              <a:buNone/>
            </a:pPr>
            <a:endParaRPr lang="nl-NL" altLang="en-US" sz="1000" dirty="0" smtClean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nl-NL" altLang="en-US" sz="1600" b="1" dirty="0" smtClean="0">
                <a:solidFill>
                  <a:srgbClr val="000000"/>
                </a:solidFill>
              </a:rPr>
              <a:t>R1b</a:t>
            </a:r>
          </a:p>
          <a:p>
            <a:pPr eaLnBrk="1" hangingPunct="1">
              <a:buFont typeface="Wingdings" pitchFamily="2" charset="2"/>
              <a:buNone/>
            </a:pPr>
            <a:r>
              <a:rPr lang="nl-NL" altLang="en-US" sz="1600" dirty="0" smtClean="0">
                <a:solidFill>
                  <a:srgbClr val="000000"/>
                </a:solidFill>
              </a:rPr>
              <a:t>…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</a:rPr>
              <a:t>… </a:t>
            </a:r>
            <a:endParaRPr lang="nl-NL" altLang="en-US" sz="1600" dirty="0" smtClean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nl-NL" altLang="en-US" sz="1000" dirty="0" smtClean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nl-NL" altLang="en-US" sz="1600" b="1" dirty="0" smtClean="0">
                <a:solidFill>
                  <a:srgbClr val="000000"/>
                </a:solidFill>
              </a:rPr>
              <a:t>R2a</a:t>
            </a:r>
          </a:p>
          <a:p>
            <a:pPr eaLnBrk="1" hangingPunct="1">
              <a:buFont typeface="Wingdings" pitchFamily="2" charset="2"/>
              <a:buNone/>
            </a:pPr>
            <a:r>
              <a:rPr lang="nl-NL" altLang="en-US" sz="1600" dirty="0" smtClean="0">
                <a:solidFill>
                  <a:srgbClr val="000000"/>
                </a:solidFill>
              </a:rPr>
              <a:t>…</a:t>
            </a:r>
            <a:endParaRPr lang="nl-NL" altLang="en-US" sz="1600" dirty="0" smtClean="0">
              <a:solidFill>
                <a:srgbClr val="000000"/>
              </a:solidFill>
              <a:sym typeface="Wingdings" pitchFamily="2" charset="2"/>
            </a:endParaRPr>
          </a:p>
          <a:p>
            <a:pPr eaLnBrk="1" hangingPunct="1">
              <a:buFont typeface="Wingdings" pitchFamily="2" charset="2"/>
              <a:buNone/>
            </a:pPr>
            <a:endParaRPr lang="nl-NL" altLang="en-US" sz="1000" dirty="0" smtClean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nl-NL" altLang="en-US" sz="1600" b="1" dirty="0" smtClean="0">
                <a:solidFill>
                  <a:srgbClr val="000000"/>
                </a:solidFill>
              </a:rPr>
              <a:t>R2b</a:t>
            </a:r>
          </a:p>
          <a:p>
            <a:pPr eaLnBrk="1" hangingPunct="1">
              <a:buFont typeface="Wingdings" pitchFamily="2" charset="2"/>
              <a:buNone/>
            </a:pPr>
            <a:r>
              <a:rPr lang="nl-NL" altLang="en-US" sz="1600" dirty="0" smtClean="0">
                <a:solidFill>
                  <a:srgbClr val="000000"/>
                </a:solidFill>
              </a:rPr>
              <a:t>…</a:t>
            </a:r>
            <a:endParaRPr lang="nl-NL" altLang="en-US" sz="1600" dirty="0" smtClean="0">
              <a:solidFill>
                <a:srgbClr val="000000"/>
              </a:solidFill>
              <a:sym typeface="Wingdings" pitchFamily="2" charset="2"/>
            </a:endParaRPr>
          </a:p>
          <a:p>
            <a:pPr eaLnBrk="1" hangingPunct="1">
              <a:buFont typeface="Wingdings" pitchFamily="2" charset="2"/>
              <a:buNone/>
            </a:pPr>
            <a:endParaRPr lang="nl-NL" altLang="en-US" sz="1000" dirty="0" smtClean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nl-NL" altLang="en-US" sz="1600" b="1" dirty="0" smtClean="0">
                <a:solidFill>
                  <a:srgbClr val="000000"/>
                </a:solidFill>
                <a:sym typeface="Wingdings" pitchFamily="2" charset="2"/>
              </a:rPr>
              <a:t>R3</a:t>
            </a:r>
            <a:endParaRPr lang="nl-NL" altLang="en-US" sz="1600" b="1" dirty="0" smtClean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nl-NL" altLang="en-US" sz="1600" dirty="0" smtClean="0">
                <a:solidFill>
                  <a:srgbClr val="000000"/>
                </a:solidFill>
              </a:rPr>
              <a:t>…</a:t>
            </a:r>
            <a:endParaRPr lang="nl-NL" altLang="en-US" sz="1600" dirty="0" smtClean="0">
              <a:solidFill>
                <a:srgbClr val="000000"/>
              </a:solidFill>
              <a:sym typeface="Wingdings" pitchFamily="2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600" dirty="0" smtClean="0">
                <a:solidFill>
                  <a:srgbClr val="000000"/>
                </a:solidFill>
              </a:rPr>
              <a:t>… 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1600" dirty="0" smtClean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z="1600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0</TotalTime>
  <Words>95</Words>
  <Application>Microsoft Office PowerPoint</Application>
  <PresentationFormat>Diavoorstelling (4:3)</PresentationFormat>
  <Paragraphs>55</Paragraphs>
  <Slides>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</vt:i4>
      </vt:variant>
    </vt:vector>
  </HeadingPairs>
  <TitlesOfParts>
    <vt:vector size="11" baseType="lpstr">
      <vt:lpstr>Arial</vt:lpstr>
      <vt:lpstr>Calibri</vt:lpstr>
      <vt:lpstr>Helvetica</vt:lpstr>
      <vt:lpstr>Times</vt:lpstr>
      <vt:lpstr>Times New Roman</vt:lpstr>
      <vt:lpstr>Wingdings</vt:lpstr>
      <vt:lpstr>Network</vt:lpstr>
      <vt:lpstr>List of Concepts</vt:lpstr>
      <vt:lpstr>Relations between Concepts</vt:lpstr>
      <vt:lpstr> Formal Ontology</vt:lpstr>
      <vt:lpstr> Formal Rules</vt:lpstr>
    </vt:vector>
  </TitlesOfParts>
  <Company>Vrije Universiteit Amsterdam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Inleiding Modelleren en Simuleren</dc:title>
  <dc:creator>Michel Klein</dc:creator>
  <cp:lastModifiedBy>Michel Klein</cp:lastModifiedBy>
  <cp:revision>195</cp:revision>
  <dcterms:created xsi:type="dcterms:W3CDTF">2007-08-14T10:04:06Z</dcterms:created>
  <dcterms:modified xsi:type="dcterms:W3CDTF">2021-02-23T09:42:25Z</dcterms:modified>
</cp:coreProperties>
</file>