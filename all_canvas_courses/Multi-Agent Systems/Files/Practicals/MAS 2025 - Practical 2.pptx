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92000"/>
  <p:notesSz cx="6858000" cy="9144000"/>
  <p:embeddedFontLst>
    <p:embeddedFont>
      <p:font typeface="Play"/>
      <p:regular r:id="rId29"/>
      <p:bold r:id="rId30"/>
    </p:embeddedFont>
    <p:embeddedFont>
      <p:font typeface="Domine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lay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Domine-regular.fntdata"/><Relationship Id="rId30" Type="http://schemas.openxmlformats.org/officeDocument/2006/relationships/font" Target="fonts/Play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Domine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0aab3504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0aab3504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a0aab3504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0aadf16d6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0aadf16d6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a0aadf16d6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0aadf16d6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0aadf16d6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a0aadf16d6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0aadf16d6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0aadf16d6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a0aadf16d6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0aadf16d6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0aadf16d6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a0aadf16d6_0_1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0aadf16d6_0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0aadf16d6_0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a0aadf16d6_0_1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0aadf16d6_0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0aadf16d6_0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a0aadf16d6_0_1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0aadf16d6_0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0aadf16d6_0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a0aadf16d6_0_1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0aadf16d6_0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0aadf16d6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a0aadf16d6_0_1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0aadf16d6_0_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0aadf16d6_0_2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a0aadf16d6_0_2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0aadf16d6_0_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a0aadf16d6_0_2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a0aadf16d6_0_2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0aadf16d6_0_2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0aadf16d6_0_2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a0aadf16d6_0_2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0aadf16d6_0_2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a0aadf16d6_0_2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a0aadf16d6_0_2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0aadf16d6_0_2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a0aadf16d6_0_2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a0aadf16d6_0_2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0aadf16d6_0_3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a0aadf16d6_0_3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a0aadf16d6_0_3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a0aadf16d6_0_3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a0aadf16d6_0_3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a0aadf16d6_0_3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0aadf16d6_0_3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a0aadf16d6_0_3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a0aadf16d6_0_3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a0aadf16d6_0_3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a0aadf16d6_0_3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a0aadf16d6_0_3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a0aadf16d6_0_4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a0aadf16d6_0_4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a0aadf16d6_0_4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a0aadf16d6_0_4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a0aadf16d6_0_4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a0aadf16d6_0_4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4" name="Google Shape;5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7" name="Google Shape;5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swi-prolog.org/pldoc/man?section=lis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9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Prolog – Unification, Search and Datatypes</a:t>
            </a:r>
            <a:endParaRPr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524000" y="414762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Multi-Agent Systems</a:t>
            </a:r>
            <a:endParaRPr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				Practical 2</a:t>
            </a:r>
            <a:endParaRPr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latin typeface="Domine"/>
              <a:ea typeface="Domine"/>
              <a:cs typeface="Domine"/>
              <a:sym typeface="Domine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3899" y="238734"/>
            <a:ext cx="2442821" cy="1103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Recap</a:t>
            </a:r>
            <a:endParaRPr>
              <a:latin typeface="Domine"/>
              <a:ea typeface="Domine"/>
              <a:cs typeface="Domine"/>
              <a:sym typeface="Domine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3899" y="238734"/>
            <a:ext cx="2442821" cy="110368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3925375" y="1505300"/>
            <a:ext cx="41577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 Knowledge Base (KB)</a:t>
            </a:r>
            <a:endParaRPr sz="28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3819925" y="2875100"/>
            <a:ext cx="43686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{ Collection of clauses }</a:t>
            </a:r>
            <a:endParaRPr sz="28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100" name="Google Shape;100;p14"/>
          <p:cNvCxnSpPr>
            <a:stCxn id="98" idx="2"/>
            <a:endCxn id="99" idx="0"/>
          </p:cNvCxnSpPr>
          <p:nvPr/>
        </p:nvCxnSpPr>
        <p:spPr>
          <a:xfrm>
            <a:off x="6004225" y="2263700"/>
            <a:ext cx="0" cy="61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01" name="Google Shape;101;p14"/>
          <p:cNvSpPr txBox="1"/>
          <p:nvPr/>
        </p:nvSpPr>
        <p:spPr>
          <a:xfrm>
            <a:off x="8332250" y="4244900"/>
            <a:ext cx="12174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Domine"/>
                <a:ea typeface="Domine"/>
                <a:cs typeface="Domine"/>
                <a:sym typeface="Domine"/>
              </a:rPr>
              <a:t>Rules</a:t>
            </a:r>
            <a:endParaRPr sz="28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042950" y="4931900"/>
            <a:ext cx="57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child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03" name="Google Shape;103;p14"/>
          <p:cNvCxnSpPr>
            <a:endCxn id="101" idx="1"/>
          </p:cNvCxnSpPr>
          <p:nvPr/>
        </p:nvCxnSpPr>
        <p:spPr>
          <a:xfrm>
            <a:off x="6021050" y="4135400"/>
            <a:ext cx="2311200" cy="488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04" name="Google Shape;104;p14"/>
          <p:cNvSpPr txBox="1"/>
          <p:nvPr/>
        </p:nvSpPr>
        <p:spPr>
          <a:xfrm>
            <a:off x="2306850" y="4316300"/>
            <a:ext cx="111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Facts</a:t>
            </a:r>
            <a:endParaRPr sz="28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105" name="Google Shape;105;p14"/>
          <p:cNvCxnSpPr>
            <a:stCxn id="99" idx="2"/>
          </p:cNvCxnSpPr>
          <p:nvPr/>
        </p:nvCxnSpPr>
        <p:spPr>
          <a:xfrm>
            <a:off x="6004225" y="3633500"/>
            <a:ext cx="0" cy="51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06" name="Google Shape;106;p14"/>
          <p:cNvCxnSpPr>
            <a:endCxn id="104" idx="3"/>
          </p:cNvCxnSpPr>
          <p:nvPr/>
        </p:nvCxnSpPr>
        <p:spPr>
          <a:xfrm flipH="1">
            <a:off x="3424350" y="4132100"/>
            <a:ext cx="2573400" cy="49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07" name="Google Shape;107;p14"/>
          <p:cNvSpPr txBox="1"/>
          <p:nvPr/>
        </p:nvSpPr>
        <p:spPr>
          <a:xfrm>
            <a:off x="1166250" y="4931900"/>
            <a:ext cx="339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child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sue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gina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Recap - </a:t>
            </a:r>
            <a:r>
              <a:rPr lang="en-US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toms</a:t>
            </a:r>
            <a:endParaRPr i="1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3899" y="238734"/>
            <a:ext cx="2442821" cy="110368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6206125" y="2446450"/>
            <a:ext cx="5640900" cy="3509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child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sue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gINA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child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sue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'•ᴗ•'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@=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'•ᴗ•'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female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sue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child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6947725" y="1802950"/>
            <a:ext cx="41577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{</a:t>
            </a: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 Knowledge Base }</a:t>
            </a:r>
            <a:endParaRPr sz="28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705000" y="2446450"/>
            <a:ext cx="5075100" cy="3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omine"/>
              <a:buChar char="●"/>
            </a:pPr>
            <a:r>
              <a:rPr lang="en-US" sz="22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A string of characters beginning with a lowercase letter.</a:t>
            </a:r>
            <a:endParaRPr sz="22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omine"/>
              <a:buChar char="●"/>
            </a:pPr>
            <a:r>
              <a:rPr lang="en-US" sz="22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Characters enclosed with </a:t>
            </a:r>
            <a:r>
              <a:rPr b="1" lang="en-US" sz="22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Single quotes.</a:t>
            </a:r>
            <a:endParaRPr sz="22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omine"/>
              <a:buChar char="●"/>
            </a:pPr>
            <a:r>
              <a:rPr lang="en-US" sz="22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A string of special characters.</a:t>
            </a:r>
            <a:endParaRPr sz="22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927600" y="1467375"/>
            <a:ext cx="485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Also known as a </a:t>
            </a:r>
            <a:r>
              <a:rPr lang="en-US" sz="22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textual constant</a:t>
            </a:r>
            <a:r>
              <a:rPr lang="en-US" sz="22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Recap - </a:t>
            </a:r>
            <a:r>
              <a:rPr lang="en-US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Variables</a:t>
            </a:r>
            <a:endParaRPr i="1">
              <a:solidFill>
                <a:srgbClr val="007A3D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pic>
        <p:nvPicPr>
          <p:cNvPr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3899" y="238734"/>
            <a:ext cx="2442821" cy="110368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3914025" y="4822875"/>
            <a:ext cx="7593900" cy="923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child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child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_X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Y8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:- 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Y8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_X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5632125" y="3952425"/>
            <a:ext cx="41577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{ Knowledge Base }</a:t>
            </a:r>
            <a:endParaRPr sz="28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720300" y="1737022"/>
            <a:ext cx="9300600" cy="24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A string of upper-case letters, lower-case letters, digits and underscore characters that starts with:</a:t>
            </a:r>
            <a:endParaRPr sz="22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omine"/>
              <a:buChar char="●"/>
            </a:pPr>
            <a:r>
              <a:rPr lang="en-US" sz="22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An upper-case letter.</a:t>
            </a:r>
            <a:endParaRPr sz="22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omine"/>
              <a:buChar char="●"/>
            </a:pPr>
            <a:r>
              <a:rPr lang="en-US" sz="22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An underscore.</a:t>
            </a:r>
            <a:endParaRPr sz="22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idx="4294967295" type="title"/>
          </p:nvPr>
        </p:nvSpPr>
        <p:spPr>
          <a:xfrm>
            <a:off x="838200" y="365125"/>
            <a:ext cx="105156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Recap - </a:t>
            </a:r>
            <a:r>
              <a:rPr lang="en-US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Compound terms</a:t>
            </a:r>
            <a:endParaRPr i="1">
              <a:solidFill>
                <a:srgbClr val="F5AB00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pic>
        <p:nvPicPr>
          <p:cNvPr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3899" y="238734"/>
            <a:ext cx="2442821" cy="11036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838200" y="1342432"/>
            <a:ext cx="7434300" cy="13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Also known as a </a:t>
            </a:r>
            <a:r>
              <a:rPr lang="en-US" sz="22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structure</a:t>
            </a:r>
            <a:r>
              <a:rPr lang="en-US" sz="22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.</a:t>
            </a:r>
            <a:endParaRPr sz="22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A </a:t>
            </a:r>
            <a:r>
              <a:rPr lang="en-US" sz="22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functor</a:t>
            </a:r>
            <a:r>
              <a:rPr lang="en-US" sz="22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 followed by a sequence of </a:t>
            </a:r>
            <a:r>
              <a:rPr lang="en-US" sz="2200">
                <a:solidFill>
                  <a:srgbClr val="E52437"/>
                </a:solidFill>
                <a:latin typeface="Domine"/>
                <a:ea typeface="Domine"/>
                <a:cs typeface="Domine"/>
                <a:sym typeface="Domine"/>
              </a:rPr>
              <a:t>arguments</a:t>
            </a:r>
            <a:r>
              <a:rPr lang="en-US" sz="22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.</a:t>
            </a:r>
            <a:endParaRPr sz="22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838200" y="3992300"/>
            <a:ext cx="10819200" cy="2401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female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sue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														</a:t>
            </a:r>
            <a:r>
              <a:rPr lang="en-US" sz="2400">
                <a:solidFill>
                  <a:srgbClr val="757575"/>
                </a:solidFill>
                <a:latin typeface="Courier New"/>
                <a:ea typeface="Courier New"/>
                <a:cs typeface="Courier New"/>
                <a:sym typeface="Courier New"/>
              </a:rPr>
              <a:t>% arity 1	</a:t>
            </a:r>
            <a:endParaRPr sz="2400">
              <a:solidFill>
                <a:srgbClr val="75757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												</a:t>
            </a:r>
            <a:r>
              <a:rPr lang="en-US" sz="2400">
                <a:solidFill>
                  <a:srgbClr val="757575"/>
                </a:solidFill>
                <a:latin typeface="Courier New"/>
                <a:ea typeface="Courier New"/>
                <a:cs typeface="Courier New"/>
                <a:sym typeface="Courier New"/>
              </a:rPr>
              <a:t>% arity 2</a:t>
            </a:r>
            <a:endParaRPr sz="2400">
              <a:solidFill>
                <a:srgbClr val="75757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5757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hide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400">
                <a:solidFill>
                  <a:srgbClr val="75757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Z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father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father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father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sue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))))			</a:t>
            </a:r>
            <a:r>
              <a:rPr lang="en-US" sz="2400">
                <a:solidFill>
                  <a:srgbClr val="757575"/>
                </a:solidFill>
                <a:latin typeface="Courier New"/>
                <a:ea typeface="Courier New"/>
                <a:cs typeface="Courier New"/>
                <a:sym typeface="Courier New"/>
              </a:rPr>
              <a:t>% arity 3</a:t>
            </a:r>
            <a:endParaRPr sz="2400">
              <a:solidFill>
                <a:srgbClr val="75757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father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father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father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sue</a:t>
            </a:r>
            <a:r>
              <a:rPr lang="en-US" sz="24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)))								</a:t>
            </a:r>
            <a:r>
              <a:rPr lang="en-US" sz="2400">
                <a:solidFill>
                  <a:srgbClr val="757575"/>
                </a:solidFill>
                <a:latin typeface="Courier New"/>
                <a:ea typeface="Courier New"/>
                <a:cs typeface="Courier New"/>
                <a:sym typeface="Courier New"/>
              </a:rPr>
              <a:t>% arity 1</a:t>
            </a:r>
            <a:endParaRPr sz="2400">
              <a:solidFill>
                <a:srgbClr val="F5AB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5757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909125" y="2900813"/>
            <a:ext cx="1456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atom</a:t>
            </a:r>
            <a:endParaRPr/>
          </a:p>
        </p:txBody>
      </p:sp>
      <p:cxnSp>
        <p:nvCxnSpPr>
          <p:cNvPr id="139" name="Google Shape;139;p17"/>
          <p:cNvCxnSpPr>
            <a:endCxn id="138" idx="0"/>
          </p:cNvCxnSpPr>
          <p:nvPr/>
        </p:nvCxnSpPr>
        <p:spPr>
          <a:xfrm>
            <a:off x="1631975" y="2455913"/>
            <a:ext cx="5400" cy="44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0" name="Google Shape;140;p17"/>
          <p:cNvSpPr txBox="1"/>
          <p:nvPr/>
        </p:nvSpPr>
        <p:spPr>
          <a:xfrm>
            <a:off x="4416100" y="2900813"/>
            <a:ext cx="4273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{ </a:t>
            </a:r>
            <a:r>
              <a:rPr lang="en-US" sz="22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atoms</a:t>
            </a:r>
            <a:r>
              <a:rPr lang="en-US" sz="22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, </a:t>
            </a:r>
            <a:r>
              <a:rPr lang="en-US" sz="22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Variables</a:t>
            </a:r>
            <a:r>
              <a:rPr lang="en-US" sz="22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, numbers }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41" name="Google Shape;141;p17"/>
          <p:cNvCxnSpPr/>
          <p:nvPr/>
        </p:nvCxnSpPr>
        <p:spPr>
          <a:xfrm>
            <a:off x="6495400" y="2455913"/>
            <a:ext cx="5400" cy="44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idx="4294967295" type="title"/>
          </p:nvPr>
        </p:nvSpPr>
        <p:spPr>
          <a:xfrm>
            <a:off x="838200" y="365125"/>
            <a:ext cx="105156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Unification in Prolog</a:t>
            </a:r>
            <a:endParaRPr i="1">
              <a:solidFill>
                <a:srgbClr val="F5AB00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3899" y="238734"/>
            <a:ext cx="2442821" cy="110368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838200" y="1518928"/>
            <a:ext cx="74343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Two terms </a:t>
            </a:r>
            <a:r>
              <a:rPr i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t₁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and </a:t>
            </a:r>
            <a:r>
              <a:rPr i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t₂ </a:t>
            </a:r>
            <a:r>
              <a:rPr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match IF AND ONLY IF: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	</a:t>
            </a:r>
            <a:endParaRPr sz="2200">
              <a:solidFill>
                <a:srgbClr val="05509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1325775" y="2432725"/>
            <a:ext cx="64500" cy="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939625" y="2432725"/>
            <a:ext cx="6333000" cy="3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200">
              <a:solidFill>
                <a:srgbClr val="05509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rgbClr val="05509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t₁</a:t>
            </a:r>
            <a:r>
              <a:rPr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 </a:t>
            </a:r>
            <a:r>
              <a:rPr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and </a:t>
            </a:r>
            <a:r>
              <a:rPr i="1"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t₂</a:t>
            </a:r>
            <a:r>
              <a:rPr i="1"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 </a:t>
            </a:r>
            <a:r>
              <a:rPr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are identical </a:t>
            </a:r>
            <a:r>
              <a:rPr lang="en-US" sz="24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constants</a:t>
            </a:r>
            <a:r>
              <a:rPr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.</a:t>
            </a:r>
            <a:endParaRPr sz="24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5509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5509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If </a:t>
            </a:r>
            <a:r>
              <a:rPr i="1"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i="1"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₁</a:t>
            </a:r>
            <a:r>
              <a:rPr lang="en-US" sz="24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 is a </a:t>
            </a:r>
            <a:r>
              <a:rPr lang="en-US" sz="24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variable</a:t>
            </a:r>
            <a:r>
              <a:rPr lang="en-US" sz="24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 and </a:t>
            </a:r>
            <a:r>
              <a:rPr i="1"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t₂</a:t>
            </a:r>
            <a:r>
              <a:rPr i="1"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 </a:t>
            </a:r>
            <a:r>
              <a:rPr lang="en-US" sz="24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is not,  then </a:t>
            </a:r>
            <a:r>
              <a:rPr i="1" lang="en-US" sz="24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t₁</a:t>
            </a:r>
            <a:r>
              <a:rPr i="1"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 </a:t>
            </a:r>
            <a:r>
              <a:rPr lang="en-US" sz="24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is instantiated with </a:t>
            </a:r>
            <a:r>
              <a:rPr i="1" lang="en-US" sz="24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t₂</a:t>
            </a:r>
            <a:r>
              <a:rPr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.</a:t>
            </a:r>
            <a:endParaRPr sz="24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7697225" y="2615400"/>
            <a:ext cx="3973200" cy="3592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2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female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2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 female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.	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rgbClr val="757575"/>
                </a:solidFill>
                <a:latin typeface="Courier New"/>
                <a:ea typeface="Courier New"/>
                <a:cs typeface="Courier New"/>
                <a:sym typeface="Courier New"/>
              </a:rPr>
              <a:t>% true</a:t>
            </a:r>
            <a:endParaRPr i="1" sz="2200">
              <a:solidFill>
                <a:srgbClr val="75757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75757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2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female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2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 male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	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rgbClr val="757575"/>
                </a:solidFill>
                <a:latin typeface="Courier New"/>
                <a:ea typeface="Courier New"/>
                <a:cs typeface="Courier New"/>
                <a:sym typeface="Courier New"/>
              </a:rPr>
              <a:t>% false</a:t>
            </a:r>
            <a:endParaRPr sz="2200">
              <a:solidFill>
                <a:srgbClr val="75757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5509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7A3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2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2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 male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	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rgbClr val="757575"/>
                </a:solidFill>
                <a:latin typeface="Courier New"/>
                <a:ea typeface="Courier New"/>
                <a:cs typeface="Courier New"/>
                <a:sym typeface="Courier New"/>
              </a:rPr>
              <a:t>% X = male</a:t>
            </a:r>
            <a:endParaRPr sz="2200">
              <a:solidFill>
                <a:srgbClr val="757575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>
            <p:ph idx="4294967295" type="title"/>
          </p:nvPr>
        </p:nvSpPr>
        <p:spPr>
          <a:xfrm>
            <a:off x="838200" y="365125"/>
            <a:ext cx="105156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Unification in Prolog</a:t>
            </a:r>
            <a:endParaRPr i="1">
              <a:solidFill>
                <a:srgbClr val="F5AB00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pic>
        <p:nvPicPr>
          <p:cNvPr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3899" y="238734"/>
            <a:ext cx="2442821" cy="110368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838200" y="1518925"/>
            <a:ext cx="10694700" cy="48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If </a:t>
            </a:r>
            <a:r>
              <a:rPr i="1" lang="en-US" sz="21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t₁</a:t>
            </a:r>
            <a:r>
              <a:rPr lang="en-US" sz="2100">
                <a:latin typeface="Domine"/>
                <a:ea typeface="Domine"/>
                <a:cs typeface="Domine"/>
                <a:sym typeface="Domine"/>
              </a:rPr>
              <a:t> </a:t>
            </a:r>
            <a:r>
              <a:rPr lang="en-US" sz="21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and </a:t>
            </a:r>
            <a:r>
              <a:rPr i="1" lang="en-US" sz="21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t₂</a:t>
            </a:r>
            <a:r>
              <a:rPr i="1" lang="en-US" sz="21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 </a:t>
            </a:r>
            <a:r>
              <a:rPr lang="en-US" sz="21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are </a:t>
            </a:r>
            <a:r>
              <a:rPr lang="en-US" sz="21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compound terms</a:t>
            </a:r>
            <a:r>
              <a:rPr lang="en-US" sz="21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, they match if and only if: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omine"/>
              <a:buAutoNum type="arabicPeriod"/>
            </a:pPr>
            <a:r>
              <a:rPr lang="en-US" sz="21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They have the same outermost functor </a:t>
            </a:r>
            <a:r>
              <a:rPr lang="en-US" sz="21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21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.</a:t>
            </a:r>
            <a:endParaRPr sz="21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omine"/>
              <a:buAutoNum type="arabicPeriod"/>
            </a:pPr>
            <a:r>
              <a:rPr lang="en-US" sz="21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Each </a:t>
            </a:r>
            <a:r>
              <a:rPr lang="en-US" sz="2100">
                <a:solidFill>
                  <a:srgbClr val="E52437"/>
                </a:solidFill>
                <a:latin typeface="Domine"/>
                <a:ea typeface="Domine"/>
                <a:cs typeface="Domine"/>
                <a:sym typeface="Domine"/>
              </a:rPr>
              <a:t>argument</a:t>
            </a:r>
            <a:r>
              <a:rPr lang="en-US" sz="21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 in </a:t>
            </a:r>
            <a:r>
              <a:rPr i="1" lang="en-US" sz="21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t₁</a:t>
            </a:r>
            <a:r>
              <a:rPr lang="en-US" sz="21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 matches with every </a:t>
            </a:r>
            <a:r>
              <a:rPr lang="en-US" sz="2100">
                <a:solidFill>
                  <a:srgbClr val="E52437"/>
                </a:solidFill>
                <a:latin typeface="Domine"/>
                <a:ea typeface="Domine"/>
                <a:cs typeface="Domine"/>
                <a:sym typeface="Domine"/>
              </a:rPr>
              <a:t>argument</a:t>
            </a:r>
            <a:r>
              <a:rPr lang="en-US" sz="21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 in  </a:t>
            </a:r>
            <a:r>
              <a:rPr i="1" lang="en-US" sz="21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t₂</a:t>
            </a:r>
            <a:r>
              <a:rPr i="1" lang="en-US" sz="21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.</a:t>
            </a:r>
            <a:endParaRPr i="1" sz="21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omine"/>
              <a:buAutoNum type="arabicPeriod"/>
            </a:pPr>
            <a:r>
              <a:rPr lang="en-US" sz="21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The </a:t>
            </a:r>
            <a:r>
              <a:rPr lang="en-US" sz="21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variable</a:t>
            </a:r>
            <a:r>
              <a:rPr lang="en-US" sz="21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 instantiations are compatible, i.e., a variable cannot be assigned different terms which are not variables.</a:t>
            </a:r>
            <a:r>
              <a:rPr lang="en-US" sz="21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			</a:t>
            </a:r>
            <a:endParaRPr sz="19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	</a:t>
            </a:r>
            <a:endParaRPr sz="1900">
              <a:solidFill>
                <a:srgbClr val="05509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1325775" y="2432725"/>
            <a:ext cx="64500" cy="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4851475" y="2651213"/>
            <a:ext cx="6229800" cy="47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t₁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9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9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9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r>
              <a:rPr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	  </a:t>
            </a:r>
            <a:r>
              <a:rPr lang="en-US" sz="19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and  </a:t>
            </a:r>
            <a:r>
              <a:rPr i="1"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t₂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9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9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9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r>
              <a:rPr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900"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4851475" y="3976025"/>
            <a:ext cx="6229800" cy="47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t₁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9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9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mia</a:t>
            </a:r>
            <a:r>
              <a:rPr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	  </a:t>
            </a:r>
            <a:r>
              <a:rPr lang="en-US" sz="19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and  </a:t>
            </a:r>
            <a:r>
              <a:rPr i="1"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t₂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9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9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mia</a:t>
            </a:r>
            <a:r>
              <a:rPr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900"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1116575" y="5704975"/>
            <a:ext cx="4926900" cy="769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t₁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9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9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9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9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 </a:t>
            </a:r>
            <a:r>
              <a:rPr lang="en-US" sz="19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and  </a:t>
            </a:r>
            <a:r>
              <a:rPr i="1"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t₂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9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9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9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r>
              <a:rPr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r>
              <a:rPr i="1" lang="en-US" sz="1900">
                <a:solidFill>
                  <a:srgbClr val="757575"/>
                </a:solidFill>
                <a:latin typeface="Courier New"/>
                <a:ea typeface="Courier New"/>
                <a:cs typeface="Courier New"/>
                <a:sym typeface="Courier New"/>
              </a:rPr>
              <a:t>% Fails</a:t>
            </a:r>
            <a:endParaRPr i="1" sz="1900">
              <a:solidFill>
                <a:srgbClr val="75757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6558025" y="5704975"/>
            <a:ext cx="4795800" cy="769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t₁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9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9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9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9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 </a:t>
            </a:r>
            <a:r>
              <a:rPr lang="en-US" sz="19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and  </a:t>
            </a:r>
            <a:r>
              <a:rPr i="1"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t₂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9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9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9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 a</a:t>
            </a:r>
            <a:r>
              <a:rPr lang="en-US" sz="19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r>
              <a:rPr i="1" lang="en-US" sz="1900">
                <a:solidFill>
                  <a:srgbClr val="757575"/>
                </a:solidFill>
                <a:latin typeface="Courier New"/>
                <a:ea typeface="Courier New"/>
                <a:cs typeface="Courier New"/>
                <a:sym typeface="Courier New"/>
              </a:rPr>
              <a:t>% X = a</a:t>
            </a:r>
            <a:endParaRPr i="1" sz="1900">
              <a:solidFill>
                <a:srgbClr val="75757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4294967295" type="title"/>
          </p:nvPr>
        </p:nvSpPr>
        <p:spPr>
          <a:xfrm>
            <a:off x="838200" y="365125"/>
            <a:ext cx="105156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Unification in Prolog</a:t>
            </a:r>
            <a:endParaRPr i="1">
              <a:solidFill>
                <a:srgbClr val="F5AB00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3899" y="238734"/>
            <a:ext cx="2442821" cy="110368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908550" y="1518925"/>
            <a:ext cx="4357500" cy="7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=/2</a:t>
            </a:r>
            <a:r>
              <a:rPr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 is the built-in matching predicate</a:t>
            </a:r>
            <a:endParaRPr sz="2100"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5509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1325775" y="2432725"/>
            <a:ext cx="64500" cy="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1100700" y="2581225"/>
            <a:ext cx="4357500" cy="3592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=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2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female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2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 female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.	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rgbClr val="757575"/>
                </a:solidFill>
                <a:latin typeface="Courier New"/>
                <a:ea typeface="Courier New"/>
                <a:cs typeface="Courier New"/>
                <a:sym typeface="Courier New"/>
              </a:rPr>
              <a:t>% true</a:t>
            </a:r>
            <a:endParaRPr i="1" sz="2200">
              <a:solidFill>
                <a:srgbClr val="75757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75757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=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2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female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2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 male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	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rgbClr val="757575"/>
                </a:solidFill>
                <a:latin typeface="Courier New"/>
                <a:ea typeface="Courier New"/>
                <a:cs typeface="Courier New"/>
                <a:sym typeface="Courier New"/>
              </a:rPr>
              <a:t>% false</a:t>
            </a:r>
            <a:endParaRPr sz="2200">
              <a:solidFill>
                <a:srgbClr val="75757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5509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7A3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2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2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2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2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 f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2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2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rgbClr val="757575"/>
                </a:solidFill>
                <a:latin typeface="Courier New"/>
                <a:ea typeface="Courier New"/>
                <a:cs typeface="Courier New"/>
                <a:sym typeface="Courier New"/>
              </a:rPr>
              <a:t>% X = female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200">
              <a:solidFill>
                <a:srgbClr val="757575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6666475" y="1518925"/>
            <a:ext cx="4357500" cy="7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\=/2</a:t>
            </a:r>
            <a:r>
              <a:rPr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 </a:t>
            </a:r>
            <a:r>
              <a:rPr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can be used to check for </a:t>
            </a:r>
            <a:r>
              <a:rPr i="1" lang="en-US"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terms that do not match</a:t>
            </a:r>
            <a:endParaRPr sz="2100"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5509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6858625" y="2581225"/>
            <a:ext cx="4746600" cy="3592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\=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2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female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2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 female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rgbClr val="757575"/>
                </a:solidFill>
                <a:latin typeface="Courier New"/>
                <a:ea typeface="Courier New"/>
                <a:cs typeface="Courier New"/>
                <a:sym typeface="Courier New"/>
              </a:rPr>
              <a:t>% false</a:t>
            </a:r>
            <a:endParaRPr i="1" sz="2200">
              <a:solidFill>
                <a:srgbClr val="75757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75757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\=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2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female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2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 male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	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rgbClr val="757575"/>
                </a:solidFill>
                <a:latin typeface="Courier New"/>
                <a:ea typeface="Courier New"/>
                <a:cs typeface="Courier New"/>
                <a:sym typeface="Courier New"/>
              </a:rPr>
              <a:t>% true</a:t>
            </a:r>
            <a:endParaRPr sz="2200">
              <a:solidFill>
                <a:srgbClr val="75757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5509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7A3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?- \=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2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2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2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2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 f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2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2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r>
              <a:rPr lang="en-US" sz="22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	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rgbClr val="757575"/>
                </a:solidFill>
                <a:latin typeface="Courier New"/>
                <a:ea typeface="Courier New"/>
                <a:cs typeface="Courier New"/>
                <a:sym typeface="Courier New"/>
              </a:rPr>
              <a:t>% true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200">
              <a:solidFill>
                <a:srgbClr val="757575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idx="4294967295" type="title"/>
          </p:nvPr>
        </p:nvSpPr>
        <p:spPr>
          <a:xfrm>
            <a:off x="838200" y="365125"/>
            <a:ext cx="105156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Search tree example</a:t>
            </a:r>
            <a:endParaRPr i="1">
              <a:solidFill>
                <a:srgbClr val="F5AB00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pic>
        <p:nvPicPr>
          <p:cNvPr id="184" name="Google Shape;1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3899" y="238734"/>
            <a:ext cx="2442821" cy="110368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1678075" y="2367475"/>
            <a:ext cx="64500" cy="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8408475" y="15189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Knowledge base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8408475" y="2129725"/>
            <a:ext cx="3372000" cy="2639400"/>
          </a:xfrm>
          <a:prstGeom prst="rect">
            <a:avLst/>
          </a:prstGeom>
          <a:noFill/>
          <a:ln cap="flat" cmpd="sng" w="19050">
            <a:solidFill>
              <a:srgbClr val="224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8408475" y="49333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Query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8408475" y="5544125"/>
            <a:ext cx="3372000" cy="608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?- 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.</a:t>
            </a:r>
            <a:endParaRPr sz="26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2766175" y="151892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2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idx="4294967295" type="title"/>
          </p:nvPr>
        </p:nvSpPr>
        <p:spPr>
          <a:xfrm>
            <a:off x="838200" y="365125"/>
            <a:ext cx="105156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Search tree example</a:t>
            </a:r>
            <a:endParaRPr i="1">
              <a:solidFill>
                <a:srgbClr val="F5AB00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pic>
        <p:nvPicPr>
          <p:cNvPr id="197" name="Google Shape;19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3899" y="238734"/>
            <a:ext cx="2442821" cy="110368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1678075" y="2367475"/>
            <a:ext cx="64500" cy="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8408475" y="15189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Knowledge base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8408475" y="2129725"/>
            <a:ext cx="3372000" cy="2639400"/>
          </a:xfrm>
          <a:prstGeom prst="rect">
            <a:avLst/>
          </a:prstGeom>
          <a:noFill/>
          <a:ln cap="flat" cmpd="sng" w="19050">
            <a:solidFill>
              <a:srgbClr val="224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8408475" y="49333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Query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8408475" y="5544125"/>
            <a:ext cx="3372000" cy="608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?- 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.</a:t>
            </a:r>
            <a:endParaRPr sz="26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2766175" y="151892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2300"/>
          </a:p>
        </p:txBody>
      </p:sp>
      <p:cxnSp>
        <p:nvCxnSpPr>
          <p:cNvPr id="204" name="Google Shape;204;p22"/>
          <p:cNvCxnSpPr>
            <a:stCxn id="203" idx="2"/>
            <a:endCxn id="205" idx="0"/>
          </p:cNvCxnSpPr>
          <p:nvPr/>
        </p:nvCxnSpPr>
        <p:spPr>
          <a:xfrm flipH="1">
            <a:off x="1552225" y="2242225"/>
            <a:ext cx="189240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06" name="Google Shape;206;p22"/>
          <p:cNvSpPr/>
          <p:nvPr/>
        </p:nvSpPr>
        <p:spPr>
          <a:xfrm>
            <a:off x="7763525" y="3002775"/>
            <a:ext cx="495900" cy="40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52437"/>
              </a:solidFill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1055850" y="3002775"/>
            <a:ext cx="1188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r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/>
          <p:nvPr>
            <p:ph idx="4294967295" type="title"/>
          </p:nvPr>
        </p:nvSpPr>
        <p:spPr>
          <a:xfrm>
            <a:off x="838200" y="365125"/>
            <a:ext cx="105156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Search tree example</a:t>
            </a:r>
            <a:endParaRPr i="1">
              <a:solidFill>
                <a:srgbClr val="F5AB00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pic>
        <p:nvPicPr>
          <p:cNvPr id="214" name="Google Shape;2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3899" y="238734"/>
            <a:ext cx="2442821" cy="110368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 txBox="1"/>
          <p:nvPr/>
        </p:nvSpPr>
        <p:spPr>
          <a:xfrm>
            <a:off x="1678075" y="2367475"/>
            <a:ext cx="64500" cy="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8408475" y="15189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Knowledge base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8408475" y="2129725"/>
            <a:ext cx="3372000" cy="2639400"/>
          </a:xfrm>
          <a:prstGeom prst="rect">
            <a:avLst/>
          </a:prstGeom>
          <a:noFill/>
          <a:ln cap="flat" cmpd="sng" w="19050">
            <a:solidFill>
              <a:srgbClr val="224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8408475" y="49333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Query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8408475" y="5544125"/>
            <a:ext cx="3372000" cy="608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?- 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.</a:t>
            </a:r>
            <a:endParaRPr sz="26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2766175" y="151892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2300"/>
          </a:p>
        </p:txBody>
      </p:sp>
      <p:sp>
        <p:nvSpPr>
          <p:cNvPr id="221" name="Google Shape;221;p23"/>
          <p:cNvSpPr txBox="1"/>
          <p:nvPr/>
        </p:nvSpPr>
        <p:spPr>
          <a:xfrm>
            <a:off x="747175" y="1899200"/>
            <a:ext cx="1926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 </a:t>
            </a:r>
            <a:r>
              <a:rPr lang="en-US" sz="35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 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2300">
              <a:solidFill>
                <a:srgbClr val="055092"/>
              </a:solidFill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1055850" y="3002775"/>
            <a:ext cx="992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r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223" name="Google Shape;223;p23"/>
          <p:cNvCxnSpPr>
            <a:stCxn id="220" idx="2"/>
            <a:endCxn id="222" idx="0"/>
          </p:cNvCxnSpPr>
          <p:nvPr/>
        </p:nvCxnSpPr>
        <p:spPr>
          <a:xfrm flipH="1">
            <a:off x="1552225" y="2242225"/>
            <a:ext cx="189240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24" name="Google Shape;224;p23"/>
          <p:cNvSpPr/>
          <p:nvPr/>
        </p:nvSpPr>
        <p:spPr>
          <a:xfrm>
            <a:off x="7763525" y="3002775"/>
            <a:ext cx="495900" cy="40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52437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/>
          <p:nvPr>
            <p:ph idx="4294967295" type="title"/>
          </p:nvPr>
        </p:nvSpPr>
        <p:spPr>
          <a:xfrm>
            <a:off x="838200" y="365125"/>
            <a:ext cx="105156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Search tree example</a:t>
            </a:r>
            <a:endParaRPr i="1">
              <a:solidFill>
                <a:srgbClr val="F5AB00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pic>
        <p:nvPicPr>
          <p:cNvPr id="231" name="Google Shape;2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3899" y="238734"/>
            <a:ext cx="2442821" cy="110368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 txBox="1"/>
          <p:nvPr/>
        </p:nvSpPr>
        <p:spPr>
          <a:xfrm>
            <a:off x="1678075" y="2367475"/>
            <a:ext cx="64500" cy="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8408475" y="15189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Knowledge base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34" name="Google Shape;234;p24"/>
          <p:cNvSpPr txBox="1"/>
          <p:nvPr/>
        </p:nvSpPr>
        <p:spPr>
          <a:xfrm>
            <a:off x="8408475" y="2129725"/>
            <a:ext cx="3372000" cy="2639400"/>
          </a:xfrm>
          <a:prstGeom prst="rect">
            <a:avLst/>
          </a:prstGeom>
          <a:noFill/>
          <a:ln cap="flat" cmpd="sng" w="19050">
            <a:solidFill>
              <a:srgbClr val="224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5" name="Google Shape;235;p24"/>
          <p:cNvSpPr txBox="1"/>
          <p:nvPr/>
        </p:nvSpPr>
        <p:spPr>
          <a:xfrm>
            <a:off x="8408475" y="49333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Query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8408475" y="5544125"/>
            <a:ext cx="3372000" cy="608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?- 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.</a:t>
            </a:r>
            <a:endParaRPr sz="26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2766175" y="151892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2300"/>
          </a:p>
        </p:txBody>
      </p:sp>
      <p:sp>
        <p:nvSpPr>
          <p:cNvPr id="238" name="Google Shape;238;p24"/>
          <p:cNvSpPr txBox="1"/>
          <p:nvPr/>
        </p:nvSpPr>
        <p:spPr>
          <a:xfrm>
            <a:off x="747175" y="1899200"/>
            <a:ext cx="1926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 </a:t>
            </a:r>
            <a:r>
              <a:rPr lang="en-US" sz="35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 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2300">
              <a:solidFill>
                <a:srgbClr val="055092"/>
              </a:solidFill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1055850" y="3002775"/>
            <a:ext cx="992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r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240" name="Google Shape;240;p24"/>
          <p:cNvCxnSpPr>
            <a:stCxn id="237" idx="2"/>
            <a:endCxn id="239" idx="0"/>
          </p:cNvCxnSpPr>
          <p:nvPr/>
        </p:nvCxnSpPr>
        <p:spPr>
          <a:xfrm flipH="1">
            <a:off x="1552225" y="2242225"/>
            <a:ext cx="189240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41" name="Google Shape;241;p24"/>
          <p:cNvSpPr/>
          <p:nvPr/>
        </p:nvSpPr>
        <p:spPr>
          <a:xfrm>
            <a:off x="7775300" y="2622500"/>
            <a:ext cx="495900" cy="40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1055850" y="4445575"/>
            <a:ext cx="992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E52437"/>
                </a:solidFill>
                <a:latin typeface="Domine"/>
                <a:ea typeface="Domine"/>
                <a:cs typeface="Domine"/>
                <a:sym typeface="Domine"/>
              </a:rPr>
              <a:t>fail</a:t>
            </a:r>
            <a:endParaRPr sz="3500">
              <a:solidFill>
                <a:srgbClr val="E52437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243" name="Google Shape;243;p24"/>
          <p:cNvCxnSpPr>
            <a:stCxn id="239" idx="2"/>
            <a:endCxn id="242" idx="0"/>
          </p:cNvCxnSpPr>
          <p:nvPr/>
        </p:nvCxnSpPr>
        <p:spPr>
          <a:xfrm>
            <a:off x="1552200" y="3726075"/>
            <a:ext cx="0" cy="71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"/>
          <p:cNvSpPr txBox="1"/>
          <p:nvPr>
            <p:ph idx="4294967295" type="title"/>
          </p:nvPr>
        </p:nvSpPr>
        <p:spPr>
          <a:xfrm>
            <a:off x="838200" y="365125"/>
            <a:ext cx="105156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Search tree example</a:t>
            </a:r>
            <a:endParaRPr i="1">
              <a:solidFill>
                <a:srgbClr val="F5AB00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pic>
        <p:nvPicPr>
          <p:cNvPr id="250" name="Google Shape;25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3899" y="238734"/>
            <a:ext cx="2442821" cy="110368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1678075" y="2367475"/>
            <a:ext cx="64500" cy="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52" name="Google Shape;252;p25"/>
          <p:cNvSpPr txBox="1"/>
          <p:nvPr/>
        </p:nvSpPr>
        <p:spPr>
          <a:xfrm>
            <a:off x="8408475" y="15189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Knowledge base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53" name="Google Shape;253;p25"/>
          <p:cNvSpPr txBox="1"/>
          <p:nvPr/>
        </p:nvSpPr>
        <p:spPr>
          <a:xfrm>
            <a:off x="8408475" y="2129725"/>
            <a:ext cx="3372000" cy="2639400"/>
          </a:xfrm>
          <a:prstGeom prst="rect">
            <a:avLst/>
          </a:prstGeom>
          <a:noFill/>
          <a:ln cap="flat" cmpd="sng" w="19050">
            <a:solidFill>
              <a:srgbClr val="224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8408475" y="49333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Query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55" name="Google Shape;255;p25"/>
          <p:cNvSpPr txBox="1"/>
          <p:nvPr/>
        </p:nvSpPr>
        <p:spPr>
          <a:xfrm>
            <a:off x="8408475" y="5544125"/>
            <a:ext cx="3372000" cy="608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?- 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.</a:t>
            </a:r>
            <a:endParaRPr sz="26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56" name="Google Shape;256;p25"/>
          <p:cNvSpPr txBox="1"/>
          <p:nvPr/>
        </p:nvSpPr>
        <p:spPr>
          <a:xfrm>
            <a:off x="2766175" y="151892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2300"/>
          </a:p>
        </p:txBody>
      </p:sp>
      <p:sp>
        <p:nvSpPr>
          <p:cNvPr id="257" name="Google Shape;257;p25"/>
          <p:cNvSpPr txBox="1"/>
          <p:nvPr/>
        </p:nvSpPr>
        <p:spPr>
          <a:xfrm>
            <a:off x="747175" y="1899200"/>
            <a:ext cx="1926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 </a:t>
            </a:r>
            <a:r>
              <a:rPr lang="en-US" sz="35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 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2300">
              <a:solidFill>
                <a:srgbClr val="055092"/>
              </a:solidFill>
            </a:endParaRPr>
          </a:p>
        </p:txBody>
      </p:sp>
      <p:sp>
        <p:nvSpPr>
          <p:cNvPr id="258" name="Google Shape;258;p25"/>
          <p:cNvSpPr txBox="1"/>
          <p:nvPr/>
        </p:nvSpPr>
        <p:spPr>
          <a:xfrm>
            <a:off x="1055850" y="3002775"/>
            <a:ext cx="992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r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259" name="Google Shape;259;p25"/>
          <p:cNvCxnSpPr>
            <a:stCxn id="256" idx="2"/>
            <a:endCxn id="258" idx="0"/>
          </p:cNvCxnSpPr>
          <p:nvPr/>
        </p:nvCxnSpPr>
        <p:spPr>
          <a:xfrm flipH="1">
            <a:off x="1552225" y="2242225"/>
            <a:ext cx="189240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60" name="Google Shape;260;p25"/>
          <p:cNvSpPr/>
          <p:nvPr/>
        </p:nvSpPr>
        <p:spPr>
          <a:xfrm>
            <a:off x="7810575" y="3426100"/>
            <a:ext cx="495900" cy="40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1055850" y="4445575"/>
            <a:ext cx="992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E52437"/>
                </a:solidFill>
                <a:latin typeface="Domine"/>
                <a:ea typeface="Domine"/>
                <a:cs typeface="Domine"/>
                <a:sym typeface="Domine"/>
              </a:rPr>
              <a:t>fail</a:t>
            </a:r>
            <a:endParaRPr sz="3500">
              <a:solidFill>
                <a:srgbClr val="E52437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262" name="Google Shape;262;p25"/>
          <p:cNvCxnSpPr>
            <a:stCxn id="258" idx="2"/>
            <a:endCxn id="261" idx="0"/>
          </p:cNvCxnSpPr>
          <p:nvPr/>
        </p:nvCxnSpPr>
        <p:spPr>
          <a:xfrm>
            <a:off x="1552200" y="3726075"/>
            <a:ext cx="0" cy="71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63" name="Google Shape;263;p25"/>
          <p:cNvSpPr txBox="1"/>
          <p:nvPr/>
        </p:nvSpPr>
        <p:spPr>
          <a:xfrm>
            <a:off x="2896225" y="3002775"/>
            <a:ext cx="1096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s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264" name="Google Shape;264;p25"/>
          <p:cNvCxnSpPr>
            <a:stCxn id="256" idx="2"/>
            <a:endCxn id="263" idx="0"/>
          </p:cNvCxnSpPr>
          <p:nvPr/>
        </p:nvCxnSpPr>
        <p:spPr>
          <a:xfrm>
            <a:off x="3444625" y="2242225"/>
            <a:ext cx="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>
            <p:ph idx="4294967295" type="title"/>
          </p:nvPr>
        </p:nvSpPr>
        <p:spPr>
          <a:xfrm>
            <a:off x="838200" y="365125"/>
            <a:ext cx="105156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Search tree example</a:t>
            </a:r>
            <a:endParaRPr i="1">
              <a:solidFill>
                <a:srgbClr val="F5AB00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pic>
        <p:nvPicPr>
          <p:cNvPr id="271" name="Google Shape;27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3899" y="238734"/>
            <a:ext cx="2442821" cy="1103684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1678075" y="2367475"/>
            <a:ext cx="64500" cy="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8408475" y="15189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Knowledge base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8408475" y="2129725"/>
            <a:ext cx="3372000" cy="2639400"/>
          </a:xfrm>
          <a:prstGeom prst="rect">
            <a:avLst/>
          </a:prstGeom>
          <a:noFill/>
          <a:ln cap="flat" cmpd="sng" w="19050">
            <a:solidFill>
              <a:srgbClr val="224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5" name="Google Shape;275;p26"/>
          <p:cNvSpPr txBox="1"/>
          <p:nvPr/>
        </p:nvSpPr>
        <p:spPr>
          <a:xfrm>
            <a:off x="8408475" y="49333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Query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8408475" y="5544125"/>
            <a:ext cx="3372000" cy="608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?- 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.</a:t>
            </a:r>
            <a:endParaRPr sz="26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2766175" y="151892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2300"/>
          </a:p>
        </p:txBody>
      </p:sp>
      <p:sp>
        <p:nvSpPr>
          <p:cNvPr id="278" name="Google Shape;278;p26"/>
          <p:cNvSpPr txBox="1"/>
          <p:nvPr/>
        </p:nvSpPr>
        <p:spPr>
          <a:xfrm>
            <a:off x="747175" y="1899200"/>
            <a:ext cx="1926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 </a:t>
            </a:r>
            <a:r>
              <a:rPr lang="en-US" sz="35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 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2300">
              <a:solidFill>
                <a:srgbClr val="055092"/>
              </a:solidFill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1055850" y="3002775"/>
            <a:ext cx="992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r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280" name="Google Shape;280;p26"/>
          <p:cNvCxnSpPr>
            <a:stCxn id="277" idx="2"/>
            <a:endCxn id="279" idx="0"/>
          </p:cNvCxnSpPr>
          <p:nvPr/>
        </p:nvCxnSpPr>
        <p:spPr>
          <a:xfrm flipH="1">
            <a:off x="1552225" y="2242225"/>
            <a:ext cx="189240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81" name="Google Shape;281;p26"/>
          <p:cNvSpPr/>
          <p:nvPr/>
        </p:nvSpPr>
        <p:spPr>
          <a:xfrm>
            <a:off x="7810550" y="3426100"/>
            <a:ext cx="495900" cy="40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282" name="Google Shape;282;p26"/>
          <p:cNvSpPr txBox="1"/>
          <p:nvPr/>
        </p:nvSpPr>
        <p:spPr>
          <a:xfrm>
            <a:off x="1055850" y="4445575"/>
            <a:ext cx="992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E52437"/>
                </a:solidFill>
                <a:latin typeface="Domine"/>
                <a:ea typeface="Domine"/>
                <a:cs typeface="Domine"/>
                <a:sym typeface="Domine"/>
              </a:rPr>
              <a:t>fail</a:t>
            </a:r>
            <a:endParaRPr sz="3500">
              <a:solidFill>
                <a:srgbClr val="E52437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283" name="Google Shape;283;p26"/>
          <p:cNvCxnSpPr>
            <a:stCxn id="279" idx="2"/>
            <a:endCxn id="282" idx="0"/>
          </p:cNvCxnSpPr>
          <p:nvPr/>
        </p:nvCxnSpPr>
        <p:spPr>
          <a:xfrm>
            <a:off x="1552200" y="3726075"/>
            <a:ext cx="0" cy="71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84" name="Google Shape;284;p26"/>
          <p:cNvSpPr txBox="1"/>
          <p:nvPr/>
        </p:nvSpPr>
        <p:spPr>
          <a:xfrm>
            <a:off x="2896225" y="3002775"/>
            <a:ext cx="1096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s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285" name="Google Shape;285;p26"/>
          <p:cNvCxnSpPr>
            <a:stCxn id="277" idx="2"/>
            <a:endCxn id="284" idx="0"/>
          </p:cNvCxnSpPr>
          <p:nvPr/>
        </p:nvCxnSpPr>
        <p:spPr>
          <a:xfrm>
            <a:off x="3444625" y="2242225"/>
            <a:ext cx="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86" name="Google Shape;286;p26"/>
          <p:cNvSpPr txBox="1"/>
          <p:nvPr/>
        </p:nvSpPr>
        <p:spPr>
          <a:xfrm>
            <a:off x="1983825" y="2540200"/>
            <a:ext cx="192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 txBox="1"/>
          <p:nvPr>
            <p:ph idx="4294967295" type="title"/>
          </p:nvPr>
        </p:nvSpPr>
        <p:spPr>
          <a:xfrm>
            <a:off x="838200" y="365125"/>
            <a:ext cx="105156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Search tree example</a:t>
            </a:r>
            <a:endParaRPr i="1">
              <a:solidFill>
                <a:srgbClr val="F5AB00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pic>
        <p:nvPicPr>
          <p:cNvPr id="293" name="Google Shape;29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3899" y="238734"/>
            <a:ext cx="2442821" cy="1103684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7"/>
          <p:cNvSpPr txBox="1"/>
          <p:nvPr/>
        </p:nvSpPr>
        <p:spPr>
          <a:xfrm>
            <a:off x="1678075" y="2367475"/>
            <a:ext cx="64500" cy="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95" name="Google Shape;295;p27"/>
          <p:cNvSpPr txBox="1"/>
          <p:nvPr/>
        </p:nvSpPr>
        <p:spPr>
          <a:xfrm>
            <a:off x="8408475" y="15189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Knowledge base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8408475" y="2129725"/>
            <a:ext cx="3372000" cy="2639400"/>
          </a:xfrm>
          <a:prstGeom prst="rect">
            <a:avLst/>
          </a:prstGeom>
          <a:noFill/>
          <a:ln cap="flat" cmpd="sng" w="19050">
            <a:solidFill>
              <a:srgbClr val="224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7" name="Google Shape;297;p27"/>
          <p:cNvSpPr txBox="1"/>
          <p:nvPr/>
        </p:nvSpPr>
        <p:spPr>
          <a:xfrm>
            <a:off x="8408475" y="49333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Query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98" name="Google Shape;298;p27"/>
          <p:cNvSpPr txBox="1"/>
          <p:nvPr/>
        </p:nvSpPr>
        <p:spPr>
          <a:xfrm>
            <a:off x="8408475" y="5544125"/>
            <a:ext cx="3372000" cy="608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?- 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.</a:t>
            </a:r>
            <a:endParaRPr sz="26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99" name="Google Shape;299;p27"/>
          <p:cNvSpPr txBox="1"/>
          <p:nvPr/>
        </p:nvSpPr>
        <p:spPr>
          <a:xfrm>
            <a:off x="2766175" y="151892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2300"/>
          </a:p>
        </p:txBody>
      </p:sp>
      <p:sp>
        <p:nvSpPr>
          <p:cNvPr id="300" name="Google Shape;300;p27"/>
          <p:cNvSpPr txBox="1"/>
          <p:nvPr/>
        </p:nvSpPr>
        <p:spPr>
          <a:xfrm>
            <a:off x="747175" y="1899200"/>
            <a:ext cx="1926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 </a:t>
            </a:r>
            <a:r>
              <a:rPr lang="en-US" sz="35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 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2300">
              <a:solidFill>
                <a:srgbClr val="055092"/>
              </a:solidFill>
            </a:endParaRPr>
          </a:p>
        </p:txBody>
      </p:sp>
      <p:sp>
        <p:nvSpPr>
          <p:cNvPr id="301" name="Google Shape;301;p27"/>
          <p:cNvSpPr txBox="1"/>
          <p:nvPr/>
        </p:nvSpPr>
        <p:spPr>
          <a:xfrm>
            <a:off x="1055850" y="3002775"/>
            <a:ext cx="992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r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302" name="Google Shape;302;p27"/>
          <p:cNvCxnSpPr>
            <a:stCxn id="299" idx="2"/>
            <a:endCxn id="301" idx="0"/>
          </p:cNvCxnSpPr>
          <p:nvPr/>
        </p:nvCxnSpPr>
        <p:spPr>
          <a:xfrm flipH="1">
            <a:off x="1552225" y="2242225"/>
            <a:ext cx="189240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03" name="Google Shape;303;p27"/>
          <p:cNvSpPr/>
          <p:nvPr/>
        </p:nvSpPr>
        <p:spPr>
          <a:xfrm>
            <a:off x="7822300" y="2242225"/>
            <a:ext cx="495900" cy="40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304" name="Google Shape;304;p27"/>
          <p:cNvSpPr txBox="1"/>
          <p:nvPr/>
        </p:nvSpPr>
        <p:spPr>
          <a:xfrm>
            <a:off x="1055850" y="4445575"/>
            <a:ext cx="992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E52437"/>
                </a:solidFill>
                <a:latin typeface="Domine"/>
                <a:ea typeface="Domine"/>
                <a:cs typeface="Domine"/>
                <a:sym typeface="Domine"/>
              </a:rPr>
              <a:t>fail</a:t>
            </a:r>
            <a:endParaRPr sz="3500">
              <a:solidFill>
                <a:srgbClr val="E52437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305" name="Google Shape;305;p27"/>
          <p:cNvCxnSpPr>
            <a:stCxn id="301" idx="2"/>
            <a:endCxn id="304" idx="0"/>
          </p:cNvCxnSpPr>
          <p:nvPr/>
        </p:nvCxnSpPr>
        <p:spPr>
          <a:xfrm>
            <a:off x="1552200" y="3726075"/>
            <a:ext cx="0" cy="71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06" name="Google Shape;306;p27"/>
          <p:cNvSpPr txBox="1"/>
          <p:nvPr/>
        </p:nvSpPr>
        <p:spPr>
          <a:xfrm>
            <a:off x="2896225" y="3002775"/>
            <a:ext cx="1096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s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307" name="Google Shape;307;p27"/>
          <p:cNvCxnSpPr>
            <a:stCxn id="299" idx="2"/>
            <a:endCxn id="306" idx="0"/>
          </p:cNvCxnSpPr>
          <p:nvPr/>
        </p:nvCxnSpPr>
        <p:spPr>
          <a:xfrm>
            <a:off x="3444625" y="2242225"/>
            <a:ext cx="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08" name="Google Shape;308;p27"/>
          <p:cNvSpPr txBox="1"/>
          <p:nvPr/>
        </p:nvSpPr>
        <p:spPr>
          <a:xfrm>
            <a:off x="1983825" y="2540200"/>
            <a:ext cx="192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  <p:sp>
        <p:nvSpPr>
          <p:cNvPr id="309" name="Google Shape;309;p27"/>
          <p:cNvSpPr txBox="1"/>
          <p:nvPr/>
        </p:nvSpPr>
        <p:spPr>
          <a:xfrm>
            <a:off x="2402425" y="4445425"/>
            <a:ext cx="2084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accent6"/>
                </a:solidFill>
                <a:latin typeface="Domine"/>
                <a:ea typeface="Domine"/>
                <a:cs typeface="Domine"/>
                <a:sym typeface="Domine"/>
              </a:rPr>
              <a:t>succeed</a:t>
            </a:r>
            <a:endParaRPr sz="3500">
              <a:solidFill>
                <a:schemeClr val="accent6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310" name="Google Shape;310;p27"/>
          <p:cNvCxnSpPr>
            <a:endCxn id="309" idx="0"/>
          </p:cNvCxnSpPr>
          <p:nvPr/>
        </p:nvCxnSpPr>
        <p:spPr>
          <a:xfrm>
            <a:off x="3444625" y="3726025"/>
            <a:ext cx="0" cy="71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8"/>
          <p:cNvSpPr txBox="1"/>
          <p:nvPr>
            <p:ph idx="4294967295" type="title"/>
          </p:nvPr>
        </p:nvSpPr>
        <p:spPr>
          <a:xfrm>
            <a:off x="838200" y="365125"/>
            <a:ext cx="105156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Search tree example</a:t>
            </a:r>
            <a:endParaRPr i="1">
              <a:solidFill>
                <a:srgbClr val="F5AB00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pic>
        <p:nvPicPr>
          <p:cNvPr id="317" name="Google Shape;31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3899" y="238734"/>
            <a:ext cx="2442821" cy="1103684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8"/>
          <p:cNvSpPr txBox="1"/>
          <p:nvPr/>
        </p:nvSpPr>
        <p:spPr>
          <a:xfrm>
            <a:off x="1678075" y="2367475"/>
            <a:ext cx="64500" cy="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19" name="Google Shape;319;p28"/>
          <p:cNvSpPr txBox="1"/>
          <p:nvPr/>
        </p:nvSpPr>
        <p:spPr>
          <a:xfrm>
            <a:off x="8408475" y="15189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Knowledge base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320" name="Google Shape;320;p28"/>
          <p:cNvSpPr txBox="1"/>
          <p:nvPr/>
        </p:nvSpPr>
        <p:spPr>
          <a:xfrm>
            <a:off x="8408475" y="2129725"/>
            <a:ext cx="3372000" cy="2639400"/>
          </a:xfrm>
          <a:prstGeom prst="rect">
            <a:avLst/>
          </a:prstGeom>
          <a:noFill/>
          <a:ln cap="flat" cmpd="sng" w="19050">
            <a:solidFill>
              <a:srgbClr val="224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1" name="Google Shape;321;p28"/>
          <p:cNvSpPr txBox="1"/>
          <p:nvPr/>
        </p:nvSpPr>
        <p:spPr>
          <a:xfrm>
            <a:off x="8408475" y="49333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Query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322" name="Google Shape;322;p28"/>
          <p:cNvSpPr txBox="1"/>
          <p:nvPr/>
        </p:nvSpPr>
        <p:spPr>
          <a:xfrm>
            <a:off x="8408475" y="5544125"/>
            <a:ext cx="3372000" cy="608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?- 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.</a:t>
            </a:r>
            <a:endParaRPr sz="26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323" name="Google Shape;323;p28"/>
          <p:cNvSpPr txBox="1"/>
          <p:nvPr/>
        </p:nvSpPr>
        <p:spPr>
          <a:xfrm>
            <a:off x="2766175" y="151892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2300"/>
          </a:p>
        </p:txBody>
      </p:sp>
      <p:sp>
        <p:nvSpPr>
          <p:cNvPr id="324" name="Google Shape;324;p28"/>
          <p:cNvSpPr txBox="1"/>
          <p:nvPr/>
        </p:nvSpPr>
        <p:spPr>
          <a:xfrm>
            <a:off x="747175" y="1899200"/>
            <a:ext cx="1926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 </a:t>
            </a:r>
            <a:r>
              <a:rPr lang="en-US" sz="35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 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2300">
              <a:solidFill>
                <a:srgbClr val="055092"/>
              </a:solidFill>
            </a:endParaRPr>
          </a:p>
        </p:txBody>
      </p:sp>
      <p:sp>
        <p:nvSpPr>
          <p:cNvPr id="325" name="Google Shape;325;p28"/>
          <p:cNvSpPr txBox="1"/>
          <p:nvPr/>
        </p:nvSpPr>
        <p:spPr>
          <a:xfrm>
            <a:off x="1055850" y="3002775"/>
            <a:ext cx="992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r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326" name="Google Shape;326;p28"/>
          <p:cNvCxnSpPr>
            <a:stCxn id="323" idx="2"/>
            <a:endCxn id="325" idx="0"/>
          </p:cNvCxnSpPr>
          <p:nvPr/>
        </p:nvCxnSpPr>
        <p:spPr>
          <a:xfrm flipH="1">
            <a:off x="1552225" y="2242225"/>
            <a:ext cx="189240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27" name="Google Shape;327;p28"/>
          <p:cNvSpPr/>
          <p:nvPr/>
        </p:nvSpPr>
        <p:spPr>
          <a:xfrm>
            <a:off x="7810550" y="3882625"/>
            <a:ext cx="495900" cy="40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328" name="Google Shape;328;p28"/>
          <p:cNvSpPr txBox="1"/>
          <p:nvPr/>
        </p:nvSpPr>
        <p:spPr>
          <a:xfrm>
            <a:off x="1055850" y="4445575"/>
            <a:ext cx="992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E52437"/>
                </a:solidFill>
                <a:latin typeface="Domine"/>
                <a:ea typeface="Domine"/>
                <a:cs typeface="Domine"/>
                <a:sym typeface="Domine"/>
              </a:rPr>
              <a:t>fail</a:t>
            </a:r>
            <a:endParaRPr sz="3500">
              <a:solidFill>
                <a:srgbClr val="E52437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329" name="Google Shape;329;p28"/>
          <p:cNvCxnSpPr>
            <a:stCxn id="325" idx="2"/>
            <a:endCxn id="328" idx="0"/>
          </p:cNvCxnSpPr>
          <p:nvPr/>
        </p:nvCxnSpPr>
        <p:spPr>
          <a:xfrm>
            <a:off x="1552200" y="3726075"/>
            <a:ext cx="0" cy="71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30" name="Google Shape;330;p28"/>
          <p:cNvSpPr txBox="1"/>
          <p:nvPr/>
        </p:nvSpPr>
        <p:spPr>
          <a:xfrm>
            <a:off x="2896225" y="3002775"/>
            <a:ext cx="1096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s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331" name="Google Shape;331;p28"/>
          <p:cNvCxnSpPr>
            <a:stCxn id="323" idx="2"/>
            <a:endCxn id="330" idx="0"/>
          </p:cNvCxnSpPr>
          <p:nvPr/>
        </p:nvCxnSpPr>
        <p:spPr>
          <a:xfrm>
            <a:off x="3444625" y="2242225"/>
            <a:ext cx="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32" name="Google Shape;332;p28"/>
          <p:cNvSpPr txBox="1"/>
          <p:nvPr/>
        </p:nvSpPr>
        <p:spPr>
          <a:xfrm>
            <a:off x="1983825" y="2540200"/>
            <a:ext cx="192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  <p:sp>
        <p:nvSpPr>
          <p:cNvPr id="333" name="Google Shape;333;p28"/>
          <p:cNvSpPr txBox="1"/>
          <p:nvPr/>
        </p:nvSpPr>
        <p:spPr>
          <a:xfrm>
            <a:off x="2402425" y="4445425"/>
            <a:ext cx="2084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accent6"/>
                </a:solidFill>
                <a:latin typeface="Domine"/>
                <a:ea typeface="Domine"/>
                <a:cs typeface="Domine"/>
                <a:sym typeface="Domine"/>
              </a:rPr>
              <a:t>succeed</a:t>
            </a:r>
            <a:endParaRPr sz="3500">
              <a:solidFill>
                <a:schemeClr val="accent6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334" name="Google Shape;334;p28"/>
          <p:cNvCxnSpPr>
            <a:endCxn id="333" idx="0"/>
          </p:cNvCxnSpPr>
          <p:nvPr/>
        </p:nvCxnSpPr>
        <p:spPr>
          <a:xfrm>
            <a:off x="3444625" y="3726025"/>
            <a:ext cx="0" cy="71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35" name="Google Shape;335;p28"/>
          <p:cNvSpPr txBox="1"/>
          <p:nvPr/>
        </p:nvSpPr>
        <p:spPr>
          <a:xfrm>
            <a:off x="5013179" y="300277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t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336" name="Google Shape;336;p28"/>
          <p:cNvCxnSpPr>
            <a:stCxn id="335" idx="0"/>
            <a:endCxn id="323" idx="2"/>
          </p:cNvCxnSpPr>
          <p:nvPr/>
        </p:nvCxnSpPr>
        <p:spPr>
          <a:xfrm rot="10800000">
            <a:off x="3444629" y="2242275"/>
            <a:ext cx="224700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9"/>
          <p:cNvSpPr txBox="1"/>
          <p:nvPr>
            <p:ph idx="4294967295" type="title"/>
          </p:nvPr>
        </p:nvSpPr>
        <p:spPr>
          <a:xfrm>
            <a:off x="838200" y="365125"/>
            <a:ext cx="105156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Search tree example</a:t>
            </a:r>
            <a:endParaRPr i="1">
              <a:solidFill>
                <a:srgbClr val="F5AB00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pic>
        <p:nvPicPr>
          <p:cNvPr id="343" name="Google Shape;34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3899" y="238734"/>
            <a:ext cx="2442821" cy="1103684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9"/>
          <p:cNvSpPr txBox="1"/>
          <p:nvPr/>
        </p:nvSpPr>
        <p:spPr>
          <a:xfrm>
            <a:off x="1678075" y="2367475"/>
            <a:ext cx="64500" cy="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45" name="Google Shape;345;p29"/>
          <p:cNvSpPr txBox="1"/>
          <p:nvPr/>
        </p:nvSpPr>
        <p:spPr>
          <a:xfrm>
            <a:off x="8408475" y="15189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Knowledge base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346" name="Google Shape;346;p29"/>
          <p:cNvSpPr txBox="1"/>
          <p:nvPr/>
        </p:nvSpPr>
        <p:spPr>
          <a:xfrm>
            <a:off x="8408475" y="2129725"/>
            <a:ext cx="3372000" cy="2639400"/>
          </a:xfrm>
          <a:prstGeom prst="rect">
            <a:avLst/>
          </a:prstGeom>
          <a:noFill/>
          <a:ln cap="flat" cmpd="sng" w="19050">
            <a:solidFill>
              <a:srgbClr val="224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7" name="Google Shape;347;p29"/>
          <p:cNvSpPr txBox="1"/>
          <p:nvPr/>
        </p:nvSpPr>
        <p:spPr>
          <a:xfrm>
            <a:off x="8408475" y="49333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Query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348" name="Google Shape;348;p29"/>
          <p:cNvSpPr txBox="1"/>
          <p:nvPr/>
        </p:nvSpPr>
        <p:spPr>
          <a:xfrm>
            <a:off x="8408475" y="5544125"/>
            <a:ext cx="3372000" cy="608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?- 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.</a:t>
            </a:r>
            <a:endParaRPr sz="26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349" name="Google Shape;349;p29"/>
          <p:cNvSpPr txBox="1"/>
          <p:nvPr/>
        </p:nvSpPr>
        <p:spPr>
          <a:xfrm>
            <a:off x="2766175" y="151892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2300"/>
          </a:p>
        </p:txBody>
      </p:sp>
      <p:sp>
        <p:nvSpPr>
          <p:cNvPr id="350" name="Google Shape;350;p29"/>
          <p:cNvSpPr txBox="1"/>
          <p:nvPr/>
        </p:nvSpPr>
        <p:spPr>
          <a:xfrm>
            <a:off x="747175" y="1899200"/>
            <a:ext cx="1926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35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2300">
              <a:solidFill>
                <a:srgbClr val="055092"/>
              </a:solidFill>
            </a:endParaRPr>
          </a:p>
        </p:txBody>
      </p:sp>
      <p:sp>
        <p:nvSpPr>
          <p:cNvPr id="351" name="Google Shape;351;p29"/>
          <p:cNvSpPr txBox="1"/>
          <p:nvPr/>
        </p:nvSpPr>
        <p:spPr>
          <a:xfrm>
            <a:off x="1055850" y="3002775"/>
            <a:ext cx="992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r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352" name="Google Shape;352;p29"/>
          <p:cNvCxnSpPr>
            <a:stCxn id="349" idx="2"/>
            <a:endCxn id="351" idx="0"/>
          </p:cNvCxnSpPr>
          <p:nvPr/>
        </p:nvCxnSpPr>
        <p:spPr>
          <a:xfrm flipH="1">
            <a:off x="1552225" y="2242225"/>
            <a:ext cx="189240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53" name="Google Shape;353;p29"/>
          <p:cNvSpPr/>
          <p:nvPr/>
        </p:nvSpPr>
        <p:spPr>
          <a:xfrm>
            <a:off x="7810550" y="3882625"/>
            <a:ext cx="495900" cy="40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354" name="Google Shape;354;p29"/>
          <p:cNvSpPr txBox="1"/>
          <p:nvPr/>
        </p:nvSpPr>
        <p:spPr>
          <a:xfrm>
            <a:off x="1055850" y="4445575"/>
            <a:ext cx="992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E52437"/>
                </a:solidFill>
                <a:latin typeface="Domine"/>
                <a:ea typeface="Domine"/>
                <a:cs typeface="Domine"/>
                <a:sym typeface="Domine"/>
              </a:rPr>
              <a:t>fail</a:t>
            </a:r>
            <a:endParaRPr sz="3500">
              <a:solidFill>
                <a:srgbClr val="E52437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355" name="Google Shape;355;p29"/>
          <p:cNvCxnSpPr>
            <a:stCxn id="351" idx="2"/>
            <a:endCxn id="354" idx="0"/>
          </p:cNvCxnSpPr>
          <p:nvPr/>
        </p:nvCxnSpPr>
        <p:spPr>
          <a:xfrm>
            <a:off x="1552200" y="3726075"/>
            <a:ext cx="0" cy="71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56" name="Google Shape;356;p29"/>
          <p:cNvSpPr txBox="1"/>
          <p:nvPr/>
        </p:nvSpPr>
        <p:spPr>
          <a:xfrm>
            <a:off x="2896225" y="3002775"/>
            <a:ext cx="1096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s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357" name="Google Shape;357;p29"/>
          <p:cNvCxnSpPr>
            <a:stCxn id="349" idx="2"/>
            <a:endCxn id="356" idx="0"/>
          </p:cNvCxnSpPr>
          <p:nvPr/>
        </p:nvCxnSpPr>
        <p:spPr>
          <a:xfrm>
            <a:off x="3444625" y="2242225"/>
            <a:ext cx="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58" name="Google Shape;358;p29"/>
          <p:cNvSpPr txBox="1"/>
          <p:nvPr/>
        </p:nvSpPr>
        <p:spPr>
          <a:xfrm>
            <a:off x="1983825" y="2540200"/>
            <a:ext cx="192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  <p:sp>
        <p:nvSpPr>
          <p:cNvPr id="359" name="Google Shape;359;p29"/>
          <p:cNvSpPr txBox="1"/>
          <p:nvPr/>
        </p:nvSpPr>
        <p:spPr>
          <a:xfrm>
            <a:off x="2402425" y="4445425"/>
            <a:ext cx="2084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accent6"/>
                </a:solidFill>
                <a:latin typeface="Domine"/>
                <a:ea typeface="Domine"/>
                <a:cs typeface="Domine"/>
                <a:sym typeface="Domine"/>
              </a:rPr>
              <a:t>succeed</a:t>
            </a:r>
            <a:endParaRPr sz="3500">
              <a:solidFill>
                <a:schemeClr val="accent6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360" name="Google Shape;360;p29"/>
          <p:cNvCxnSpPr>
            <a:endCxn id="359" idx="0"/>
          </p:cNvCxnSpPr>
          <p:nvPr/>
        </p:nvCxnSpPr>
        <p:spPr>
          <a:xfrm>
            <a:off x="3444625" y="3726025"/>
            <a:ext cx="0" cy="71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61" name="Google Shape;361;p29"/>
          <p:cNvSpPr txBox="1"/>
          <p:nvPr/>
        </p:nvSpPr>
        <p:spPr>
          <a:xfrm>
            <a:off x="5013179" y="300277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t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362" name="Google Shape;362;p29"/>
          <p:cNvCxnSpPr>
            <a:stCxn id="361" idx="0"/>
            <a:endCxn id="349" idx="2"/>
          </p:cNvCxnSpPr>
          <p:nvPr/>
        </p:nvCxnSpPr>
        <p:spPr>
          <a:xfrm rot="10800000">
            <a:off x="3444629" y="2242275"/>
            <a:ext cx="224700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63" name="Google Shape;363;p29"/>
          <p:cNvSpPr txBox="1"/>
          <p:nvPr/>
        </p:nvSpPr>
        <p:spPr>
          <a:xfrm>
            <a:off x="4215775" y="1960700"/>
            <a:ext cx="992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0"/>
          <p:cNvSpPr txBox="1"/>
          <p:nvPr>
            <p:ph idx="4294967295" type="title"/>
          </p:nvPr>
        </p:nvSpPr>
        <p:spPr>
          <a:xfrm>
            <a:off x="838200" y="365125"/>
            <a:ext cx="105156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Search tree example</a:t>
            </a:r>
            <a:endParaRPr i="1">
              <a:solidFill>
                <a:srgbClr val="F5AB00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pic>
        <p:nvPicPr>
          <p:cNvPr id="370" name="Google Shape;37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3899" y="238734"/>
            <a:ext cx="2442821" cy="1103684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0"/>
          <p:cNvSpPr txBox="1"/>
          <p:nvPr/>
        </p:nvSpPr>
        <p:spPr>
          <a:xfrm>
            <a:off x="1678075" y="2367475"/>
            <a:ext cx="64500" cy="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72" name="Google Shape;372;p30"/>
          <p:cNvSpPr txBox="1"/>
          <p:nvPr/>
        </p:nvSpPr>
        <p:spPr>
          <a:xfrm>
            <a:off x="8408475" y="15189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Knowledge base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373" name="Google Shape;373;p30"/>
          <p:cNvSpPr txBox="1"/>
          <p:nvPr/>
        </p:nvSpPr>
        <p:spPr>
          <a:xfrm>
            <a:off x="8408475" y="2129725"/>
            <a:ext cx="3372000" cy="2639400"/>
          </a:xfrm>
          <a:prstGeom prst="rect">
            <a:avLst/>
          </a:prstGeom>
          <a:noFill/>
          <a:ln cap="flat" cmpd="sng" w="19050">
            <a:solidFill>
              <a:srgbClr val="224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4" name="Google Shape;374;p30"/>
          <p:cNvSpPr txBox="1"/>
          <p:nvPr/>
        </p:nvSpPr>
        <p:spPr>
          <a:xfrm>
            <a:off x="8408475" y="49333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Query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375" name="Google Shape;375;p30"/>
          <p:cNvSpPr txBox="1"/>
          <p:nvPr/>
        </p:nvSpPr>
        <p:spPr>
          <a:xfrm>
            <a:off x="8408475" y="5544125"/>
            <a:ext cx="3372000" cy="608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?- 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.</a:t>
            </a:r>
            <a:endParaRPr sz="26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376" name="Google Shape;376;p30"/>
          <p:cNvSpPr txBox="1"/>
          <p:nvPr/>
        </p:nvSpPr>
        <p:spPr>
          <a:xfrm>
            <a:off x="2766175" y="151892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2300"/>
          </a:p>
        </p:txBody>
      </p:sp>
      <p:sp>
        <p:nvSpPr>
          <p:cNvPr id="377" name="Google Shape;377;p30"/>
          <p:cNvSpPr txBox="1"/>
          <p:nvPr/>
        </p:nvSpPr>
        <p:spPr>
          <a:xfrm>
            <a:off x="747175" y="1899200"/>
            <a:ext cx="1926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35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2300">
              <a:solidFill>
                <a:srgbClr val="055092"/>
              </a:solidFill>
            </a:endParaRPr>
          </a:p>
        </p:txBody>
      </p:sp>
      <p:sp>
        <p:nvSpPr>
          <p:cNvPr id="378" name="Google Shape;378;p30"/>
          <p:cNvSpPr txBox="1"/>
          <p:nvPr/>
        </p:nvSpPr>
        <p:spPr>
          <a:xfrm>
            <a:off x="1055850" y="3002775"/>
            <a:ext cx="992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r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379" name="Google Shape;379;p30"/>
          <p:cNvCxnSpPr>
            <a:stCxn id="376" idx="2"/>
            <a:endCxn id="378" idx="0"/>
          </p:cNvCxnSpPr>
          <p:nvPr/>
        </p:nvCxnSpPr>
        <p:spPr>
          <a:xfrm flipH="1">
            <a:off x="1552225" y="2242225"/>
            <a:ext cx="189240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80" name="Google Shape;380;p30"/>
          <p:cNvSpPr/>
          <p:nvPr/>
        </p:nvSpPr>
        <p:spPr>
          <a:xfrm>
            <a:off x="7822325" y="4200125"/>
            <a:ext cx="495900" cy="40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381" name="Google Shape;381;p30"/>
          <p:cNvSpPr txBox="1"/>
          <p:nvPr/>
        </p:nvSpPr>
        <p:spPr>
          <a:xfrm>
            <a:off x="1055850" y="4445575"/>
            <a:ext cx="992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E52437"/>
                </a:solidFill>
                <a:latin typeface="Domine"/>
                <a:ea typeface="Domine"/>
                <a:cs typeface="Domine"/>
                <a:sym typeface="Domine"/>
              </a:rPr>
              <a:t>fail</a:t>
            </a:r>
            <a:endParaRPr sz="3500">
              <a:solidFill>
                <a:srgbClr val="E52437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382" name="Google Shape;382;p30"/>
          <p:cNvCxnSpPr>
            <a:stCxn id="378" idx="2"/>
            <a:endCxn id="381" idx="0"/>
          </p:cNvCxnSpPr>
          <p:nvPr/>
        </p:nvCxnSpPr>
        <p:spPr>
          <a:xfrm>
            <a:off x="1552200" y="3726075"/>
            <a:ext cx="0" cy="71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83" name="Google Shape;383;p30"/>
          <p:cNvSpPr txBox="1"/>
          <p:nvPr/>
        </p:nvSpPr>
        <p:spPr>
          <a:xfrm>
            <a:off x="2896225" y="3002775"/>
            <a:ext cx="1096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s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384" name="Google Shape;384;p30"/>
          <p:cNvCxnSpPr>
            <a:stCxn id="376" idx="2"/>
            <a:endCxn id="383" idx="0"/>
          </p:cNvCxnSpPr>
          <p:nvPr/>
        </p:nvCxnSpPr>
        <p:spPr>
          <a:xfrm>
            <a:off x="3444625" y="2242225"/>
            <a:ext cx="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85" name="Google Shape;385;p30"/>
          <p:cNvSpPr txBox="1"/>
          <p:nvPr/>
        </p:nvSpPr>
        <p:spPr>
          <a:xfrm>
            <a:off x="1983825" y="2540200"/>
            <a:ext cx="192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  <p:sp>
        <p:nvSpPr>
          <p:cNvPr id="386" name="Google Shape;386;p30"/>
          <p:cNvSpPr txBox="1"/>
          <p:nvPr/>
        </p:nvSpPr>
        <p:spPr>
          <a:xfrm>
            <a:off x="2402425" y="4445425"/>
            <a:ext cx="2084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accent6"/>
                </a:solidFill>
                <a:latin typeface="Domine"/>
                <a:ea typeface="Domine"/>
                <a:cs typeface="Domine"/>
                <a:sym typeface="Domine"/>
              </a:rPr>
              <a:t>succeed</a:t>
            </a:r>
            <a:endParaRPr sz="3500">
              <a:solidFill>
                <a:schemeClr val="accent6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387" name="Google Shape;387;p30"/>
          <p:cNvCxnSpPr>
            <a:endCxn id="386" idx="0"/>
          </p:cNvCxnSpPr>
          <p:nvPr/>
        </p:nvCxnSpPr>
        <p:spPr>
          <a:xfrm>
            <a:off x="3444625" y="3726025"/>
            <a:ext cx="0" cy="71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88" name="Google Shape;388;p30"/>
          <p:cNvSpPr txBox="1"/>
          <p:nvPr/>
        </p:nvSpPr>
        <p:spPr>
          <a:xfrm>
            <a:off x="5013179" y="300277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t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389" name="Google Shape;389;p30"/>
          <p:cNvCxnSpPr>
            <a:stCxn id="388" idx="0"/>
            <a:endCxn id="376" idx="2"/>
          </p:cNvCxnSpPr>
          <p:nvPr/>
        </p:nvCxnSpPr>
        <p:spPr>
          <a:xfrm rot="10800000">
            <a:off x="3444629" y="2242275"/>
            <a:ext cx="224700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90" name="Google Shape;390;p30"/>
          <p:cNvSpPr txBox="1"/>
          <p:nvPr/>
        </p:nvSpPr>
        <p:spPr>
          <a:xfrm>
            <a:off x="4215775" y="1960700"/>
            <a:ext cx="992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  <p:sp>
        <p:nvSpPr>
          <p:cNvPr id="391" name="Google Shape;391;p30"/>
          <p:cNvSpPr txBox="1"/>
          <p:nvPr/>
        </p:nvSpPr>
        <p:spPr>
          <a:xfrm>
            <a:off x="5013179" y="404157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t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392" name="Google Shape;392;p30"/>
          <p:cNvCxnSpPr>
            <a:endCxn id="391" idx="0"/>
          </p:cNvCxnSpPr>
          <p:nvPr/>
        </p:nvCxnSpPr>
        <p:spPr>
          <a:xfrm>
            <a:off x="5691629" y="3666875"/>
            <a:ext cx="0" cy="37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93" name="Google Shape;393;p30"/>
          <p:cNvSpPr txBox="1"/>
          <p:nvPr/>
        </p:nvSpPr>
        <p:spPr>
          <a:xfrm>
            <a:off x="5767525" y="3554075"/>
            <a:ext cx="992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1"/>
          <p:cNvSpPr txBox="1"/>
          <p:nvPr>
            <p:ph idx="4294967295" type="title"/>
          </p:nvPr>
        </p:nvSpPr>
        <p:spPr>
          <a:xfrm>
            <a:off x="838200" y="365125"/>
            <a:ext cx="105156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Search tree example</a:t>
            </a:r>
            <a:endParaRPr i="1">
              <a:solidFill>
                <a:srgbClr val="F5AB00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pic>
        <p:nvPicPr>
          <p:cNvPr id="400" name="Google Shape;40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3899" y="238734"/>
            <a:ext cx="2442821" cy="1103684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1"/>
          <p:cNvSpPr txBox="1"/>
          <p:nvPr/>
        </p:nvSpPr>
        <p:spPr>
          <a:xfrm>
            <a:off x="1678075" y="2367475"/>
            <a:ext cx="64500" cy="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402" name="Google Shape;402;p31"/>
          <p:cNvSpPr txBox="1"/>
          <p:nvPr/>
        </p:nvSpPr>
        <p:spPr>
          <a:xfrm>
            <a:off x="8408475" y="15189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Knowledge base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403" name="Google Shape;403;p31"/>
          <p:cNvSpPr txBox="1"/>
          <p:nvPr/>
        </p:nvSpPr>
        <p:spPr>
          <a:xfrm>
            <a:off x="8408475" y="2129725"/>
            <a:ext cx="3372000" cy="2639400"/>
          </a:xfrm>
          <a:prstGeom prst="rect">
            <a:avLst/>
          </a:prstGeom>
          <a:noFill/>
          <a:ln cap="flat" cmpd="sng" w="19050">
            <a:solidFill>
              <a:srgbClr val="224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4" name="Google Shape;404;p31"/>
          <p:cNvSpPr txBox="1"/>
          <p:nvPr/>
        </p:nvSpPr>
        <p:spPr>
          <a:xfrm>
            <a:off x="8408475" y="49333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Query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405" name="Google Shape;405;p31"/>
          <p:cNvSpPr txBox="1"/>
          <p:nvPr/>
        </p:nvSpPr>
        <p:spPr>
          <a:xfrm>
            <a:off x="8408475" y="5544125"/>
            <a:ext cx="3372000" cy="608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?- 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.</a:t>
            </a:r>
            <a:endParaRPr sz="26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406" name="Google Shape;406;p31"/>
          <p:cNvSpPr txBox="1"/>
          <p:nvPr/>
        </p:nvSpPr>
        <p:spPr>
          <a:xfrm>
            <a:off x="2766175" y="151892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2300"/>
          </a:p>
        </p:txBody>
      </p:sp>
      <p:sp>
        <p:nvSpPr>
          <p:cNvPr id="407" name="Google Shape;407;p31"/>
          <p:cNvSpPr txBox="1"/>
          <p:nvPr/>
        </p:nvSpPr>
        <p:spPr>
          <a:xfrm>
            <a:off x="747175" y="1899200"/>
            <a:ext cx="1926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35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2300">
              <a:solidFill>
                <a:srgbClr val="055092"/>
              </a:solidFill>
            </a:endParaRPr>
          </a:p>
        </p:txBody>
      </p:sp>
      <p:sp>
        <p:nvSpPr>
          <p:cNvPr id="408" name="Google Shape;408;p31"/>
          <p:cNvSpPr txBox="1"/>
          <p:nvPr/>
        </p:nvSpPr>
        <p:spPr>
          <a:xfrm>
            <a:off x="1055850" y="3002775"/>
            <a:ext cx="992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r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09" name="Google Shape;409;p31"/>
          <p:cNvCxnSpPr>
            <a:stCxn id="406" idx="2"/>
            <a:endCxn id="408" idx="0"/>
          </p:cNvCxnSpPr>
          <p:nvPr/>
        </p:nvCxnSpPr>
        <p:spPr>
          <a:xfrm flipH="1">
            <a:off x="1552225" y="2242225"/>
            <a:ext cx="189240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10" name="Google Shape;410;p31"/>
          <p:cNvSpPr/>
          <p:nvPr/>
        </p:nvSpPr>
        <p:spPr>
          <a:xfrm>
            <a:off x="7822325" y="4200125"/>
            <a:ext cx="495900" cy="40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411" name="Google Shape;411;p31"/>
          <p:cNvSpPr txBox="1"/>
          <p:nvPr/>
        </p:nvSpPr>
        <p:spPr>
          <a:xfrm>
            <a:off x="1055850" y="4445575"/>
            <a:ext cx="992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E52437"/>
                </a:solidFill>
                <a:latin typeface="Domine"/>
                <a:ea typeface="Domine"/>
                <a:cs typeface="Domine"/>
                <a:sym typeface="Domine"/>
              </a:rPr>
              <a:t>fail</a:t>
            </a:r>
            <a:endParaRPr sz="3500">
              <a:solidFill>
                <a:srgbClr val="E52437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12" name="Google Shape;412;p31"/>
          <p:cNvCxnSpPr>
            <a:stCxn id="408" idx="2"/>
            <a:endCxn id="411" idx="0"/>
          </p:cNvCxnSpPr>
          <p:nvPr/>
        </p:nvCxnSpPr>
        <p:spPr>
          <a:xfrm>
            <a:off x="1552200" y="3726075"/>
            <a:ext cx="0" cy="71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13" name="Google Shape;413;p31"/>
          <p:cNvSpPr txBox="1"/>
          <p:nvPr/>
        </p:nvSpPr>
        <p:spPr>
          <a:xfrm>
            <a:off x="2896225" y="3002775"/>
            <a:ext cx="1096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s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14" name="Google Shape;414;p31"/>
          <p:cNvCxnSpPr>
            <a:stCxn id="406" idx="2"/>
            <a:endCxn id="413" idx="0"/>
          </p:cNvCxnSpPr>
          <p:nvPr/>
        </p:nvCxnSpPr>
        <p:spPr>
          <a:xfrm>
            <a:off x="3444625" y="2242225"/>
            <a:ext cx="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15" name="Google Shape;415;p31"/>
          <p:cNvSpPr txBox="1"/>
          <p:nvPr/>
        </p:nvSpPr>
        <p:spPr>
          <a:xfrm>
            <a:off x="1983825" y="2540200"/>
            <a:ext cx="192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  <p:sp>
        <p:nvSpPr>
          <p:cNvPr id="416" name="Google Shape;416;p31"/>
          <p:cNvSpPr txBox="1"/>
          <p:nvPr/>
        </p:nvSpPr>
        <p:spPr>
          <a:xfrm>
            <a:off x="2402425" y="4445425"/>
            <a:ext cx="2084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accent6"/>
                </a:solidFill>
                <a:latin typeface="Domine"/>
                <a:ea typeface="Domine"/>
                <a:cs typeface="Domine"/>
                <a:sym typeface="Domine"/>
              </a:rPr>
              <a:t>succeed</a:t>
            </a:r>
            <a:endParaRPr sz="3500">
              <a:solidFill>
                <a:schemeClr val="accent6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17" name="Google Shape;417;p31"/>
          <p:cNvCxnSpPr>
            <a:endCxn id="416" idx="0"/>
          </p:cNvCxnSpPr>
          <p:nvPr/>
        </p:nvCxnSpPr>
        <p:spPr>
          <a:xfrm>
            <a:off x="3444625" y="3726025"/>
            <a:ext cx="0" cy="71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18" name="Google Shape;418;p31"/>
          <p:cNvSpPr txBox="1"/>
          <p:nvPr/>
        </p:nvSpPr>
        <p:spPr>
          <a:xfrm>
            <a:off x="5013179" y="300277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t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19" name="Google Shape;419;p31"/>
          <p:cNvCxnSpPr>
            <a:stCxn id="418" idx="0"/>
            <a:endCxn id="406" idx="2"/>
          </p:cNvCxnSpPr>
          <p:nvPr/>
        </p:nvCxnSpPr>
        <p:spPr>
          <a:xfrm rot="10800000">
            <a:off x="3444629" y="2242275"/>
            <a:ext cx="224700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20" name="Google Shape;420;p31"/>
          <p:cNvSpPr txBox="1"/>
          <p:nvPr/>
        </p:nvSpPr>
        <p:spPr>
          <a:xfrm>
            <a:off x="4215775" y="1960700"/>
            <a:ext cx="992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  <p:sp>
        <p:nvSpPr>
          <p:cNvPr id="421" name="Google Shape;421;p31"/>
          <p:cNvSpPr txBox="1"/>
          <p:nvPr/>
        </p:nvSpPr>
        <p:spPr>
          <a:xfrm>
            <a:off x="5013179" y="404157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t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22" name="Google Shape;422;p31"/>
          <p:cNvCxnSpPr>
            <a:endCxn id="421" idx="0"/>
          </p:cNvCxnSpPr>
          <p:nvPr/>
        </p:nvCxnSpPr>
        <p:spPr>
          <a:xfrm>
            <a:off x="5691629" y="3666875"/>
            <a:ext cx="0" cy="37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23" name="Google Shape;423;p31"/>
          <p:cNvSpPr txBox="1"/>
          <p:nvPr/>
        </p:nvSpPr>
        <p:spPr>
          <a:xfrm>
            <a:off x="5767525" y="3554075"/>
            <a:ext cx="992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  <p:sp>
        <p:nvSpPr>
          <p:cNvPr id="424" name="Google Shape;424;p31"/>
          <p:cNvSpPr txBox="1"/>
          <p:nvPr/>
        </p:nvSpPr>
        <p:spPr>
          <a:xfrm>
            <a:off x="5013179" y="507507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t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25" name="Google Shape;425;p31"/>
          <p:cNvCxnSpPr>
            <a:endCxn id="424" idx="0"/>
          </p:cNvCxnSpPr>
          <p:nvPr/>
        </p:nvCxnSpPr>
        <p:spPr>
          <a:xfrm>
            <a:off x="5691629" y="4700375"/>
            <a:ext cx="0" cy="37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26" name="Google Shape;426;p31"/>
          <p:cNvSpPr txBox="1"/>
          <p:nvPr/>
        </p:nvSpPr>
        <p:spPr>
          <a:xfrm>
            <a:off x="5767525" y="4587575"/>
            <a:ext cx="992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2"/>
          <p:cNvSpPr txBox="1"/>
          <p:nvPr>
            <p:ph idx="4294967295" type="title"/>
          </p:nvPr>
        </p:nvSpPr>
        <p:spPr>
          <a:xfrm>
            <a:off x="838200" y="365125"/>
            <a:ext cx="105156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Search tree example</a:t>
            </a:r>
            <a:endParaRPr i="1">
              <a:solidFill>
                <a:srgbClr val="F5AB00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pic>
        <p:nvPicPr>
          <p:cNvPr id="433" name="Google Shape;43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3899" y="238734"/>
            <a:ext cx="2442821" cy="1103684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2"/>
          <p:cNvSpPr txBox="1"/>
          <p:nvPr/>
        </p:nvSpPr>
        <p:spPr>
          <a:xfrm>
            <a:off x="1678075" y="2367475"/>
            <a:ext cx="64500" cy="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435" name="Google Shape;435;p32"/>
          <p:cNvSpPr txBox="1"/>
          <p:nvPr/>
        </p:nvSpPr>
        <p:spPr>
          <a:xfrm>
            <a:off x="8408475" y="15189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Knowledge base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436" name="Google Shape;436;p32"/>
          <p:cNvSpPr txBox="1"/>
          <p:nvPr/>
        </p:nvSpPr>
        <p:spPr>
          <a:xfrm>
            <a:off x="8408475" y="2129725"/>
            <a:ext cx="3372000" cy="2639400"/>
          </a:xfrm>
          <a:prstGeom prst="rect">
            <a:avLst/>
          </a:prstGeom>
          <a:noFill/>
          <a:ln cap="flat" cmpd="sng" w="19050">
            <a:solidFill>
              <a:srgbClr val="224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7" name="Google Shape;437;p32"/>
          <p:cNvSpPr txBox="1"/>
          <p:nvPr/>
        </p:nvSpPr>
        <p:spPr>
          <a:xfrm>
            <a:off x="8408475" y="49333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Query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438" name="Google Shape;438;p32"/>
          <p:cNvSpPr txBox="1"/>
          <p:nvPr/>
        </p:nvSpPr>
        <p:spPr>
          <a:xfrm>
            <a:off x="8408475" y="5544125"/>
            <a:ext cx="3372000" cy="608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?- 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.</a:t>
            </a:r>
            <a:endParaRPr sz="26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439" name="Google Shape;439;p32"/>
          <p:cNvSpPr txBox="1"/>
          <p:nvPr/>
        </p:nvSpPr>
        <p:spPr>
          <a:xfrm>
            <a:off x="2766175" y="151892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2300"/>
          </a:p>
        </p:txBody>
      </p:sp>
      <p:sp>
        <p:nvSpPr>
          <p:cNvPr id="440" name="Google Shape;440;p32"/>
          <p:cNvSpPr txBox="1"/>
          <p:nvPr/>
        </p:nvSpPr>
        <p:spPr>
          <a:xfrm>
            <a:off x="747175" y="1899200"/>
            <a:ext cx="1926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35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2300">
              <a:solidFill>
                <a:srgbClr val="055092"/>
              </a:solidFill>
            </a:endParaRPr>
          </a:p>
        </p:txBody>
      </p:sp>
      <p:sp>
        <p:nvSpPr>
          <p:cNvPr id="441" name="Google Shape;441;p32"/>
          <p:cNvSpPr txBox="1"/>
          <p:nvPr/>
        </p:nvSpPr>
        <p:spPr>
          <a:xfrm>
            <a:off x="1055850" y="3002775"/>
            <a:ext cx="992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r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42" name="Google Shape;442;p32"/>
          <p:cNvCxnSpPr>
            <a:stCxn id="439" idx="2"/>
            <a:endCxn id="441" idx="0"/>
          </p:cNvCxnSpPr>
          <p:nvPr/>
        </p:nvCxnSpPr>
        <p:spPr>
          <a:xfrm flipH="1">
            <a:off x="1552225" y="2242225"/>
            <a:ext cx="189240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43" name="Google Shape;443;p32"/>
          <p:cNvSpPr/>
          <p:nvPr/>
        </p:nvSpPr>
        <p:spPr>
          <a:xfrm>
            <a:off x="7822325" y="4200125"/>
            <a:ext cx="495900" cy="40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444" name="Google Shape;444;p32"/>
          <p:cNvSpPr txBox="1"/>
          <p:nvPr/>
        </p:nvSpPr>
        <p:spPr>
          <a:xfrm>
            <a:off x="1055850" y="4445575"/>
            <a:ext cx="992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E52437"/>
                </a:solidFill>
                <a:latin typeface="Domine"/>
                <a:ea typeface="Domine"/>
                <a:cs typeface="Domine"/>
                <a:sym typeface="Domine"/>
              </a:rPr>
              <a:t>fail</a:t>
            </a:r>
            <a:endParaRPr sz="3500">
              <a:solidFill>
                <a:srgbClr val="E52437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45" name="Google Shape;445;p32"/>
          <p:cNvCxnSpPr>
            <a:stCxn id="441" idx="2"/>
            <a:endCxn id="444" idx="0"/>
          </p:cNvCxnSpPr>
          <p:nvPr/>
        </p:nvCxnSpPr>
        <p:spPr>
          <a:xfrm>
            <a:off x="1552200" y="3726075"/>
            <a:ext cx="0" cy="71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46" name="Google Shape;446;p32"/>
          <p:cNvSpPr txBox="1"/>
          <p:nvPr/>
        </p:nvSpPr>
        <p:spPr>
          <a:xfrm>
            <a:off x="2896225" y="3002775"/>
            <a:ext cx="1096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s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47" name="Google Shape;447;p32"/>
          <p:cNvCxnSpPr>
            <a:stCxn id="439" idx="2"/>
            <a:endCxn id="446" idx="0"/>
          </p:cNvCxnSpPr>
          <p:nvPr/>
        </p:nvCxnSpPr>
        <p:spPr>
          <a:xfrm>
            <a:off x="3444625" y="2242225"/>
            <a:ext cx="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48" name="Google Shape;448;p32"/>
          <p:cNvSpPr txBox="1"/>
          <p:nvPr/>
        </p:nvSpPr>
        <p:spPr>
          <a:xfrm>
            <a:off x="1983825" y="2540200"/>
            <a:ext cx="192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  <p:sp>
        <p:nvSpPr>
          <p:cNvPr id="449" name="Google Shape;449;p32"/>
          <p:cNvSpPr txBox="1"/>
          <p:nvPr/>
        </p:nvSpPr>
        <p:spPr>
          <a:xfrm>
            <a:off x="2402425" y="4445425"/>
            <a:ext cx="2084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accent6"/>
                </a:solidFill>
                <a:latin typeface="Domine"/>
                <a:ea typeface="Domine"/>
                <a:cs typeface="Domine"/>
                <a:sym typeface="Domine"/>
              </a:rPr>
              <a:t>succeed</a:t>
            </a:r>
            <a:endParaRPr sz="3500">
              <a:solidFill>
                <a:schemeClr val="accent6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50" name="Google Shape;450;p32"/>
          <p:cNvCxnSpPr>
            <a:endCxn id="449" idx="0"/>
          </p:cNvCxnSpPr>
          <p:nvPr/>
        </p:nvCxnSpPr>
        <p:spPr>
          <a:xfrm>
            <a:off x="3444625" y="3726025"/>
            <a:ext cx="0" cy="71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51" name="Google Shape;451;p32"/>
          <p:cNvSpPr txBox="1"/>
          <p:nvPr/>
        </p:nvSpPr>
        <p:spPr>
          <a:xfrm>
            <a:off x="5013179" y="300277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t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52" name="Google Shape;452;p32"/>
          <p:cNvCxnSpPr>
            <a:stCxn id="451" idx="0"/>
            <a:endCxn id="439" idx="2"/>
          </p:cNvCxnSpPr>
          <p:nvPr/>
        </p:nvCxnSpPr>
        <p:spPr>
          <a:xfrm rot="10800000">
            <a:off x="3444629" y="2242275"/>
            <a:ext cx="224700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53" name="Google Shape;453;p32"/>
          <p:cNvSpPr txBox="1"/>
          <p:nvPr/>
        </p:nvSpPr>
        <p:spPr>
          <a:xfrm>
            <a:off x="4215775" y="1960700"/>
            <a:ext cx="992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  <p:sp>
        <p:nvSpPr>
          <p:cNvPr id="454" name="Google Shape;454;p32"/>
          <p:cNvSpPr txBox="1"/>
          <p:nvPr/>
        </p:nvSpPr>
        <p:spPr>
          <a:xfrm>
            <a:off x="5013179" y="404157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t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55" name="Google Shape;455;p32"/>
          <p:cNvCxnSpPr>
            <a:endCxn id="454" idx="0"/>
          </p:cNvCxnSpPr>
          <p:nvPr/>
        </p:nvCxnSpPr>
        <p:spPr>
          <a:xfrm>
            <a:off x="5691629" y="3666875"/>
            <a:ext cx="0" cy="37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56" name="Google Shape;456;p32"/>
          <p:cNvSpPr txBox="1"/>
          <p:nvPr/>
        </p:nvSpPr>
        <p:spPr>
          <a:xfrm>
            <a:off x="5767525" y="3554075"/>
            <a:ext cx="992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  <p:sp>
        <p:nvSpPr>
          <p:cNvPr id="457" name="Google Shape;457;p32"/>
          <p:cNvSpPr txBox="1"/>
          <p:nvPr/>
        </p:nvSpPr>
        <p:spPr>
          <a:xfrm>
            <a:off x="5013179" y="507507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t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58" name="Google Shape;458;p32"/>
          <p:cNvCxnSpPr>
            <a:endCxn id="457" idx="0"/>
          </p:cNvCxnSpPr>
          <p:nvPr/>
        </p:nvCxnSpPr>
        <p:spPr>
          <a:xfrm>
            <a:off x="5691629" y="4700375"/>
            <a:ext cx="0" cy="37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59" name="Google Shape;459;p32"/>
          <p:cNvSpPr txBox="1"/>
          <p:nvPr/>
        </p:nvSpPr>
        <p:spPr>
          <a:xfrm>
            <a:off x="5767525" y="4587575"/>
            <a:ext cx="992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  <p:sp>
        <p:nvSpPr>
          <p:cNvPr id="460" name="Google Shape;460;p32"/>
          <p:cNvSpPr txBox="1"/>
          <p:nvPr/>
        </p:nvSpPr>
        <p:spPr>
          <a:xfrm>
            <a:off x="5013179" y="610857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t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61" name="Google Shape;461;p32"/>
          <p:cNvCxnSpPr>
            <a:endCxn id="460" idx="0"/>
          </p:cNvCxnSpPr>
          <p:nvPr/>
        </p:nvCxnSpPr>
        <p:spPr>
          <a:xfrm>
            <a:off x="5691629" y="5733875"/>
            <a:ext cx="0" cy="37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62" name="Google Shape;462;p32"/>
          <p:cNvSpPr txBox="1"/>
          <p:nvPr/>
        </p:nvSpPr>
        <p:spPr>
          <a:xfrm>
            <a:off x="5767525" y="5621075"/>
            <a:ext cx="992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3"/>
          <p:cNvSpPr txBox="1"/>
          <p:nvPr>
            <p:ph idx="4294967295" type="title"/>
          </p:nvPr>
        </p:nvSpPr>
        <p:spPr>
          <a:xfrm>
            <a:off x="838200" y="365125"/>
            <a:ext cx="105156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US">
                <a:latin typeface="Domine"/>
                <a:ea typeface="Domine"/>
                <a:cs typeface="Domine"/>
                <a:sym typeface="Domine"/>
              </a:rPr>
              <a:t>Search tree example</a:t>
            </a:r>
            <a:endParaRPr i="1">
              <a:solidFill>
                <a:srgbClr val="F5AB00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pic>
        <p:nvPicPr>
          <p:cNvPr id="469" name="Google Shape;46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3899" y="238734"/>
            <a:ext cx="2442821" cy="1103684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3"/>
          <p:cNvSpPr txBox="1"/>
          <p:nvPr/>
        </p:nvSpPr>
        <p:spPr>
          <a:xfrm>
            <a:off x="1678075" y="2367475"/>
            <a:ext cx="64500" cy="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471" name="Google Shape;471;p33"/>
          <p:cNvSpPr txBox="1"/>
          <p:nvPr/>
        </p:nvSpPr>
        <p:spPr>
          <a:xfrm>
            <a:off x="8408475" y="15189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Knowledge base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472" name="Google Shape;472;p33"/>
          <p:cNvSpPr txBox="1"/>
          <p:nvPr/>
        </p:nvSpPr>
        <p:spPr>
          <a:xfrm>
            <a:off x="8408475" y="2129725"/>
            <a:ext cx="3372000" cy="2639400"/>
          </a:xfrm>
          <a:prstGeom prst="rect">
            <a:avLst/>
          </a:prstGeom>
          <a:noFill/>
          <a:ln cap="flat" cmpd="sng" w="19050">
            <a:solidFill>
              <a:srgbClr val="224A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2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:- </a:t>
            </a:r>
            <a:r>
              <a:rPr lang="en-US" sz="2600">
                <a:solidFill>
                  <a:srgbClr val="055092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600">
                <a:solidFill>
                  <a:srgbClr val="007A3D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600">
                <a:solidFill>
                  <a:srgbClr val="F5AB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3" name="Google Shape;473;p33"/>
          <p:cNvSpPr txBox="1"/>
          <p:nvPr/>
        </p:nvSpPr>
        <p:spPr>
          <a:xfrm>
            <a:off x="8408475" y="4933325"/>
            <a:ext cx="3372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Query</a:t>
            </a:r>
            <a:endParaRPr sz="2300">
              <a:solidFill>
                <a:srgbClr val="05509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474" name="Google Shape;474;p33"/>
          <p:cNvSpPr txBox="1"/>
          <p:nvPr/>
        </p:nvSpPr>
        <p:spPr>
          <a:xfrm>
            <a:off x="8408475" y="5544125"/>
            <a:ext cx="3372000" cy="608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?- 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26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26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r>
              <a:rPr lang="en-US" sz="26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.</a:t>
            </a:r>
            <a:endParaRPr sz="26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475" name="Google Shape;475;p33"/>
          <p:cNvSpPr txBox="1"/>
          <p:nvPr/>
        </p:nvSpPr>
        <p:spPr>
          <a:xfrm>
            <a:off x="2766175" y="151892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p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2300"/>
          </a:p>
        </p:txBody>
      </p:sp>
      <p:sp>
        <p:nvSpPr>
          <p:cNvPr id="476" name="Google Shape;476;p33"/>
          <p:cNvSpPr txBox="1"/>
          <p:nvPr/>
        </p:nvSpPr>
        <p:spPr>
          <a:xfrm>
            <a:off x="747175" y="1899200"/>
            <a:ext cx="1926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35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2300">
              <a:solidFill>
                <a:srgbClr val="055092"/>
              </a:solidFill>
            </a:endParaRPr>
          </a:p>
        </p:txBody>
      </p:sp>
      <p:sp>
        <p:nvSpPr>
          <p:cNvPr id="477" name="Google Shape;477;p33"/>
          <p:cNvSpPr txBox="1"/>
          <p:nvPr/>
        </p:nvSpPr>
        <p:spPr>
          <a:xfrm>
            <a:off x="1055850" y="3002775"/>
            <a:ext cx="992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r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78" name="Google Shape;478;p33"/>
          <p:cNvCxnSpPr>
            <a:stCxn id="475" idx="2"/>
            <a:endCxn id="477" idx="0"/>
          </p:cNvCxnSpPr>
          <p:nvPr/>
        </p:nvCxnSpPr>
        <p:spPr>
          <a:xfrm flipH="1">
            <a:off x="1552225" y="2242225"/>
            <a:ext cx="189240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79" name="Google Shape;479;p33"/>
          <p:cNvSpPr/>
          <p:nvPr/>
        </p:nvSpPr>
        <p:spPr>
          <a:xfrm>
            <a:off x="7822325" y="4200125"/>
            <a:ext cx="495900" cy="40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480" name="Google Shape;480;p33"/>
          <p:cNvSpPr txBox="1"/>
          <p:nvPr/>
        </p:nvSpPr>
        <p:spPr>
          <a:xfrm>
            <a:off x="1055850" y="4445575"/>
            <a:ext cx="992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E52437"/>
                </a:solidFill>
                <a:latin typeface="Domine"/>
                <a:ea typeface="Domine"/>
                <a:cs typeface="Domine"/>
                <a:sym typeface="Domine"/>
              </a:rPr>
              <a:t>fail</a:t>
            </a:r>
            <a:endParaRPr sz="3500">
              <a:solidFill>
                <a:srgbClr val="E52437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81" name="Google Shape;481;p33"/>
          <p:cNvCxnSpPr>
            <a:stCxn id="477" idx="2"/>
            <a:endCxn id="480" idx="0"/>
          </p:cNvCxnSpPr>
          <p:nvPr/>
        </p:nvCxnSpPr>
        <p:spPr>
          <a:xfrm>
            <a:off x="1552200" y="3726075"/>
            <a:ext cx="0" cy="71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82" name="Google Shape;482;p33"/>
          <p:cNvSpPr txBox="1"/>
          <p:nvPr/>
        </p:nvSpPr>
        <p:spPr>
          <a:xfrm>
            <a:off x="2896225" y="3002775"/>
            <a:ext cx="1096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s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83" name="Google Shape;483;p33"/>
          <p:cNvCxnSpPr>
            <a:stCxn id="475" idx="2"/>
            <a:endCxn id="482" idx="0"/>
          </p:cNvCxnSpPr>
          <p:nvPr/>
        </p:nvCxnSpPr>
        <p:spPr>
          <a:xfrm>
            <a:off x="3444625" y="2242225"/>
            <a:ext cx="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84" name="Google Shape;484;p33"/>
          <p:cNvSpPr txBox="1"/>
          <p:nvPr/>
        </p:nvSpPr>
        <p:spPr>
          <a:xfrm>
            <a:off x="1983825" y="2540200"/>
            <a:ext cx="192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  <p:sp>
        <p:nvSpPr>
          <p:cNvPr id="485" name="Google Shape;485;p33"/>
          <p:cNvSpPr txBox="1"/>
          <p:nvPr/>
        </p:nvSpPr>
        <p:spPr>
          <a:xfrm>
            <a:off x="2402425" y="4445425"/>
            <a:ext cx="2084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accent6"/>
                </a:solidFill>
                <a:latin typeface="Domine"/>
                <a:ea typeface="Domine"/>
                <a:cs typeface="Domine"/>
                <a:sym typeface="Domine"/>
              </a:rPr>
              <a:t>succeed</a:t>
            </a:r>
            <a:endParaRPr sz="3500">
              <a:solidFill>
                <a:schemeClr val="accent6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86" name="Google Shape;486;p33"/>
          <p:cNvCxnSpPr>
            <a:endCxn id="485" idx="0"/>
          </p:cNvCxnSpPr>
          <p:nvPr/>
        </p:nvCxnSpPr>
        <p:spPr>
          <a:xfrm>
            <a:off x="3444625" y="3726025"/>
            <a:ext cx="0" cy="71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87" name="Google Shape;487;p33"/>
          <p:cNvSpPr txBox="1"/>
          <p:nvPr/>
        </p:nvSpPr>
        <p:spPr>
          <a:xfrm>
            <a:off x="5013179" y="300277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t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88" name="Google Shape;488;p33"/>
          <p:cNvCxnSpPr>
            <a:stCxn id="487" idx="0"/>
            <a:endCxn id="475" idx="2"/>
          </p:cNvCxnSpPr>
          <p:nvPr/>
        </p:nvCxnSpPr>
        <p:spPr>
          <a:xfrm rot="10800000">
            <a:off x="3444629" y="2242275"/>
            <a:ext cx="2247000" cy="76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89" name="Google Shape;489;p33"/>
          <p:cNvSpPr txBox="1"/>
          <p:nvPr/>
        </p:nvSpPr>
        <p:spPr>
          <a:xfrm>
            <a:off x="4215775" y="1960700"/>
            <a:ext cx="992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  <p:sp>
        <p:nvSpPr>
          <p:cNvPr id="490" name="Google Shape;490;p33"/>
          <p:cNvSpPr txBox="1"/>
          <p:nvPr/>
        </p:nvSpPr>
        <p:spPr>
          <a:xfrm>
            <a:off x="5013179" y="404157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t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91" name="Google Shape;491;p33"/>
          <p:cNvCxnSpPr>
            <a:endCxn id="490" idx="0"/>
          </p:cNvCxnSpPr>
          <p:nvPr/>
        </p:nvCxnSpPr>
        <p:spPr>
          <a:xfrm>
            <a:off x="5691629" y="3666875"/>
            <a:ext cx="0" cy="37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92" name="Google Shape;492;p33"/>
          <p:cNvSpPr txBox="1"/>
          <p:nvPr/>
        </p:nvSpPr>
        <p:spPr>
          <a:xfrm>
            <a:off x="5767525" y="3554075"/>
            <a:ext cx="992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  <p:sp>
        <p:nvSpPr>
          <p:cNvPr id="493" name="Google Shape;493;p33"/>
          <p:cNvSpPr txBox="1"/>
          <p:nvPr/>
        </p:nvSpPr>
        <p:spPr>
          <a:xfrm>
            <a:off x="5013179" y="507507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t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94" name="Google Shape;494;p33"/>
          <p:cNvCxnSpPr>
            <a:endCxn id="493" idx="0"/>
          </p:cNvCxnSpPr>
          <p:nvPr/>
        </p:nvCxnSpPr>
        <p:spPr>
          <a:xfrm>
            <a:off x="5691629" y="4700375"/>
            <a:ext cx="0" cy="37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95" name="Google Shape;495;p33"/>
          <p:cNvSpPr txBox="1"/>
          <p:nvPr/>
        </p:nvSpPr>
        <p:spPr>
          <a:xfrm>
            <a:off x="5767525" y="4587575"/>
            <a:ext cx="992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  <p:sp>
        <p:nvSpPr>
          <p:cNvPr id="496" name="Google Shape;496;p33"/>
          <p:cNvSpPr txBox="1"/>
          <p:nvPr/>
        </p:nvSpPr>
        <p:spPr>
          <a:xfrm>
            <a:off x="5013179" y="610857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t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497" name="Google Shape;497;p33"/>
          <p:cNvCxnSpPr>
            <a:endCxn id="496" idx="0"/>
          </p:cNvCxnSpPr>
          <p:nvPr/>
        </p:nvCxnSpPr>
        <p:spPr>
          <a:xfrm>
            <a:off x="5691629" y="5733875"/>
            <a:ext cx="0" cy="37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98" name="Google Shape;498;p33"/>
          <p:cNvSpPr txBox="1"/>
          <p:nvPr/>
        </p:nvSpPr>
        <p:spPr>
          <a:xfrm>
            <a:off x="5767525" y="5621075"/>
            <a:ext cx="992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  <p:sp>
        <p:nvSpPr>
          <p:cNvPr id="499" name="Google Shape;499;p33"/>
          <p:cNvSpPr txBox="1"/>
          <p:nvPr/>
        </p:nvSpPr>
        <p:spPr>
          <a:xfrm>
            <a:off x="5013179" y="7142075"/>
            <a:ext cx="1356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t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(</a:t>
            </a:r>
            <a:r>
              <a:rPr lang="en-US" sz="35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r>
              <a:rPr lang="en-US" sz="3500">
                <a:solidFill>
                  <a:srgbClr val="F5AB00"/>
                </a:solidFill>
                <a:latin typeface="Domine"/>
                <a:ea typeface="Domine"/>
                <a:cs typeface="Domine"/>
                <a:sym typeface="Domine"/>
              </a:rPr>
              <a:t>)</a:t>
            </a:r>
            <a:endParaRPr sz="3500"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500" name="Google Shape;500;p33"/>
          <p:cNvCxnSpPr>
            <a:endCxn id="499" idx="0"/>
          </p:cNvCxnSpPr>
          <p:nvPr/>
        </p:nvCxnSpPr>
        <p:spPr>
          <a:xfrm>
            <a:off x="5691629" y="6767375"/>
            <a:ext cx="0" cy="37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01" name="Google Shape;501;p33"/>
          <p:cNvSpPr txBox="1"/>
          <p:nvPr/>
        </p:nvSpPr>
        <p:spPr>
          <a:xfrm>
            <a:off x="5767525" y="6654575"/>
            <a:ext cx="992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7A3D"/>
                </a:solidFill>
                <a:latin typeface="Domine"/>
                <a:ea typeface="Domine"/>
                <a:cs typeface="Domine"/>
                <a:sym typeface="Domine"/>
              </a:rPr>
              <a:t>X</a:t>
            </a:r>
            <a:r>
              <a:rPr lang="en-US" sz="27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=</a:t>
            </a:r>
            <a:r>
              <a:rPr lang="en-US" sz="2700">
                <a:solidFill>
                  <a:srgbClr val="055092"/>
                </a:solidFill>
                <a:latin typeface="Domine"/>
                <a:ea typeface="Domine"/>
                <a:cs typeface="Domine"/>
                <a:sym typeface="Domine"/>
              </a:rPr>
              <a:t>a</a:t>
            </a:r>
            <a:endParaRPr sz="1500">
              <a:solidFill>
                <a:srgbClr val="05509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Datatypes</a:t>
            </a:r>
            <a:endParaRPr/>
          </a:p>
        </p:txBody>
      </p:sp>
      <p:sp>
        <p:nvSpPr>
          <p:cNvPr id="507" name="Google Shape;507;p34"/>
          <p:cNvSpPr txBox="1"/>
          <p:nvPr>
            <p:ph idx="1" type="body"/>
          </p:nvPr>
        </p:nvSpPr>
        <p:spPr>
          <a:xfrm>
            <a:off x="838198" y="1825625"/>
            <a:ext cx="660934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Basic datatypes</a:t>
            </a:r>
            <a:endParaRPr/>
          </a:p>
          <a:p>
            <a:pPr indent="-4572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Atoms			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hero.</a:t>
            </a:r>
            <a:endParaRPr/>
          </a:p>
          <a:p>
            <a:pPr indent="-4572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Numbers		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1.0.</a:t>
            </a:r>
            <a:endParaRPr/>
          </a:p>
          <a:p>
            <a:pPr indent="-4572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Variables		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X.</a:t>
            </a:r>
            <a:endParaRPr/>
          </a:p>
          <a:p>
            <a:pPr indent="-4572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Lists			[H | T].</a:t>
            </a:r>
            <a:endParaRPr/>
          </a:p>
          <a:p>
            <a:pPr indent="-4572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Compound terms	f(g(z)).</a:t>
            </a:r>
            <a:endParaRPr/>
          </a:p>
          <a:p>
            <a:pPr indent="-4572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Strings			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“Hello world”.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08" name="Google Shape;508;p34"/>
          <p:cNvSpPr txBox="1"/>
          <p:nvPr/>
        </p:nvSpPr>
        <p:spPr>
          <a:xfrm>
            <a:off x="7736306" y="1927893"/>
            <a:ext cx="40325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		matching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\+		negation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=:=	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 after left and right eval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=\=  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mismatch after left and right eval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	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 eval, then unification with left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Exercise 1: Modifying a Sentence</a:t>
            </a:r>
            <a:endParaRPr/>
          </a:p>
        </p:txBody>
      </p:sp>
      <p:sp>
        <p:nvSpPr>
          <p:cNvPr id="514" name="Google Shape;514;p35"/>
          <p:cNvSpPr txBox="1"/>
          <p:nvPr>
            <p:ph idx="1" type="body"/>
          </p:nvPr>
        </p:nvSpPr>
        <p:spPr>
          <a:xfrm>
            <a:off x="838200" y="1825625"/>
            <a:ext cx="108775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Given the sentence "Prolog is powerful and fun", you will: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lang="en-US" sz="23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	ex1(Result):- Original = "Prolog is powerful and fun",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    Extract the substring "Prolog".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3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sub_string(Original, 0, 6, _, PrologWord),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    Extract the substring "fun".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</a:t>
            </a:r>
            <a:r>
              <a:rPr lang="en-US" sz="23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sub_string(Original, 23, 3, _, FunWord),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/>
              <a:t>    Rebuild a new sentence that says "Learning Prolog is fun!"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</a:t>
            </a:r>
            <a:r>
              <a:rPr lang="en-US" sz="23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% Concatenate "Learning " with "Prolog"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lang="en-US" sz="23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	string_concat("Learning ", PrologWord, Part1),</a:t>
            </a:r>
            <a:endParaRPr/>
          </a:p>
          <a:p>
            <a:pPr indent="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br>
              <a:rPr lang="en-US" sz="23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3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% Concatenate " is " with "fun!"</a:t>
            </a:r>
            <a:endParaRPr/>
          </a:p>
          <a:p>
            <a:pPr indent="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lang="en-US" sz="23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string_concat(" is ", FunWord, Part2),</a:t>
            </a:r>
            <a:endParaRPr/>
          </a:p>
          <a:p>
            <a:pPr indent="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lang="en-US" sz="23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string_concat(Part2, "!", Part3),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300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lang="en-US" sz="23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	% Final concatenation to build the complete sentence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lang="en-US" sz="23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	string_concat(Part1, Part3, Result).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You will use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string_concat/3</a:t>
            </a:r>
            <a:r>
              <a:rPr lang="en-US"/>
              <a:t> and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sub_string/5 </a:t>
            </a:r>
            <a:r>
              <a:rPr lang="en-US"/>
              <a:t>to achieve these tasks. Look up the documentation online to learn more about these built-in predicates.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Exercise 2: Group Management System</a:t>
            </a:r>
            <a:endParaRPr/>
          </a:p>
        </p:txBody>
      </p:sp>
      <p:sp>
        <p:nvSpPr>
          <p:cNvPr id="520" name="Google Shape;520;p36"/>
          <p:cNvSpPr txBox="1"/>
          <p:nvPr>
            <p:ph idx="1" type="body"/>
          </p:nvPr>
        </p:nvSpPr>
        <p:spPr>
          <a:xfrm>
            <a:off x="838200" y="1397000"/>
            <a:ext cx="10515600" cy="5270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1800"/>
              <a:t>Given a list of students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800"/>
              <a:t>	Students = ["Alice", "Bob", "Charlie", "Diana", "Eve", "Frank", "Grace", "Hannah"].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/>
              <a:t>Use built-in list predicates: </a:t>
            </a:r>
            <a:r>
              <a:rPr lang="en-US" sz="1400" u="sng">
                <a:solidFill>
                  <a:schemeClr val="hlink"/>
                </a:solidFill>
                <a:hlinkClick r:id="rId3"/>
              </a:rPr>
              <a:t>https://www.swi-prolog.org/pldoc/man?section=lists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US" sz="1800"/>
              <a:t>Check Enrollment:  </a:t>
            </a:r>
            <a:r>
              <a:rPr lang="en-US" sz="1800"/>
              <a:t>write a query that checks if "Alice" and "Grace" are both enrolled in the Students list.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1400">
                <a:latin typeface="Consolas"/>
                <a:ea typeface="Consolas"/>
                <a:cs typeface="Consolas"/>
                <a:sym typeface="Consolas"/>
              </a:rPr>
              <a:t>member("Alice", Students), member("Grace", Students).</a:t>
            </a:r>
            <a:br>
              <a:rPr lang="en-US" sz="1400"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% Expected: true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US" sz="1800"/>
              <a:t>Count Total Students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1400">
                <a:latin typeface="Consolas"/>
                <a:ea typeface="Consolas"/>
                <a:cs typeface="Consolas"/>
                <a:sym typeface="Consolas"/>
              </a:rPr>
              <a:t>length(Students, Count).</a:t>
            </a:r>
            <a:br>
              <a:rPr lang="en-US" sz="1400"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% Count = 8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US" sz="1800"/>
              <a:t>Reverse the List of Students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1400">
                <a:latin typeface="Consolas"/>
                <a:ea typeface="Consolas"/>
                <a:cs typeface="Consolas"/>
                <a:sym typeface="Consolas"/>
              </a:rPr>
              <a:t>reverse(Students, ReversedStudents).</a:t>
            </a:r>
            <a:br>
              <a:rPr lang="en-US" sz="1400"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% ReversedStudents = ["Hannah", "Grace", "Frank", "Eve", "Diana", "Charlie", "Bob", "Alice"]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US" sz="1800"/>
              <a:t>Create Student Groups: </a:t>
            </a:r>
            <a:r>
              <a:rPr lang="en-US" sz="1800"/>
              <a:t>split the Students list into two equal groups (Group1 and Group2). Use append/3 to divide the list such that Group1 contains the first half and Group2 contains the second half.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1400">
                <a:latin typeface="Consolas"/>
                <a:ea typeface="Consolas"/>
                <a:cs typeface="Consolas"/>
                <a:sym typeface="Consolas"/>
              </a:rPr>
              <a:t>append(Group1, Group2, Students), length(Group1, 4).</a:t>
            </a:r>
            <a:br>
              <a:rPr lang="en-US" sz="1400"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% Group1 = ["Alice", "Bob", "Charlie", "Diana"]</a:t>
            </a:r>
            <a:br>
              <a:rPr lang="en-US" sz="1400"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% Group2 = ["Eve", "Frank", "Grace", "Hannah"]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US" sz="1800"/>
              <a:t>Find the position of “Eve”.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1400">
                <a:latin typeface="Consolas"/>
                <a:ea typeface="Consolas"/>
                <a:cs typeface="Consolas"/>
                <a:sym typeface="Consolas"/>
              </a:rPr>
              <a:t>nth0(Position, Students, "Eve").</a:t>
            </a:r>
            <a:br>
              <a:rPr lang="en-US" sz="1400"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% Position = 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US" sz="1800"/>
              <a:t>Remove “Charlie” from the list.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1400">
                <a:latin typeface="Consolas"/>
                <a:ea typeface="Consolas"/>
                <a:cs typeface="Consolas"/>
                <a:sym typeface="Consolas"/>
              </a:rPr>
              <a:t>select("Charlie", Students, UpdatedStudents).</a:t>
            </a:r>
            <a:br>
              <a:rPr lang="en-US" sz="1400"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% UpdatedStudents = ["Alice", "Bob", "Diana", "Eve", "Frank", "Grace", "Hannah"]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US" sz="1800"/>
              <a:t>Find All Students with names of length 5: </a:t>
            </a:r>
            <a:r>
              <a:rPr lang="en-US" sz="1800"/>
              <a:t>use length/2 and findall/3.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1400">
                <a:latin typeface="Consolas"/>
                <a:ea typeface="Consolas"/>
                <a:cs typeface="Consolas"/>
                <a:sym typeface="Consolas"/>
              </a:rPr>
              <a:t>findall(Student, (member(Student, Students), string_length(Student, 5)), FiveLetterNames).</a:t>
            </a:r>
            <a:br>
              <a:rPr lang="en-US" sz="1400"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% FiveLetterNames = ["Alice", "Grace"]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-US" sz="1800"/>
              <a:t>Generate Unique Pairs of Students: </a:t>
            </a:r>
            <a:r>
              <a:rPr lang="en-US" sz="1800"/>
              <a:t>use member/2 and findall/3.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1400">
                <a:latin typeface="Consolas"/>
                <a:ea typeface="Consolas"/>
                <a:cs typeface="Consolas"/>
                <a:sym typeface="Consolas"/>
              </a:rPr>
              <a:t>findall([A, B], (member(A, Students), member(B, Students), A @&lt; B), Pairs)</a:t>
            </a:r>
            <a:br>
              <a:rPr lang="en-US" sz="1400"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.% Pairs contains all unique pairs, such as ["Alice", "Bob"], ["Alice", "Charlie"], etc.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