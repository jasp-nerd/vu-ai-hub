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3025">
          <p15:clr>
            <a:srgbClr val="A4A3A4"/>
          </p15:clr>
        </p15:guide>
        <p15:guide id="2" pos="2305">
          <p15:clr>
            <a:srgbClr val="A4A3A4"/>
          </p15:clr>
        </p15:guide>
      </p15:notesGuideLst>
    </p:ext>
    <p:ext uri="GoogleSlidesCustomDataVersion2">
      <go:slidesCustomData xmlns:go="http://customooxmlschemas.google.com/" r:id="rId39" roundtripDataSignature="AMtx7mgvN4m75zsurXPTXf4+XEK4wx16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5" orient="horz"/>
        <p:guide pos="2305"/>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1825" cy="481013"/>
          </a:xfrm>
          <a:prstGeom prst="rect">
            <a:avLst/>
          </a:prstGeom>
          <a:noFill/>
          <a:ln>
            <a:noFill/>
          </a:ln>
        </p:spPr>
        <p:txBody>
          <a:bodyPr anchorCtr="0" anchor="t" bIns="46200" lIns="92400" spcFirstLastPara="1" rIns="92400" wrap="square" tIns="46200">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1825" cy="481013"/>
          </a:xfrm>
          <a:prstGeom prst="rect">
            <a:avLst/>
          </a:prstGeom>
          <a:noFill/>
          <a:ln>
            <a:noFill/>
          </a:ln>
        </p:spPr>
        <p:txBody>
          <a:bodyPr anchorCtr="0" anchor="t" bIns="46200" lIns="92400" spcFirstLastPara="1" rIns="92400" wrap="square" tIns="46200">
            <a:noAutofit/>
          </a:bodyPr>
          <a:lstStyle>
            <a:lvl1pPr lvl="0" marR="0" rtl="0" algn="r">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5425"/>
            <a:ext cx="3171825" cy="485775"/>
          </a:xfrm>
          <a:prstGeom prst="rect">
            <a:avLst/>
          </a:prstGeom>
          <a:noFill/>
          <a:ln>
            <a:noFill/>
          </a:ln>
        </p:spPr>
        <p:txBody>
          <a:bodyPr anchorCtr="0" anchor="b" bIns="46200" lIns="92400" spcFirstLastPara="1" rIns="92400" wrap="square" tIns="46200">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marR="0" rtl="0" algn="r">
              <a:spcBef>
                <a:spcPts val="0"/>
              </a:spcBef>
              <a:spcAft>
                <a:spcPts val="0"/>
              </a:spcAft>
              <a:buNone/>
            </a:pPr>
            <a:fld id="{00000000-1234-1234-1234-123412341234}" type="slidenum">
              <a:rPr b="0" i="0" lang="en-GB"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marR="0" rtl="0" algn="r">
              <a:spcBef>
                <a:spcPts val="0"/>
              </a:spcBef>
              <a:spcAft>
                <a:spcPts val="0"/>
              </a:spcAft>
              <a:buNone/>
            </a:pPr>
            <a:fld id="{00000000-1234-1234-1234-123412341234}" type="slidenum">
              <a:rPr b="0" i="0" lang="en-GB"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
        <p:nvSpPr>
          <p:cNvPr id="72" name="Google Shape;72;p1: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1: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9" name="Google Shape;79;p2: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a:p>
        </p:txBody>
      </p:sp>
      <p:sp>
        <p:nvSpPr>
          <p:cNvPr id="80" name="Google Shape;80;p2: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86" name="Google Shape;86;p3: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3" name="Google Shape;93;p4: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marR="0" rtl="0" algn="l">
              <a:lnSpc>
                <a:spcPct val="100000"/>
              </a:lnSpc>
              <a:spcBef>
                <a:spcPts val="0"/>
              </a:spcBef>
              <a:spcAft>
                <a:spcPts val="0"/>
              </a:spcAft>
              <a:buClr>
                <a:srgbClr val="24292F"/>
              </a:buClr>
              <a:buSzPts val="1200"/>
              <a:buFont typeface="Arial"/>
              <a:buNone/>
            </a:pPr>
            <a:r>
              <a:rPr b="0" i="0" lang="en-GB">
                <a:solidFill>
                  <a:srgbClr val="24292F"/>
                </a:solidFill>
                <a:latin typeface="Arial"/>
                <a:ea typeface="Arial"/>
                <a:cs typeface="Arial"/>
                <a:sym typeface="Arial"/>
              </a:rPr>
              <a:t>It is only natural to start by exploring the environment for which an agent will be designed. What are its properties? What is the information that is available? What can an agent do?</a:t>
            </a:r>
            <a:endParaRPr/>
          </a:p>
        </p:txBody>
      </p:sp>
      <p:sp>
        <p:nvSpPr>
          <p:cNvPr id="94" name="Google Shape;94;p4: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8" name="Google Shape;118;p5: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b="0"/>
          </a:p>
        </p:txBody>
      </p:sp>
      <p:sp>
        <p:nvSpPr>
          <p:cNvPr id="119" name="Google Shape;119;p5: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28" name="Google Shape;128;p6: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6" name="Google Shape;136;p7: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Make sure students visit the site like before moving on.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Make also clear to students THEY CAN </a:t>
            </a:r>
            <a:r>
              <a:rPr b="1" lang="en-GB"/>
              <a:t>USE THE LECTURE 9 SLIDES</a:t>
            </a:r>
            <a:r>
              <a:rPr lang="en-GB"/>
              <a:t>, which will be pretty useful for checking (coding) details. But also make sure they understand the current assignment DIFFERS from the solution presented in the slides (it is much simpler!).</a:t>
            </a:r>
            <a:endParaRPr/>
          </a:p>
        </p:txBody>
      </p:sp>
      <p:sp>
        <p:nvSpPr>
          <p:cNvPr id="137" name="Google Shape;137;p7: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3" name="Google Shape;143;p8: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marR="0" rtl="0" algn="l">
              <a:lnSpc>
                <a:spcPct val="100000"/>
              </a:lnSpc>
              <a:spcBef>
                <a:spcPts val="0"/>
              </a:spcBef>
              <a:spcAft>
                <a:spcPts val="0"/>
              </a:spcAft>
              <a:buClr>
                <a:schemeClr val="dk1"/>
              </a:buClr>
              <a:buSzPts val="1200"/>
              <a:buFont typeface="Arial"/>
              <a:buNone/>
            </a:pPr>
            <a:r>
              <a:rPr lang="en-GB"/>
              <a:t>A little Q&amp;A before the actual assignment starts.</a:t>
            </a:r>
            <a:endParaRPr/>
          </a:p>
          <a:p>
            <a:pPr indent="0" lvl="0" marL="0" rtl="0" algn="l">
              <a:spcBef>
                <a:spcPts val="360"/>
              </a:spcBef>
              <a:spcAft>
                <a:spcPts val="0"/>
              </a:spcAft>
              <a:buNone/>
            </a:pPr>
            <a:r>
              <a:t/>
            </a:r>
            <a:endParaRPr/>
          </a:p>
        </p:txBody>
      </p:sp>
      <p:sp>
        <p:nvSpPr>
          <p:cNvPr id="144" name="Google Shape;144;p8: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50" name="Google Shape;150;p9: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7" name="Google Shape;157;p10: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171450" lvl="0" marL="171450" rtl="0" algn="l">
              <a:spcBef>
                <a:spcPts val="0"/>
              </a:spcBef>
              <a:spcAft>
                <a:spcPts val="0"/>
              </a:spcAft>
              <a:buClr>
                <a:schemeClr val="dk1"/>
              </a:buClr>
              <a:buSzPts val="1200"/>
              <a:buFont typeface="Arial"/>
              <a:buChar char="•"/>
            </a:pPr>
            <a:r>
              <a:rPr lang="en-GB"/>
              <a:t>Specifying the environment is needed, of course, to be able to connect agents to it. Init parameters are used to setup the environment.</a:t>
            </a:r>
            <a:endParaRPr/>
          </a:p>
          <a:p>
            <a:pPr indent="-171450" lvl="0" marL="171450" rtl="0" algn="l">
              <a:spcBef>
                <a:spcPts val="360"/>
              </a:spcBef>
              <a:spcAft>
                <a:spcPts val="0"/>
              </a:spcAft>
              <a:buClr>
                <a:schemeClr val="dk1"/>
              </a:buClr>
              <a:buSzPts val="1200"/>
              <a:buFont typeface="Arial"/>
              <a:buChar char="•"/>
            </a:pPr>
            <a:r>
              <a:rPr lang="en-GB"/>
              <a:t>The agent definition in a mas file specifies a </a:t>
            </a:r>
            <a:r>
              <a:rPr i="1" lang="en-GB"/>
              <a:t>generic </a:t>
            </a:r>
            <a:r>
              <a:rPr i="0" lang="en-GB"/>
              <a:t>agent name, modules that consist of action rules, and channels for processing percepts the agent receives from the environment.</a:t>
            </a:r>
            <a:endParaRPr/>
          </a:p>
          <a:p>
            <a:pPr indent="-171450" lvl="0" marL="171450" rtl="0" algn="l">
              <a:spcBef>
                <a:spcPts val="360"/>
              </a:spcBef>
              <a:spcAft>
                <a:spcPts val="0"/>
              </a:spcAft>
              <a:buClr>
                <a:schemeClr val="dk1"/>
              </a:buClr>
              <a:buSzPts val="1200"/>
              <a:buFont typeface="Arial"/>
              <a:buChar char="•"/>
            </a:pPr>
            <a:r>
              <a:rPr i="0" lang="en-GB"/>
              <a:t>A launch policy is used to connect agents to an entity in the environment (a MARBEL agent control a VacBot in the Vacuum World).</a:t>
            </a:r>
            <a:endParaRPr/>
          </a:p>
          <a:p>
            <a:pPr indent="-171450" lvl="0" marL="171450" rtl="0" algn="l">
              <a:spcBef>
                <a:spcPts val="360"/>
              </a:spcBef>
              <a:spcAft>
                <a:spcPts val="0"/>
              </a:spcAft>
              <a:buClr>
                <a:schemeClr val="dk1"/>
              </a:buClr>
              <a:buSzPts val="1200"/>
              <a:buFont typeface="Arial"/>
              <a:buChar char="•"/>
            </a:pPr>
            <a:r>
              <a:rPr i="0" lang="en-GB"/>
              <a:t>A Prolog file is used to specify the logic the agent needs to reason about its environment. Predicates used in action rules (but not defined in the Prolog file) need to be declared in this file too.</a:t>
            </a:r>
            <a:endParaRPr/>
          </a:p>
          <a:p>
            <a:pPr indent="-171450" lvl="0" marL="171450" rtl="0" algn="l">
              <a:spcBef>
                <a:spcPts val="360"/>
              </a:spcBef>
              <a:spcAft>
                <a:spcPts val="0"/>
              </a:spcAft>
              <a:buClr>
                <a:schemeClr val="dk1"/>
              </a:buClr>
              <a:buSzPts val="1200"/>
              <a:buFont typeface="Arial"/>
              <a:buChar char="•"/>
            </a:pPr>
            <a:r>
              <a:rPr i="0" lang="en-GB"/>
              <a:t>An Init module is useful for storing initial information in the database from the agent (typically, information received from the environment but can be something else). An update module is used to perform additional processing of the information received from the environment (in the Vacuum World for computing, e.g., about which absolute location coordinates percepts provide information about, as percepts received are relative to a field of vision)</a:t>
            </a:r>
            <a:endParaRPr/>
          </a:p>
          <a:p>
            <a:pPr indent="-171450" lvl="0" marL="171450" rtl="0" algn="l">
              <a:spcBef>
                <a:spcPts val="360"/>
              </a:spcBef>
              <a:spcAft>
                <a:spcPts val="0"/>
              </a:spcAft>
              <a:buClr>
                <a:schemeClr val="dk1"/>
              </a:buClr>
              <a:buSzPts val="1200"/>
              <a:buFont typeface="Arial"/>
              <a:buChar char="•"/>
            </a:pPr>
            <a:r>
              <a:rPr i="0" lang="en-GB"/>
              <a:t>Of course, the most important part is to specify a strategy for selecting actions. So, last but definitely not least!</a:t>
            </a:r>
            <a:endParaRPr/>
          </a:p>
        </p:txBody>
      </p:sp>
      <p:sp>
        <p:nvSpPr>
          <p:cNvPr id="158" name="Google Shape;158;p10: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4" name="Google Shape;164;p11: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In other words, all we need to make sure is that the agent visits all 30 squares and cleans all of these. If the environment does not regenerate dust, this means that the agent will have cleaned the environment when it has visited all squares (as far as possible). The agent thus is done when it has visited all 30 squares.</a:t>
            </a:r>
            <a:endParaRPr/>
          </a:p>
        </p:txBody>
      </p:sp>
      <p:sp>
        <p:nvSpPr>
          <p:cNvPr id="165" name="Google Shape;165;p11: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1" name="Google Shape;171;p12: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Make sure students take photo of this sheet, because they need this at places to make the right choices. Emphasize this information is important for making various choices they are asked to make later.</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For explanation, you can use the following comments:</a:t>
            </a:r>
            <a:endParaRPr/>
          </a:p>
          <a:p>
            <a:pPr indent="-171450" lvl="0" marL="171450" rtl="0" algn="l">
              <a:spcBef>
                <a:spcPts val="360"/>
              </a:spcBef>
              <a:spcAft>
                <a:spcPts val="0"/>
              </a:spcAft>
              <a:buClr>
                <a:schemeClr val="dk1"/>
              </a:buClr>
              <a:buSzPts val="1200"/>
              <a:buFont typeface="Arial"/>
              <a:buChar char="•"/>
            </a:pPr>
            <a:r>
              <a:rPr lang="en-GB"/>
              <a:t>A square needs to be </a:t>
            </a:r>
            <a:r>
              <a:rPr b="1" lang="en-GB"/>
              <a:t>cleaned only once</a:t>
            </a:r>
            <a:r>
              <a:rPr lang="en-GB"/>
              <a:t> because we assume dust will not re-generate; so if the bot does that when it visits a square for the first time, that should be good enough to clean all squares if it visits all of them.</a:t>
            </a:r>
            <a:endParaRPr/>
          </a:p>
          <a:p>
            <a:pPr indent="-171450" lvl="0" marL="171450" rtl="0" algn="l">
              <a:spcBef>
                <a:spcPts val="360"/>
              </a:spcBef>
              <a:spcAft>
                <a:spcPts val="0"/>
              </a:spcAft>
              <a:buClr>
                <a:schemeClr val="dk1"/>
              </a:buClr>
              <a:buSzPts val="1200"/>
              <a:buFont typeface="Arial"/>
              <a:buChar char="•"/>
            </a:pPr>
            <a:r>
              <a:rPr lang="en-GB"/>
              <a:t>To make sure the bot visits all squares, it should </a:t>
            </a:r>
            <a:r>
              <a:rPr b="1" lang="en-GB"/>
              <a:t>explore</a:t>
            </a:r>
            <a:r>
              <a:rPr lang="en-GB"/>
              <a:t> the grid; the simplest way to do that is by randomly moving through it.</a:t>
            </a:r>
            <a:endParaRPr/>
          </a:p>
          <a:p>
            <a:pPr indent="-171450" lvl="0" marL="171450" rtl="0" algn="l">
              <a:spcBef>
                <a:spcPts val="360"/>
              </a:spcBef>
              <a:spcAft>
                <a:spcPts val="0"/>
              </a:spcAft>
              <a:buClr>
                <a:schemeClr val="dk1"/>
              </a:buClr>
              <a:buSzPts val="1200"/>
              <a:buFont typeface="Arial"/>
              <a:buChar char="•"/>
            </a:pPr>
            <a:r>
              <a:rPr lang="en-GB"/>
              <a:t>To make sure the bot also will </a:t>
            </a:r>
            <a:r>
              <a:rPr b="1" lang="en-GB"/>
              <a:t>know</a:t>
            </a:r>
            <a:r>
              <a:rPr lang="en-GB"/>
              <a:t> that it has visited all squares, it needs to keep track of which squares it has visited in its database.</a:t>
            </a:r>
            <a:endParaRPr/>
          </a:p>
          <a:p>
            <a:pPr indent="-171450" lvl="0" marL="171450" rtl="0" algn="l">
              <a:spcBef>
                <a:spcPts val="360"/>
              </a:spcBef>
              <a:spcAft>
                <a:spcPts val="0"/>
              </a:spcAft>
              <a:buClr>
                <a:schemeClr val="dk1"/>
              </a:buClr>
              <a:buSzPts val="1200"/>
              <a:buFont typeface="Arial"/>
              <a:buChar char="•"/>
            </a:pPr>
            <a:r>
              <a:rPr lang="en-GB"/>
              <a:t>The agent will know that it is </a:t>
            </a:r>
            <a:r>
              <a:rPr b="1" lang="en-GB"/>
              <a:t>done</a:t>
            </a:r>
            <a:r>
              <a:rPr b="0" lang="en-GB"/>
              <a:t> when it has visited 30 squares, which is the number of squares that the bot can visit on a level 1 grid.</a:t>
            </a:r>
            <a:endParaRPr b="1"/>
          </a:p>
        </p:txBody>
      </p:sp>
      <p:sp>
        <p:nvSpPr>
          <p:cNvPr id="172" name="Google Shape;172;p12: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78" name="Google Shape;178;p13: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84" name="Google Shape;184;p14: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91" name="Google Shape;191;p15: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7" name="Google Shape;197;p16: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a:p>
        </p:txBody>
      </p:sp>
      <p:sp>
        <p:nvSpPr>
          <p:cNvPr id="198" name="Google Shape;198;p16: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5" name="Google Shape;205;p17: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Agent name can be anything. I just copied the name used also in the slides. Same for names of the two modules. Note that at the end of the use clause for modules a for statement needs to be added in an agent definition what the module will be used for.</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The percepts do not keep track of where the agent </a:t>
            </a:r>
            <a:r>
              <a:rPr b="1" lang="en-GB"/>
              <a:t>has been </a:t>
            </a:r>
            <a:r>
              <a:rPr b="0" lang="en-GB"/>
              <a:t>but just about </a:t>
            </a:r>
            <a:r>
              <a:rPr b="1" lang="en-GB"/>
              <a:t>where the agent is now</a:t>
            </a:r>
            <a:r>
              <a:rPr b="0" lang="en-GB"/>
              <a:t>. From the information where the agent is now, the agent can also update its database about which squares it has visited. That’s why we need an update module to insert that into the agent’s database.</a:t>
            </a:r>
            <a:endParaRPr b="1"/>
          </a:p>
        </p:txBody>
      </p:sp>
      <p:sp>
        <p:nvSpPr>
          <p:cNvPr id="206" name="Google Shape;206;p17: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13" name="Google Shape;213;p18: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9" name="Google Shape;219;p19: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a:p>
        </p:txBody>
      </p:sp>
      <p:sp>
        <p:nvSpPr>
          <p:cNvPr id="220" name="Google Shape;220;p19: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0: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7" name="Google Shape;227;p20: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b="0"/>
          </a:p>
        </p:txBody>
      </p:sp>
      <p:sp>
        <p:nvSpPr>
          <p:cNvPr id="228" name="Google Shape;228;p20: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1: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7" name="Google Shape;237;p21: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In lecture I explained that task/2 is needed to make sure we are not trying to do something before the previous action has been completed.</a:t>
            </a:r>
            <a:endParaRPr/>
          </a:p>
          <a:p>
            <a:pPr indent="0" lvl="0" marL="0" rtl="0" algn="l">
              <a:spcBef>
                <a:spcPts val="360"/>
              </a:spcBef>
              <a:spcAft>
                <a:spcPts val="0"/>
              </a:spcAft>
              <a:buNone/>
            </a:pPr>
            <a:r>
              <a:rPr lang="en-GB"/>
              <a:t>I also explained that location/2 and task/2 are percepts that are “send on update” percepts (which require </a:t>
            </a:r>
            <a:r>
              <a:rPr b="1" lang="en-GB"/>
              <a:t>update </a:t>
            </a:r>
            <a:r>
              <a:rPr b="0" lang="en-GB"/>
              <a:t>handler) </a:t>
            </a:r>
            <a:r>
              <a:rPr lang="en-GB"/>
              <a:t>instead of “send always” percepts (which require </a:t>
            </a:r>
            <a:r>
              <a:rPr b="1" lang="en-GB"/>
              <a:t>replace</a:t>
            </a:r>
            <a:r>
              <a:rPr b="0" lang="en-GB"/>
              <a:t> handler).</a:t>
            </a:r>
            <a:endParaRPr/>
          </a:p>
        </p:txBody>
      </p:sp>
      <p:sp>
        <p:nvSpPr>
          <p:cNvPr id="238" name="Google Shape;238;p21: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2: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5" name="Google Shape;245;p22: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Nothing really to explain here. Students can look at the slides for inspiration ;-).</a:t>
            </a:r>
            <a:endParaRPr/>
          </a:p>
        </p:txBody>
      </p:sp>
      <p:sp>
        <p:nvSpPr>
          <p:cNvPr id="246" name="Google Shape;246;p22: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3: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53" name="Google Shape;253;p23: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4" name="Google Shape;264;p24: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If all steps have been completed (including introducing new modules!) then no compile errors should appear any more in the mas file.</a:t>
            </a:r>
            <a:endParaRPr/>
          </a:p>
          <a:p>
            <a:pPr indent="0" lvl="0" marL="0" rtl="0" algn="l">
              <a:spcBef>
                <a:spcPts val="360"/>
              </a:spcBef>
              <a:spcAft>
                <a:spcPts val="0"/>
              </a:spcAft>
              <a:buNone/>
            </a:pPr>
            <a:r>
              <a:rPr lang="en-GB"/>
              <a:t>Of course, there are still other compile errors!</a:t>
            </a:r>
            <a:endParaRPr/>
          </a:p>
        </p:txBody>
      </p:sp>
      <p:sp>
        <p:nvSpPr>
          <p:cNvPr id="265" name="Google Shape;265;p24: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71" name="Google Shape;271;p25: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6: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8" name="Google Shape;278;p26: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It’s logic ;-).</a:t>
            </a:r>
            <a:endParaRPr/>
          </a:p>
        </p:txBody>
      </p:sp>
      <p:sp>
        <p:nvSpPr>
          <p:cNvPr id="279" name="Google Shape;279;p26: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7: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6" name="Google Shape;286;p27: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The second bullet is a bit of a puzzle (and somewhat cryptically described, to make the students think a bit). The idea is that if the agent has NOT yet visited a square then new should be added to the agent’s database, of course.</a:t>
            </a:r>
            <a:endParaRPr/>
          </a:p>
          <a:p>
            <a:pPr indent="0" lvl="0" marL="0" rtl="0" algn="l">
              <a:spcBef>
                <a:spcPts val="360"/>
              </a:spcBef>
              <a:spcAft>
                <a:spcPts val="0"/>
              </a:spcAft>
              <a:buNone/>
            </a:pPr>
            <a:r>
              <a:rPr lang="en-GB"/>
              <a:t>The third bullet refers to a use clause for the Prolog file at the top of any module that needs to be added to remove compile errors and tell the agent what (Prolog) predicates are being used.</a:t>
            </a:r>
            <a:endParaRPr/>
          </a:p>
        </p:txBody>
      </p:sp>
      <p:sp>
        <p:nvSpPr>
          <p:cNvPr id="287" name="Google Shape;287;p27: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8: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4" name="Google Shape;294;p28: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Again, basic logic. The two rules can be combined into one:</a:t>
            </a:r>
            <a:endParaRPr/>
          </a:p>
          <a:p>
            <a:pPr indent="0" lvl="0" marL="0" marR="0" rtl="0" algn="l">
              <a:lnSpc>
                <a:spcPct val="100000"/>
              </a:lnSpc>
              <a:spcBef>
                <a:spcPts val="360"/>
              </a:spcBef>
              <a:spcAft>
                <a:spcPts val="0"/>
              </a:spcAft>
              <a:buClr>
                <a:schemeClr val="dk1"/>
              </a:buClr>
              <a:buSzPts val="1200"/>
              <a:buFont typeface="Arial"/>
              <a:buNone/>
            </a:pPr>
            <a:r>
              <a:rPr lang="en-GB"/>
              <a:t>	</a:t>
            </a:r>
            <a:r>
              <a:rPr b="1" lang="en-GB" sz="1200">
                <a:solidFill>
                  <a:srgbClr val="000000"/>
                </a:solidFill>
                <a:latin typeface="Consolas"/>
                <a:ea typeface="Consolas"/>
                <a:cs typeface="Consolas"/>
                <a:sym typeface="Consolas"/>
              </a:rPr>
              <a:t>if </a:t>
            </a:r>
            <a:r>
              <a:rPr lang="en-GB" sz="1200">
                <a:solidFill>
                  <a:srgbClr val="000000"/>
                </a:solidFill>
                <a:latin typeface="Consolas"/>
                <a:ea typeface="Consolas"/>
                <a:cs typeface="Consolas"/>
                <a:sym typeface="Consolas"/>
              </a:rPr>
              <a:t>location(</a:t>
            </a:r>
            <a:r>
              <a:rPr lang="en-GB" sz="1200">
                <a:solidFill>
                  <a:srgbClr val="0000C0"/>
                </a:solidFill>
                <a:latin typeface="Consolas"/>
                <a:ea typeface="Consolas"/>
                <a:cs typeface="Consolas"/>
                <a:sym typeface="Consolas"/>
              </a:rPr>
              <a:t>X</a:t>
            </a:r>
            <a:r>
              <a:rPr lang="en-GB" sz="1200">
                <a:solidFill>
                  <a:srgbClr val="000000"/>
                </a:solidFill>
                <a:latin typeface="Consolas"/>
                <a:ea typeface="Consolas"/>
                <a:cs typeface="Consolas"/>
                <a:sym typeface="Consolas"/>
              </a:rPr>
              <a:t>, </a:t>
            </a:r>
            <a:r>
              <a:rPr lang="en-GB" sz="1200">
                <a:solidFill>
                  <a:srgbClr val="0000C0"/>
                </a:solidFill>
                <a:latin typeface="Consolas"/>
                <a:ea typeface="Consolas"/>
                <a:cs typeface="Consolas"/>
                <a:sym typeface="Consolas"/>
              </a:rPr>
              <a:t>Y</a:t>
            </a:r>
            <a:r>
              <a:rPr lang="en-GB" sz="1200">
                <a:solidFill>
                  <a:srgbClr val="000000"/>
                </a:solidFill>
                <a:latin typeface="Consolas"/>
                <a:ea typeface="Consolas"/>
                <a:cs typeface="Consolas"/>
                <a:sym typeface="Consolas"/>
              </a:rPr>
              <a:t>), </a:t>
            </a:r>
            <a:r>
              <a:rPr b="1" i="1" lang="en-GB" sz="1200">
                <a:solidFill>
                  <a:srgbClr val="7F0055"/>
                </a:solidFill>
                <a:latin typeface="Consolas"/>
                <a:ea typeface="Consolas"/>
                <a:cs typeface="Consolas"/>
                <a:sym typeface="Consolas"/>
              </a:rPr>
              <a:t>not</a:t>
            </a:r>
            <a:r>
              <a:rPr lang="en-GB" sz="1200">
                <a:solidFill>
                  <a:srgbClr val="000000"/>
                </a:solidFill>
                <a:latin typeface="Consolas"/>
                <a:ea typeface="Consolas"/>
                <a:cs typeface="Consolas"/>
                <a:sym typeface="Consolas"/>
              </a:rPr>
              <a:t>(visited(</a:t>
            </a:r>
            <a:r>
              <a:rPr lang="en-GB" sz="1200">
                <a:solidFill>
                  <a:srgbClr val="0000C0"/>
                </a:solidFill>
                <a:latin typeface="Consolas"/>
                <a:ea typeface="Consolas"/>
                <a:cs typeface="Consolas"/>
                <a:sym typeface="Consolas"/>
              </a:rPr>
              <a:t>X</a:t>
            </a:r>
            <a:r>
              <a:rPr lang="en-GB" sz="1200">
                <a:solidFill>
                  <a:srgbClr val="000000"/>
                </a:solidFill>
                <a:latin typeface="Consolas"/>
                <a:ea typeface="Consolas"/>
                <a:cs typeface="Consolas"/>
                <a:sym typeface="Consolas"/>
              </a:rPr>
              <a:t>, </a:t>
            </a:r>
            <a:r>
              <a:rPr lang="en-GB" sz="1200">
                <a:solidFill>
                  <a:srgbClr val="0000C0"/>
                </a:solidFill>
                <a:latin typeface="Consolas"/>
                <a:ea typeface="Consolas"/>
                <a:cs typeface="Consolas"/>
                <a:sym typeface="Consolas"/>
              </a:rPr>
              <a:t>Y</a:t>
            </a:r>
            <a:r>
              <a:rPr lang="en-GB" sz="1200">
                <a:solidFill>
                  <a:srgbClr val="000000"/>
                </a:solidFill>
                <a:latin typeface="Consolas"/>
                <a:ea typeface="Consolas"/>
                <a:cs typeface="Consolas"/>
                <a:sym typeface="Consolas"/>
              </a:rPr>
              <a:t>)) then </a:t>
            </a:r>
            <a:r>
              <a:rPr b="1" lang="en-GB" sz="1200">
                <a:solidFill>
                  <a:srgbClr val="000000"/>
                </a:solidFill>
                <a:latin typeface="Consolas"/>
                <a:ea typeface="Consolas"/>
                <a:cs typeface="Consolas"/>
                <a:sym typeface="Consolas"/>
              </a:rPr>
              <a:t>insert</a:t>
            </a:r>
            <a:r>
              <a:rPr lang="en-GB" sz="1200">
                <a:solidFill>
                  <a:srgbClr val="000000"/>
                </a:solidFill>
                <a:latin typeface="Consolas"/>
                <a:ea typeface="Consolas"/>
                <a:cs typeface="Consolas"/>
                <a:sym typeface="Consolas"/>
              </a:rPr>
              <a:t>(visited(</a:t>
            </a:r>
            <a:r>
              <a:rPr lang="en-GB" sz="1200">
                <a:solidFill>
                  <a:srgbClr val="0000C0"/>
                </a:solidFill>
                <a:latin typeface="Consolas"/>
                <a:ea typeface="Consolas"/>
                <a:cs typeface="Consolas"/>
                <a:sym typeface="Consolas"/>
              </a:rPr>
              <a:t>X</a:t>
            </a:r>
            <a:r>
              <a:rPr lang="en-GB" sz="1200">
                <a:solidFill>
                  <a:srgbClr val="000000"/>
                </a:solidFill>
                <a:latin typeface="Consolas"/>
                <a:ea typeface="Consolas"/>
                <a:cs typeface="Consolas"/>
                <a:sym typeface="Consolas"/>
              </a:rPr>
              <a:t>,</a:t>
            </a:r>
            <a:r>
              <a:rPr lang="en-GB" sz="1200">
                <a:solidFill>
                  <a:srgbClr val="0000C0"/>
                </a:solidFill>
                <a:latin typeface="Consolas"/>
                <a:ea typeface="Consolas"/>
                <a:cs typeface="Consolas"/>
                <a:sym typeface="Consolas"/>
              </a:rPr>
              <a:t>Y</a:t>
            </a:r>
            <a:r>
              <a:rPr lang="en-GB" sz="1200">
                <a:solidFill>
                  <a:srgbClr val="000000"/>
                </a:solidFill>
                <a:latin typeface="Consolas"/>
                <a:ea typeface="Consolas"/>
                <a:cs typeface="Consolas"/>
                <a:sym typeface="Consolas"/>
              </a:rPr>
              <a:t>), new).</a:t>
            </a:r>
            <a:endParaRPr/>
          </a:p>
          <a:p>
            <a:pPr indent="0" lvl="0" marL="0" marR="0" rtl="0" algn="l">
              <a:lnSpc>
                <a:spcPct val="100000"/>
              </a:lnSpc>
              <a:spcBef>
                <a:spcPts val="360"/>
              </a:spcBef>
              <a:spcAft>
                <a:spcPts val="0"/>
              </a:spcAft>
              <a:buClr>
                <a:srgbClr val="000000"/>
              </a:buClr>
              <a:buSzPts val="1200"/>
              <a:buFont typeface="Consolas"/>
              <a:buNone/>
            </a:pPr>
            <a:r>
              <a:rPr lang="en-GB" sz="1200">
                <a:solidFill>
                  <a:srgbClr val="000000"/>
                </a:solidFill>
                <a:latin typeface="Consolas"/>
                <a:ea typeface="Consolas"/>
                <a:cs typeface="Consolas"/>
                <a:sym typeface="Consolas"/>
              </a:rPr>
              <a:t>Order is important because the second rule inserts visited/2 and if the first rule would follow that rule then new would never be inserted!</a:t>
            </a:r>
            <a:endParaRPr/>
          </a:p>
          <a:p>
            <a:pPr indent="0" lvl="0" marL="0" rtl="0" algn="l">
              <a:spcBef>
                <a:spcPts val="360"/>
              </a:spcBef>
              <a:spcAft>
                <a:spcPts val="0"/>
              </a:spcAft>
              <a:buNone/>
            </a:pPr>
            <a:r>
              <a:t/>
            </a:r>
            <a:endParaRPr/>
          </a:p>
        </p:txBody>
      </p:sp>
      <p:sp>
        <p:nvSpPr>
          <p:cNvPr id="295" name="Google Shape;295;p28: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9: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2" name="Google Shape;302;p29: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Ask students first to think about it using their common sense and to come up with some good reasons to do each action. They should use the information we provided at the start (input slide).</a:t>
            </a:r>
            <a:endParaRPr/>
          </a:p>
        </p:txBody>
      </p:sp>
      <p:sp>
        <p:nvSpPr>
          <p:cNvPr id="303" name="Google Shape;303;p29: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0: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0" name="Google Shape;310;p30: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a:p>
        </p:txBody>
      </p:sp>
      <p:sp>
        <p:nvSpPr>
          <p:cNvPr id="311" name="Google Shape;311;p30: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1: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7" name="Google Shape;317;p31: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This is the last part of the assignment. This may take some time, so give them some time to work on this. Students might find the lecture slides useful but should implement the simple strategy on the previous slide, of course!</a:t>
            </a:r>
            <a:endParaRPr/>
          </a:p>
          <a:p>
            <a:pPr indent="0" lvl="0" marL="0" rtl="0" algn="l">
              <a:spcBef>
                <a:spcPts val="360"/>
              </a:spcBef>
              <a:spcAft>
                <a:spcPts val="0"/>
              </a:spcAft>
              <a:buNone/>
            </a:pPr>
            <a:r>
              <a:rPr lang="en-GB"/>
              <a:t>The slides (slide 49) explains the </a:t>
            </a:r>
            <a:r>
              <a:rPr b="1" lang="en-GB"/>
              <a:t>order=linearrandom</a:t>
            </a:r>
            <a:r>
              <a:rPr lang="en-GB"/>
              <a:t> module option, which will be needed.</a:t>
            </a:r>
            <a:endParaRPr/>
          </a:p>
          <a:p>
            <a:pPr indent="0" lvl="0" marL="0" rtl="0" algn="l">
              <a:spcBef>
                <a:spcPts val="360"/>
              </a:spcBef>
              <a:spcAft>
                <a:spcPts val="0"/>
              </a:spcAft>
              <a:buNone/>
            </a:pPr>
            <a:r>
              <a:rPr lang="en-GB"/>
              <a:t>The findall/3 and length/2 predicates can be used to define the ‘done’ condition (30 squares visited).</a:t>
            </a:r>
            <a:endParaRPr/>
          </a:p>
        </p:txBody>
      </p:sp>
      <p:sp>
        <p:nvSpPr>
          <p:cNvPr id="318" name="Google Shape;318;p31: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2: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5" name="Google Shape;325;p32: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See notes on previous slide.</a:t>
            </a:r>
            <a:endParaRPr/>
          </a:p>
        </p:txBody>
      </p:sp>
      <p:sp>
        <p:nvSpPr>
          <p:cNvPr id="326" name="Google Shape;326;p32: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3: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3" name="Google Shape;333;p33: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b="1" lang="en-GB"/>
              <a:t>Note</a:t>
            </a:r>
            <a:r>
              <a:rPr lang="en-GB"/>
              <a:t>: the agent is most of the time horribly inefficient… but it gets there in the end.</a:t>
            </a:r>
            <a:endParaRPr/>
          </a:p>
        </p:txBody>
      </p:sp>
      <p:sp>
        <p:nvSpPr>
          <p:cNvPr id="334" name="Google Shape;334;p33: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5" name="Shape 15"/>
        <p:cNvGrpSpPr/>
        <p:nvPr/>
      </p:nvGrpSpPr>
      <p:grpSpPr>
        <a:xfrm>
          <a:off x="0" y="0"/>
          <a:ext cx="0" cy="0"/>
          <a:chOff x="0" y="0"/>
          <a:chExt cx="0" cy="0"/>
        </a:xfrm>
      </p:grpSpPr>
      <p:pic>
        <p:nvPicPr>
          <p:cNvPr id="16" name="Google Shape;16;p35"/>
          <p:cNvPicPr preferRelativeResize="0"/>
          <p:nvPr/>
        </p:nvPicPr>
        <p:blipFill rotWithShape="1">
          <a:blip r:embed="rId2">
            <a:alphaModFix/>
          </a:blip>
          <a:srcRect b="0" l="0" r="0" t="0"/>
          <a:stretch/>
        </p:blipFill>
        <p:spPr>
          <a:xfrm>
            <a:off x="0" y="0"/>
            <a:ext cx="9144000" cy="6583363"/>
          </a:xfrm>
          <a:prstGeom prst="rect">
            <a:avLst/>
          </a:prstGeom>
          <a:noFill/>
          <a:ln>
            <a:noFill/>
          </a:ln>
        </p:spPr>
      </p:pic>
      <p:sp>
        <p:nvSpPr>
          <p:cNvPr id="17" name="Google Shape;17;p35"/>
          <p:cNvSpPr/>
          <p:nvPr/>
        </p:nvSpPr>
        <p:spPr>
          <a:xfrm>
            <a:off x="755650" y="755650"/>
            <a:ext cx="7770813" cy="1446213"/>
          </a:xfrm>
          <a:prstGeom prst="roundRect">
            <a:avLst>
              <a:gd fmla="val 16667" name="adj"/>
            </a:avLst>
          </a:prstGeom>
          <a:solidFill>
            <a:srgbClr val="3333B3"/>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Google Shape;18;p35"/>
          <p:cNvSpPr txBox="1"/>
          <p:nvPr/>
        </p:nvSpPr>
        <p:spPr>
          <a:xfrm>
            <a:off x="0" y="6583363"/>
            <a:ext cx="4573588" cy="276983"/>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GB" sz="1200" u="none" cap="none" strike="noStrike">
                <a:solidFill>
                  <a:schemeClr val="lt1"/>
                </a:solidFill>
                <a:latin typeface="Arial"/>
                <a:ea typeface="Arial"/>
                <a:cs typeface="Arial"/>
                <a:sym typeface="Arial"/>
              </a:rPr>
              <a:t>Koen V. Hindriks</a:t>
            </a:r>
            <a:endParaRPr/>
          </a:p>
        </p:txBody>
      </p:sp>
      <p:sp>
        <p:nvSpPr>
          <p:cNvPr id="19" name="Google Shape;19;p35"/>
          <p:cNvSpPr txBox="1"/>
          <p:nvPr/>
        </p:nvSpPr>
        <p:spPr>
          <a:xfrm>
            <a:off x="4573588" y="6583363"/>
            <a:ext cx="4570412" cy="276983"/>
          </a:xfrm>
          <a:prstGeom prst="rect">
            <a:avLst/>
          </a:prstGeom>
          <a:solidFill>
            <a:srgbClr val="3333B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none" cap="none" strike="noStrike">
                <a:solidFill>
                  <a:schemeClr val="lt1"/>
                </a:solidFill>
                <a:latin typeface="Arial"/>
                <a:ea typeface="Arial"/>
                <a:cs typeface="Arial"/>
                <a:sym typeface="Arial"/>
              </a:rPr>
              <a:t>Designing an agent system</a:t>
            </a:r>
            <a:endParaRPr b="1" i="0" sz="1200" u="none" cap="none" strike="noStrike">
              <a:solidFill>
                <a:schemeClr val="lt1"/>
              </a:solidFill>
              <a:latin typeface="Arial"/>
              <a:ea typeface="Arial"/>
              <a:cs typeface="Arial"/>
              <a:sym typeface="Arial"/>
            </a:endParaRPr>
          </a:p>
        </p:txBody>
      </p:sp>
      <p:sp>
        <p:nvSpPr>
          <p:cNvPr id="20" name="Google Shape;20;p35"/>
          <p:cNvSpPr txBox="1"/>
          <p:nvPr>
            <p:ph type="ctrTitle"/>
          </p:nvPr>
        </p:nvSpPr>
        <p:spPr>
          <a:xfrm>
            <a:off x="687388" y="739775"/>
            <a:ext cx="7769225" cy="14684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35"/>
          <p:cNvSpPr txBox="1"/>
          <p:nvPr>
            <p:ph idx="1" type="subTitle"/>
          </p:nvPr>
        </p:nvSpPr>
        <p:spPr>
          <a:xfrm>
            <a:off x="1370013" y="3887788"/>
            <a:ext cx="6403975" cy="1751012"/>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6"/>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24" name="Google Shape;24;p36"/>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36"/>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7"/>
          <p:cNvSpPr txBox="1"/>
          <p:nvPr>
            <p:ph type="title"/>
          </p:nvPr>
        </p:nvSpPr>
        <p:spPr>
          <a:xfrm>
            <a:off x="722313" y="4406900"/>
            <a:ext cx="7772400" cy="1362075"/>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38"/>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31" name="Google Shape;31;p38"/>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39"/>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GB" sz="1100">
                <a:solidFill>
                  <a:schemeClr val="lt1"/>
                </a:solidFill>
                <a:latin typeface="Arial"/>
                <a:ea typeface="Arial"/>
                <a:cs typeface="Arial"/>
                <a:sym typeface="Arial"/>
              </a:rPr>
              <a:t>‹#›</a:t>
            </a:fld>
            <a:r>
              <a:rPr lang="en-GB" sz="1100">
                <a:solidFill>
                  <a:schemeClr val="lt1"/>
                </a:solidFill>
                <a:latin typeface="Arial"/>
                <a:ea typeface="Arial"/>
                <a:cs typeface="Arial"/>
                <a:sym typeface="Arial"/>
              </a:rPr>
              <a:t> </a:t>
            </a:r>
            <a:endParaRPr/>
          </a:p>
        </p:txBody>
      </p:sp>
      <p:sp>
        <p:nvSpPr>
          <p:cNvPr id="34" name="Google Shape;34;p39"/>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39"/>
          <p:cNvSpPr txBox="1"/>
          <p:nvPr>
            <p:ph idx="1" type="body"/>
          </p:nvPr>
        </p:nvSpPr>
        <p:spPr>
          <a:xfrm>
            <a:off x="150813" y="1068388"/>
            <a:ext cx="4344987" cy="5332412"/>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6" name="Google Shape;36;p39"/>
          <p:cNvSpPr txBox="1"/>
          <p:nvPr>
            <p:ph idx="2" type="body"/>
          </p:nvPr>
        </p:nvSpPr>
        <p:spPr>
          <a:xfrm>
            <a:off x="4648200" y="1068388"/>
            <a:ext cx="4344988" cy="5332412"/>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40"/>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GB" sz="1100">
                <a:solidFill>
                  <a:schemeClr val="lt1"/>
                </a:solidFill>
                <a:latin typeface="Arial"/>
                <a:ea typeface="Arial"/>
                <a:cs typeface="Arial"/>
                <a:sym typeface="Arial"/>
              </a:rPr>
              <a:t>‹#›</a:t>
            </a:fld>
            <a:r>
              <a:rPr lang="en-GB" sz="1100">
                <a:solidFill>
                  <a:schemeClr val="lt1"/>
                </a:solidFill>
                <a:latin typeface="Arial"/>
                <a:ea typeface="Arial"/>
                <a:cs typeface="Arial"/>
                <a:sym typeface="Arial"/>
              </a:rPr>
              <a:t> </a:t>
            </a:r>
            <a:endParaRPr/>
          </a:p>
        </p:txBody>
      </p:sp>
      <p:sp>
        <p:nvSpPr>
          <p:cNvPr id="39" name="Google Shape;39;p40"/>
          <p:cNvSpPr txBox="1"/>
          <p:nvPr>
            <p:ph type="title"/>
          </p:nvPr>
        </p:nvSpPr>
        <p:spPr>
          <a:xfrm>
            <a:off x="457200" y="274638"/>
            <a:ext cx="8229600" cy="11430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4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1" name="Google Shape;41;p4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2" name="Google Shape;42;p4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3" name="Google Shape;43;p4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41"/>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GB" sz="1100">
                <a:solidFill>
                  <a:schemeClr val="lt1"/>
                </a:solidFill>
                <a:latin typeface="Arial"/>
                <a:ea typeface="Arial"/>
                <a:cs typeface="Arial"/>
                <a:sym typeface="Arial"/>
              </a:rPr>
              <a:t>‹#›</a:t>
            </a:fld>
            <a:r>
              <a:rPr lang="en-GB" sz="1100">
                <a:solidFill>
                  <a:schemeClr val="lt1"/>
                </a:solidFill>
                <a:latin typeface="Arial"/>
                <a:ea typeface="Arial"/>
                <a:cs typeface="Arial"/>
                <a:sym typeface="Arial"/>
              </a:rPr>
              <a: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42"/>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GB" sz="1100">
                <a:solidFill>
                  <a:schemeClr val="lt1"/>
                </a:solidFill>
                <a:latin typeface="Arial"/>
                <a:ea typeface="Arial"/>
                <a:cs typeface="Arial"/>
                <a:sym typeface="Arial"/>
              </a:rPr>
              <a:t>‹#›</a:t>
            </a:fld>
            <a:r>
              <a:rPr lang="en-GB" sz="1100">
                <a:solidFill>
                  <a:schemeClr val="lt1"/>
                </a:solidFill>
                <a:latin typeface="Arial"/>
                <a:ea typeface="Arial"/>
                <a:cs typeface="Arial"/>
                <a:sym typeface="Arial"/>
              </a:rPr>
              <a:t> </a:t>
            </a:r>
            <a:endParaRPr/>
          </a:p>
        </p:txBody>
      </p:sp>
      <p:sp>
        <p:nvSpPr>
          <p:cNvPr id="48" name="Google Shape;48;p42"/>
          <p:cNvSpPr txBox="1"/>
          <p:nvPr>
            <p:ph type="title"/>
          </p:nvPr>
        </p:nvSpPr>
        <p:spPr>
          <a:xfrm>
            <a:off x="457200" y="273050"/>
            <a:ext cx="3008313" cy="1162050"/>
          </a:xfrm>
          <a:prstGeom prst="rect">
            <a:avLst/>
          </a:prstGeom>
          <a:gradFill>
            <a:gsLst>
              <a:gs pos="0">
                <a:srgbClr val="3333B3"/>
              </a:gs>
              <a:gs pos="100000">
                <a:schemeClr val="dk2"/>
              </a:gs>
            </a:gsLst>
            <a:lin ang="0" scaled="0"/>
          </a:gra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4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0" name="Google Shape;50;p4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1" name="Shape 51"/>
        <p:cNvGrpSpPr/>
        <p:nvPr/>
      </p:nvGrpSpPr>
      <p:grpSpPr>
        <a:xfrm>
          <a:off x="0" y="0"/>
          <a:ext cx="0" cy="0"/>
          <a:chOff x="0" y="0"/>
          <a:chExt cx="0" cy="0"/>
        </a:xfrm>
      </p:grpSpPr>
      <p:sp>
        <p:nvSpPr>
          <p:cNvPr id="52" name="Google Shape;52;p43"/>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GB" sz="1100">
                <a:solidFill>
                  <a:schemeClr val="lt1"/>
                </a:solidFill>
                <a:latin typeface="Arial"/>
                <a:ea typeface="Arial"/>
                <a:cs typeface="Arial"/>
                <a:sym typeface="Arial"/>
              </a:rPr>
              <a:t>‹#›</a:t>
            </a:fld>
            <a:r>
              <a:rPr lang="en-GB" sz="1100">
                <a:solidFill>
                  <a:schemeClr val="lt1"/>
                </a:solidFill>
                <a:latin typeface="Arial"/>
                <a:ea typeface="Arial"/>
                <a:cs typeface="Arial"/>
                <a:sym typeface="Arial"/>
              </a:rPr>
              <a:t> </a:t>
            </a:r>
            <a:endParaRPr/>
          </a:p>
        </p:txBody>
      </p:sp>
      <p:sp>
        <p:nvSpPr>
          <p:cNvPr id="53" name="Google Shape;53;p43"/>
          <p:cNvSpPr txBox="1"/>
          <p:nvPr>
            <p:ph type="title"/>
          </p:nvPr>
        </p:nvSpPr>
        <p:spPr>
          <a:xfrm>
            <a:off x="1792288" y="4800600"/>
            <a:ext cx="5486400" cy="566738"/>
          </a:xfrm>
          <a:prstGeom prst="rect">
            <a:avLst/>
          </a:prstGeom>
          <a:gradFill>
            <a:gsLst>
              <a:gs pos="0">
                <a:srgbClr val="3333B3"/>
              </a:gs>
              <a:gs pos="100000">
                <a:schemeClr val="dk2"/>
              </a:gs>
            </a:gsLst>
            <a:lin ang="0" scaled="0"/>
          </a:gra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43"/>
          <p:cNvSpPr/>
          <p:nvPr>
            <p:ph idx="2" type="pic"/>
          </p:nvPr>
        </p:nvSpPr>
        <p:spPr>
          <a:xfrm>
            <a:off x="1792288" y="612775"/>
            <a:ext cx="5486400" cy="4114800"/>
          </a:xfrm>
          <a:prstGeom prst="rect">
            <a:avLst/>
          </a:prstGeom>
          <a:noFill/>
          <a:ln>
            <a:noFill/>
          </a:ln>
        </p:spPr>
      </p:sp>
      <p:sp>
        <p:nvSpPr>
          <p:cNvPr id="55" name="Google Shape;55;p4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6" name="Shape 56"/>
        <p:cNvGrpSpPr/>
        <p:nvPr/>
      </p:nvGrpSpPr>
      <p:grpSpPr>
        <a:xfrm>
          <a:off x="0" y="0"/>
          <a:ext cx="0" cy="0"/>
          <a:chOff x="0" y="0"/>
          <a:chExt cx="0" cy="0"/>
        </a:xfrm>
      </p:grpSpPr>
      <p:sp>
        <p:nvSpPr>
          <p:cNvPr id="57" name="Google Shape;57;p44"/>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GB" sz="1100">
                <a:solidFill>
                  <a:schemeClr val="lt1"/>
                </a:solidFill>
                <a:latin typeface="Arial"/>
                <a:ea typeface="Arial"/>
                <a:cs typeface="Arial"/>
                <a:sym typeface="Arial"/>
              </a:rPr>
              <a:t>‹#›</a:t>
            </a:fld>
            <a:r>
              <a:rPr lang="en-GB" sz="1100">
                <a:solidFill>
                  <a:schemeClr val="lt1"/>
                </a:solidFill>
                <a:latin typeface="Arial"/>
                <a:ea typeface="Arial"/>
                <a:cs typeface="Arial"/>
                <a:sym typeface="Arial"/>
              </a:rPr>
              <a:t> </a:t>
            </a:r>
            <a:endParaRPr/>
          </a:p>
        </p:txBody>
      </p:sp>
      <p:sp>
        <p:nvSpPr>
          <p:cNvPr id="58" name="Google Shape;58;p44"/>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44"/>
          <p:cNvSpPr txBox="1"/>
          <p:nvPr>
            <p:ph idx="1" type="body"/>
          </p:nvPr>
        </p:nvSpPr>
        <p:spPr>
          <a:xfrm rot="5400000">
            <a:off x="1905795" y="-686593"/>
            <a:ext cx="5332412" cy="88423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0" name="Shape 60"/>
        <p:cNvGrpSpPr/>
        <p:nvPr/>
      </p:nvGrpSpPr>
      <p:grpSpPr>
        <a:xfrm>
          <a:off x="0" y="0"/>
          <a:ext cx="0" cy="0"/>
          <a:chOff x="0" y="0"/>
          <a:chExt cx="0" cy="0"/>
        </a:xfrm>
      </p:grpSpPr>
      <p:sp>
        <p:nvSpPr>
          <p:cNvPr id="61" name="Google Shape;61;p45"/>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GB" sz="1100">
                <a:solidFill>
                  <a:schemeClr val="lt1"/>
                </a:solidFill>
                <a:latin typeface="Arial"/>
                <a:ea typeface="Arial"/>
                <a:cs typeface="Arial"/>
                <a:sym typeface="Arial"/>
              </a:rPr>
              <a:t>‹#›</a:t>
            </a:fld>
            <a:r>
              <a:rPr lang="en-GB" sz="1100">
                <a:solidFill>
                  <a:schemeClr val="lt1"/>
                </a:solidFill>
                <a:latin typeface="Arial"/>
                <a:ea typeface="Arial"/>
                <a:cs typeface="Arial"/>
                <a:sym typeface="Arial"/>
              </a:rPr>
              <a:t> </a:t>
            </a:r>
            <a:endParaRPr/>
          </a:p>
        </p:txBody>
      </p:sp>
      <p:sp>
        <p:nvSpPr>
          <p:cNvPr id="62" name="Google Shape;62;p45"/>
          <p:cNvSpPr txBox="1"/>
          <p:nvPr>
            <p:ph type="title"/>
          </p:nvPr>
        </p:nvSpPr>
        <p:spPr>
          <a:xfrm>
            <a:off x="6858000" y="0"/>
            <a:ext cx="2286000" cy="64008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spcBef>
                <a:spcPts val="0"/>
              </a:spcBef>
              <a:spcAft>
                <a:spcPts val="0"/>
              </a:spcAft>
              <a:buNone/>
              <a:defRPr/>
            </a:lvl1pPr>
          </a:lstStyle>
          <a:p/>
        </p:txBody>
      </p:sp>
      <p:sp>
        <p:nvSpPr>
          <p:cNvPr id="63" name="Google Shape;63;p45"/>
          <p:cNvSpPr txBox="1"/>
          <p:nvPr/>
        </p:nvSpPr>
        <p:spPr>
          <a:xfrm rot="5400000">
            <a:off x="4800600" y="2057400"/>
            <a:ext cx="6400800" cy="2286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GB" sz="4400" u="none" cap="none" strike="noStrike">
                <a:solidFill>
                  <a:schemeClr val="lt1"/>
                </a:solidFill>
                <a:latin typeface="Arial"/>
                <a:ea typeface="Arial"/>
                <a:cs typeface="Arial"/>
                <a:sym typeface="Arial"/>
              </a:rPr>
              <a:t>Click to edit Master title style</a:t>
            </a:r>
            <a:endParaRPr b="1" i="0" sz="4400" u="none" cap="none" strike="noStrike">
              <a:solidFill>
                <a:schemeClr val="lt1"/>
              </a:solidFill>
              <a:latin typeface="Arial"/>
              <a:ea typeface="Arial"/>
              <a:cs typeface="Arial"/>
              <a:sym typeface="Arial"/>
            </a:endParaRPr>
          </a:p>
        </p:txBody>
      </p:sp>
      <p:sp>
        <p:nvSpPr>
          <p:cNvPr id="64" name="Google Shape;64;p45"/>
          <p:cNvSpPr txBox="1"/>
          <p:nvPr>
            <p:ph idx="1" type="body"/>
          </p:nvPr>
        </p:nvSpPr>
        <p:spPr>
          <a:xfrm rot="5400000">
            <a:off x="152400" y="-152400"/>
            <a:ext cx="6400800" cy="6705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lip Art" type="txAndClipArt">
  <p:cSld name="TEXT_AND_CLIPART">
    <p:spTree>
      <p:nvGrpSpPr>
        <p:cNvPr id="65" name="Shape 65"/>
        <p:cNvGrpSpPr/>
        <p:nvPr/>
      </p:nvGrpSpPr>
      <p:grpSpPr>
        <a:xfrm>
          <a:off x="0" y="0"/>
          <a:ext cx="0" cy="0"/>
          <a:chOff x="0" y="0"/>
          <a:chExt cx="0" cy="0"/>
        </a:xfrm>
      </p:grpSpPr>
      <p:sp>
        <p:nvSpPr>
          <p:cNvPr id="66" name="Google Shape;66;p46"/>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GB" sz="1100">
                <a:solidFill>
                  <a:schemeClr val="lt1"/>
                </a:solidFill>
                <a:latin typeface="Arial"/>
                <a:ea typeface="Arial"/>
                <a:cs typeface="Arial"/>
                <a:sym typeface="Arial"/>
              </a:rPr>
              <a:t>‹#›</a:t>
            </a:fld>
            <a:r>
              <a:rPr lang="en-GB" sz="1100">
                <a:solidFill>
                  <a:schemeClr val="lt1"/>
                </a:solidFill>
                <a:latin typeface="Arial"/>
                <a:ea typeface="Arial"/>
                <a:cs typeface="Arial"/>
                <a:sym typeface="Arial"/>
              </a:rPr>
              <a:t> </a:t>
            </a:r>
            <a:endParaRPr/>
          </a:p>
        </p:txBody>
      </p:sp>
      <p:sp>
        <p:nvSpPr>
          <p:cNvPr id="67" name="Google Shape;67;p46"/>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46"/>
          <p:cNvSpPr txBox="1"/>
          <p:nvPr>
            <p:ph idx="1" type="body"/>
          </p:nvPr>
        </p:nvSpPr>
        <p:spPr>
          <a:xfrm>
            <a:off x="150813" y="1068388"/>
            <a:ext cx="4344987" cy="53324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46"/>
          <p:cNvSpPr/>
          <p:nvPr>
            <p:ph idx="2" type="clipArt"/>
          </p:nvPr>
        </p:nvSpPr>
        <p:spPr>
          <a:xfrm>
            <a:off x="4648200" y="1068388"/>
            <a:ext cx="4344988" cy="5332412"/>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9pPr>
          </a:lstStyle>
          <a:p/>
        </p:txBody>
      </p:sp>
      <p:sp>
        <p:nvSpPr>
          <p:cNvPr id="11" name="Google Shape;11;p34"/>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4"/>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13" name="Google Shape;13;p34"/>
          <p:cNvSpPr txBox="1"/>
          <p:nvPr/>
        </p:nvSpPr>
        <p:spPr>
          <a:xfrm>
            <a:off x="0" y="6583363"/>
            <a:ext cx="4573588" cy="276983"/>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GB" sz="1200" u="none" cap="none" strike="noStrike">
                <a:solidFill>
                  <a:schemeClr val="lt1"/>
                </a:solidFill>
                <a:latin typeface="Arial"/>
                <a:ea typeface="Arial"/>
                <a:cs typeface="Arial"/>
                <a:sym typeface="Arial"/>
              </a:rPr>
              <a:t>Koen V. Hindriks</a:t>
            </a:r>
            <a:endParaRPr/>
          </a:p>
        </p:txBody>
      </p:sp>
      <p:sp>
        <p:nvSpPr>
          <p:cNvPr id="14" name="Google Shape;14;p34"/>
          <p:cNvSpPr txBox="1"/>
          <p:nvPr/>
        </p:nvSpPr>
        <p:spPr>
          <a:xfrm>
            <a:off x="4573588" y="6583363"/>
            <a:ext cx="4570412" cy="276983"/>
          </a:xfrm>
          <a:prstGeom prst="rect">
            <a:avLst/>
          </a:prstGeom>
          <a:solidFill>
            <a:srgbClr val="3333B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none" cap="none" strike="noStrike">
                <a:solidFill>
                  <a:schemeClr val="lt1"/>
                </a:solidFill>
                <a:latin typeface="Arial"/>
                <a:ea typeface="Arial"/>
                <a:cs typeface="Arial"/>
                <a:sym typeface="Arial"/>
              </a:rPr>
              <a:t>Designing an agent system</a:t>
            </a:r>
            <a:endParaRPr b="1" i="0" sz="12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github.com/eishub/vacuumworl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
          <p:cNvSpPr txBox="1"/>
          <p:nvPr>
            <p:ph type="ctrTitle"/>
          </p:nvPr>
        </p:nvSpPr>
        <p:spPr>
          <a:xfrm>
            <a:off x="762000" y="86836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MARBEL –</a:t>
            </a:r>
            <a:br>
              <a:rPr lang="en-GB"/>
            </a:br>
            <a:r>
              <a:rPr lang="en-GB"/>
              <a:t>Designing an agent system</a:t>
            </a:r>
            <a:endParaRPr/>
          </a:p>
        </p:txBody>
      </p:sp>
      <p:sp>
        <p:nvSpPr>
          <p:cNvPr id="76" name="Google Shape;76;p1"/>
          <p:cNvSpPr txBox="1"/>
          <p:nvPr>
            <p:ph idx="1" type="subTitle"/>
          </p:nvPr>
        </p:nvSpPr>
        <p:spPr>
          <a:xfrm>
            <a:off x="1370013" y="3887788"/>
            <a:ext cx="6403975" cy="1751012"/>
          </a:xfrm>
          <a:prstGeom prst="rect">
            <a:avLst/>
          </a:prstGeom>
          <a:solidFill>
            <a:srgbClr val="6998FF"/>
          </a:solid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rPr b="1" lang="en-GB" sz="3200"/>
              <a:t>Multi-Agent Systems</a:t>
            </a:r>
            <a:endParaRPr/>
          </a:p>
          <a:p>
            <a:pPr indent="0" lvl="0" marL="0" rtl="0" algn="ctr">
              <a:spcBef>
                <a:spcPts val="640"/>
              </a:spcBef>
              <a:spcAft>
                <a:spcPts val="0"/>
              </a:spcAft>
              <a:buClr>
                <a:schemeClr val="dk1"/>
              </a:buClr>
              <a:buSzPts val="3200"/>
              <a:buFont typeface="Arial"/>
              <a:buNone/>
            </a:pPr>
            <a:r>
              <a:rPr b="1" lang="en-GB" sz="3200"/>
              <a:t>Practical 6</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Learning objectives</a:t>
            </a:r>
            <a:endParaRPr/>
          </a:p>
        </p:txBody>
      </p:sp>
      <p:sp>
        <p:nvSpPr>
          <p:cNvPr id="83" name="Google Shape;83;p2"/>
          <p:cNvSpPr txBox="1"/>
          <p:nvPr>
            <p:ph idx="1" type="body"/>
          </p:nvPr>
        </p:nvSpPr>
        <p:spPr>
          <a:xfrm>
            <a:off x="150813" y="1068388"/>
            <a:ext cx="8842375" cy="5332412"/>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800"/>
              <a:buFont typeface="Arial"/>
              <a:buNone/>
            </a:pPr>
            <a:r>
              <a:rPr lang="en-GB" sz="2800"/>
              <a:t>Gain a hands-on practical experience with how to design a </a:t>
            </a:r>
            <a:r>
              <a:rPr b="1" lang="en-GB" sz="2800"/>
              <a:t>simple version</a:t>
            </a:r>
            <a:r>
              <a:rPr lang="en-GB" sz="2800"/>
              <a:t> of an agent program for the </a:t>
            </a:r>
            <a:r>
              <a:rPr i="1" lang="en-GB" sz="2800"/>
              <a:t>single agent</a:t>
            </a:r>
            <a:r>
              <a:rPr lang="en-GB" sz="2800"/>
              <a:t> </a:t>
            </a:r>
            <a:r>
              <a:rPr b="1" lang="en-GB" sz="2800"/>
              <a:t>Vacuum World</a:t>
            </a:r>
            <a:r>
              <a:rPr lang="en-GB" sz="2800"/>
              <a:t>:</a:t>
            </a:r>
            <a:endParaRPr/>
          </a:p>
          <a:p>
            <a:pPr indent="-342900" lvl="0" marL="342900" rtl="0" algn="l">
              <a:lnSpc>
                <a:spcPct val="200000"/>
              </a:lnSpc>
              <a:spcBef>
                <a:spcPts val="560"/>
              </a:spcBef>
              <a:spcAft>
                <a:spcPts val="0"/>
              </a:spcAft>
              <a:buClr>
                <a:schemeClr val="dk1"/>
              </a:buClr>
              <a:buSzPts val="2800"/>
              <a:buFont typeface="Arial"/>
              <a:buChar char="•"/>
            </a:pPr>
            <a:r>
              <a:rPr lang="en-GB" sz="2800"/>
              <a:t>Setting up a mas file.</a:t>
            </a:r>
            <a:endParaRPr/>
          </a:p>
          <a:p>
            <a:pPr indent="-342900" lvl="0" marL="342900" rtl="0" algn="l">
              <a:lnSpc>
                <a:spcPct val="200000"/>
              </a:lnSpc>
              <a:spcBef>
                <a:spcPts val="560"/>
              </a:spcBef>
              <a:spcAft>
                <a:spcPts val="0"/>
              </a:spcAft>
              <a:buClr>
                <a:schemeClr val="dk1"/>
              </a:buClr>
              <a:buSzPts val="2800"/>
              <a:buFont typeface="Arial"/>
              <a:buChar char="•"/>
            </a:pPr>
            <a:r>
              <a:rPr lang="en-GB" sz="2800"/>
              <a:t>Agent structure, knowledge and modules.</a:t>
            </a:r>
            <a:endParaRPr/>
          </a:p>
          <a:p>
            <a:pPr indent="-342900" lvl="0" marL="342900" rtl="0" algn="l">
              <a:lnSpc>
                <a:spcPct val="200000"/>
              </a:lnSpc>
              <a:spcBef>
                <a:spcPts val="560"/>
              </a:spcBef>
              <a:spcAft>
                <a:spcPts val="0"/>
              </a:spcAft>
              <a:buClr>
                <a:schemeClr val="dk1"/>
              </a:buClr>
              <a:buSzPts val="2800"/>
              <a:buFont typeface="Arial"/>
              <a:buChar char="•"/>
            </a:pPr>
            <a:r>
              <a:rPr lang="en-GB" sz="2800"/>
              <a:t>Agent strategy design.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3"/>
          <p:cNvPicPr preferRelativeResize="0"/>
          <p:nvPr/>
        </p:nvPicPr>
        <p:blipFill rotWithShape="1">
          <a:blip r:embed="rId3">
            <a:alphaModFix/>
          </a:blip>
          <a:srcRect b="0" l="0" r="0" t="0"/>
          <a:stretch/>
        </p:blipFill>
        <p:spPr>
          <a:xfrm>
            <a:off x="0" y="0"/>
            <a:ext cx="9144000" cy="6583363"/>
          </a:xfrm>
          <a:prstGeom prst="rect">
            <a:avLst/>
          </a:prstGeom>
          <a:noFill/>
          <a:ln>
            <a:noFill/>
          </a:ln>
        </p:spPr>
      </p:pic>
      <p:sp>
        <p:nvSpPr>
          <p:cNvPr id="89" name="Google Shape;89;p3"/>
          <p:cNvSpPr txBox="1"/>
          <p:nvPr>
            <p:ph type="title"/>
          </p:nvPr>
        </p:nvSpPr>
        <p:spPr>
          <a:xfrm>
            <a:off x="722313" y="4406900"/>
            <a:ext cx="7772400" cy="1362075"/>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AGENT DESIGN</a:t>
            </a:r>
            <a:endParaRPr/>
          </a:p>
        </p:txBody>
      </p:sp>
      <p:sp>
        <p:nvSpPr>
          <p:cNvPr id="90" name="Google Shape;90;p3"/>
          <p:cNvSpPr txBox="1"/>
          <p:nvPr>
            <p:ph idx="1" type="body"/>
          </p:nvPr>
        </p:nvSpPr>
        <p:spPr>
          <a:xfrm>
            <a:off x="722313" y="4233069"/>
            <a:ext cx="7772400" cy="1500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000"/>
              <a:buFont typeface="Arial"/>
              <a:buNone/>
            </a:pPr>
            <a:r>
              <a:rPr i="1" lang="en-GB">
                <a:solidFill>
                  <a:schemeClr val="lt1"/>
                </a:solidFill>
              </a:rPr>
              <a:t>Recap of main agent design steps.</a:t>
            </a:r>
            <a:endParaRPr i="1">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4"/>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The Vacuum World</a:t>
            </a:r>
            <a:endParaRPr/>
          </a:p>
        </p:txBody>
      </p:sp>
      <p:pic>
        <p:nvPicPr>
          <p:cNvPr id="97" name="Google Shape;97;p4"/>
          <p:cNvPicPr preferRelativeResize="0"/>
          <p:nvPr/>
        </p:nvPicPr>
        <p:blipFill rotWithShape="1">
          <a:blip r:embed="rId3">
            <a:alphaModFix/>
          </a:blip>
          <a:srcRect b="0" l="0" r="0" t="0"/>
          <a:stretch/>
        </p:blipFill>
        <p:spPr>
          <a:xfrm>
            <a:off x="1835696" y="1911398"/>
            <a:ext cx="5256584" cy="3173786"/>
          </a:xfrm>
          <a:prstGeom prst="rect">
            <a:avLst/>
          </a:prstGeom>
          <a:noFill/>
          <a:ln>
            <a:noFill/>
          </a:ln>
        </p:spPr>
      </p:pic>
      <p:sp>
        <p:nvSpPr>
          <p:cNvPr id="98" name="Google Shape;98;p4"/>
          <p:cNvSpPr/>
          <p:nvPr/>
        </p:nvSpPr>
        <p:spPr>
          <a:xfrm>
            <a:off x="224434" y="3501008"/>
            <a:ext cx="1827286" cy="576064"/>
          </a:xfrm>
          <a:prstGeom prst="ellipse">
            <a:avLst/>
          </a:prstGeom>
          <a:solidFill>
            <a:schemeClr val="accent1"/>
          </a:solidFill>
          <a:ln cap="flat" cmpd="sng" w="25400">
            <a:solidFill>
              <a:srgbClr val="88A3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GB" sz="1800" u="none" cap="none" strike="noStrike">
                <a:solidFill>
                  <a:schemeClr val="dk1"/>
                </a:solidFill>
                <a:latin typeface="Arial"/>
                <a:ea typeface="Arial"/>
                <a:cs typeface="Arial"/>
                <a:sym typeface="Arial"/>
              </a:rPr>
              <a:t>VacBot</a:t>
            </a:r>
            <a:endParaRPr b="1" i="0" sz="1800" u="none" cap="none" strike="noStrike">
              <a:solidFill>
                <a:schemeClr val="dk1"/>
              </a:solidFill>
              <a:latin typeface="Arial"/>
              <a:ea typeface="Arial"/>
              <a:cs typeface="Arial"/>
              <a:sym typeface="Arial"/>
            </a:endParaRPr>
          </a:p>
        </p:txBody>
      </p:sp>
      <p:cxnSp>
        <p:nvCxnSpPr>
          <p:cNvPr id="99" name="Google Shape;99;p4"/>
          <p:cNvCxnSpPr>
            <a:stCxn id="98" idx="6"/>
          </p:cNvCxnSpPr>
          <p:nvPr/>
        </p:nvCxnSpPr>
        <p:spPr>
          <a:xfrm>
            <a:off x="2051720" y="3789040"/>
            <a:ext cx="1080000" cy="144000"/>
          </a:xfrm>
          <a:prstGeom prst="straightConnector1">
            <a:avLst/>
          </a:prstGeom>
          <a:noFill/>
          <a:ln cap="flat" cmpd="sng" w="9525">
            <a:solidFill>
              <a:schemeClr val="accent4"/>
            </a:solidFill>
            <a:prstDash val="solid"/>
            <a:round/>
            <a:headEnd len="sm" w="sm" type="none"/>
            <a:tailEnd len="med" w="med" type="triangle"/>
          </a:ln>
        </p:spPr>
      </p:cxnSp>
      <p:sp>
        <p:nvSpPr>
          <p:cNvPr id="100" name="Google Shape;100;p4"/>
          <p:cNvSpPr/>
          <p:nvPr/>
        </p:nvSpPr>
        <p:spPr>
          <a:xfrm>
            <a:off x="6372200" y="1052736"/>
            <a:ext cx="1827286" cy="576064"/>
          </a:xfrm>
          <a:prstGeom prst="ellipse">
            <a:avLst/>
          </a:prstGeom>
          <a:solidFill>
            <a:schemeClr val="accent1"/>
          </a:solidFill>
          <a:ln cap="flat" cmpd="sng" w="25400">
            <a:solidFill>
              <a:srgbClr val="88A3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GB" sz="1800" u="none" cap="none" strike="noStrike">
                <a:solidFill>
                  <a:schemeClr val="dk1"/>
                </a:solidFill>
                <a:latin typeface="Arial"/>
                <a:ea typeface="Arial"/>
                <a:cs typeface="Arial"/>
                <a:sym typeface="Arial"/>
              </a:rPr>
              <a:t>Obstacle</a:t>
            </a:r>
            <a:endParaRPr b="1" i="0" sz="1800" u="none" cap="none" strike="noStrike">
              <a:solidFill>
                <a:schemeClr val="dk1"/>
              </a:solidFill>
              <a:latin typeface="Arial"/>
              <a:ea typeface="Arial"/>
              <a:cs typeface="Arial"/>
              <a:sym typeface="Arial"/>
            </a:endParaRPr>
          </a:p>
        </p:txBody>
      </p:sp>
      <p:cxnSp>
        <p:nvCxnSpPr>
          <p:cNvPr id="101" name="Google Shape;101;p4"/>
          <p:cNvCxnSpPr>
            <a:stCxn id="100" idx="3"/>
          </p:cNvCxnSpPr>
          <p:nvPr/>
        </p:nvCxnSpPr>
        <p:spPr>
          <a:xfrm flipH="1">
            <a:off x="6156200" y="1544437"/>
            <a:ext cx="483600" cy="876600"/>
          </a:xfrm>
          <a:prstGeom prst="straightConnector1">
            <a:avLst/>
          </a:prstGeom>
          <a:noFill/>
          <a:ln cap="flat" cmpd="sng" w="9525">
            <a:solidFill>
              <a:schemeClr val="accent4"/>
            </a:solidFill>
            <a:prstDash val="solid"/>
            <a:round/>
            <a:headEnd len="sm" w="sm" type="none"/>
            <a:tailEnd len="med" w="med" type="triangle"/>
          </a:ln>
        </p:spPr>
      </p:cxnSp>
      <p:sp>
        <p:nvSpPr>
          <p:cNvPr id="102" name="Google Shape;102;p4"/>
          <p:cNvSpPr/>
          <p:nvPr/>
        </p:nvSpPr>
        <p:spPr>
          <a:xfrm>
            <a:off x="6993186" y="3789040"/>
            <a:ext cx="2043310" cy="1512168"/>
          </a:xfrm>
          <a:prstGeom prst="ellipse">
            <a:avLst/>
          </a:prstGeom>
          <a:solidFill>
            <a:schemeClr val="accent1"/>
          </a:solidFill>
          <a:ln cap="flat" cmpd="sng" w="25400">
            <a:solidFill>
              <a:srgbClr val="88A3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GB" sz="1800" u="none" cap="none" strike="noStrike">
                <a:solidFill>
                  <a:schemeClr val="dk1"/>
                </a:solidFill>
                <a:latin typeface="Arial"/>
                <a:ea typeface="Arial"/>
                <a:cs typeface="Arial"/>
                <a:sym typeface="Arial"/>
              </a:rPr>
              <a:t>Dust; </a:t>
            </a:r>
            <a:r>
              <a:rPr b="1" i="1" lang="en-GB" sz="1800" u="none" cap="none" strike="noStrike">
                <a:solidFill>
                  <a:schemeClr val="dk1"/>
                </a:solidFill>
                <a:latin typeface="Arial"/>
                <a:ea typeface="Arial"/>
                <a:cs typeface="Arial"/>
                <a:sym typeface="Arial"/>
              </a:rPr>
              <a:t>we’ll assume it will not re-generate</a:t>
            </a:r>
            <a:endParaRPr b="1" i="1" sz="1800" u="none" cap="none" strike="noStrike">
              <a:solidFill>
                <a:schemeClr val="dk1"/>
              </a:solidFill>
              <a:latin typeface="Arial"/>
              <a:ea typeface="Arial"/>
              <a:cs typeface="Arial"/>
              <a:sym typeface="Arial"/>
            </a:endParaRPr>
          </a:p>
        </p:txBody>
      </p:sp>
      <p:cxnSp>
        <p:nvCxnSpPr>
          <p:cNvPr id="103" name="Google Shape;103;p4"/>
          <p:cNvCxnSpPr>
            <a:stCxn id="102" idx="2"/>
          </p:cNvCxnSpPr>
          <p:nvPr/>
        </p:nvCxnSpPr>
        <p:spPr>
          <a:xfrm rot="10800000">
            <a:off x="6083586" y="4473424"/>
            <a:ext cx="909600" cy="71700"/>
          </a:xfrm>
          <a:prstGeom prst="straightConnector1">
            <a:avLst/>
          </a:prstGeom>
          <a:noFill/>
          <a:ln cap="flat" cmpd="sng" w="9525">
            <a:solidFill>
              <a:schemeClr val="accent4"/>
            </a:solidFill>
            <a:prstDash val="solid"/>
            <a:round/>
            <a:headEnd len="sm" w="sm" type="none"/>
            <a:tailEnd len="med" w="med" type="triangle"/>
          </a:ln>
        </p:spPr>
      </p:cxnSp>
      <p:cxnSp>
        <p:nvCxnSpPr>
          <p:cNvPr id="104" name="Google Shape;104;p4"/>
          <p:cNvCxnSpPr>
            <a:stCxn id="102" idx="0"/>
          </p:cNvCxnSpPr>
          <p:nvPr/>
        </p:nvCxnSpPr>
        <p:spPr>
          <a:xfrm rot="10800000">
            <a:off x="6993041" y="3334840"/>
            <a:ext cx="1021800" cy="454200"/>
          </a:xfrm>
          <a:prstGeom prst="straightConnector1">
            <a:avLst/>
          </a:prstGeom>
          <a:noFill/>
          <a:ln cap="flat" cmpd="sng" w="9525">
            <a:solidFill>
              <a:schemeClr val="accent4"/>
            </a:solidFill>
            <a:prstDash val="solid"/>
            <a:round/>
            <a:headEnd len="sm" w="sm" type="none"/>
            <a:tailEnd len="med" w="med" type="triangle"/>
          </a:ln>
        </p:spPr>
      </p:cxnSp>
      <p:sp>
        <p:nvSpPr>
          <p:cNvPr id="105" name="Google Shape;105;p4"/>
          <p:cNvSpPr/>
          <p:nvPr/>
        </p:nvSpPr>
        <p:spPr>
          <a:xfrm>
            <a:off x="3658356" y="5589240"/>
            <a:ext cx="3073884" cy="933620"/>
          </a:xfrm>
          <a:prstGeom prst="ellipse">
            <a:avLst/>
          </a:prstGeom>
          <a:solidFill>
            <a:schemeClr val="accent1"/>
          </a:solidFill>
          <a:ln cap="flat" cmpd="sng" w="25400">
            <a:solidFill>
              <a:srgbClr val="88A3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GB" sz="1800" u="none" cap="none" strike="noStrike">
                <a:solidFill>
                  <a:schemeClr val="dk1"/>
                </a:solidFill>
                <a:latin typeface="Arial"/>
                <a:ea typeface="Arial"/>
                <a:cs typeface="Arial"/>
                <a:sym typeface="Arial"/>
              </a:rPr>
              <a:t>Grid has </a:t>
            </a:r>
            <a:r>
              <a:rPr b="1" i="0" lang="en-GB" sz="1800" u="none" cap="none" strike="noStrike">
                <a:solidFill>
                  <a:schemeClr val="accent2"/>
                </a:solidFill>
                <a:latin typeface="Arial"/>
                <a:ea typeface="Arial"/>
                <a:cs typeface="Arial"/>
                <a:sym typeface="Arial"/>
              </a:rPr>
              <a:t>30 squares</a:t>
            </a:r>
            <a:r>
              <a:rPr b="1" i="0" lang="en-GB" sz="1800" u="none" cap="none" strike="noStrike">
                <a:solidFill>
                  <a:schemeClr val="dk1"/>
                </a:solidFill>
                <a:latin typeface="Arial"/>
                <a:ea typeface="Arial"/>
                <a:cs typeface="Arial"/>
                <a:sym typeface="Arial"/>
              </a:rPr>
              <a:t> that can be visited</a:t>
            </a:r>
            <a:endParaRPr b="1" i="0" sz="1800" u="none" cap="none" strike="noStrike">
              <a:solidFill>
                <a:schemeClr val="dk1"/>
              </a:solidFill>
              <a:latin typeface="Arial"/>
              <a:ea typeface="Arial"/>
              <a:cs typeface="Arial"/>
              <a:sym typeface="Arial"/>
            </a:endParaRPr>
          </a:p>
        </p:txBody>
      </p:sp>
      <p:cxnSp>
        <p:nvCxnSpPr>
          <p:cNvPr id="106" name="Google Shape;106;p4"/>
          <p:cNvCxnSpPr>
            <a:stCxn id="105" idx="0"/>
          </p:cNvCxnSpPr>
          <p:nvPr/>
        </p:nvCxnSpPr>
        <p:spPr>
          <a:xfrm rot="10800000">
            <a:off x="4715898" y="4473240"/>
            <a:ext cx="479400" cy="1116000"/>
          </a:xfrm>
          <a:prstGeom prst="straightConnector1">
            <a:avLst/>
          </a:prstGeom>
          <a:noFill/>
          <a:ln cap="flat" cmpd="sng" w="9525">
            <a:solidFill>
              <a:schemeClr val="accent4"/>
            </a:solidFill>
            <a:prstDash val="solid"/>
            <a:round/>
            <a:headEnd len="sm" w="sm" type="none"/>
            <a:tailEnd len="med" w="med" type="triangle"/>
          </a:ln>
        </p:spPr>
      </p:cxnSp>
      <p:sp>
        <p:nvSpPr>
          <p:cNvPr id="107" name="Google Shape;107;p4"/>
          <p:cNvSpPr/>
          <p:nvPr/>
        </p:nvSpPr>
        <p:spPr>
          <a:xfrm>
            <a:off x="2555776" y="3573016"/>
            <a:ext cx="1827286" cy="1152128"/>
          </a:xfrm>
          <a:prstGeom prst="rect">
            <a:avLst/>
          </a:prstGeom>
          <a:noFill/>
          <a:ln cap="flat" cmpd="sng" w="508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8" name="Google Shape;108;p4"/>
          <p:cNvSpPr txBox="1"/>
          <p:nvPr/>
        </p:nvSpPr>
        <p:spPr>
          <a:xfrm>
            <a:off x="2599322" y="3913311"/>
            <a:ext cx="48282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u="none" cap="none" strike="noStrike">
                <a:solidFill>
                  <a:schemeClr val="dk1"/>
                </a:solidFill>
                <a:latin typeface="Arial"/>
                <a:ea typeface="Arial"/>
                <a:cs typeface="Arial"/>
                <a:sym typeface="Arial"/>
              </a:rPr>
              <a:t>right</a:t>
            </a:r>
            <a:endParaRPr sz="1200">
              <a:solidFill>
                <a:schemeClr val="dk1"/>
              </a:solidFill>
              <a:latin typeface="Arial"/>
              <a:ea typeface="Arial"/>
              <a:cs typeface="Arial"/>
              <a:sym typeface="Arial"/>
            </a:endParaRPr>
          </a:p>
        </p:txBody>
      </p:sp>
      <p:sp>
        <p:nvSpPr>
          <p:cNvPr id="109" name="Google Shape;109;p4"/>
          <p:cNvSpPr txBox="1"/>
          <p:nvPr/>
        </p:nvSpPr>
        <p:spPr>
          <a:xfrm>
            <a:off x="3217064" y="3535298"/>
            <a:ext cx="49084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here</a:t>
            </a:r>
            <a:endParaRPr sz="1200">
              <a:solidFill>
                <a:schemeClr val="dk1"/>
              </a:solidFill>
              <a:latin typeface="Arial"/>
              <a:ea typeface="Arial"/>
              <a:cs typeface="Arial"/>
              <a:sym typeface="Arial"/>
            </a:endParaRPr>
          </a:p>
        </p:txBody>
      </p:sp>
      <p:sp>
        <p:nvSpPr>
          <p:cNvPr id="110" name="Google Shape;110;p4"/>
          <p:cNvSpPr txBox="1"/>
          <p:nvPr/>
        </p:nvSpPr>
        <p:spPr>
          <a:xfrm>
            <a:off x="3896083" y="3913311"/>
            <a:ext cx="38985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left</a:t>
            </a:r>
            <a:endParaRPr sz="1200">
              <a:solidFill>
                <a:schemeClr val="dk1"/>
              </a:solidFill>
              <a:latin typeface="Arial"/>
              <a:ea typeface="Arial"/>
              <a:cs typeface="Arial"/>
              <a:sym typeface="Arial"/>
            </a:endParaRPr>
          </a:p>
        </p:txBody>
      </p:sp>
      <p:sp>
        <p:nvSpPr>
          <p:cNvPr id="111" name="Google Shape;111;p4"/>
          <p:cNvSpPr txBox="1"/>
          <p:nvPr/>
        </p:nvSpPr>
        <p:spPr>
          <a:xfrm>
            <a:off x="3750383" y="4243948"/>
            <a:ext cx="69602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Arial"/>
                <a:ea typeface="Arial"/>
                <a:cs typeface="Arial"/>
                <a:sym typeface="Arial"/>
              </a:rPr>
              <a:t>forward</a:t>
            </a:r>
            <a:endParaRPr/>
          </a:p>
          <a:p>
            <a:pPr indent="0" lvl="0" marL="0" marR="0" rtl="0" algn="ctr">
              <a:spcBef>
                <a:spcPts val="0"/>
              </a:spcBef>
              <a:spcAft>
                <a:spcPts val="0"/>
              </a:spcAft>
              <a:buNone/>
            </a:pPr>
            <a:r>
              <a:rPr lang="en-GB" sz="1200">
                <a:solidFill>
                  <a:schemeClr val="dk1"/>
                </a:solidFill>
                <a:latin typeface="Arial"/>
                <a:ea typeface="Arial"/>
                <a:cs typeface="Arial"/>
                <a:sym typeface="Arial"/>
              </a:rPr>
              <a:t>left</a:t>
            </a:r>
            <a:endParaRPr sz="1200">
              <a:solidFill>
                <a:schemeClr val="dk1"/>
              </a:solidFill>
              <a:latin typeface="Arial"/>
              <a:ea typeface="Arial"/>
              <a:cs typeface="Arial"/>
              <a:sym typeface="Arial"/>
            </a:endParaRPr>
          </a:p>
        </p:txBody>
      </p:sp>
      <p:sp>
        <p:nvSpPr>
          <p:cNvPr id="112" name="Google Shape;112;p4"/>
          <p:cNvSpPr txBox="1"/>
          <p:nvPr/>
        </p:nvSpPr>
        <p:spPr>
          <a:xfrm>
            <a:off x="3131840" y="4479503"/>
            <a:ext cx="69602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Arial"/>
                <a:ea typeface="Arial"/>
                <a:cs typeface="Arial"/>
                <a:sym typeface="Arial"/>
              </a:rPr>
              <a:t>forward</a:t>
            </a:r>
            <a:endParaRPr/>
          </a:p>
        </p:txBody>
      </p:sp>
      <p:sp>
        <p:nvSpPr>
          <p:cNvPr id="113" name="Google Shape;113;p4"/>
          <p:cNvSpPr txBox="1"/>
          <p:nvPr/>
        </p:nvSpPr>
        <p:spPr>
          <a:xfrm>
            <a:off x="2507824" y="4243948"/>
            <a:ext cx="69602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Arial"/>
                <a:ea typeface="Arial"/>
                <a:cs typeface="Arial"/>
                <a:sym typeface="Arial"/>
              </a:rPr>
              <a:t>forward</a:t>
            </a:r>
            <a:endParaRPr/>
          </a:p>
          <a:p>
            <a:pPr indent="0" lvl="0" marL="0" marR="0" rtl="0" algn="ctr">
              <a:spcBef>
                <a:spcPts val="0"/>
              </a:spcBef>
              <a:spcAft>
                <a:spcPts val="0"/>
              </a:spcAft>
              <a:buNone/>
            </a:pPr>
            <a:r>
              <a:rPr lang="en-GB" sz="1200">
                <a:solidFill>
                  <a:schemeClr val="dk1"/>
                </a:solidFill>
                <a:latin typeface="Arial"/>
                <a:ea typeface="Arial"/>
                <a:cs typeface="Arial"/>
                <a:sym typeface="Arial"/>
              </a:rPr>
              <a:t>right</a:t>
            </a:r>
            <a:endParaRPr sz="1200">
              <a:solidFill>
                <a:schemeClr val="dk1"/>
              </a:solidFill>
              <a:latin typeface="Arial"/>
              <a:ea typeface="Arial"/>
              <a:cs typeface="Arial"/>
              <a:sym typeface="Arial"/>
            </a:endParaRPr>
          </a:p>
        </p:txBody>
      </p:sp>
      <p:sp>
        <p:nvSpPr>
          <p:cNvPr id="114" name="Google Shape;114;p4"/>
          <p:cNvSpPr/>
          <p:nvPr/>
        </p:nvSpPr>
        <p:spPr>
          <a:xfrm>
            <a:off x="376834" y="5301208"/>
            <a:ext cx="1827286" cy="576064"/>
          </a:xfrm>
          <a:prstGeom prst="ellipse">
            <a:avLst/>
          </a:prstGeom>
          <a:solidFill>
            <a:schemeClr val="accent1"/>
          </a:solidFill>
          <a:ln cap="flat" cmpd="sng" w="25400">
            <a:solidFill>
              <a:srgbClr val="88A3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800">
                <a:solidFill>
                  <a:schemeClr val="dk1"/>
                </a:solidFill>
                <a:latin typeface="Arial"/>
                <a:ea typeface="Arial"/>
                <a:cs typeface="Arial"/>
                <a:sym typeface="Arial"/>
              </a:rPr>
              <a:t>Field of vision</a:t>
            </a:r>
            <a:endParaRPr b="1" sz="1800">
              <a:solidFill>
                <a:schemeClr val="dk1"/>
              </a:solidFill>
              <a:latin typeface="Arial"/>
              <a:ea typeface="Arial"/>
              <a:cs typeface="Arial"/>
              <a:sym typeface="Arial"/>
            </a:endParaRPr>
          </a:p>
        </p:txBody>
      </p:sp>
      <p:cxnSp>
        <p:nvCxnSpPr>
          <p:cNvPr id="115" name="Google Shape;115;p4"/>
          <p:cNvCxnSpPr>
            <a:stCxn id="114" idx="7"/>
          </p:cNvCxnSpPr>
          <p:nvPr/>
        </p:nvCxnSpPr>
        <p:spPr>
          <a:xfrm flipH="1" rot="10800000">
            <a:off x="1936520" y="4705471"/>
            <a:ext cx="804300" cy="680100"/>
          </a:xfrm>
          <a:prstGeom prst="straightConnector1">
            <a:avLst/>
          </a:prstGeom>
          <a:noFill/>
          <a:ln cap="flat" cmpd="sng" w="9525">
            <a:solidFill>
              <a:schemeClr val="accent4"/>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VacuumWorld – Percepts</a:t>
            </a:r>
            <a:endParaRPr/>
          </a:p>
        </p:txBody>
      </p:sp>
      <p:sp>
        <p:nvSpPr>
          <p:cNvPr id="122" name="Google Shape;122;p5"/>
          <p:cNvSpPr txBox="1"/>
          <p:nvPr>
            <p:ph idx="1" type="body"/>
          </p:nvPr>
        </p:nvSpPr>
        <p:spPr>
          <a:xfrm>
            <a:off x="5508103" y="1131888"/>
            <a:ext cx="3528393" cy="323321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rPr lang="en-GB" sz="1800"/>
              <a:t>We use the following percepts:</a:t>
            </a:r>
            <a:endParaRPr/>
          </a:p>
          <a:p>
            <a:pPr indent="-342900" lvl="0" marL="342900" rtl="0" algn="l">
              <a:spcBef>
                <a:spcPts val="360"/>
              </a:spcBef>
              <a:spcAft>
                <a:spcPts val="0"/>
              </a:spcAft>
              <a:buClr>
                <a:schemeClr val="dk1"/>
              </a:buClr>
              <a:buSzPts val="1800"/>
              <a:buFont typeface="Arial"/>
              <a:buChar char="•"/>
            </a:pPr>
            <a:r>
              <a:rPr b="1" lang="en-GB" sz="1800"/>
              <a:t>location(X, Y)</a:t>
            </a:r>
            <a:r>
              <a:rPr lang="en-GB" sz="1800"/>
              <a:t>: current X, Y coordinate of bot on grid; top left corner is (0, 0).</a:t>
            </a:r>
            <a:endParaRPr/>
          </a:p>
          <a:p>
            <a:pPr indent="-342900" lvl="0" marL="342900" rtl="0" algn="l">
              <a:spcBef>
                <a:spcPts val="360"/>
              </a:spcBef>
              <a:spcAft>
                <a:spcPts val="0"/>
              </a:spcAft>
              <a:buClr>
                <a:schemeClr val="dk1"/>
              </a:buClr>
              <a:buSzPts val="1800"/>
              <a:buFont typeface="Arial"/>
              <a:buChar char="•"/>
            </a:pPr>
            <a:r>
              <a:rPr b="1" lang="en-GB" sz="1800"/>
              <a:t>direction(AbsDir)</a:t>
            </a:r>
            <a:r>
              <a:rPr lang="en-GB" sz="1800"/>
              <a:t>: absolute direction of bot (north, south, east, or west).</a:t>
            </a:r>
            <a:endParaRPr/>
          </a:p>
          <a:p>
            <a:pPr indent="-342900" lvl="0" marL="342900" rtl="0" algn="l">
              <a:spcBef>
                <a:spcPts val="360"/>
              </a:spcBef>
              <a:spcAft>
                <a:spcPts val="0"/>
              </a:spcAft>
              <a:buClr>
                <a:schemeClr val="dk1"/>
              </a:buClr>
              <a:buSzPts val="1800"/>
              <a:buFont typeface="Arial"/>
              <a:buChar char="•"/>
            </a:pPr>
            <a:r>
              <a:rPr b="1" lang="en-GB" sz="1800"/>
              <a:t>square(RelLoc, Content)</a:t>
            </a:r>
            <a:r>
              <a:rPr lang="en-GB" sz="1800"/>
              <a:t>: Six instances of this percept represent the bot’s field of vision. The bot can see relative to its own location the left, forwardLeft, forward, forwardRight, right, and here squares. Content is either obstacle, dust, or empty.</a:t>
            </a:r>
            <a:endParaRPr/>
          </a:p>
        </p:txBody>
      </p:sp>
      <p:pic>
        <p:nvPicPr>
          <p:cNvPr id="123" name="Google Shape;123;p5"/>
          <p:cNvPicPr preferRelativeResize="0"/>
          <p:nvPr/>
        </p:nvPicPr>
        <p:blipFill rotWithShape="1">
          <a:blip r:embed="rId3">
            <a:alphaModFix/>
          </a:blip>
          <a:srcRect b="0" l="0" r="0" t="0"/>
          <a:stretch/>
        </p:blipFill>
        <p:spPr>
          <a:xfrm>
            <a:off x="107504" y="1124744"/>
            <a:ext cx="5366847" cy="3240360"/>
          </a:xfrm>
          <a:prstGeom prst="rect">
            <a:avLst/>
          </a:prstGeom>
          <a:noFill/>
          <a:ln>
            <a:noFill/>
          </a:ln>
        </p:spPr>
      </p:pic>
      <p:sp>
        <p:nvSpPr>
          <p:cNvPr id="124" name="Google Shape;124;p5"/>
          <p:cNvSpPr/>
          <p:nvPr/>
        </p:nvSpPr>
        <p:spPr>
          <a:xfrm>
            <a:off x="107504" y="4581128"/>
            <a:ext cx="5760640"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GB" sz="1800">
                <a:solidFill>
                  <a:schemeClr val="dk1"/>
                </a:solidFill>
                <a:latin typeface="Arial"/>
                <a:ea typeface="Arial"/>
                <a:cs typeface="Arial"/>
                <a:sym typeface="Arial"/>
              </a:rPr>
              <a:t>task(Identifier):</a:t>
            </a:r>
            <a:r>
              <a:rPr lang="en-GB" sz="1800">
                <a:solidFill>
                  <a:schemeClr val="dk1"/>
                </a:solidFill>
                <a:latin typeface="Arial"/>
                <a:ea typeface="Arial"/>
                <a:cs typeface="Arial"/>
                <a:sym typeface="Arial"/>
              </a:rPr>
              <a:t> A bot’s current task or activity, i.e., either </a:t>
            </a:r>
            <a:r>
              <a:rPr i="1" lang="en-GB" sz="1800">
                <a:solidFill>
                  <a:schemeClr val="dk1"/>
                </a:solidFill>
                <a:latin typeface="Arial"/>
                <a:ea typeface="Arial"/>
                <a:cs typeface="Arial"/>
                <a:sym typeface="Arial"/>
              </a:rPr>
              <a:t>turn</a:t>
            </a:r>
            <a:r>
              <a:rPr lang="en-GB" sz="1800">
                <a:solidFill>
                  <a:schemeClr val="dk1"/>
                </a:solidFill>
                <a:latin typeface="Arial"/>
                <a:ea typeface="Arial"/>
                <a:cs typeface="Arial"/>
                <a:sym typeface="Arial"/>
              </a:rPr>
              <a:t>, </a:t>
            </a:r>
            <a:r>
              <a:rPr i="1" lang="en-GB" sz="1800">
                <a:solidFill>
                  <a:schemeClr val="dk1"/>
                </a:solidFill>
                <a:latin typeface="Arial"/>
                <a:ea typeface="Arial"/>
                <a:cs typeface="Arial"/>
                <a:sym typeface="Arial"/>
              </a:rPr>
              <a:t>move</a:t>
            </a:r>
            <a:r>
              <a:rPr lang="en-GB" sz="1800">
                <a:solidFill>
                  <a:schemeClr val="dk1"/>
                </a:solidFill>
                <a:latin typeface="Arial"/>
                <a:ea typeface="Arial"/>
                <a:cs typeface="Arial"/>
                <a:sym typeface="Arial"/>
              </a:rPr>
              <a:t>, </a:t>
            </a:r>
            <a:r>
              <a:rPr i="1" lang="en-GB" sz="1800">
                <a:solidFill>
                  <a:schemeClr val="dk1"/>
                </a:solidFill>
                <a:latin typeface="Arial"/>
                <a:ea typeface="Arial"/>
                <a:cs typeface="Arial"/>
                <a:sym typeface="Arial"/>
              </a:rPr>
              <a:t>clean</a:t>
            </a:r>
            <a:r>
              <a:rPr lang="en-GB" sz="1800">
                <a:solidFill>
                  <a:schemeClr val="dk1"/>
                </a:solidFill>
                <a:latin typeface="Arial"/>
                <a:ea typeface="Arial"/>
                <a:cs typeface="Arial"/>
                <a:sym typeface="Arial"/>
              </a:rPr>
              <a:t>, or </a:t>
            </a:r>
            <a:r>
              <a:rPr i="1" lang="en-GB" sz="1800">
                <a:solidFill>
                  <a:schemeClr val="dk1"/>
                </a:solidFill>
                <a:latin typeface="Arial"/>
                <a:ea typeface="Arial"/>
                <a:cs typeface="Arial"/>
                <a:sym typeface="Arial"/>
              </a:rPr>
              <a:t>none </a:t>
            </a:r>
            <a:r>
              <a:rPr lang="en-GB" sz="1800">
                <a:solidFill>
                  <a:schemeClr val="dk1"/>
                </a:solidFill>
                <a:latin typeface="Arial"/>
                <a:ea typeface="Arial"/>
                <a:cs typeface="Arial"/>
                <a:sym typeface="Arial"/>
              </a:rPr>
              <a:t>if the bot is idle.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25" name="Google Shape;125;p5"/>
          <p:cNvSpPr/>
          <p:nvPr/>
        </p:nvSpPr>
        <p:spPr>
          <a:xfrm>
            <a:off x="109726" y="5877272"/>
            <a:ext cx="90342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The </a:t>
            </a:r>
            <a:r>
              <a:rPr b="1" lang="en-GB" sz="1800">
                <a:solidFill>
                  <a:schemeClr val="dk1"/>
                </a:solidFill>
                <a:latin typeface="Arial"/>
                <a:ea typeface="Arial"/>
                <a:cs typeface="Arial"/>
                <a:sym typeface="Arial"/>
              </a:rPr>
              <a:t>location/2</a:t>
            </a:r>
            <a:r>
              <a:rPr lang="en-GB" sz="1800">
                <a:solidFill>
                  <a:schemeClr val="dk1"/>
                </a:solidFill>
                <a:latin typeface="Arial"/>
                <a:ea typeface="Arial"/>
                <a:cs typeface="Arial"/>
                <a:sym typeface="Arial"/>
              </a:rPr>
              <a:t> and </a:t>
            </a:r>
            <a:r>
              <a:rPr b="1" lang="en-GB" sz="1800">
                <a:solidFill>
                  <a:schemeClr val="dk1"/>
                </a:solidFill>
                <a:latin typeface="Arial"/>
                <a:ea typeface="Arial"/>
                <a:cs typeface="Arial"/>
                <a:sym typeface="Arial"/>
              </a:rPr>
              <a:t>direction/1</a:t>
            </a:r>
            <a:r>
              <a:rPr lang="en-GB" sz="1800">
                <a:solidFill>
                  <a:schemeClr val="dk1"/>
                </a:solidFill>
                <a:latin typeface="Arial"/>
                <a:ea typeface="Arial"/>
                <a:cs typeface="Arial"/>
                <a:sym typeface="Arial"/>
              </a:rPr>
              <a:t> percepts are </a:t>
            </a:r>
            <a:r>
              <a:rPr b="1" lang="en-GB" sz="1800">
                <a:solidFill>
                  <a:schemeClr val="dk1"/>
                </a:solidFill>
                <a:latin typeface="Arial"/>
                <a:ea typeface="Arial"/>
                <a:cs typeface="Arial"/>
                <a:sym typeface="Arial"/>
              </a:rPr>
              <a:t>only updated</a:t>
            </a:r>
            <a:r>
              <a:rPr lang="en-GB" sz="1800">
                <a:solidFill>
                  <a:schemeClr val="dk1"/>
                </a:solidFill>
                <a:latin typeface="Arial"/>
                <a:ea typeface="Arial"/>
                <a:cs typeface="Arial"/>
                <a:sym typeface="Arial"/>
              </a:rPr>
              <a:t> when a bot is idle (is not performing any action, or has no task, i.e. the agent receives percept </a:t>
            </a:r>
            <a:r>
              <a:rPr b="1" lang="en-GB" sz="1800">
                <a:solidFill>
                  <a:schemeClr val="dk1"/>
                </a:solidFill>
                <a:latin typeface="Arial"/>
                <a:ea typeface="Arial"/>
                <a:cs typeface="Arial"/>
                <a:sym typeface="Arial"/>
              </a:rPr>
              <a:t>task(none)</a:t>
            </a:r>
            <a:r>
              <a:rPr lang="en-GB" sz="1800">
                <a:solidFill>
                  <a:schemeClr val="dk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Vacuum World – Actions </a:t>
            </a:r>
            <a:endParaRPr/>
          </a:p>
        </p:txBody>
      </p:sp>
      <p:sp>
        <p:nvSpPr>
          <p:cNvPr id="131" name="Google Shape;131;p6"/>
          <p:cNvSpPr txBox="1"/>
          <p:nvPr>
            <p:ph idx="1" type="body"/>
          </p:nvPr>
        </p:nvSpPr>
        <p:spPr>
          <a:xfrm>
            <a:off x="5508103" y="1131888"/>
            <a:ext cx="3528393" cy="323321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rPr lang="en-GB" sz="1800"/>
              <a:t>We will use only two actions:</a:t>
            </a:r>
            <a:endParaRPr/>
          </a:p>
          <a:p>
            <a:pPr indent="-342900" lvl="0" marL="342900" rtl="0" algn="l">
              <a:spcBef>
                <a:spcPts val="360"/>
              </a:spcBef>
              <a:spcAft>
                <a:spcPts val="0"/>
              </a:spcAft>
              <a:buClr>
                <a:schemeClr val="dk1"/>
              </a:buClr>
              <a:buSzPts val="1800"/>
              <a:buFont typeface="Arial"/>
              <a:buChar char="•"/>
            </a:pPr>
            <a:r>
              <a:rPr b="1" lang="en-GB" sz="1800"/>
              <a:t>move(AbsDir)</a:t>
            </a:r>
            <a:r>
              <a:rPr lang="en-GB" sz="1800"/>
              <a:t>: moves the bot one square in the specified (absolute) direction (north, east, south, west), turning it first if necessary.</a:t>
            </a:r>
            <a:endParaRPr/>
          </a:p>
          <a:p>
            <a:pPr indent="-342900" lvl="0" marL="342900" rtl="0" algn="l">
              <a:spcBef>
                <a:spcPts val="360"/>
              </a:spcBef>
              <a:spcAft>
                <a:spcPts val="0"/>
              </a:spcAft>
              <a:buClr>
                <a:schemeClr val="dk1"/>
              </a:buClr>
              <a:buSzPts val="1800"/>
              <a:buFont typeface="Arial"/>
              <a:buChar char="•"/>
            </a:pPr>
            <a:r>
              <a:rPr b="1" lang="en-GB" sz="1800"/>
              <a:t>clean</a:t>
            </a:r>
            <a:r>
              <a:rPr lang="en-GB" sz="1800"/>
              <a:t>: cleans the square currently occupied by the bot, if dusty; returns immediately if the square is already clean.</a:t>
            </a:r>
            <a:endParaRPr/>
          </a:p>
        </p:txBody>
      </p:sp>
      <p:pic>
        <p:nvPicPr>
          <p:cNvPr id="132" name="Google Shape;132;p6"/>
          <p:cNvPicPr preferRelativeResize="0"/>
          <p:nvPr/>
        </p:nvPicPr>
        <p:blipFill rotWithShape="1">
          <a:blip r:embed="rId3">
            <a:alphaModFix/>
          </a:blip>
          <a:srcRect b="0" l="0" r="0" t="0"/>
          <a:stretch/>
        </p:blipFill>
        <p:spPr>
          <a:xfrm>
            <a:off x="107504" y="1124744"/>
            <a:ext cx="5366847" cy="3240360"/>
          </a:xfrm>
          <a:prstGeom prst="rect">
            <a:avLst/>
          </a:prstGeom>
          <a:noFill/>
          <a:ln>
            <a:noFill/>
          </a:ln>
        </p:spPr>
      </p:pic>
      <p:sp>
        <p:nvSpPr>
          <p:cNvPr id="133" name="Google Shape;133;p6"/>
          <p:cNvSpPr/>
          <p:nvPr/>
        </p:nvSpPr>
        <p:spPr>
          <a:xfrm>
            <a:off x="107504" y="4831992"/>
            <a:ext cx="8928992"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GB" sz="1800">
                <a:solidFill>
                  <a:schemeClr val="dk1"/>
                </a:solidFill>
                <a:latin typeface="Arial"/>
                <a:ea typeface="Arial"/>
                <a:cs typeface="Arial"/>
                <a:sym typeface="Arial"/>
              </a:rPr>
              <a:t>Durative</a:t>
            </a:r>
            <a:r>
              <a:rPr lang="en-GB" sz="1800">
                <a:solidFill>
                  <a:schemeClr val="dk1"/>
                </a:solidFill>
                <a:latin typeface="Arial"/>
                <a:ea typeface="Arial"/>
                <a:cs typeface="Arial"/>
                <a:sym typeface="Arial"/>
              </a:rPr>
              <a:t>: All actions are </a:t>
            </a:r>
            <a:r>
              <a:rPr lang="en-GB" sz="1800" u="sng">
                <a:solidFill>
                  <a:schemeClr val="dk1"/>
                </a:solidFill>
                <a:latin typeface="Arial"/>
                <a:ea typeface="Arial"/>
                <a:cs typeface="Arial"/>
                <a:sym typeface="Arial"/>
              </a:rPr>
              <a:t>durative</a:t>
            </a:r>
            <a:r>
              <a:rPr lang="en-GB" sz="1800">
                <a:solidFill>
                  <a:schemeClr val="dk1"/>
                </a:solidFill>
                <a:latin typeface="Arial"/>
                <a:ea typeface="Arial"/>
                <a:cs typeface="Arial"/>
                <a:sym typeface="Arial"/>
              </a:rPr>
              <a:t>, i.e., take time: moving, turning, cleaning (except when square on grid is already clean).</a:t>
            </a:r>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GB" sz="1800">
                <a:solidFill>
                  <a:schemeClr val="dk1"/>
                </a:solidFill>
                <a:latin typeface="Arial"/>
                <a:ea typeface="Arial"/>
                <a:cs typeface="Arial"/>
                <a:sym typeface="Arial"/>
              </a:rPr>
              <a:t>Failure</a:t>
            </a:r>
            <a:r>
              <a:rPr lang="en-GB" sz="1800">
                <a:solidFill>
                  <a:schemeClr val="dk1"/>
                </a:solidFill>
                <a:latin typeface="Arial"/>
                <a:ea typeface="Arial"/>
                <a:cs typeface="Arial"/>
                <a:sym typeface="Arial"/>
              </a:rPr>
              <a:t>: A bot carries out a requested move on a best-effort basis. If a moving bot meets an obstacle, or the edge of the grid, it halts (i.e., fails to perform the action).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Environment information</a:t>
            </a:r>
            <a:endParaRPr/>
          </a:p>
        </p:txBody>
      </p:sp>
      <p:sp>
        <p:nvSpPr>
          <p:cNvPr id="140" name="Google Shape;140;p7"/>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The info on previous slides can also be obtained from the environment’s website: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u="sng">
                <a:solidFill>
                  <a:schemeClr val="hlink"/>
                </a:solidFill>
                <a:hlinkClick r:id="rId3"/>
              </a:rPr>
              <a:t>https://github.com/eishub/vacuumworld</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b="1" lang="en-GB"/>
              <a:t>YOU WILL NEED THIS LINK FOR THE ASSIGNMENT</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Arial"/>
                <a:ea typeface="Arial"/>
                <a:cs typeface="Arial"/>
                <a:sym typeface="Arial"/>
              </a:rPr>
              <a:t>The Vacuum World Environment</a:t>
            </a:r>
            <a:endParaRPr/>
          </a:p>
        </p:txBody>
      </p:sp>
      <p:sp>
        <p:nvSpPr>
          <p:cNvPr id="147" name="Google Shape;147;p8"/>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rPr b="1" lang="en-GB" sz="2000">
                <a:latin typeface="Arial"/>
                <a:ea typeface="Arial"/>
                <a:cs typeface="Arial"/>
                <a:sym typeface="Arial"/>
              </a:rPr>
              <a:t>Q: </a:t>
            </a:r>
            <a:r>
              <a:rPr lang="en-GB" sz="2000">
                <a:solidFill>
                  <a:srgbClr val="4258FF"/>
                </a:solidFill>
                <a:latin typeface="Arial"/>
                <a:ea typeface="Arial"/>
                <a:cs typeface="Arial"/>
                <a:sym typeface="Arial"/>
              </a:rPr>
              <a:t>Observability: Fully or partial?</a:t>
            </a:r>
            <a:endParaRPr/>
          </a:p>
          <a:p>
            <a:pPr indent="0" lvl="0" marL="0" rtl="0" algn="l">
              <a:spcBef>
                <a:spcPts val="400"/>
              </a:spcBef>
              <a:spcAft>
                <a:spcPts val="0"/>
              </a:spcAft>
              <a:buClr>
                <a:schemeClr val="dk1"/>
              </a:buClr>
              <a:buSzPts val="2000"/>
              <a:buFont typeface="Arial"/>
              <a:buNone/>
            </a:pPr>
            <a:r>
              <a:rPr b="1" lang="en-GB" sz="2000">
                <a:latin typeface="Arial"/>
                <a:ea typeface="Arial"/>
                <a:cs typeface="Arial"/>
                <a:sym typeface="Arial"/>
              </a:rPr>
              <a:t>A: </a:t>
            </a:r>
            <a:r>
              <a:rPr lang="en-GB" sz="2000">
                <a:latin typeface="Arial"/>
                <a:ea typeface="Arial"/>
                <a:cs typeface="Arial"/>
                <a:sym typeface="Arial"/>
              </a:rPr>
              <a:t>agent cannot see “everything”: </a:t>
            </a:r>
            <a:r>
              <a:rPr i="1" lang="en-GB" sz="2000">
                <a:latin typeface="Arial"/>
                <a:ea typeface="Arial"/>
                <a:cs typeface="Arial"/>
                <a:sym typeface="Arial"/>
              </a:rPr>
              <a:t>partially observable</a:t>
            </a:r>
            <a:r>
              <a:rPr lang="en-GB" sz="2000">
                <a:latin typeface="Arial"/>
                <a:ea typeface="Arial"/>
                <a:cs typeface="Arial"/>
                <a:sym typeface="Arial"/>
              </a:rPr>
              <a:t>.</a:t>
            </a:r>
            <a:endParaRPr/>
          </a:p>
          <a:p>
            <a:pPr indent="0" lvl="0" marL="0" rtl="0" algn="l">
              <a:spcBef>
                <a:spcPts val="360"/>
              </a:spcBef>
              <a:spcAft>
                <a:spcPts val="0"/>
              </a:spcAft>
              <a:buClr>
                <a:schemeClr val="dk1"/>
              </a:buClr>
              <a:buSzPts val="1800"/>
              <a:buFont typeface="Arial"/>
              <a:buNone/>
            </a:pPr>
            <a:r>
              <a:t/>
            </a:r>
            <a:endParaRPr sz="1800">
              <a:latin typeface="Arial"/>
              <a:ea typeface="Arial"/>
              <a:cs typeface="Arial"/>
              <a:sym typeface="Arial"/>
            </a:endParaRPr>
          </a:p>
          <a:p>
            <a:pPr indent="0" lvl="0" marL="0" rtl="0" algn="l">
              <a:spcBef>
                <a:spcPts val="400"/>
              </a:spcBef>
              <a:spcAft>
                <a:spcPts val="0"/>
              </a:spcAft>
              <a:buClr>
                <a:schemeClr val="dk1"/>
              </a:buClr>
              <a:buSzPts val="2000"/>
              <a:buFont typeface="Arial"/>
              <a:buNone/>
            </a:pPr>
            <a:r>
              <a:rPr b="1" lang="en-GB" sz="2000">
                <a:latin typeface="Arial"/>
                <a:ea typeface="Arial"/>
                <a:cs typeface="Arial"/>
                <a:sym typeface="Arial"/>
              </a:rPr>
              <a:t>Q: </a:t>
            </a:r>
            <a:r>
              <a:rPr lang="en-GB" sz="2000">
                <a:solidFill>
                  <a:srgbClr val="4258FF"/>
                </a:solidFill>
                <a:latin typeface="Arial"/>
                <a:ea typeface="Arial"/>
                <a:cs typeface="Arial"/>
                <a:sym typeface="Arial"/>
              </a:rPr>
              <a:t>Deterministic or stochastic?</a:t>
            </a:r>
            <a:endParaRPr/>
          </a:p>
          <a:p>
            <a:pPr indent="0" lvl="0" marL="0" rtl="0" algn="l">
              <a:spcBef>
                <a:spcPts val="400"/>
              </a:spcBef>
              <a:spcAft>
                <a:spcPts val="0"/>
              </a:spcAft>
              <a:buClr>
                <a:schemeClr val="dk1"/>
              </a:buClr>
              <a:buSzPts val="2000"/>
              <a:buFont typeface="Arial"/>
              <a:buNone/>
            </a:pPr>
            <a:r>
              <a:rPr b="1" lang="en-GB" sz="2000">
                <a:latin typeface="Arial"/>
                <a:ea typeface="Arial"/>
                <a:cs typeface="Arial"/>
                <a:sym typeface="Arial"/>
              </a:rPr>
              <a:t>A: </a:t>
            </a:r>
            <a:r>
              <a:rPr lang="en-GB" sz="2000">
                <a:latin typeface="Arial"/>
                <a:ea typeface="Arial"/>
                <a:cs typeface="Arial"/>
                <a:sym typeface="Arial"/>
              </a:rPr>
              <a:t>action effects are predictable: </a:t>
            </a:r>
            <a:r>
              <a:rPr i="1" lang="en-GB" sz="2000">
                <a:latin typeface="Arial"/>
                <a:ea typeface="Arial"/>
                <a:cs typeface="Arial"/>
                <a:sym typeface="Arial"/>
              </a:rPr>
              <a:t>deterministic</a:t>
            </a:r>
            <a:r>
              <a:rPr lang="en-GB" sz="2000">
                <a:latin typeface="Arial"/>
                <a:ea typeface="Arial"/>
                <a:cs typeface="Arial"/>
                <a:sym typeface="Arial"/>
              </a:rPr>
              <a:t>.</a:t>
            </a:r>
            <a:endParaRPr/>
          </a:p>
          <a:p>
            <a:pPr indent="0" lvl="0" marL="0" rtl="0" algn="l">
              <a:spcBef>
                <a:spcPts val="400"/>
              </a:spcBef>
              <a:spcAft>
                <a:spcPts val="0"/>
              </a:spcAft>
              <a:buClr>
                <a:schemeClr val="dk1"/>
              </a:buClr>
              <a:buSzPts val="2000"/>
              <a:buFont typeface="Arial"/>
              <a:buNone/>
            </a:pPr>
            <a:r>
              <a:t/>
            </a:r>
            <a:endParaRPr sz="2000">
              <a:latin typeface="Arial"/>
              <a:ea typeface="Arial"/>
              <a:cs typeface="Arial"/>
              <a:sym typeface="Arial"/>
            </a:endParaRPr>
          </a:p>
          <a:p>
            <a:pPr indent="0" lvl="0" marL="0" rtl="0" algn="l">
              <a:spcBef>
                <a:spcPts val="400"/>
              </a:spcBef>
              <a:spcAft>
                <a:spcPts val="0"/>
              </a:spcAft>
              <a:buClr>
                <a:schemeClr val="dk1"/>
              </a:buClr>
              <a:buSzPts val="2000"/>
              <a:buFont typeface="Arial"/>
              <a:buNone/>
            </a:pPr>
            <a:r>
              <a:rPr b="1" lang="en-GB" sz="2000">
                <a:latin typeface="Arial"/>
                <a:ea typeface="Arial"/>
                <a:cs typeface="Arial"/>
                <a:sym typeface="Arial"/>
              </a:rPr>
              <a:t>Q: </a:t>
            </a:r>
            <a:r>
              <a:rPr lang="en-GB" sz="2000">
                <a:solidFill>
                  <a:srgbClr val="4258FF"/>
                </a:solidFill>
                <a:latin typeface="Arial"/>
                <a:ea typeface="Arial"/>
                <a:cs typeface="Arial"/>
                <a:sym typeface="Arial"/>
              </a:rPr>
              <a:t>Static or dynamic?</a:t>
            </a:r>
            <a:endParaRPr sz="2000">
              <a:latin typeface="Arial"/>
              <a:ea typeface="Arial"/>
              <a:cs typeface="Arial"/>
              <a:sym typeface="Arial"/>
            </a:endParaRPr>
          </a:p>
          <a:p>
            <a:pPr indent="0" lvl="0" marL="0" rtl="0" algn="l">
              <a:spcBef>
                <a:spcPts val="400"/>
              </a:spcBef>
              <a:spcAft>
                <a:spcPts val="0"/>
              </a:spcAft>
              <a:buClr>
                <a:schemeClr val="dk1"/>
              </a:buClr>
              <a:buSzPts val="2000"/>
              <a:buFont typeface="Arial"/>
              <a:buNone/>
            </a:pPr>
            <a:r>
              <a:rPr b="1" lang="en-GB" sz="2000">
                <a:latin typeface="Arial"/>
                <a:ea typeface="Arial"/>
                <a:cs typeface="Arial"/>
                <a:sym typeface="Arial"/>
              </a:rPr>
              <a:t>A: </a:t>
            </a:r>
            <a:r>
              <a:rPr lang="en-GB" sz="2000">
                <a:latin typeface="Arial"/>
                <a:ea typeface="Arial"/>
                <a:cs typeface="Arial"/>
                <a:sym typeface="Arial"/>
              </a:rPr>
              <a:t>environment only changes if agent acts: </a:t>
            </a:r>
            <a:r>
              <a:rPr i="1" lang="en-GB" sz="2000">
                <a:latin typeface="Arial"/>
                <a:ea typeface="Arial"/>
                <a:cs typeface="Arial"/>
                <a:sym typeface="Arial"/>
              </a:rPr>
              <a:t>static</a:t>
            </a:r>
            <a:r>
              <a:rPr lang="en-GB" sz="2000">
                <a:latin typeface="Arial"/>
                <a:ea typeface="Arial"/>
                <a:cs typeface="Arial"/>
                <a:sym typeface="Arial"/>
              </a:rPr>
              <a:t> (this can be changed by means of generation parameter).</a:t>
            </a:r>
            <a:endParaRPr/>
          </a:p>
          <a:p>
            <a:pPr indent="0" lvl="0" marL="0" rtl="0" algn="l">
              <a:spcBef>
                <a:spcPts val="400"/>
              </a:spcBef>
              <a:spcAft>
                <a:spcPts val="0"/>
              </a:spcAft>
              <a:buClr>
                <a:schemeClr val="dk1"/>
              </a:buClr>
              <a:buSzPts val="2000"/>
              <a:buFont typeface="Arial"/>
              <a:buNone/>
            </a:pPr>
            <a:r>
              <a:t/>
            </a:r>
            <a:endParaRPr sz="2000">
              <a:latin typeface="Arial"/>
              <a:ea typeface="Arial"/>
              <a:cs typeface="Arial"/>
              <a:sym typeface="Arial"/>
            </a:endParaRPr>
          </a:p>
          <a:p>
            <a:pPr indent="0" lvl="0" marL="0" rtl="0" algn="l">
              <a:spcBef>
                <a:spcPts val="400"/>
              </a:spcBef>
              <a:spcAft>
                <a:spcPts val="0"/>
              </a:spcAft>
              <a:buClr>
                <a:schemeClr val="dk1"/>
              </a:buClr>
              <a:buSzPts val="2000"/>
              <a:buFont typeface="Arial"/>
              <a:buNone/>
            </a:pPr>
            <a:r>
              <a:rPr b="1" lang="en-GB" sz="2000">
                <a:latin typeface="Arial"/>
                <a:ea typeface="Arial"/>
                <a:cs typeface="Arial"/>
                <a:sym typeface="Arial"/>
              </a:rPr>
              <a:t>Q: </a:t>
            </a:r>
            <a:r>
              <a:rPr lang="en-GB" sz="2000">
                <a:solidFill>
                  <a:srgbClr val="4258FF"/>
                </a:solidFill>
                <a:latin typeface="Arial"/>
                <a:ea typeface="Arial"/>
                <a:cs typeface="Arial"/>
                <a:sym typeface="Arial"/>
              </a:rPr>
              <a:t>Discrete or continuous?</a:t>
            </a:r>
            <a:endParaRPr/>
          </a:p>
          <a:p>
            <a:pPr indent="0" lvl="0" marL="0" rtl="0" algn="l">
              <a:spcBef>
                <a:spcPts val="400"/>
              </a:spcBef>
              <a:spcAft>
                <a:spcPts val="0"/>
              </a:spcAft>
              <a:buClr>
                <a:schemeClr val="dk1"/>
              </a:buClr>
              <a:buSzPts val="2000"/>
              <a:buFont typeface="Arial"/>
              <a:buNone/>
            </a:pPr>
            <a:r>
              <a:rPr b="1" lang="en-GB" sz="2000">
                <a:latin typeface="Arial"/>
                <a:ea typeface="Arial"/>
                <a:cs typeface="Arial"/>
                <a:sym typeface="Arial"/>
              </a:rPr>
              <a:t>A: </a:t>
            </a:r>
            <a:r>
              <a:rPr lang="en-GB" sz="2000">
                <a:latin typeface="Arial"/>
                <a:ea typeface="Arial"/>
                <a:cs typeface="Arial"/>
                <a:sym typeface="Arial"/>
              </a:rPr>
              <a:t>Even though the actions are continuous, there are only a finite, discrete number of percepts and actions: </a:t>
            </a:r>
            <a:r>
              <a:rPr i="1" lang="en-GB" sz="2000">
                <a:latin typeface="Arial"/>
                <a:ea typeface="Arial"/>
                <a:cs typeface="Arial"/>
                <a:sym typeface="Arial"/>
              </a:rPr>
              <a:t>discrete</a:t>
            </a:r>
            <a:r>
              <a:rPr lang="en-GB" sz="2000">
                <a:latin typeface="Arial"/>
                <a:ea typeface="Arial"/>
                <a:cs typeface="Arial"/>
                <a:sym typeface="Arial"/>
              </a:rPr>
              <a:t>.</a:t>
            </a:r>
            <a:endParaRPr/>
          </a:p>
          <a:p>
            <a:pPr indent="0" lvl="0" marL="0" rtl="0" algn="l">
              <a:spcBef>
                <a:spcPts val="400"/>
              </a:spcBef>
              <a:spcAft>
                <a:spcPts val="0"/>
              </a:spcAft>
              <a:buClr>
                <a:schemeClr val="dk1"/>
              </a:buClr>
              <a:buSzPts val="2000"/>
              <a:buFont typeface="Arial"/>
              <a:buNone/>
            </a:pPr>
            <a:r>
              <a:t/>
            </a:r>
            <a:endParaRPr sz="2000">
              <a:latin typeface="Arial"/>
              <a:ea typeface="Arial"/>
              <a:cs typeface="Arial"/>
              <a:sym typeface="Arial"/>
            </a:endParaRPr>
          </a:p>
          <a:p>
            <a:pPr indent="0" lvl="0" marL="0" rtl="0" algn="l">
              <a:spcBef>
                <a:spcPts val="400"/>
              </a:spcBef>
              <a:spcAft>
                <a:spcPts val="0"/>
              </a:spcAft>
              <a:buClr>
                <a:schemeClr val="dk1"/>
              </a:buClr>
              <a:buSzPts val="2000"/>
              <a:buFont typeface="Arial"/>
              <a:buNone/>
            </a:pPr>
            <a:r>
              <a:rPr lang="en-GB" sz="2000">
                <a:latin typeface="Arial"/>
                <a:ea typeface="Arial"/>
                <a:cs typeface="Arial"/>
                <a:sym typeface="Arial"/>
              </a:rPr>
              <a:t>In this session, we focus on a </a:t>
            </a:r>
            <a:r>
              <a:rPr lang="en-GB" sz="2000">
                <a:solidFill>
                  <a:srgbClr val="4258FF"/>
                </a:solidFill>
                <a:latin typeface="Arial"/>
                <a:ea typeface="Arial"/>
                <a:cs typeface="Arial"/>
                <a:sym typeface="Arial"/>
              </a:rPr>
              <a:t>single</a:t>
            </a:r>
            <a:r>
              <a:rPr lang="en-GB" sz="2000">
                <a:latin typeface="Arial"/>
                <a:ea typeface="Arial"/>
                <a:cs typeface="Arial"/>
                <a:sym typeface="Arial"/>
              </a:rPr>
              <a:t> agent instance of the Vacuum World.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9"/>
          <p:cNvPicPr preferRelativeResize="0"/>
          <p:nvPr/>
        </p:nvPicPr>
        <p:blipFill rotWithShape="1">
          <a:blip r:embed="rId3">
            <a:alphaModFix/>
          </a:blip>
          <a:srcRect b="0" l="0" r="0" t="0"/>
          <a:stretch/>
        </p:blipFill>
        <p:spPr>
          <a:xfrm>
            <a:off x="0" y="0"/>
            <a:ext cx="9144000" cy="6597352"/>
          </a:xfrm>
          <a:prstGeom prst="rect">
            <a:avLst/>
          </a:prstGeom>
          <a:noFill/>
          <a:ln>
            <a:noFill/>
          </a:ln>
        </p:spPr>
      </p:pic>
      <p:sp>
        <p:nvSpPr>
          <p:cNvPr id="153" name="Google Shape;153;p9"/>
          <p:cNvSpPr txBox="1"/>
          <p:nvPr>
            <p:ph type="title"/>
          </p:nvPr>
        </p:nvSpPr>
        <p:spPr>
          <a:xfrm>
            <a:off x="722313" y="4406900"/>
            <a:ext cx="7772400" cy="1362075"/>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LET’S GET CODING</a:t>
            </a:r>
            <a:endParaRPr/>
          </a:p>
        </p:txBody>
      </p:sp>
      <p:sp>
        <p:nvSpPr>
          <p:cNvPr id="154" name="Google Shape;154;p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Overall agent design approach</a:t>
            </a:r>
            <a:endParaRPr/>
          </a:p>
        </p:txBody>
      </p:sp>
      <p:sp>
        <p:nvSpPr>
          <p:cNvPr id="161" name="Google Shape;161;p10"/>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514350" lvl="0" marL="514350" rtl="0" algn="l">
              <a:spcBef>
                <a:spcPts val="0"/>
              </a:spcBef>
              <a:spcAft>
                <a:spcPts val="0"/>
              </a:spcAft>
              <a:buClr>
                <a:schemeClr val="dk1"/>
              </a:buClr>
              <a:buSzPts val="3200"/>
              <a:buFont typeface="Arial"/>
              <a:buAutoNum type="arabicPeriod"/>
            </a:pPr>
            <a:r>
              <a:rPr lang="en-GB"/>
              <a:t>Setting up a </a:t>
            </a:r>
            <a:r>
              <a:rPr b="1" lang="en-GB"/>
              <a:t>mas file </a:t>
            </a:r>
            <a:r>
              <a:rPr lang="en-GB"/>
              <a:t>for the Vacuum World:</a:t>
            </a:r>
            <a:endParaRPr/>
          </a:p>
          <a:p>
            <a:pPr indent="-514350" lvl="1" marL="914400" rtl="0" algn="l">
              <a:spcBef>
                <a:spcPts val="560"/>
              </a:spcBef>
              <a:spcAft>
                <a:spcPts val="0"/>
              </a:spcAft>
              <a:buClr>
                <a:schemeClr val="dk1"/>
              </a:buClr>
              <a:buSzPts val="2800"/>
              <a:buFont typeface="Arial"/>
              <a:buAutoNum type="alphaLcPeriod"/>
            </a:pPr>
            <a:r>
              <a:rPr lang="en-GB"/>
              <a:t>Specify environment with </a:t>
            </a:r>
            <a:r>
              <a:rPr b="1" lang="en-GB"/>
              <a:t>init parameters </a:t>
            </a:r>
            <a:r>
              <a:rPr lang="en-GB"/>
              <a:t>values</a:t>
            </a:r>
            <a:endParaRPr/>
          </a:p>
          <a:p>
            <a:pPr indent="-514350" lvl="1" marL="914400" rtl="0" algn="l">
              <a:spcBef>
                <a:spcPts val="560"/>
              </a:spcBef>
              <a:spcAft>
                <a:spcPts val="0"/>
              </a:spcAft>
              <a:buClr>
                <a:schemeClr val="dk1"/>
              </a:buClr>
              <a:buSzPts val="2800"/>
              <a:buFont typeface="Arial"/>
              <a:buAutoNum type="alphaLcPeriod"/>
            </a:pPr>
            <a:r>
              <a:rPr lang="en-GB"/>
              <a:t>Define agent: name, modules, and percepts</a:t>
            </a:r>
            <a:endParaRPr/>
          </a:p>
          <a:p>
            <a:pPr indent="-514350" lvl="1" marL="914400" rtl="0" algn="l">
              <a:spcBef>
                <a:spcPts val="560"/>
              </a:spcBef>
              <a:spcAft>
                <a:spcPts val="0"/>
              </a:spcAft>
              <a:buClr>
                <a:schemeClr val="dk1"/>
              </a:buClr>
              <a:buSzPts val="2800"/>
              <a:buFont typeface="Arial"/>
              <a:buAutoNum type="alphaLcPeriod"/>
            </a:pPr>
            <a:r>
              <a:rPr lang="en-GB"/>
              <a:t>Add a launch policy</a:t>
            </a:r>
            <a:endParaRPr/>
          </a:p>
          <a:p>
            <a:pPr indent="-514350" lvl="0" marL="514350" rtl="0" algn="l">
              <a:spcBef>
                <a:spcPts val="640"/>
              </a:spcBef>
              <a:spcAft>
                <a:spcPts val="0"/>
              </a:spcAft>
              <a:buClr>
                <a:schemeClr val="dk1"/>
              </a:buClr>
              <a:buSzPts val="3200"/>
              <a:buFont typeface="Arial"/>
              <a:buAutoNum type="arabicPeriod"/>
            </a:pPr>
            <a:r>
              <a:rPr b="1" lang="en-GB"/>
              <a:t>Overall agent program design</a:t>
            </a:r>
            <a:r>
              <a:rPr lang="en-GB"/>
              <a:t>:</a:t>
            </a:r>
            <a:endParaRPr/>
          </a:p>
          <a:p>
            <a:pPr indent="-514350" lvl="1" marL="914400" rtl="0" algn="l">
              <a:spcBef>
                <a:spcPts val="560"/>
              </a:spcBef>
              <a:spcAft>
                <a:spcPts val="0"/>
              </a:spcAft>
              <a:buClr>
                <a:schemeClr val="dk1"/>
              </a:buClr>
              <a:buSzPts val="2800"/>
              <a:buFont typeface="Arial"/>
              <a:buAutoNum type="alphaLcPeriod"/>
            </a:pPr>
            <a:r>
              <a:rPr lang="en-GB"/>
              <a:t>Specify agent’s knowledge in a Prolog file</a:t>
            </a:r>
            <a:endParaRPr/>
          </a:p>
          <a:p>
            <a:pPr indent="-514350" lvl="1" marL="914400" rtl="0" algn="l">
              <a:spcBef>
                <a:spcPts val="560"/>
              </a:spcBef>
              <a:spcAft>
                <a:spcPts val="0"/>
              </a:spcAft>
              <a:buClr>
                <a:schemeClr val="dk1"/>
              </a:buClr>
              <a:buSzPts val="2800"/>
              <a:buFont typeface="Arial"/>
              <a:buAutoNum type="alphaLcPeriod"/>
            </a:pPr>
            <a:r>
              <a:rPr lang="en-GB"/>
              <a:t>Add </a:t>
            </a:r>
            <a:r>
              <a:rPr b="1" lang="en-GB"/>
              <a:t>init </a:t>
            </a:r>
            <a:r>
              <a:rPr lang="en-GB"/>
              <a:t>and/or </a:t>
            </a:r>
            <a:r>
              <a:rPr b="1" lang="en-GB"/>
              <a:t>update</a:t>
            </a:r>
            <a:r>
              <a:rPr lang="en-GB"/>
              <a:t> modules (if needed)</a:t>
            </a:r>
            <a:endParaRPr/>
          </a:p>
          <a:p>
            <a:pPr indent="-514350" lvl="0" marL="514350" rtl="0" algn="l">
              <a:spcBef>
                <a:spcPts val="640"/>
              </a:spcBef>
              <a:spcAft>
                <a:spcPts val="0"/>
              </a:spcAft>
              <a:buClr>
                <a:schemeClr val="dk1"/>
              </a:buClr>
              <a:buSzPts val="3200"/>
              <a:buFont typeface="Arial"/>
              <a:buAutoNum type="arabicPeriod"/>
            </a:pPr>
            <a:r>
              <a:rPr b="1" lang="en-GB"/>
              <a:t>Agent decision strategy</a:t>
            </a:r>
            <a:r>
              <a:rPr lang="en-GB"/>
              <a:t>: which actions to select using action rules.</a:t>
            </a:r>
            <a:endParaRPr/>
          </a:p>
          <a:p>
            <a:pPr indent="-336550" lvl="1" marL="914400" rtl="0" algn="l">
              <a:spcBef>
                <a:spcPts val="560"/>
              </a:spcBef>
              <a:spcAft>
                <a:spcPts val="0"/>
              </a:spcAft>
              <a:buClr>
                <a:schemeClr val="dk1"/>
              </a:buClr>
              <a:buSzPts val="2800"/>
              <a:buFont typeface="Arial"/>
              <a:buNone/>
            </a:pPr>
            <a:r>
              <a:t/>
            </a:r>
            <a:endParaRPr/>
          </a:p>
          <a:p>
            <a:pPr indent="-336550" lvl="1" marL="914400" rtl="0" algn="l">
              <a:spcBef>
                <a:spcPts val="560"/>
              </a:spcBef>
              <a:spcAft>
                <a:spcPts val="0"/>
              </a:spcAft>
              <a:buClr>
                <a:schemeClr val="dk1"/>
              </a:buClr>
              <a:buSzPts val="2800"/>
              <a:buFont typeface="Arial"/>
              <a:buNone/>
            </a:pPr>
            <a:r>
              <a:t/>
            </a:r>
            <a:endParaRPr/>
          </a:p>
          <a:p>
            <a:pPr indent="0" lvl="0" marL="0" rtl="0" algn="l">
              <a:spcBef>
                <a:spcPts val="640"/>
              </a:spcBef>
              <a:spcAft>
                <a:spcPts val="0"/>
              </a:spcAft>
              <a:buClr>
                <a:schemeClr val="dk1"/>
              </a:buClr>
              <a:buSzPts val="3200"/>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Main goal of practical session</a:t>
            </a:r>
            <a:endParaRPr/>
          </a:p>
        </p:txBody>
      </p:sp>
      <p:sp>
        <p:nvSpPr>
          <p:cNvPr id="168" name="Google Shape;168;p11"/>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i="1" lang="en-GB"/>
              <a:t>Main goal</a:t>
            </a:r>
            <a:r>
              <a:rPr lang="en-GB"/>
              <a:t>: Design a very simple Vacuum World agent that is still able to remove all dust.</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i="1" lang="en-GB"/>
              <a:t>Basic simplifying agent design assumptions:</a:t>
            </a:r>
            <a:endParaRPr/>
          </a:p>
          <a:p>
            <a:pPr indent="-342900" lvl="0" marL="342900" rtl="0" algn="l">
              <a:spcBef>
                <a:spcPts val="640"/>
              </a:spcBef>
              <a:spcAft>
                <a:spcPts val="0"/>
              </a:spcAft>
              <a:buClr>
                <a:schemeClr val="dk1"/>
              </a:buClr>
              <a:buSzPts val="3200"/>
              <a:buFont typeface="Arial"/>
              <a:buChar char="•"/>
            </a:pPr>
            <a:r>
              <a:rPr lang="en-GB"/>
              <a:t>We’ll make sure that if an agent visits a square, it will clean it.</a:t>
            </a:r>
            <a:endParaRPr/>
          </a:p>
          <a:p>
            <a:pPr indent="-342900" lvl="0" marL="342900" rtl="0" algn="l">
              <a:spcBef>
                <a:spcPts val="640"/>
              </a:spcBef>
              <a:spcAft>
                <a:spcPts val="0"/>
              </a:spcAft>
              <a:buClr>
                <a:schemeClr val="dk1"/>
              </a:buClr>
              <a:buSzPts val="3200"/>
              <a:buFont typeface="Arial"/>
              <a:buChar char="•"/>
            </a:pPr>
            <a:r>
              <a:rPr lang="en-GB"/>
              <a:t>That means that, if an agent has visited all squares available (or knows it can’t because there is an obstacle), the agent is done.</a:t>
            </a:r>
            <a:endParaRPr/>
          </a:p>
          <a:p>
            <a:pPr indent="-342900" lvl="0" marL="342900" rtl="0" algn="l">
              <a:spcBef>
                <a:spcPts val="640"/>
              </a:spcBef>
              <a:spcAft>
                <a:spcPts val="0"/>
              </a:spcAft>
              <a:buClr>
                <a:schemeClr val="dk1"/>
              </a:buClr>
              <a:buSzPts val="3200"/>
              <a:buFont typeface="Arial"/>
              <a:buChar char="•"/>
            </a:pPr>
            <a:r>
              <a:rPr lang="en-GB"/>
              <a:t>There are exactly 30 squares to visit.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Summary of Requirements</a:t>
            </a:r>
            <a:endParaRPr/>
          </a:p>
        </p:txBody>
      </p:sp>
      <p:sp>
        <p:nvSpPr>
          <p:cNvPr id="175" name="Google Shape;175;p12"/>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Important &amp; useful input for agent design:</a:t>
            </a:r>
            <a:endParaRPr/>
          </a:p>
          <a:p>
            <a:pPr indent="-342900" lvl="0" marL="342900" rtl="0" algn="l">
              <a:spcBef>
                <a:spcPts val="640"/>
              </a:spcBef>
              <a:spcAft>
                <a:spcPts val="0"/>
              </a:spcAft>
              <a:buClr>
                <a:schemeClr val="dk1"/>
              </a:buClr>
              <a:buSzPts val="3200"/>
              <a:buFont typeface="Arial"/>
              <a:buChar char="•"/>
            </a:pPr>
            <a:r>
              <a:rPr lang="en-GB"/>
              <a:t>If the VacBot visits a square </a:t>
            </a:r>
            <a:r>
              <a:rPr b="1" lang="en-GB"/>
              <a:t>for the first time</a:t>
            </a:r>
            <a:r>
              <a:rPr lang="en-GB"/>
              <a:t>, it should perform the </a:t>
            </a:r>
            <a:r>
              <a:rPr b="1" lang="en-GB"/>
              <a:t>clean</a:t>
            </a:r>
            <a:r>
              <a:rPr lang="en-GB"/>
              <a:t> action.</a:t>
            </a:r>
            <a:endParaRPr/>
          </a:p>
          <a:p>
            <a:pPr indent="-342900" lvl="0" marL="342900" rtl="0" algn="l">
              <a:spcBef>
                <a:spcPts val="640"/>
              </a:spcBef>
              <a:spcAft>
                <a:spcPts val="0"/>
              </a:spcAft>
              <a:buClr>
                <a:schemeClr val="dk1"/>
              </a:buClr>
              <a:buSzPts val="3200"/>
              <a:buFont typeface="Arial"/>
              <a:buChar char="•"/>
            </a:pPr>
            <a:r>
              <a:rPr lang="en-GB"/>
              <a:t>If there is nothing else to do, the VacBot should </a:t>
            </a:r>
            <a:r>
              <a:rPr b="1" lang="en-GB"/>
              <a:t>explore</a:t>
            </a:r>
            <a:r>
              <a:rPr lang="en-GB"/>
              <a:t> (</a:t>
            </a:r>
            <a:r>
              <a:rPr i="1" lang="en-GB"/>
              <a:t>randomly move</a:t>
            </a:r>
            <a:r>
              <a:rPr lang="en-GB"/>
              <a:t>).</a:t>
            </a:r>
            <a:endParaRPr/>
          </a:p>
          <a:p>
            <a:pPr indent="-342900" lvl="0" marL="342900" rtl="0" algn="l">
              <a:spcBef>
                <a:spcPts val="640"/>
              </a:spcBef>
              <a:spcAft>
                <a:spcPts val="0"/>
              </a:spcAft>
              <a:buClr>
                <a:schemeClr val="dk1"/>
              </a:buClr>
              <a:buSzPts val="3200"/>
              <a:buFont typeface="Arial"/>
              <a:buChar char="•"/>
            </a:pPr>
            <a:r>
              <a:rPr lang="en-GB"/>
              <a:t>This means that agent should </a:t>
            </a:r>
            <a:r>
              <a:rPr b="1" lang="en-GB"/>
              <a:t>keep track of which squares have been visited</a:t>
            </a:r>
            <a:r>
              <a:rPr lang="en-GB"/>
              <a:t> (already) in its database.</a:t>
            </a:r>
            <a:endParaRPr/>
          </a:p>
          <a:p>
            <a:pPr indent="-342900" lvl="0" marL="342900" rtl="0" algn="l">
              <a:spcBef>
                <a:spcPts val="640"/>
              </a:spcBef>
              <a:spcAft>
                <a:spcPts val="0"/>
              </a:spcAft>
              <a:buClr>
                <a:schemeClr val="dk1"/>
              </a:buClr>
              <a:buSzPts val="3200"/>
              <a:buFont typeface="Arial"/>
              <a:buChar char="•"/>
            </a:pPr>
            <a:r>
              <a:rPr lang="en-GB"/>
              <a:t>There are exactly </a:t>
            </a:r>
            <a:r>
              <a:rPr b="1" lang="en-GB"/>
              <a:t>30 squares to visit</a:t>
            </a:r>
            <a:r>
              <a:rPr lang="en-GB"/>
              <a:t> on a level 1 grid.</a:t>
            </a:r>
            <a:endParaRPr/>
          </a:p>
          <a:p>
            <a:pPr indent="0" lvl="0" marL="0" rtl="0" algn="l">
              <a:spcBef>
                <a:spcPts val="640"/>
              </a:spcBef>
              <a:spcAft>
                <a:spcPts val="0"/>
              </a:spcAft>
              <a:buClr>
                <a:schemeClr val="dk1"/>
              </a:buClr>
              <a:buSzPts val="3200"/>
              <a:buFont typeface="Arial"/>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722313" y="4406900"/>
            <a:ext cx="7772400" cy="1362075"/>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SETTING UP THE MAS</a:t>
            </a:r>
            <a:endParaRPr/>
          </a:p>
        </p:txBody>
      </p:sp>
      <p:sp>
        <p:nvSpPr>
          <p:cNvPr id="181" name="Google Shape;181;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1a: Problem</a:t>
            </a:r>
            <a:endParaRPr/>
          </a:p>
        </p:txBody>
      </p:sp>
      <p:sp>
        <p:nvSpPr>
          <p:cNvPr id="187" name="Google Shape;187;p14"/>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Create a new MARBEL project in Eclipse</a:t>
            </a:r>
            <a:endParaRPr/>
          </a:p>
          <a:p>
            <a:pPr indent="-342900" lvl="0" marL="342900" rtl="0" algn="l">
              <a:spcBef>
                <a:spcPts val="640"/>
              </a:spcBef>
              <a:spcAft>
                <a:spcPts val="0"/>
              </a:spcAft>
              <a:buClr>
                <a:schemeClr val="dk1"/>
              </a:buClr>
              <a:buSzPts val="3200"/>
              <a:buFont typeface="Arial"/>
              <a:buChar char="•"/>
            </a:pPr>
            <a:r>
              <a:rPr lang="en-GB"/>
              <a:t>Download the Vacuum World jar file release v1.3.2 from the github website</a:t>
            </a:r>
            <a:endParaRPr/>
          </a:p>
          <a:p>
            <a:pPr indent="-342900" lvl="0" marL="342900" rtl="0" algn="l">
              <a:spcBef>
                <a:spcPts val="640"/>
              </a:spcBef>
              <a:spcAft>
                <a:spcPts val="0"/>
              </a:spcAft>
              <a:buClr>
                <a:schemeClr val="dk1"/>
              </a:buClr>
              <a:buSzPts val="3200"/>
              <a:buFont typeface="Arial"/>
              <a:buChar char="•"/>
            </a:pPr>
            <a:r>
              <a:rPr lang="en-GB"/>
              <a:t>Move the jar into the Eclipse MARBEL project</a:t>
            </a:r>
            <a:endParaRPr/>
          </a:p>
          <a:p>
            <a:pPr indent="-342900" lvl="0" marL="342900" rtl="0" algn="l">
              <a:spcBef>
                <a:spcPts val="640"/>
              </a:spcBef>
              <a:spcAft>
                <a:spcPts val="0"/>
              </a:spcAft>
              <a:buClr>
                <a:schemeClr val="dk1"/>
              </a:buClr>
              <a:buSzPts val="3200"/>
              <a:buFont typeface="Arial"/>
              <a:buChar char="•"/>
            </a:pPr>
            <a:r>
              <a:rPr lang="en-GB"/>
              <a:t>Add a </a:t>
            </a:r>
            <a:r>
              <a:rPr b="1" lang="en-GB"/>
              <a:t>use clause</a:t>
            </a:r>
            <a:r>
              <a:rPr lang="en-GB"/>
              <a:t> for the environment in the mas file and add a </a:t>
            </a:r>
            <a:r>
              <a:rPr b="1" lang="en-GB"/>
              <a:t>with </a:t>
            </a:r>
            <a:r>
              <a:rPr lang="en-GB"/>
              <a:t>clause for init parameters</a:t>
            </a:r>
            <a:endParaRPr/>
          </a:p>
          <a:p>
            <a:pPr indent="-342900" lvl="0" marL="342900" rtl="0" algn="l">
              <a:spcBef>
                <a:spcPts val="640"/>
              </a:spcBef>
              <a:spcAft>
                <a:spcPts val="0"/>
              </a:spcAft>
              <a:buClr>
                <a:schemeClr val="dk1"/>
              </a:buClr>
              <a:buSzPts val="3200"/>
              <a:buFont typeface="Arial"/>
              <a:buChar char="•"/>
            </a:pPr>
            <a:r>
              <a:rPr lang="en-GB"/>
              <a:t>Make sure to set </a:t>
            </a:r>
            <a:r>
              <a:rPr b="1" lang="en-GB"/>
              <a:t>level</a:t>
            </a:r>
            <a:r>
              <a:rPr lang="en-GB"/>
              <a:t> to “1”, </a:t>
            </a:r>
            <a:r>
              <a:rPr b="1" lang="en-GB"/>
              <a:t>generation</a:t>
            </a:r>
            <a:r>
              <a:rPr lang="en-GB"/>
              <a:t> to “no”, and </a:t>
            </a:r>
            <a:r>
              <a:rPr b="1" lang="en-GB"/>
              <a:t>speed</a:t>
            </a:r>
            <a:r>
              <a:rPr lang="en-GB"/>
              <a:t> to a high value, e.g., “2000”</a:t>
            </a:r>
            <a:endParaRPr/>
          </a:p>
        </p:txBody>
      </p:sp>
      <p:sp>
        <p:nvSpPr>
          <p:cNvPr id="188" name="Google Shape;188;p14"/>
          <p:cNvSpPr txBox="1"/>
          <p:nvPr/>
        </p:nvSpPr>
        <p:spPr>
          <a:xfrm>
            <a:off x="150813" y="1068388"/>
            <a:ext cx="8842374" cy="461665"/>
          </a:xfrm>
          <a:prstGeom prst="rect">
            <a:avLst/>
          </a:prstGeom>
          <a:solidFill>
            <a:srgbClr val="00B0F0"/>
          </a:solidFill>
          <a:ln>
            <a:noFill/>
          </a:ln>
        </p:spPr>
        <p:txBody>
          <a:bodyPr anchorCtr="0" anchor="t" bIns="45700" lIns="91425" spcFirstLastPara="1" rIns="91425" wrap="square" tIns="45700">
            <a:spAutoFit/>
          </a:bodyPr>
          <a:lstStyle/>
          <a:p>
            <a:pPr indent="0" lvl="1" marL="400050" marR="0" rtl="0" algn="l">
              <a:spcBef>
                <a:spcPts val="0"/>
              </a:spcBef>
              <a:spcAft>
                <a:spcPts val="0"/>
              </a:spcAft>
              <a:buNone/>
            </a:pPr>
            <a:r>
              <a:rPr b="0" i="0" lang="en-GB" sz="2400" u="none" cap="none" strike="noStrike">
                <a:solidFill>
                  <a:schemeClr val="dk1"/>
                </a:solidFill>
                <a:latin typeface="Arial"/>
                <a:ea typeface="Arial"/>
                <a:cs typeface="Arial"/>
                <a:sym typeface="Arial"/>
              </a:rPr>
              <a:t>Step 1a: Specify environment with </a:t>
            </a:r>
            <a:r>
              <a:rPr b="1" i="0" lang="en-GB" sz="2400" u="none" cap="none" strike="noStrike">
                <a:solidFill>
                  <a:schemeClr val="dk1"/>
                </a:solidFill>
                <a:latin typeface="Arial"/>
                <a:ea typeface="Arial"/>
                <a:cs typeface="Arial"/>
                <a:sym typeface="Arial"/>
              </a:rPr>
              <a:t>init parameters </a:t>
            </a:r>
            <a:r>
              <a:rPr b="0" i="0" lang="en-GB" sz="2400" u="none" cap="none" strike="noStrike">
                <a:solidFill>
                  <a:schemeClr val="dk1"/>
                </a:solidFill>
                <a:latin typeface="Arial"/>
                <a:ea typeface="Arial"/>
                <a:cs typeface="Arial"/>
                <a:sym typeface="Arial"/>
              </a:rPr>
              <a:t>values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5"/>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1a: Solution</a:t>
            </a:r>
            <a:endParaRPr/>
          </a:p>
        </p:txBody>
      </p:sp>
      <p:sp>
        <p:nvSpPr>
          <p:cNvPr id="194" name="Google Shape;194;p15"/>
          <p:cNvSpPr txBox="1"/>
          <p:nvPr/>
        </p:nvSpPr>
        <p:spPr>
          <a:xfrm>
            <a:off x="251520" y="1484784"/>
            <a:ext cx="8640960" cy="2246769"/>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000">
                <a:solidFill>
                  <a:srgbClr val="000000"/>
                </a:solidFill>
                <a:latin typeface="Consolas"/>
                <a:ea typeface="Consolas"/>
                <a:cs typeface="Consolas"/>
                <a:sym typeface="Consolas"/>
              </a:rPr>
              <a:t>use</a:t>
            </a:r>
            <a:r>
              <a:rPr lang="en-GB" sz="2000">
                <a:solidFill>
                  <a:srgbClr val="000000"/>
                </a:solidFill>
                <a:latin typeface="Consolas"/>
                <a:ea typeface="Consolas"/>
                <a:cs typeface="Consolas"/>
                <a:sym typeface="Consolas"/>
              </a:rPr>
              <a:t> </a:t>
            </a:r>
            <a:r>
              <a:rPr lang="en-GB" sz="2000">
                <a:solidFill>
                  <a:srgbClr val="2A00FF"/>
                </a:solidFill>
                <a:latin typeface="Consolas"/>
                <a:ea typeface="Consolas"/>
                <a:cs typeface="Consolas"/>
                <a:sym typeface="Consolas"/>
              </a:rPr>
              <a:t>"vacuumworld-1.3.2.jar“</a:t>
            </a:r>
            <a:endParaRPr sz="20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2000">
                <a:solidFill>
                  <a:srgbClr val="000000"/>
                </a:solidFill>
                <a:latin typeface="Consolas"/>
                <a:ea typeface="Consolas"/>
                <a:cs typeface="Consolas"/>
                <a:sym typeface="Consolas"/>
              </a:rPr>
              <a:t>	with</a:t>
            </a:r>
            <a:r>
              <a:rPr lang="en-GB" sz="2000">
                <a:solidFill>
                  <a:srgbClr val="000000"/>
                </a:solidFill>
                <a:latin typeface="Consolas"/>
                <a:ea typeface="Consolas"/>
                <a:cs typeface="Consolas"/>
                <a:sym typeface="Consolas"/>
              </a:rPr>
              <a:t> level=</a:t>
            </a:r>
            <a:r>
              <a:rPr lang="en-GB" sz="2000">
                <a:solidFill>
                  <a:srgbClr val="2A00FF"/>
                </a:solidFill>
                <a:latin typeface="Consolas"/>
                <a:ea typeface="Consolas"/>
                <a:cs typeface="Consolas"/>
                <a:sym typeface="Consolas"/>
              </a:rPr>
              <a:t>"1"</a:t>
            </a:r>
            <a:r>
              <a:rPr lang="en-GB" sz="2000">
                <a:solidFill>
                  <a:srgbClr val="000000"/>
                </a:solidFill>
                <a:latin typeface="Consolas"/>
                <a:ea typeface="Consolas"/>
                <a:cs typeface="Consolas"/>
                <a:sym typeface="Consolas"/>
              </a:rPr>
              <a:t>, generation=</a:t>
            </a:r>
            <a:r>
              <a:rPr lang="en-GB" sz="2000">
                <a:solidFill>
                  <a:srgbClr val="2A00FF"/>
                </a:solidFill>
                <a:latin typeface="Consolas"/>
                <a:ea typeface="Consolas"/>
                <a:cs typeface="Consolas"/>
                <a:sym typeface="Consolas"/>
              </a:rPr>
              <a:t>"no"</a:t>
            </a:r>
            <a:r>
              <a:rPr lang="en-GB" sz="2000">
                <a:solidFill>
                  <a:srgbClr val="000000"/>
                </a:solidFill>
                <a:latin typeface="Consolas"/>
                <a:ea typeface="Consolas"/>
                <a:cs typeface="Consolas"/>
                <a:sym typeface="Consolas"/>
              </a:rPr>
              <a:t>, speed=</a:t>
            </a:r>
            <a:r>
              <a:rPr lang="en-GB" sz="2000">
                <a:solidFill>
                  <a:srgbClr val="2A00FF"/>
                </a:solidFill>
                <a:latin typeface="Consolas"/>
                <a:ea typeface="Consolas"/>
                <a:cs typeface="Consolas"/>
                <a:sym typeface="Consolas"/>
              </a:rPr>
              <a:t>"2000"</a:t>
            </a:r>
            <a:r>
              <a:rPr lang="en-GB" sz="2000">
                <a:solidFill>
                  <a:srgbClr val="000000"/>
                </a:solidFill>
                <a:latin typeface="Consolas"/>
                <a:ea typeface="Consolas"/>
                <a:cs typeface="Consolas"/>
                <a:sym typeface="Consolas"/>
              </a:rPr>
              <a:t>.</a:t>
            </a:r>
            <a:endParaRPr/>
          </a:p>
          <a:p>
            <a:pPr indent="0" lvl="0" marL="0" marR="0" rtl="0" algn="l">
              <a:spcBef>
                <a:spcPts val="0"/>
              </a:spcBef>
              <a:spcAft>
                <a:spcPts val="0"/>
              </a:spcAft>
              <a:buNone/>
            </a:pPr>
            <a:br>
              <a:rPr lang="en-GB" sz="2000">
                <a:solidFill>
                  <a:srgbClr val="000000"/>
                </a:solidFill>
                <a:latin typeface="Consolas"/>
                <a:ea typeface="Consolas"/>
                <a:cs typeface="Consolas"/>
                <a:sym typeface="Consolas"/>
              </a:rPr>
            </a:br>
            <a:endParaRPr sz="20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2000" u="sng">
                <a:solidFill>
                  <a:srgbClr val="000000"/>
                </a:solidFill>
                <a:latin typeface="Consolas"/>
                <a:ea typeface="Consolas"/>
                <a:cs typeface="Consolas"/>
                <a:sym typeface="Consolas"/>
              </a:rPr>
              <a:t>launchpolicy</a:t>
            </a:r>
            <a:r>
              <a:rPr lang="en-GB" sz="2000" u="sng">
                <a:solidFill>
                  <a:srgbClr val="000000"/>
                </a:solidFill>
                <a:latin typeface="Consolas"/>
                <a:ea typeface="Consolas"/>
                <a:cs typeface="Consolas"/>
                <a:sym typeface="Consolas"/>
              </a:rPr>
              <a:t> {</a:t>
            </a:r>
            <a:br>
              <a:rPr lang="en-GB" sz="2000">
                <a:solidFill>
                  <a:srgbClr val="000000"/>
                </a:solidFill>
                <a:latin typeface="Consolas"/>
                <a:ea typeface="Consolas"/>
                <a:cs typeface="Consolas"/>
                <a:sym typeface="Consolas"/>
              </a:rPr>
            </a:br>
            <a:endParaRPr sz="2000">
              <a:solidFill>
                <a:srgbClr val="000000"/>
              </a:solidFill>
              <a:latin typeface="Consolas"/>
              <a:ea typeface="Consolas"/>
              <a:cs typeface="Consolas"/>
              <a:sym typeface="Consolas"/>
            </a:endParaRPr>
          </a:p>
          <a:p>
            <a:pPr indent="0" lvl="0" marL="0" marR="0" rtl="0" algn="l">
              <a:spcBef>
                <a:spcPts val="0"/>
              </a:spcBef>
              <a:spcAft>
                <a:spcPts val="0"/>
              </a:spcAft>
              <a:buNone/>
            </a:pPr>
            <a:r>
              <a:rPr lang="en-GB" sz="2000" u="sng">
                <a:solidFill>
                  <a:srgbClr val="000000"/>
                </a:solidFill>
                <a:latin typeface="Consolas"/>
                <a:ea typeface="Consolas"/>
                <a:cs typeface="Consolas"/>
                <a:sym typeface="Consolas"/>
              </a:rPr>
              <a:t>}</a:t>
            </a:r>
            <a:endParaRPr sz="2000">
              <a:solidFill>
                <a:srgbClr val="000000"/>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6"/>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1b1: Problem</a:t>
            </a:r>
            <a:endParaRPr/>
          </a:p>
        </p:txBody>
      </p:sp>
      <p:sp>
        <p:nvSpPr>
          <p:cNvPr id="201" name="Google Shape;201;p16"/>
          <p:cNvSpPr txBox="1"/>
          <p:nvPr>
            <p:ph idx="1" type="body"/>
          </p:nvPr>
        </p:nvSpPr>
        <p:spPr>
          <a:xfrm>
            <a:off x="150813" y="1052736"/>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Choose a </a:t>
            </a:r>
            <a:r>
              <a:rPr b="1" lang="en-GB"/>
              <a:t>generic agent name</a:t>
            </a:r>
            <a:r>
              <a:rPr lang="en-GB"/>
              <a:t> and use it for the agent definition section in your mas file.</a:t>
            </a:r>
            <a:endParaRPr/>
          </a:p>
          <a:p>
            <a:pPr indent="-342900" lvl="0" marL="342900" rtl="0" algn="l">
              <a:spcBef>
                <a:spcPts val="640"/>
              </a:spcBef>
              <a:spcAft>
                <a:spcPts val="0"/>
              </a:spcAft>
              <a:buClr>
                <a:schemeClr val="dk1"/>
              </a:buClr>
              <a:buSzPts val="3200"/>
              <a:buFont typeface="Arial"/>
              <a:buChar char="•"/>
            </a:pPr>
            <a:r>
              <a:rPr lang="en-GB"/>
              <a:t>Think about </a:t>
            </a:r>
            <a:r>
              <a:rPr i="1" lang="en-GB"/>
              <a:t>whether</a:t>
            </a:r>
            <a:r>
              <a:rPr lang="en-GB"/>
              <a:t> the agent needs to have:</a:t>
            </a:r>
            <a:endParaRPr/>
          </a:p>
          <a:p>
            <a:pPr indent="-285750" lvl="1" marL="742950" rtl="0" algn="l">
              <a:spcBef>
                <a:spcPts val="560"/>
              </a:spcBef>
              <a:spcAft>
                <a:spcPts val="0"/>
              </a:spcAft>
              <a:buClr>
                <a:schemeClr val="dk1"/>
              </a:buClr>
              <a:buSzPts val="2800"/>
              <a:buFont typeface="Arial"/>
              <a:buChar char="–"/>
            </a:pPr>
            <a:r>
              <a:rPr lang="en-GB"/>
              <a:t>An </a:t>
            </a:r>
            <a:r>
              <a:rPr b="1" lang="en-GB"/>
              <a:t>init</a:t>
            </a:r>
            <a:r>
              <a:rPr lang="en-GB"/>
              <a:t> module, for introducing information into its database that it only has at the start.</a:t>
            </a:r>
            <a:endParaRPr/>
          </a:p>
          <a:p>
            <a:pPr indent="-285750" lvl="1" marL="742950" rtl="0" algn="l">
              <a:spcBef>
                <a:spcPts val="560"/>
              </a:spcBef>
              <a:spcAft>
                <a:spcPts val="0"/>
              </a:spcAft>
              <a:buClr>
                <a:schemeClr val="dk1"/>
              </a:buClr>
              <a:buSzPts val="2800"/>
              <a:buFont typeface="Arial"/>
              <a:buChar char="–"/>
            </a:pPr>
            <a:r>
              <a:rPr lang="en-GB"/>
              <a:t>An </a:t>
            </a:r>
            <a:r>
              <a:rPr b="1" lang="en-GB"/>
              <a:t>update </a:t>
            </a:r>
            <a:r>
              <a:rPr lang="en-GB"/>
              <a:t>module, for updating its database while it is trying to complete the cleaning task.</a:t>
            </a:r>
            <a:endParaRPr/>
          </a:p>
          <a:p>
            <a:pPr indent="-342900" lvl="0" marL="342900" rtl="0" algn="l">
              <a:spcBef>
                <a:spcPts val="640"/>
              </a:spcBef>
              <a:spcAft>
                <a:spcPts val="0"/>
              </a:spcAft>
              <a:buClr>
                <a:schemeClr val="dk1"/>
              </a:buClr>
              <a:buSzPts val="3200"/>
              <a:buFont typeface="Arial"/>
              <a:buChar char="•"/>
            </a:pPr>
            <a:r>
              <a:rPr lang="en-GB"/>
              <a:t>Add modules to the agent df with use clauses.</a:t>
            </a:r>
            <a:endParaRPr/>
          </a:p>
          <a:p>
            <a:pPr indent="0" lvl="0" marL="0" rtl="0" algn="ctr">
              <a:spcBef>
                <a:spcPts val="640"/>
              </a:spcBef>
              <a:spcAft>
                <a:spcPts val="0"/>
              </a:spcAft>
              <a:buClr>
                <a:schemeClr val="dk1"/>
              </a:buClr>
              <a:buSzPts val="3200"/>
              <a:buFont typeface="Arial"/>
              <a:buNone/>
            </a:pPr>
            <a:r>
              <a:rPr i="1" lang="en-GB"/>
              <a:t>Motivate the choices that you make!</a:t>
            </a:r>
            <a:endParaRPr/>
          </a:p>
        </p:txBody>
      </p:sp>
      <p:sp>
        <p:nvSpPr>
          <p:cNvPr id="202" name="Google Shape;202;p16"/>
          <p:cNvSpPr txBox="1"/>
          <p:nvPr/>
        </p:nvSpPr>
        <p:spPr>
          <a:xfrm>
            <a:off x="150813" y="1068388"/>
            <a:ext cx="8842374" cy="461665"/>
          </a:xfrm>
          <a:prstGeom prst="rect">
            <a:avLst/>
          </a:prstGeom>
          <a:solidFill>
            <a:srgbClr val="00B0F0"/>
          </a:solidFill>
          <a:ln>
            <a:noFill/>
          </a:ln>
        </p:spPr>
        <p:txBody>
          <a:bodyPr anchorCtr="0" anchor="t" bIns="45700" lIns="91425" spcFirstLastPara="1" rIns="91425" wrap="square" tIns="45700">
            <a:spAutoFit/>
          </a:bodyPr>
          <a:lstStyle/>
          <a:p>
            <a:pPr indent="0" lvl="1" marL="400050" marR="0" rtl="0" algn="l">
              <a:spcBef>
                <a:spcPts val="0"/>
              </a:spcBef>
              <a:spcAft>
                <a:spcPts val="0"/>
              </a:spcAft>
              <a:buNone/>
            </a:pPr>
            <a:r>
              <a:rPr b="0" i="0" lang="en-GB" sz="2400" u="none" cap="none" strike="noStrike">
                <a:solidFill>
                  <a:schemeClr val="dk1"/>
                </a:solidFill>
                <a:latin typeface="Arial"/>
                <a:ea typeface="Arial"/>
                <a:cs typeface="Arial"/>
                <a:sym typeface="Arial"/>
              </a:rPr>
              <a:t>Step 1b: Define agent: name, modules, and percepts</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7"/>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1b1: Solution</a:t>
            </a:r>
            <a:endParaRPr/>
          </a:p>
        </p:txBody>
      </p:sp>
      <p:sp>
        <p:nvSpPr>
          <p:cNvPr id="209" name="Google Shape;209;p17"/>
          <p:cNvSpPr txBox="1"/>
          <p:nvPr>
            <p:ph idx="1" type="body"/>
          </p:nvPr>
        </p:nvSpPr>
        <p:spPr>
          <a:xfrm>
            <a:off x="150813" y="980728"/>
            <a:ext cx="8842375" cy="5332412"/>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No </a:t>
            </a:r>
            <a:r>
              <a:rPr b="1" lang="en-GB"/>
              <a:t>init</a:t>
            </a:r>
            <a:r>
              <a:rPr lang="en-GB"/>
              <a:t> module. There is no initial information the agent needs to keep track of.</a:t>
            </a:r>
            <a:endParaRPr/>
          </a:p>
          <a:p>
            <a:pPr indent="-342900" lvl="0" marL="342900" rtl="0" algn="l">
              <a:spcBef>
                <a:spcPts val="640"/>
              </a:spcBef>
              <a:spcAft>
                <a:spcPts val="0"/>
              </a:spcAft>
              <a:buClr>
                <a:schemeClr val="dk1"/>
              </a:buClr>
              <a:buSzPts val="3200"/>
              <a:buFont typeface="Arial"/>
              <a:buChar char="•"/>
            </a:pPr>
            <a:r>
              <a:rPr b="1" lang="en-GB"/>
              <a:t>Update</a:t>
            </a:r>
            <a:r>
              <a:rPr lang="en-GB"/>
              <a:t> module is needed to keep track of which squares the agent has visited, using the </a:t>
            </a:r>
            <a:r>
              <a:rPr b="1" lang="en-GB"/>
              <a:t>location/2</a:t>
            </a:r>
            <a:r>
              <a:rPr lang="en-GB"/>
              <a:t> percept.</a:t>
            </a:r>
            <a:endParaRPr/>
          </a:p>
          <a:p>
            <a:pPr indent="-139700" lvl="0" marL="342900" rtl="0" algn="l">
              <a:spcBef>
                <a:spcPts val="640"/>
              </a:spcBef>
              <a:spcAft>
                <a:spcPts val="0"/>
              </a:spcAft>
              <a:buClr>
                <a:schemeClr val="dk1"/>
              </a:buClr>
              <a:buSzPts val="3200"/>
              <a:buFont typeface="Arial"/>
              <a:buNone/>
            </a:pPr>
            <a:r>
              <a:t/>
            </a:r>
            <a:endParaRPr/>
          </a:p>
        </p:txBody>
      </p:sp>
      <p:sp>
        <p:nvSpPr>
          <p:cNvPr id="210" name="Google Shape;210;p17"/>
          <p:cNvSpPr txBox="1"/>
          <p:nvPr/>
        </p:nvSpPr>
        <p:spPr>
          <a:xfrm>
            <a:off x="150811" y="1124744"/>
            <a:ext cx="8842375" cy="2585323"/>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use</a:t>
            </a:r>
            <a:r>
              <a:rPr lang="en-GB" sz="1800">
                <a:solidFill>
                  <a:srgbClr val="000000"/>
                </a:solidFill>
                <a:latin typeface="Consolas"/>
                <a:ea typeface="Consolas"/>
                <a:cs typeface="Consolas"/>
                <a:sym typeface="Consolas"/>
              </a:rPr>
              <a:t> </a:t>
            </a:r>
            <a:r>
              <a:rPr lang="en-GB" sz="1800">
                <a:solidFill>
                  <a:srgbClr val="2A00FF"/>
                </a:solidFill>
                <a:latin typeface="Consolas"/>
                <a:ea typeface="Consolas"/>
                <a:cs typeface="Consolas"/>
                <a:sym typeface="Consolas"/>
              </a:rPr>
              <a:t>"vacuumworld-1.3.2.jar“</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with</a:t>
            </a:r>
            <a:r>
              <a:rPr lang="en-GB" sz="1800">
                <a:solidFill>
                  <a:srgbClr val="000000"/>
                </a:solidFill>
                <a:latin typeface="Consolas"/>
                <a:ea typeface="Consolas"/>
                <a:cs typeface="Consolas"/>
                <a:sym typeface="Consolas"/>
              </a:rPr>
              <a:t> level=</a:t>
            </a:r>
            <a:r>
              <a:rPr lang="en-GB" sz="1800">
                <a:solidFill>
                  <a:srgbClr val="2A00FF"/>
                </a:solidFill>
                <a:latin typeface="Consolas"/>
                <a:ea typeface="Consolas"/>
                <a:cs typeface="Consolas"/>
                <a:sym typeface="Consolas"/>
              </a:rPr>
              <a:t>"1"</a:t>
            </a:r>
            <a:r>
              <a:rPr lang="en-GB" sz="1800">
                <a:solidFill>
                  <a:srgbClr val="000000"/>
                </a:solidFill>
                <a:latin typeface="Consolas"/>
                <a:ea typeface="Consolas"/>
                <a:cs typeface="Consolas"/>
                <a:sym typeface="Consolas"/>
              </a:rPr>
              <a:t>, generation=</a:t>
            </a:r>
            <a:r>
              <a:rPr lang="en-GB" sz="1800">
                <a:solidFill>
                  <a:srgbClr val="2A00FF"/>
                </a:solidFill>
                <a:latin typeface="Consolas"/>
                <a:ea typeface="Consolas"/>
                <a:cs typeface="Consolas"/>
                <a:sym typeface="Consolas"/>
              </a:rPr>
              <a:t>"no"</a:t>
            </a:r>
            <a:r>
              <a:rPr lang="en-GB" sz="1800">
                <a:solidFill>
                  <a:srgbClr val="000000"/>
                </a:solidFill>
                <a:latin typeface="Consolas"/>
                <a:ea typeface="Consolas"/>
                <a:cs typeface="Consolas"/>
                <a:sym typeface="Consolas"/>
              </a:rPr>
              <a:t>, speed=</a:t>
            </a:r>
            <a:r>
              <a:rPr lang="en-GB" sz="1800">
                <a:solidFill>
                  <a:srgbClr val="2A00FF"/>
                </a:solidFill>
                <a:latin typeface="Consolas"/>
                <a:ea typeface="Consolas"/>
                <a:cs typeface="Consolas"/>
                <a:sym typeface="Consolas"/>
              </a:rPr>
              <a:t>"2000"</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br>
              <a:rPr lang="en-GB" sz="1800">
                <a:solidFill>
                  <a:srgbClr val="000000"/>
                </a:solidFill>
                <a:latin typeface="Consolas"/>
                <a:ea typeface="Consolas"/>
                <a:cs typeface="Consolas"/>
                <a:sym typeface="Consolas"/>
              </a:rPr>
            </a:b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define</a:t>
            </a:r>
            <a:r>
              <a:rPr lang="en-GB" sz="1800">
                <a:solidFill>
                  <a:srgbClr val="000000"/>
                </a:solidFill>
                <a:latin typeface="Consolas"/>
                <a:ea typeface="Consolas"/>
                <a:cs typeface="Consolas"/>
                <a:sym typeface="Consolas"/>
              </a:rPr>
              <a:t> vacuumBotAgt {</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use</a:t>
            </a:r>
            <a:r>
              <a:rPr lang="en-GB" sz="1800">
                <a:solidFill>
                  <a:srgbClr val="000000"/>
                </a:solidFill>
                <a:latin typeface="Consolas"/>
                <a:ea typeface="Consolas"/>
                <a:cs typeface="Consolas"/>
                <a:sym typeface="Consolas"/>
              </a:rPr>
              <a:t> vacuumBot </a:t>
            </a:r>
            <a:r>
              <a:rPr b="1" lang="en-GB" sz="1800">
                <a:solidFill>
                  <a:srgbClr val="000000"/>
                </a:solidFill>
                <a:latin typeface="Consolas"/>
                <a:ea typeface="Consolas"/>
                <a:cs typeface="Consolas"/>
                <a:sym typeface="Consolas"/>
              </a:rPr>
              <a:t>for</a:t>
            </a:r>
            <a:r>
              <a:rPr lang="en-GB" sz="1800">
                <a:solidFill>
                  <a:srgbClr val="000000"/>
                </a:solidFill>
                <a:latin typeface="Consolas"/>
                <a:ea typeface="Consolas"/>
                <a:cs typeface="Consolas"/>
                <a:sym typeface="Consolas"/>
              </a:rPr>
              <a:t> </a:t>
            </a:r>
            <a:r>
              <a:rPr b="1" i="1" lang="en-GB" sz="1800">
                <a:solidFill>
                  <a:srgbClr val="000000"/>
                </a:solidFill>
                <a:latin typeface="Consolas"/>
                <a:ea typeface="Consolas"/>
                <a:cs typeface="Consolas"/>
                <a:sym typeface="Consolas"/>
              </a:rPr>
              <a:t>decisions</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use</a:t>
            </a:r>
            <a:r>
              <a:rPr lang="en-GB" sz="1800">
                <a:solidFill>
                  <a:srgbClr val="000000"/>
                </a:solidFill>
                <a:latin typeface="Consolas"/>
                <a:ea typeface="Consolas"/>
                <a:cs typeface="Consolas"/>
                <a:sym typeface="Consolas"/>
              </a:rPr>
              <a:t> vacuumUpdate </a:t>
            </a:r>
            <a:r>
              <a:rPr b="1" lang="en-GB" sz="1800">
                <a:solidFill>
                  <a:srgbClr val="000000"/>
                </a:solidFill>
                <a:latin typeface="Consolas"/>
                <a:ea typeface="Consolas"/>
                <a:cs typeface="Consolas"/>
                <a:sym typeface="Consolas"/>
              </a:rPr>
              <a:t>for</a:t>
            </a:r>
            <a:r>
              <a:rPr lang="en-GB" sz="1800">
                <a:solidFill>
                  <a:srgbClr val="000000"/>
                </a:solidFill>
                <a:latin typeface="Consolas"/>
                <a:ea typeface="Consolas"/>
                <a:cs typeface="Consolas"/>
                <a:sym typeface="Consolas"/>
              </a:rPr>
              <a:t> </a:t>
            </a:r>
            <a:r>
              <a:rPr b="1" i="1" lang="en-GB" sz="1800">
                <a:solidFill>
                  <a:srgbClr val="000000"/>
                </a:solidFill>
                <a:latin typeface="Consolas"/>
                <a:ea typeface="Consolas"/>
                <a:cs typeface="Consolas"/>
                <a:sym typeface="Consolas"/>
              </a:rPr>
              <a:t>updates</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8"/>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1b1: Solution</a:t>
            </a:r>
            <a:endParaRPr/>
          </a:p>
        </p:txBody>
      </p:sp>
      <p:sp>
        <p:nvSpPr>
          <p:cNvPr id="216" name="Google Shape;216;p18"/>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Arial"/>
              <a:buChar char="•"/>
            </a:pPr>
            <a:r>
              <a:rPr lang="en-GB"/>
              <a:t>Make sure to also create the two modules you just introduced in the agent definition in the project.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9"/>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1b3: Problem</a:t>
            </a:r>
            <a:endParaRPr/>
          </a:p>
        </p:txBody>
      </p:sp>
      <p:sp>
        <p:nvSpPr>
          <p:cNvPr id="223" name="Google Shape;223;p19"/>
          <p:cNvSpPr txBox="1"/>
          <p:nvPr>
            <p:ph idx="1" type="body"/>
          </p:nvPr>
        </p:nvSpPr>
        <p:spPr>
          <a:xfrm>
            <a:off x="150813" y="1124744"/>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Think about </a:t>
            </a:r>
            <a:r>
              <a:rPr i="1" lang="en-GB"/>
              <a:t>which </a:t>
            </a:r>
            <a:r>
              <a:rPr b="1" lang="en-GB"/>
              <a:t>percepts</a:t>
            </a:r>
            <a:r>
              <a:rPr lang="en-GB"/>
              <a:t> your agent will need for its decision making and add them to the agent definition.</a:t>
            </a:r>
            <a:endParaRPr/>
          </a:p>
          <a:p>
            <a:pPr indent="-342900" lvl="0" marL="342900" rtl="0" algn="l">
              <a:spcBef>
                <a:spcPts val="640"/>
              </a:spcBef>
              <a:spcAft>
                <a:spcPts val="0"/>
              </a:spcAft>
              <a:buClr>
                <a:schemeClr val="dk1"/>
              </a:buClr>
              <a:buSzPts val="3200"/>
              <a:buFont typeface="Arial"/>
              <a:buChar char="•"/>
            </a:pPr>
            <a:r>
              <a:rPr lang="en-GB"/>
              <a:t>Decide on which </a:t>
            </a:r>
            <a:r>
              <a:rPr b="1" lang="en-GB"/>
              <a:t>percept handlers</a:t>
            </a:r>
            <a:r>
              <a:rPr lang="en-GB"/>
              <a:t> (</a:t>
            </a:r>
            <a:r>
              <a:rPr b="1" lang="en-GB"/>
              <a:t>add</a:t>
            </a:r>
            <a:r>
              <a:rPr lang="en-GB"/>
              <a:t>, </a:t>
            </a:r>
            <a:r>
              <a:rPr b="1" lang="en-GB"/>
              <a:t>update</a:t>
            </a:r>
            <a:r>
              <a:rPr lang="en-GB"/>
              <a:t>, </a:t>
            </a:r>
            <a:r>
              <a:rPr b="1" lang="en-GB"/>
              <a:t>replace</a:t>
            </a:r>
            <a:r>
              <a:rPr lang="en-GB"/>
              <a:t>) you need to use.</a:t>
            </a:r>
            <a:endParaRPr/>
          </a:p>
          <a:p>
            <a:pPr indent="-342900" lvl="0" marL="342900" rtl="0" algn="l">
              <a:spcBef>
                <a:spcPts val="640"/>
              </a:spcBef>
              <a:spcAft>
                <a:spcPts val="0"/>
              </a:spcAft>
              <a:buClr>
                <a:schemeClr val="dk1"/>
              </a:buClr>
              <a:buSzPts val="3200"/>
              <a:buFont typeface="Arial"/>
              <a:buChar char="•"/>
            </a:pPr>
            <a:r>
              <a:rPr lang="en-GB"/>
              <a:t>Check github site for which percepts are available.</a:t>
            </a:r>
            <a:endParaRPr/>
          </a:p>
          <a:p>
            <a:pPr indent="0" lvl="0" marL="0" rtl="0" algn="l">
              <a:spcBef>
                <a:spcPts val="640"/>
              </a:spcBef>
              <a:spcAft>
                <a:spcPts val="0"/>
              </a:spcAft>
              <a:buClr>
                <a:schemeClr val="dk1"/>
              </a:buClr>
              <a:buSzPts val="3200"/>
              <a:buFont typeface="Arial"/>
              <a:buNone/>
            </a:pPr>
            <a:r>
              <a:t/>
            </a:r>
            <a:endParaRPr/>
          </a:p>
          <a:p>
            <a:pPr indent="0" lvl="0" marL="0" rtl="0" algn="ctr">
              <a:spcBef>
                <a:spcPts val="640"/>
              </a:spcBef>
              <a:spcAft>
                <a:spcPts val="0"/>
              </a:spcAft>
              <a:buClr>
                <a:schemeClr val="dk1"/>
              </a:buClr>
              <a:buSzPts val="3200"/>
              <a:buFont typeface="Arial"/>
              <a:buNone/>
            </a:pPr>
            <a:r>
              <a:rPr i="1" lang="en-GB"/>
              <a:t>Motivate the choices that you make!</a:t>
            </a:r>
            <a:endParaRPr/>
          </a:p>
        </p:txBody>
      </p:sp>
      <p:sp>
        <p:nvSpPr>
          <p:cNvPr id="224" name="Google Shape;224;p19"/>
          <p:cNvSpPr txBox="1"/>
          <p:nvPr/>
        </p:nvSpPr>
        <p:spPr>
          <a:xfrm>
            <a:off x="150813" y="1068388"/>
            <a:ext cx="8842374" cy="461665"/>
          </a:xfrm>
          <a:prstGeom prst="rect">
            <a:avLst/>
          </a:prstGeom>
          <a:solidFill>
            <a:srgbClr val="00B0F0"/>
          </a:solidFill>
          <a:ln>
            <a:noFill/>
          </a:ln>
        </p:spPr>
        <p:txBody>
          <a:bodyPr anchorCtr="0" anchor="t" bIns="45700" lIns="91425" spcFirstLastPara="1" rIns="91425" wrap="square" tIns="45700">
            <a:spAutoFit/>
          </a:bodyPr>
          <a:lstStyle/>
          <a:p>
            <a:pPr indent="0" lvl="1" marL="400050" marR="0" rtl="0" algn="l">
              <a:spcBef>
                <a:spcPts val="0"/>
              </a:spcBef>
              <a:spcAft>
                <a:spcPts val="0"/>
              </a:spcAft>
              <a:buNone/>
            </a:pPr>
            <a:r>
              <a:rPr b="0" i="0" lang="en-GB" sz="2400" u="none" cap="none" strike="noStrike">
                <a:solidFill>
                  <a:schemeClr val="dk1"/>
                </a:solidFill>
                <a:latin typeface="Arial"/>
                <a:ea typeface="Arial"/>
                <a:cs typeface="Arial"/>
                <a:sym typeface="Arial"/>
              </a:rPr>
              <a:t>Step 1b: Define agent: name, modules, and percepts</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0"/>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VacuumWorld – Percepts</a:t>
            </a:r>
            <a:endParaRPr/>
          </a:p>
        </p:txBody>
      </p:sp>
      <p:sp>
        <p:nvSpPr>
          <p:cNvPr id="231" name="Google Shape;231;p20"/>
          <p:cNvSpPr txBox="1"/>
          <p:nvPr>
            <p:ph idx="1" type="body"/>
          </p:nvPr>
        </p:nvSpPr>
        <p:spPr>
          <a:xfrm>
            <a:off x="5508103" y="1131888"/>
            <a:ext cx="3528393" cy="323321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rPr lang="en-GB" sz="1800"/>
              <a:t>We use the following percepts:</a:t>
            </a:r>
            <a:endParaRPr/>
          </a:p>
          <a:p>
            <a:pPr indent="-342900" lvl="0" marL="342900" rtl="0" algn="l">
              <a:spcBef>
                <a:spcPts val="360"/>
              </a:spcBef>
              <a:spcAft>
                <a:spcPts val="0"/>
              </a:spcAft>
              <a:buClr>
                <a:schemeClr val="dk1"/>
              </a:buClr>
              <a:buSzPts val="1800"/>
              <a:buFont typeface="Arial"/>
              <a:buChar char="•"/>
            </a:pPr>
            <a:r>
              <a:rPr b="1" lang="en-GB" sz="1800"/>
              <a:t>location(X, Y)</a:t>
            </a:r>
            <a:r>
              <a:rPr lang="en-GB" sz="1800"/>
              <a:t>: current X, Y coordinate of bot on grid; top left corner is (0, 0).</a:t>
            </a:r>
            <a:endParaRPr/>
          </a:p>
          <a:p>
            <a:pPr indent="-342900" lvl="0" marL="342900" rtl="0" algn="l">
              <a:spcBef>
                <a:spcPts val="360"/>
              </a:spcBef>
              <a:spcAft>
                <a:spcPts val="0"/>
              </a:spcAft>
              <a:buClr>
                <a:schemeClr val="dk1"/>
              </a:buClr>
              <a:buSzPts val="1800"/>
              <a:buFont typeface="Arial"/>
              <a:buChar char="•"/>
            </a:pPr>
            <a:r>
              <a:rPr b="1" lang="en-GB" sz="1800"/>
              <a:t>direction(AbsDir)</a:t>
            </a:r>
            <a:r>
              <a:rPr lang="en-GB" sz="1800"/>
              <a:t>: absolute direction of bot (north, south, east, or west).</a:t>
            </a:r>
            <a:endParaRPr/>
          </a:p>
          <a:p>
            <a:pPr indent="-342900" lvl="0" marL="342900" rtl="0" algn="l">
              <a:spcBef>
                <a:spcPts val="360"/>
              </a:spcBef>
              <a:spcAft>
                <a:spcPts val="0"/>
              </a:spcAft>
              <a:buClr>
                <a:schemeClr val="dk1"/>
              </a:buClr>
              <a:buSzPts val="1800"/>
              <a:buFont typeface="Arial"/>
              <a:buChar char="•"/>
            </a:pPr>
            <a:r>
              <a:rPr b="1" lang="en-GB" sz="1800"/>
              <a:t>square(RelLoc, Content)</a:t>
            </a:r>
            <a:r>
              <a:rPr lang="en-GB" sz="1800"/>
              <a:t>: Six instances of this percept represent the bot’s field of vision. The bot can see relative to its own location the left, forwardLeft, forward, forwardRight, right, and here squares. Content is either obstacle, dust, or empty.</a:t>
            </a:r>
            <a:endParaRPr/>
          </a:p>
        </p:txBody>
      </p:sp>
      <p:pic>
        <p:nvPicPr>
          <p:cNvPr id="232" name="Google Shape;232;p20"/>
          <p:cNvPicPr preferRelativeResize="0"/>
          <p:nvPr/>
        </p:nvPicPr>
        <p:blipFill rotWithShape="1">
          <a:blip r:embed="rId3">
            <a:alphaModFix/>
          </a:blip>
          <a:srcRect b="0" l="0" r="0" t="0"/>
          <a:stretch/>
        </p:blipFill>
        <p:spPr>
          <a:xfrm>
            <a:off x="107504" y="1124744"/>
            <a:ext cx="5366847" cy="3240360"/>
          </a:xfrm>
          <a:prstGeom prst="rect">
            <a:avLst/>
          </a:prstGeom>
          <a:noFill/>
          <a:ln>
            <a:noFill/>
          </a:ln>
        </p:spPr>
      </p:pic>
      <p:sp>
        <p:nvSpPr>
          <p:cNvPr id="233" name="Google Shape;233;p20"/>
          <p:cNvSpPr/>
          <p:nvPr/>
        </p:nvSpPr>
        <p:spPr>
          <a:xfrm>
            <a:off x="107504" y="4581128"/>
            <a:ext cx="5760640"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GB" sz="1800">
                <a:solidFill>
                  <a:schemeClr val="dk1"/>
                </a:solidFill>
                <a:latin typeface="Arial"/>
                <a:ea typeface="Arial"/>
                <a:cs typeface="Arial"/>
                <a:sym typeface="Arial"/>
              </a:rPr>
              <a:t>task(Identifier):</a:t>
            </a:r>
            <a:r>
              <a:rPr lang="en-GB" sz="1800">
                <a:solidFill>
                  <a:schemeClr val="dk1"/>
                </a:solidFill>
                <a:latin typeface="Arial"/>
                <a:ea typeface="Arial"/>
                <a:cs typeface="Arial"/>
                <a:sym typeface="Arial"/>
              </a:rPr>
              <a:t> A bot’s current task or activity, i.e., either </a:t>
            </a:r>
            <a:r>
              <a:rPr i="1" lang="en-GB" sz="1800">
                <a:solidFill>
                  <a:schemeClr val="dk1"/>
                </a:solidFill>
                <a:latin typeface="Arial"/>
                <a:ea typeface="Arial"/>
                <a:cs typeface="Arial"/>
                <a:sym typeface="Arial"/>
              </a:rPr>
              <a:t>turn</a:t>
            </a:r>
            <a:r>
              <a:rPr lang="en-GB" sz="1800">
                <a:solidFill>
                  <a:schemeClr val="dk1"/>
                </a:solidFill>
                <a:latin typeface="Arial"/>
                <a:ea typeface="Arial"/>
                <a:cs typeface="Arial"/>
                <a:sym typeface="Arial"/>
              </a:rPr>
              <a:t>, </a:t>
            </a:r>
            <a:r>
              <a:rPr i="1" lang="en-GB" sz="1800">
                <a:solidFill>
                  <a:schemeClr val="dk1"/>
                </a:solidFill>
                <a:latin typeface="Arial"/>
                <a:ea typeface="Arial"/>
                <a:cs typeface="Arial"/>
                <a:sym typeface="Arial"/>
              </a:rPr>
              <a:t>move</a:t>
            </a:r>
            <a:r>
              <a:rPr lang="en-GB" sz="1800">
                <a:solidFill>
                  <a:schemeClr val="dk1"/>
                </a:solidFill>
                <a:latin typeface="Arial"/>
                <a:ea typeface="Arial"/>
                <a:cs typeface="Arial"/>
                <a:sym typeface="Arial"/>
              </a:rPr>
              <a:t>, </a:t>
            </a:r>
            <a:r>
              <a:rPr i="1" lang="en-GB" sz="1800">
                <a:solidFill>
                  <a:schemeClr val="dk1"/>
                </a:solidFill>
                <a:latin typeface="Arial"/>
                <a:ea typeface="Arial"/>
                <a:cs typeface="Arial"/>
                <a:sym typeface="Arial"/>
              </a:rPr>
              <a:t>clean</a:t>
            </a:r>
            <a:r>
              <a:rPr lang="en-GB" sz="1800">
                <a:solidFill>
                  <a:schemeClr val="dk1"/>
                </a:solidFill>
                <a:latin typeface="Arial"/>
                <a:ea typeface="Arial"/>
                <a:cs typeface="Arial"/>
                <a:sym typeface="Arial"/>
              </a:rPr>
              <a:t>, or </a:t>
            </a:r>
            <a:r>
              <a:rPr i="1" lang="en-GB" sz="1800">
                <a:solidFill>
                  <a:schemeClr val="dk1"/>
                </a:solidFill>
                <a:latin typeface="Arial"/>
                <a:ea typeface="Arial"/>
                <a:cs typeface="Arial"/>
                <a:sym typeface="Arial"/>
              </a:rPr>
              <a:t>none </a:t>
            </a:r>
            <a:r>
              <a:rPr lang="en-GB" sz="1800">
                <a:solidFill>
                  <a:schemeClr val="dk1"/>
                </a:solidFill>
                <a:latin typeface="Arial"/>
                <a:ea typeface="Arial"/>
                <a:cs typeface="Arial"/>
                <a:sym typeface="Arial"/>
              </a:rPr>
              <a:t>if the bot is idle.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4" name="Google Shape;234;p20"/>
          <p:cNvSpPr/>
          <p:nvPr/>
        </p:nvSpPr>
        <p:spPr>
          <a:xfrm>
            <a:off x="109726" y="5877272"/>
            <a:ext cx="90342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The </a:t>
            </a:r>
            <a:r>
              <a:rPr b="1" lang="en-GB" sz="1800">
                <a:solidFill>
                  <a:schemeClr val="dk1"/>
                </a:solidFill>
                <a:latin typeface="Arial"/>
                <a:ea typeface="Arial"/>
                <a:cs typeface="Arial"/>
                <a:sym typeface="Arial"/>
              </a:rPr>
              <a:t>location/2</a:t>
            </a:r>
            <a:r>
              <a:rPr lang="en-GB" sz="1800">
                <a:solidFill>
                  <a:schemeClr val="dk1"/>
                </a:solidFill>
                <a:latin typeface="Arial"/>
                <a:ea typeface="Arial"/>
                <a:cs typeface="Arial"/>
                <a:sym typeface="Arial"/>
              </a:rPr>
              <a:t> and </a:t>
            </a:r>
            <a:r>
              <a:rPr b="1" lang="en-GB" sz="1800">
                <a:solidFill>
                  <a:schemeClr val="dk1"/>
                </a:solidFill>
                <a:latin typeface="Arial"/>
                <a:ea typeface="Arial"/>
                <a:cs typeface="Arial"/>
                <a:sym typeface="Arial"/>
              </a:rPr>
              <a:t>direction/1</a:t>
            </a:r>
            <a:r>
              <a:rPr lang="en-GB" sz="1800">
                <a:solidFill>
                  <a:schemeClr val="dk1"/>
                </a:solidFill>
                <a:latin typeface="Arial"/>
                <a:ea typeface="Arial"/>
                <a:cs typeface="Arial"/>
                <a:sym typeface="Arial"/>
              </a:rPr>
              <a:t> percepts are </a:t>
            </a:r>
            <a:r>
              <a:rPr b="1" lang="en-GB" sz="1800">
                <a:solidFill>
                  <a:schemeClr val="dk1"/>
                </a:solidFill>
                <a:latin typeface="Arial"/>
                <a:ea typeface="Arial"/>
                <a:cs typeface="Arial"/>
                <a:sym typeface="Arial"/>
              </a:rPr>
              <a:t>only updated</a:t>
            </a:r>
            <a:r>
              <a:rPr lang="en-GB" sz="1800">
                <a:solidFill>
                  <a:schemeClr val="dk1"/>
                </a:solidFill>
                <a:latin typeface="Arial"/>
                <a:ea typeface="Arial"/>
                <a:cs typeface="Arial"/>
                <a:sym typeface="Arial"/>
              </a:rPr>
              <a:t> when a bot is idle (is not performing any action, or has no task, i.e. the agent receives percept </a:t>
            </a:r>
            <a:r>
              <a:rPr b="1" lang="en-GB" sz="1800">
                <a:solidFill>
                  <a:schemeClr val="dk1"/>
                </a:solidFill>
                <a:latin typeface="Arial"/>
                <a:ea typeface="Arial"/>
                <a:cs typeface="Arial"/>
                <a:sym typeface="Arial"/>
              </a:rPr>
              <a:t>task(none)</a:t>
            </a:r>
            <a:r>
              <a:rPr lang="en-GB" sz="1800">
                <a:solidFill>
                  <a:schemeClr val="dk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1b2: Solution</a:t>
            </a:r>
            <a:endParaRPr/>
          </a:p>
        </p:txBody>
      </p:sp>
      <p:sp>
        <p:nvSpPr>
          <p:cNvPr id="241" name="Google Shape;241;p21"/>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We don’t need </a:t>
            </a:r>
            <a:r>
              <a:rPr b="1" lang="en-GB"/>
              <a:t>direction/1</a:t>
            </a:r>
            <a:r>
              <a:rPr lang="en-GB"/>
              <a:t> nor </a:t>
            </a:r>
            <a:r>
              <a:rPr b="1" lang="en-GB"/>
              <a:t>square/2</a:t>
            </a:r>
            <a:r>
              <a:rPr lang="en-GB"/>
              <a:t>: we don’t need to see whether there is dust or not (agent will just clean every square)</a:t>
            </a:r>
            <a:endParaRPr/>
          </a:p>
          <a:p>
            <a:pPr indent="-342900" lvl="0" marL="342900" rtl="0" algn="l">
              <a:spcBef>
                <a:spcPts val="640"/>
              </a:spcBef>
              <a:spcAft>
                <a:spcPts val="0"/>
              </a:spcAft>
              <a:buClr>
                <a:schemeClr val="dk1"/>
              </a:buClr>
              <a:buSzPts val="3200"/>
              <a:buFont typeface="Arial"/>
              <a:buChar char="•"/>
            </a:pPr>
            <a:r>
              <a:rPr lang="en-GB"/>
              <a:t>Need to keep track of where agent was using </a:t>
            </a:r>
            <a:r>
              <a:rPr b="1" lang="en-GB"/>
              <a:t>location/2</a:t>
            </a:r>
            <a:r>
              <a:rPr lang="en-GB"/>
              <a:t> and use </a:t>
            </a:r>
            <a:r>
              <a:rPr b="1" lang="en-GB"/>
              <a:t>task/1</a:t>
            </a:r>
            <a:r>
              <a:rPr lang="en-GB"/>
              <a:t> to make sure the agent is no longer moving (so we can clean)</a:t>
            </a:r>
            <a:endParaRPr/>
          </a:p>
        </p:txBody>
      </p:sp>
      <p:sp>
        <p:nvSpPr>
          <p:cNvPr id="242" name="Google Shape;242;p21"/>
          <p:cNvSpPr txBox="1"/>
          <p:nvPr/>
        </p:nvSpPr>
        <p:spPr>
          <a:xfrm>
            <a:off x="150811" y="1181651"/>
            <a:ext cx="8842375" cy="2031325"/>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define</a:t>
            </a:r>
            <a:r>
              <a:rPr lang="en-GB" sz="1800">
                <a:solidFill>
                  <a:srgbClr val="000000"/>
                </a:solidFill>
                <a:latin typeface="Consolas"/>
                <a:ea typeface="Consolas"/>
                <a:cs typeface="Consolas"/>
                <a:sym typeface="Consolas"/>
              </a:rPr>
              <a:t> vacuumBotAgt {</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use</a:t>
            </a:r>
            <a:r>
              <a:rPr lang="en-GB" sz="1800">
                <a:solidFill>
                  <a:srgbClr val="000000"/>
                </a:solidFill>
                <a:latin typeface="Consolas"/>
                <a:ea typeface="Consolas"/>
                <a:cs typeface="Consolas"/>
                <a:sym typeface="Consolas"/>
              </a:rPr>
              <a:t> vacuumBot </a:t>
            </a:r>
            <a:r>
              <a:rPr b="1" lang="en-GB" sz="1800">
                <a:solidFill>
                  <a:srgbClr val="000000"/>
                </a:solidFill>
                <a:latin typeface="Consolas"/>
                <a:ea typeface="Consolas"/>
                <a:cs typeface="Consolas"/>
                <a:sym typeface="Consolas"/>
              </a:rPr>
              <a:t>for</a:t>
            </a:r>
            <a:r>
              <a:rPr lang="en-GB" sz="1800">
                <a:solidFill>
                  <a:srgbClr val="000000"/>
                </a:solidFill>
                <a:latin typeface="Consolas"/>
                <a:ea typeface="Consolas"/>
                <a:cs typeface="Consolas"/>
                <a:sym typeface="Consolas"/>
              </a:rPr>
              <a:t> </a:t>
            </a:r>
            <a:r>
              <a:rPr b="1" i="1" lang="en-GB" sz="1800">
                <a:solidFill>
                  <a:srgbClr val="000000"/>
                </a:solidFill>
                <a:latin typeface="Consolas"/>
                <a:ea typeface="Consolas"/>
                <a:cs typeface="Consolas"/>
                <a:sym typeface="Consolas"/>
              </a:rPr>
              <a:t>decisions</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use</a:t>
            </a:r>
            <a:r>
              <a:rPr lang="en-GB" sz="1800">
                <a:solidFill>
                  <a:srgbClr val="000000"/>
                </a:solidFill>
                <a:latin typeface="Consolas"/>
                <a:ea typeface="Consolas"/>
                <a:cs typeface="Consolas"/>
                <a:sym typeface="Consolas"/>
              </a:rPr>
              <a:t> vacuumUpdate </a:t>
            </a:r>
            <a:r>
              <a:rPr b="1" lang="en-GB" sz="1800">
                <a:solidFill>
                  <a:srgbClr val="000000"/>
                </a:solidFill>
                <a:latin typeface="Consolas"/>
                <a:ea typeface="Consolas"/>
                <a:cs typeface="Consolas"/>
                <a:sym typeface="Consolas"/>
              </a:rPr>
              <a:t>for</a:t>
            </a:r>
            <a:r>
              <a:rPr lang="en-GB" sz="1800">
                <a:solidFill>
                  <a:srgbClr val="000000"/>
                </a:solidFill>
                <a:latin typeface="Consolas"/>
                <a:ea typeface="Consolas"/>
                <a:cs typeface="Consolas"/>
                <a:sym typeface="Consolas"/>
              </a:rPr>
              <a:t> </a:t>
            </a:r>
            <a:r>
              <a:rPr b="1" i="1" lang="en-GB" sz="1800">
                <a:solidFill>
                  <a:srgbClr val="000000"/>
                </a:solidFill>
                <a:latin typeface="Consolas"/>
                <a:ea typeface="Consolas"/>
                <a:cs typeface="Consolas"/>
                <a:sym typeface="Consolas"/>
              </a:rPr>
              <a:t>updates</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update</a:t>
            </a:r>
            <a:r>
              <a:rPr lang="en-GB" sz="1800">
                <a:solidFill>
                  <a:srgbClr val="000000"/>
                </a:solidFill>
                <a:latin typeface="Consolas"/>
                <a:ea typeface="Consolas"/>
                <a:cs typeface="Consolas"/>
                <a:sym typeface="Consolas"/>
              </a:rPr>
              <a:t> location/2.</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update</a:t>
            </a:r>
            <a:r>
              <a:rPr lang="en-GB" sz="1800">
                <a:solidFill>
                  <a:srgbClr val="000000"/>
                </a:solidFill>
                <a:latin typeface="Consolas"/>
                <a:ea typeface="Consolas"/>
                <a:cs typeface="Consolas"/>
                <a:sym typeface="Consolas"/>
              </a:rPr>
              <a:t> task/1.</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2"/>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1c: Problem</a:t>
            </a:r>
            <a:endParaRPr/>
          </a:p>
        </p:txBody>
      </p:sp>
      <p:sp>
        <p:nvSpPr>
          <p:cNvPr id="249" name="Google Shape;249;p22"/>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p:txBody>
      </p:sp>
      <p:sp>
        <p:nvSpPr>
          <p:cNvPr id="250" name="Google Shape;250;p22"/>
          <p:cNvSpPr txBox="1"/>
          <p:nvPr/>
        </p:nvSpPr>
        <p:spPr>
          <a:xfrm>
            <a:off x="150813" y="1068388"/>
            <a:ext cx="8842374" cy="461665"/>
          </a:xfrm>
          <a:prstGeom prst="rect">
            <a:avLst/>
          </a:prstGeom>
          <a:solidFill>
            <a:srgbClr val="00B0F0"/>
          </a:solidFill>
          <a:ln>
            <a:noFill/>
          </a:ln>
        </p:spPr>
        <p:txBody>
          <a:bodyPr anchorCtr="0" anchor="t" bIns="45700" lIns="91425" spcFirstLastPara="1" rIns="91425" wrap="square" tIns="45700">
            <a:spAutoFit/>
          </a:bodyPr>
          <a:lstStyle/>
          <a:p>
            <a:pPr indent="0" lvl="1" marL="400050" marR="0" rtl="0" algn="l">
              <a:spcBef>
                <a:spcPts val="0"/>
              </a:spcBef>
              <a:spcAft>
                <a:spcPts val="0"/>
              </a:spcAft>
              <a:buNone/>
            </a:pPr>
            <a:r>
              <a:rPr b="0" i="0" lang="en-GB" sz="2400" u="none" cap="none" strike="noStrike">
                <a:solidFill>
                  <a:schemeClr val="dk1"/>
                </a:solidFill>
                <a:latin typeface="Arial"/>
                <a:ea typeface="Arial"/>
                <a:cs typeface="Arial"/>
                <a:sym typeface="Arial"/>
              </a:rPr>
              <a:t>Step 1c: Add a launch policy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3"/>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1c: Solution</a:t>
            </a:r>
            <a:endParaRPr/>
          </a:p>
        </p:txBody>
      </p:sp>
      <p:sp>
        <p:nvSpPr>
          <p:cNvPr id="256" name="Google Shape;256;p23"/>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Font typeface="Arial"/>
              <a:buNone/>
            </a:pPr>
            <a:r>
              <a:rPr b="1" lang="en-GB" sz="2400"/>
              <a:t>use</a:t>
            </a:r>
            <a:r>
              <a:rPr lang="en-GB" sz="2400"/>
              <a:t> “vacuumworld-1.3.2.jar“</a:t>
            </a:r>
            <a:endParaRPr/>
          </a:p>
          <a:p>
            <a:pPr indent="0" lvl="0" marL="0" rtl="0" algn="l">
              <a:spcBef>
                <a:spcPts val="480"/>
              </a:spcBef>
              <a:spcAft>
                <a:spcPts val="0"/>
              </a:spcAft>
              <a:buClr>
                <a:schemeClr val="dk1"/>
              </a:buClr>
              <a:buSzPts val="2400"/>
              <a:buFont typeface="Arial"/>
              <a:buNone/>
            </a:pPr>
            <a:r>
              <a:rPr lang="en-GB" sz="2400"/>
              <a:t>	</a:t>
            </a:r>
            <a:r>
              <a:rPr b="1" lang="en-GB" sz="2400"/>
              <a:t>with </a:t>
            </a:r>
            <a:r>
              <a:rPr lang="en-GB" sz="2400"/>
              <a:t>level = “1”, generation = “no”, speed = “2000”.</a:t>
            </a:r>
            <a:endParaRPr/>
          </a:p>
          <a:p>
            <a:pPr indent="0" lvl="0" marL="0" rtl="0" algn="l">
              <a:spcBef>
                <a:spcPts val="320"/>
              </a:spcBef>
              <a:spcAft>
                <a:spcPts val="0"/>
              </a:spcAft>
              <a:buClr>
                <a:schemeClr val="dk1"/>
              </a:buClr>
              <a:buSzPts val="1600"/>
              <a:buFont typeface="Arial"/>
              <a:buNone/>
            </a:pPr>
            <a:r>
              <a:t/>
            </a:r>
            <a:endParaRPr b="1" sz="1600"/>
          </a:p>
          <a:p>
            <a:pPr indent="0" lvl="0" marL="0" rtl="0" algn="l">
              <a:spcBef>
                <a:spcPts val="480"/>
              </a:spcBef>
              <a:spcAft>
                <a:spcPts val="0"/>
              </a:spcAft>
              <a:buClr>
                <a:schemeClr val="dk1"/>
              </a:buClr>
              <a:buSzPts val="2400"/>
              <a:buFont typeface="Arial"/>
              <a:buNone/>
            </a:pPr>
            <a:r>
              <a:rPr b="1" lang="en-GB" sz="2400"/>
              <a:t>define </a:t>
            </a:r>
            <a:r>
              <a:rPr lang="en-GB" sz="2400"/>
              <a:t>vacuumBotAgt {</a:t>
            </a:r>
            <a:endParaRPr/>
          </a:p>
          <a:p>
            <a:pPr indent="0" lvl="0" marL="0" rtl="0" algn="l">
              <a:spcBef>
                <a:spcPts val="480"/>
              </a:spcBef>
              <a:spcAft>
                <a:spcPts val="0"/>
              </a:spcAft>
              <a:buClr>
                <a:schemeClr val="dk1"/>
              </a:buClr>
              <a:buSzPts val="2400"/>
              <a:buFont typeface="Arial"/>
              <a:buNone/>
            </a:pPr>
            <a:r>
              <a:rPr b="1" lang="en-GB" sz="2400"/>
              <a:t>	</a:t>
            </a:r>
            <a:r>
              <a:rPr lang="en-GB" sz="2400"/>
              <a:t>…</a:t>
            </a:r>
            <a:endParaRPr/>
          </a:p>
          <a:p>
            <a:pPr indent="0" lvl="0" marL="0" rtl="0" algn="l">
              <a:spcBef>
                <a:spcPts val="480"/>
              </a:spcBef>
              <a:spcAft>
                <a:spcPts val="0"/>
              </a:spcAft>
              <a:buClr>
                <a:schemeClr val="dk1"/>
              </a:buClr>
              <a:buSzPts val="2400"/>
              <a:buFont typeface="Arial"/>
              <a:buNone/>
            </a:pPr>
            <a:r>
              <a:t/>
            </a:r>
            <a:endParaRPr b="1" sz="2400"/>
          </a:p>
          <a:p>
            <a:pPr indent="0" lvl="0" marL="0" rtl="0" algn="l">
              <a:spcBef>
                <a:spcPts val="480"/>
              </a:spcBef>
              <a:spcAft>
                <a:spcPts val="0"/>
              </a:spcAft>
              <a:buClr>
                <a:schemeClr val="dk1"/>
              </a:buClr>
              <a:buSzPts val="2400"/>
              <a:buFont typeface="Arial"/>
              <a:buNone/>
            </a:pPr>
            <a:r>
              <a:rPr b="1" lang="en-GB" sz="2400"/>
              <a:t>	</a:t>
            </a:r>
            <a:endParaRPr sz="2400"/>
          </a:p>
          <a:p>
            <a:pPr indent="0" lvl="0" marL="0" rtl="0" algn="l">
              <a:spcBef>
                <a:spcPts val="480"/>
              </a:spcBef>
              <a:spcAft>
                <a:spcPts val="0"/>
              </a:spcAft>
              <a:buClr>
                <a:schemeClr val="dk1"/>
              </a:buClr>
              <a:buSzPts val="2400"/>
              <a:buFont typeface="Arial"/>
              <a:buNone/>
            </a:pPr>
            <a:r>
              <a:rPr lang="en-GB" sz="2400"/>
              <a:t>}</a:t>
            </a:r>
            <a:endParaRPr/>
          </a:p>
          <a:p>
            <a:pPr indent="0" lvl="0" marL="0" rtl="0" algn="l">
              <a:spcBef>
                <a:spcPts val="320"/>
              </a:spcBef>
              <a:spcAft>
                <a:spcPts val="0"/>
              </a:spcAft>
              <a:buClr>
                <a:schemeClr val="dk1"/>
              </a:buClr>
              <a:buSzPts val="1600"/>
              <a:buFont typeface="Arial"/>
              <a:buNone/>
            </a:pPr>
            <a:r>
              <a:t/>
            </a:r>
            <a:endParaRPr sz="1600"/>
          </a:p>
          <a:p>
            <a:pPr indent="0" lvl="0" marL="0" rtl="0" algn="l">
              <a:spcBef>
                <a:spcPts val="480"/>
              </a:spcBef>
              <a:spcAft>
                <a:spcPts val="0"/>
              </a:spcAft>
              <a:buClr>
                <a:schemeClr val="dk1"/>
              </a:buClr>
              <a:buSzPts val="2400"/>
              <a:buFont typeface="Arial"/>
              <a:buNone/>
            </a:pPr>
            <a:r>
              <a:rPr b="1" lang="en-GB" sz="2400"/>
              <a:t>launchpolicy</a:t>
            </a:r>
            <a:r>
              <a:rPr lang="en-GB" sz="2400"/>
              <a:t> {</a:t>
            </a:r>
            <a:endParaRPr/>
          </a:p>
          <a:p>
            <a:pPr indent="0" lvl="0" marL="0" rtl="0" algn="l">
              <a:spcBef>
                <a:spcPts val="480"/>
              </a:spcBef>
              <a:spcAft>
                <a:spcPts val="0"/>
              </a:spcAft>
              <a:buClr>
                <a:schemeClr val="dk1"/>
              </a:buClr>
              <a:buSzPts val="2400"/>
              <a:buFont typeface="Arial"/>
              <a:buNone/>
            </a:pPr>
            <a:r>
              <a:rPr lang="en-GB" sz="2400"/>
              <a:t>	</a:t>
            </a:r>
            <a:r>
              <a:rPr b="1" lang="en-GB" sz="2400"/>
              <a:t>when * launch</a:t>
            </a:r>
            <a:r>
              <a:rPr lang="en-GB" sz="2400"/>
              <a:t> vacuumBotAgt </a:t>
            </a:r>
            <a:r>
              <a:rPr b="1" lang="en-GB" sz="2400"/>
              <a:t>with name = *</a:t>
            </a:r>
            <a:r>
              <a:rPr lang="en-GB" sz="2400"/>
              <a:t>.</a:t>
            </a:r>
            <a:endParaRPr/>
          </a:p>
          <a:p>
            <a:pPr indent="0" lvl="0" marL="0" rtl="0" algn="l">
              <a:spcBef>
                <a:spcPts val="480"/>
              </a:spcBef>
              <a:spcAft>
                <a:spcPts val="0"/>
              </a:spcAft>
              <a:buClr>
                <a:schemeClr val="dk1"/>
              </a:buClr>
              <a:buSzPts val="2400"/>
              <a:buFont typeface="Arial"/>
              <a:buNone/>
            </a:pPr>
            <a:r>
              <a:rPr lang="en-GB" sz="2400"/>
              <a:t>}</a:t>
            </a:r>
            <a:endParaRPr/>
          </a:p>
        </p:txBody>
      </p:sp>
      <p:sp>
        <p:nvSpPr>
          <p:cNvPr id="257" name="Google Shape;257;p23"/>
          <p:cNvSpPr/>
          <p:nvPr/>
        </p:nvSpPr>
        <p:spPr>
          <a:xfrm>
            <a:off x="4572000" y="3140968"/>
            <a:ext cx="2952328" cy="720080"/>
          </a:xfrm>
          <a:prstGeom prst="ellipse">
            <a:avLst/>
          </a:prstGeom>
          <a:solidFill>
            <a:schemeClr val="accent1"/>
          </a:solidFill>
          <a:ln cap="flat" cmpd="sng" w="25400">
            <a:solidFill>
              <a:srgbClr val="88A3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800">
                <a:solidFill>
                  <a:schemeClr val="dk1"/>
                </a:solidFill>
                <a:latin typeface="Arial"/>
                <a:ea typeface="Arial"/>
                <a:cs typeface="Arial"/>
                <a:sym typeface="Arial"/>
              </a:rPr>
              <a:t>Generic agent definition name</a:t>
            </a:r>
            <a:endParaRPr b="1" sz="1800">
              <a:solidFill>
                <a:schemeClr val="dk1"/>
              </a:solidFill>
              <a:latin typeface="Arial"/>
              <a:ea typeface="Arial"/>
              <a:cs typeface="Arial"/>
              <a:sym typeface="Arial"/>
            </a:endParaRPr>
          </a:p>
        </p:txBody>
      </p:sp>
      <p:cxnSp>
        <p:nvCxnSpPr>
          <p:cNvPr id="258" name="Google Shape;258;p23"/>
          <p:cNvCxnSpPr>
            <a:stCxn id="257" idx="2"/>
          </p:cNvCxnSpPr>
          <p:nvPr/>
        </p:nvCxnSpPr>
        <p:spPr>
          <a:xfrm rot="10800000">
            <a:off x="2843700" y="2781008"/>
            <a:ext cx="1728300" cy="720000"/>
          </a:xfrm>
          <a:prstGeom prst="straightConnector1">
            <a:avLst/>
          </a:prstGeom>
          <a:noFill/>
          <a:ln cap="flat" cmpd="sng" w="9525">
            <a:solidFill>
              <a:schemeClr val="accent4"/>
            </a:solidFill>
            <a:prstDash val="solid"/>
            <a:round/>
            <a:headEnd len="sm" w="sm" type="none"/>
            <a:tailEnd len="med" w="med" type="triangle"/>
          </a:ln>
        </p:spPr>
      </p:cxnSp>
      <p:sp>
        <p:nvSpPr>
          <p:cNvPr id="259" name="Google Shape;259;p23"/>
          <p:cNvSpPr/>
          <p:nvPr/>
        </p:nvSpPr>
        <p:spPr>
          <a:xfrm>
            <a:off x="5220072" y="4149080"/>
            <a:ext cx="3600400" cy="864096"/>
          </a:xfrm>
          <a:prstGeom prst="ellipse">
            <a:avLst/>
          </a:prstGeom>
          <a:solidFill>
            <a:schemeClr val="accent1"/>
          </a:solidFill>
          <a:ln cap="flat" cmpd="sng" w="25400">
            <a:solidFill>
              <a:srgbClr val="88A3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800">
                <a:solidFill>
                  <a:schemeClr val="dk1"/>
                </a:solidFill>
                <a:latin typeface="Arial"/>
                <a:ea typeface="Arial"/>
                <a:cs typeface="Arial"/>
                <a:sym typeface="Arial"/>
              </a:rPr>
              <a:t>Copy environment entity names for agent instances</a:t>
            </a:r>
            <a:endParaRPr b="1" sz="1800">
              <a:solidFill>
                <a:schemeClr val="dk1"/>
              </a:solidFill>
              <a:latin typeface="Arial"/>
              <a:ea typeface="Arial"/>
              <a:cs typeface="Arial"/>
              <a:sym typeface="Arial"/>
            </a:endParaRPr>
          </a:p>
        </p:txBody>
      </p:sp>
      <p:cxnSp>
        <p:nvCxnSpPr>
          <p:cNvPr id="260" name="Google Shape;260;p23"/>
          <p:cNvCxnSpPr>
            <a:stCxn id="259" idx="4"/>
          </p:cNvCxnSpPr>
          <p:nvPr/>
        </p:nvCxnSpPr>
        <p:spPr>
          <a:xfrm flipH="1">
            <a:off x="6588272" y="5013176"/>
            <a:ext cx="432000" cy="216000"/>
          </a:xfrm>
          <a:prstGeom prst="straightConnector1">
            <a:avLst/>
          </a:prstGeom>
          <a:noFill/>
          <a:ln cap="flat" cmpd="sng" w="9525">
            <a:solidFill>
              <a:schemeClr val="accent4"/>
            </a:solidFill>
            <a:prstDash val="solid"/>
            <a:round/>
            <a:headEnd len="sm" w="sm" type="none"/>
            <a:tailEnd len="med" w="med" type="triangle"/>
          </a:ln>
        </p:spPr>
      </p:cxnSp>
      <p:cxnSp>
        <p:nvCxnSpPr>
          <p:cNvPr id="261" name="Google Shape;261;p23"/>
          <p:cNvCxnSpPr>
            <a:stCxn id="257" idx="4"/>
          </p:cNvCxnSpPr>
          <p:nvPr/>
        </p:nvCxnSpPr>
        <p:spPr>
          <a:xfrm flipH="1">
            <a:off x="4067864" y="3861048"/>
            <a:ext cx="1980300" cy="1368300"/>
          </a:xfrm>
          <a:prstGeom prst="straightConnector1">
            <a:avLst/>
          </a:prstGeom>
          <a:noFill/>
          <a:ln cap="flat" cmpd="sng" w="9525">
            <a:solidFill>
              <a:schemeClr val="accent4"/>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4"/>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1c: Solution</a:t>
            </a:r>
            <a:endParaRPr/>
          </a:p>
        </p:txBody>
      </p:sp>
      <p:sp>
        <p:nvSpPr>
          <p:cNvPr id="268" name="Google Shape;268;p24"/>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Arial"/>
              <a:buChar char="•"/>
            </a:pPr>
            <a:r>
              <a:rPr lang="en-GB"/>
              <a:t>Check that your mas file has no compile errors any more!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5"/>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2a: Problem</a:t>
            </a:r>
            <a:endParaRPr/>
          </a:p>
        </p:txBody>
      </p:sp>
      <p:sp>
        <p:nvSpPr>
          <p:cNvPr id="274" name="Google Shape;274;p25"/>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Create a Prolog file.</a:t>
            </a:r>
            <a:endParaRPr/>
          </a:p>
          <a:p>
            <a:pPr indent="-342900" lvl="0" marL="342900" rtl="0" algn="l">
              <a:spcBef>
                <a:spcPts val="640"/>
              </a:spcBef>
              <a:spcAft>
                <a:spcPts val="0"/>
              </a:spcAft>
              <a:buClr>
                <a:schemeClr val="dk1"/>
              </a:buClr>
              <a:buSzPts val="3200"/>
              <a:buFont typeface="Arial"/>
              <a:buChar char="•"/>
            </a:pPr>
            <a:r>
              <a:rPr lang="en-GB"/>
              <a:t>Important to </a:t>
            </a:r>
            <a:r>
              <a:rPr b="1" lang="en-GB"/>
              <a:t>declare</a:t>
            </a:r>
            <a:r>
              <a:rPr lang="en-GB"/>
              <a:t> predicates that are used but not defined. Note that we </a:t>
            </a:r>
            <a:r>
              <a:rPr i="1" lang="en-GB"/>
              <a:t>use </a:t>
            </a:r>
            <a:r>
              <a:rPr lang="en-GB"/>
              <a:t>but do not </a:t>
            </a:r>
            <a:r>
              <a:rPr i="1" lang="en-GB"/>
              <a:t>define</a:t>
            </a:r>
            <a:r>
              <a:rPr lang="en-GB"/>
              <a:t> any predicates in this exercise…</a:t>
            </a:r>
            <a:endParaRPr/>
          </a:p>
          <a:p>
            <a:pPr indent="-342900" lvl="0" marL="342900" rtl="0" algn="l">
              <a:spcBef>
                <a:spcPts val="640"/>
              </a:spcBef>
              <a:spcAft>
                <a:spcPts val="0"/>
              </a:spcAft>
              <a:buClr>
                <a:schemeClr val="dk1"/>
              </a:buClr>
              <a:buSzPts val="3200"/>
              <a:buFont typeface="Arial"/>
              <a:buChar char="•"/>
            </a:pPr>
            <a:r>
              <a:rPr b="1" lang="en-GB"/>
              <a:t>Identify </a:t>
            </a:r>
            <a:r>
              <a:rPr lang="en-GB"/>
              <a:t>which predicates we need:</a:t>
            </a:r>
            <a:endParaRPr/>
          </a:p>
          <a:p>
            <a:pPr indent="-285750" lvl="1" marL="742950" rtl="0" algn="l">
              <a:spcBef>
                <a:spcPts val="560"/>
              </a:spcBef>
              <a:spcAft>
                <a:spcPts val="0"/>
              </a:spcAft>
              <a:buClr>
                <a:schemeClr val="dk1"/>
              </a:buClr>
              <a:buSzPts val="2800"/>
              <a:buFont typeface="Arial"/>
              <a:buChar char="–"/>
            </a:pPr>
            <a:r>
              <a:rPr lang="en-GB"/>
              <a:t>one that says agent is on square for the first time!</a:t>
            </a:r>
            <a:endParaRPr/>
          </a:p>
          <a:p>
            <a:pPr indent="-285750" lvl="1" marL="742950" rtl="0" algn="l">
              <a:spcBef>
                <a:spcPts val="560"/>
              </a:spcBef>
              <a:spcAft>
                <a:spcPts val="0"/>
              </a:spcAft>
              <a:buClr>
                <a:schemeClr val="dk1"/>
              </a:buClr>
              <a:buSzPts val="2800"/>
              <a:buFont typeface="Arial"/>
              <a:buChar char="–"/>
            </a:pPr>
            <a:r>
              <a:rPr lang="en-GB"/>
              <a:t>one to define the possible movement directions!</a:t>
            </a:r>
            <a:endParaRPr/>
          </a:p>
          <a:p>
            <a:pPr indent="-342900" lvl="0" marL="342900" rtl="0" algn="l">
              <a:spcBef>
                <a:spcPts val="640"/>
              </a:spcBef>
              <a:spcAft>
                <a:spcPts val="0"/>
              </a:spcAft>
              <a:buClr>
                <a:schemeClr val="dk1"/>
              </a:buClr>
              <a:buSzPts val="3200"/>
              <a:buFont typeface="Arial"/>
              <a:buChar char="•"/>
            </a:pPr>
            <a:r>
              <a:rPr lang="en-GB"/>
              <a:t>Declare using the </a:t>
            </a:r>
            <a:r>
              <a:rPr b="1" lang="en-GB"/>
              <a:t>:- dynamic … .</a:t>
            </a:r>
            <a:r>
              <a:rPr lang="en-GB"/>
              <a:t> operator.</a:t>
            </a:r>
            <a:endParaRPr/>
          </a:p>
        </p:txBody>
      </p:sp>
      <p:sp>
        <p:nvSpPr>
          <p:cNvPr id="275" name="Google Shape;275;p25"/>
          <p:cNvSpPr txBox="1"/>
          <p:nvPr/>
        </p:nvSpPr>
        <p:spPr>
          <a:xfrm>
            <a:off x="150813" y="1068388"/>
            <a:ext cx="8842374" cy="461665"/>
          </a:xfrm>
          <a:prstGeom prst="rect">
            <a:avLst/>
          </a:prstGeom>
          <a:solidFill>
            <a:srgbClr val="00B0F0"/>
          </a:solidFill>
          <a:ln>
            <a:noFill/>
          </a:ln>
        </p:spPr>
        <p:txBody>
          <a:bodyPr anchorCtr="0" anchor="t" bIns="45700" lIns="91425" spcFirstLastPara="1" rIns="91425" wrap="square" tIns="45700">
            <a:spAutoFit/>
          </a:bodyPr>
          <a:lstStyle/>
          <a:p>
            <a:pPr indent="0" lvl="1" marL="400050" marR="0" rtl="0" algn="l">
              <a:spcBef>
                <a:spcPts val="0"/>
              </a:spcBef>
              <a:spcAft>
                <a:spcPts val="0"/>
              </a:spcAft>
              <a:buNone/>
            </a:pPr>
            <a:r>
              <a:rPr b="0" i="0" lang="en-GB" sz="2400" u="none" cap="none" strike="noStrike">
                <a:solidFill>
                  <a:schemeClr val="dk1"/>
                </a:solidFill>
                <a:latin typeface="Arial"/>
                <a:ea typeface="Arial"/>
                <a:cs typeface="Arial"/>
                <a:sym typeface="Arial"/>
              </a:rPr>
              <a:t>Step 2a: Specify agent’s knowledge in a Prolog file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2a: Solution</a:t>
            </a:r>
            <a:endParaRPr/>
          </a:p>
        </p:txBody>
      </p:sp>
      <p:sp>
        <p:nvSpPr>
          <p:cNvPr id="282" name="Google Shape;282;p26"/>
          <p:cNvSpPr txBox="1"/>
          <p:nvPr>
            <p:ph idx="1" type="body"/>
          </p:nvPr>
        </p:nvSpPr>
        <p:spPr>
          <a:xfrm>
            <a:off x="150813" y="908720"/>
            <a:ext cx="8842375" cy="5332412"/>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declare the percept predicates we use.</a:t>
            </a:r>
            <a:endParaRPr/>
          </a:p>
          <a:p>
            <a:pPr indent="-342900" lvl="0" marL="342900" rtl="0" algn="l">
              <a:spcBef>
                <a:spcPts val="640"/>
              </a:spcBef>
              <a:spcAft>
                <a:spcPts val="0"/>
              </a:spcAft>
              <a:buClr>
                <a:schemeClr val="dk1"/>
              </a:buClr>
              <a:buSzPts val="3200"/>
              <a:buFont typeface="Arial"/>
              <a:buChar char="•"/>
            </a:pPr>
            <a:r>
              <a:rPr lang="en-GB"/>
              <a:t>declare </a:t>
            </a:r>
            <a:r>
              <a:rPr b="1" lang="en-GB"/>
              <a:t>new/0</a:t>
            </a:r>
            <a:r>
              <a:rPr lang="en-GB"/>
              <a:t> predicate for first time visit.</a:t>
            </a:r>
            <a:endParaRPr/>
          </a:p>
          <a:p>
            <a:pPr indent="-342900" lvl="0" marL="342900" rtl="0" algn="l">
              <a:spcBef>
                <a:spcPts val="640"/>
              </a:spcBef>
              <a:spcAft>
                <a:spcPts val="0"/>
              </a:spcAft>
              <a:buClr>
                <a:schemeClr val="dk1"/>
              </a:buClr>
              <a:buSzPts val="3200"/>
              <a:buFont typeface="Arial"/>
              <a:buChar char="•"/>
            </a:pPr>
            <a:r>
              <a:rPr lang="en-GB"/>
              <a:t>declare </a:t>
            </a:r>
            <a:r>
              <a:rPr b="1" lang="en-GB"/>
              <a:t>dir/1</a:t>
            </a:r>
            <a:r>
              <a:rPr lang="en-GB"/>
              <a:t> predicate for directions (and list those explicitly).</a:t>
            </a:r>
            <a:endParaRPr/>
          </a:p>
          <a:p>
            <a:pPr indent="-342900" lvl="0" marL="342900" rtl="0" algn="l">
              <a:spcBef>
                <a:spcPts val="640"/>
              </a:spcBef>
              <a:spcAft>
                <a:spcPts val="0"/>
              </a:spcAft>
              <a:buClr>
                <a:schemeClr val="dk1"/>
              </a:buClr>
              <a:buSzPts val="3200"/>
              <a:buFont typeface="Arial"/>
              <a:buChar char="•"/>
            </a:pPr>
            <a:r>
              <a:rPr lang="en-GB"/>
              <a:t>declare a </a:t>
            </a:r>
            <a:r>
              <a:rPr b="1" lang="en-GB"/>
              <a:t>visited/2</a:t>
            </a:r>
            <a:r>
              <a:rPr lang="en-GB"/>
              <a:t> predicate for keeping track where agent has been.</a:t>
            </a:r>
            <a:endParaRPr/>
          </a:p>
        </p:txBody>
      </p:sp>
      <p:sp>
        <p:nvSpPr>
          <p:cNvPr id="283" name="Google Shape;283;p26"/>
          <p:cNvSpPr txBox="1"/>
          <p:nvPr/>
        </p:nvSpPr>
        <p:spPr>
          <a:xfrm>
            <a:off x="150812" y="1181651"/>
            <a:ext cx="8842374" cy="2031325"/>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 dynamic location</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2, task</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1, visited</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2, new</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0, dir</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1.</a:t>
            </a:r>
            <a:endParaRPr/>
          </a:p>
          <a:p>
            <a:pPr indent="0" lvl="0" marL="0" marR="0" rtl="0" algn="l">
              <a:spcBef>
                <a:spcPts val="0"/>
              </a:spcBef>
              <a:spcAft>
                <a:spcPts val="0"/>
              </a:spcAft>
              <a:buNone/>
            </a:pPr>
            <a:br>
              <a:rPr lang="en-GB" sz="1800">
                <a:solidFill>
                  <a:srgbClr val="000000"/>
                </a:solidFill>
                <a:latin typeface="Consolas"/>
                <a:ea typeface="Consolas"/>
                <a:cs typeface="Consolas"/>
                <a:sym typeface="Consolas"/>
              </a:rPr>
            </a:b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dir(north).</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dir(south).</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dir(west).</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dir(east).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7"/>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2b: Problem</a:t>
            </a:r>
            <a:endParaRPr/>
          </a:p>
        </p:txBody>
      </p:sp>
      <p:sp>
        <p:nvSpPr>
          <p:cNvPr id="290" name="Google Shape;290;p27"/>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We want to use the update module to keep track of squares the agent visits for the first time</a:t>
            </a:r>
            <a:endParaRPr/>
          </a:p>
          <a:p>
            <a:pPr indent="-342900" lvl="0" marL="342900" rtl="0" algn="l">
              <a:spcBef>
                <a:spcPts val="640"/>
              </a:spcBef>
              <a:spcAft>
                <a:spcPts val="0"/>
              </a:spcAft>
              <a:buClr>
                <a:schemeClr val="dk1"/>
              </a:buClr>
              <a:buSzPts val="3200"/>
              <a:buFont typeface="Arial"/>
              <a:buChar char="•"/>
            </a:pPr>
            <a:r>
              <a:rPr lang="en-GB"/>
              <a:t>Add an action rule that uses the </a:t>
            </a:r>
            <a:r>
              <a:rPr b="1" lang="en-GB"/>
              <a:t>location/2</a:t>
            </a:r>
            <a:r>
              <a:rPr lang="en-GB"/>
              <a:t> percept to add which squares were </a:t>
            </a:r>
            <a:r>
              <a:rPr b="1" lang="en-GB"/>
              <a:t>visited/2</a:t>
            </a:r>
            <a:r>
              <a:rPr lang="en-GB"/>
              <a:t>.</a:t>
            </a:r>
            <a:endParaRPr/>
          </a:p>
          <a:p>
            <a:pPr indent="-342900" lvl="0" marL="342900" rtl="0" algn="l">
              <a:spcBef>
                <a:spcPts val="640"/>
              </a:spcBef>
              <a:spcAft>
                <a:spcPts val="0"/>
              </a:spcAft>
              <a:buClr>
                <a:schemeClr val="dk1"/>
              </a:buClr>
              <a:buSzPts val="3200"/>
              <a:buFont typeface="Arial"/>
              <a:buChar char="•"/>
            </a:pPr>
            <a:r>
              <a:rPr lang="en-GB"/>
              <a:t>Think about how and when to add the </a:t>
            </a:r>
            <a:r>
              <a:rPr b="1" lang="en-GB"/>
              <a:t>new </a:t>
            </a:r>
            <a:r>
              <a:rPr lang="en-GB"/>
              <a:t>predicate in the update module so the agent knows it visited a square for the first time…</a:t>
            </a:r>
            <a:endParaRPr/>
          </a:p>
          <a:p>
            <a:pPr indent="-342900" lvl="0" marL="342900" rtl="0" algn="l">
              <a:spcBef>
                <a:spcPts val="640"/>
              </a:spcBef>
              <a:spcAft>
                <a:spcPts val="0"/>
              </a:spcAft>
              <a:buClr>
                <a:schemeClr val="dk1"/>
              </a:buClr>
              <a:buSzPts val="3200"/>
              <a:buFont typeface="Arial"/>
              <a:buChar char="•"/>
            </a:pPr>
            <a:r>
              <a:rPr lang="en-GB"/>
              <a:t>What else is needed to complete the module?</a:t>
            </a:r>
            <a:endParaRPr/>
          </a:p>
        </p:txBody>
      </p:sp>
      <p:sp>
        <p:nvSpPr>
          <p:cNvPr id="291" name="Google Shape;291;p27"/>
          <p:cNvSpPr txBox="1"/>
          <p:nvPr/>
        </p:nvSpPr>
        <p:spPr>
          <a:xfrm>
            <a:off x="150813" y="1068388"/>
            <a:ext cx="8842374" cy="461665"/>
          </a:xfrm>
          <a:prstGeom prst="rect">
            <a:avLst/>
          </a:prstGeom>
          <a:solidFill>
            <a:srgbClr val="00B0F0"/>
          </a:solidFill>
          <a:ln>
            <a:noFill/>
          </a:ln>
        </p:spPr>
        <p:txBody>
          <a:bodyPr anchorCtr="0" anchor="t" bIns="45700" lIns="91425" spcFirstLastPara="1" rIns="91425" wrap="square" tIns="45700">
            <a:spAutoFit/>
          </a:bodyPr>
          <a:lstStyle/>
          <a:p>
            <a:pPr indent="0" lvl="1" marL="400050" marR="0" rtl="0" algn="l">
              <a:spcBef>
                <a:spcPts val="0"/>
              </a:spcBef>
              <a:spcAft>
                <a:spcPts val="0"/>
              </a:spcAft>
              <a:buNone/>
            </a:pPr>
            <a:r>
              <a:rPr b="0" i="0" lang="en-GB" sz="2400" u="none" cap="none" strike="noStrike">
                <a:solidFill>
                  <a:schemeClr val="dk1"/>
                </a:solidFill>
                <a:latin typeface="Arial"/>
                <a:ea typeface="Arial"/>
                <a:cs typeface="Arial"/>
                <a:sym typeface="Arial"/>
              </a:rPr>
              <a:t>Step 2b: Specify the </a:t>
            </a:r>
            <a:r>
              <a:rPr b="1" i="0" lang="en-GB" sz="2400" u="none" cap="none" strike="noStrike">
                <a:solidFill>
                  <a:schemeClr val="dk1"/>
                </a:solidFill>
                <a:latin typeface="Arial"/>
                <a:ea typeface="Arial"/>
                <a:cs typeface="Arial"/>
                <a:sym typeface="Arial"/>
              </a:rPr>
              <a:t>update</a:t>
            </a:r>
            <a:r>
              <a:rPr b="0" i="0" lang="en-GB" sz="2400" u="none" cap="none" strike="noStrike">
                <a:solidFill>
                  <a:schemeClr val="dk1"/>
                </a:solidFill>
                <a:latin typeface="Arial"/>
                <a:ea typeface="Arial"/>
                <a:cs typeface="Arial"/>
                <a:sym typeface="Arial"/>
              </a:rPr>
              <a:t> module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2b: Solution</a:t>
            </a:r>
            <a:endParaRPr/>
          </a:p>
        </p:txBody>
      </p:sp>
      <p:sp>
        <p:nvSpPr>
          <p:cNvPr id="298" name="Google Shape;298;p28"/>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Order of the rules is important! Why?</a:t>
            </a:r>
            <a:endParaRPr/>
          </a:p>
        </p:txBody>
      </p:sp>
      <p:sp>
        <p:nvSpPr>
          <p:cNvPr id="299" name="Google Shape;299;p28"/>
          <p:cNvSpPr txBox="1"/>
          <p:nvPr/>
        </p:nvSpPr>
        <p:spPr>
          <a:xfrm>
            <a:off x="150812" y="1196752"/>
            <a:ext cx="8842374" cy="2031325"/>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use</a:t>
            </a:r>
            <a:r>
              <a:rPr lang="en-GB" sz="1800">
                <a:solidFill>
                  <a:srgbClr val="000000"/>
                </a:solidFill>
                <a:latin typeface="Consolas"/>
                <a:ea typeface="Consolas"/>
                <a:cs typeface="Consolas"/>
                <a:sym typeface="Consolas"/>
              </a:rPr>
              <a:t> vacuumKnowledge.</a:t>
            </a:r>
            <a:endParaRPr/>
          </a:p>
          <a:p>
            <a:pPr indent="0" lvl="0" marL="0" marR="0" rtl="0" algn="l">
              <a:spcBef>
                <a:spcPts val="0"/>
              </a:spcBef>
              <a:spcAft>
                <a:spcPts val="0"/>
              </a:spcAft>
              <a:buNone/>
            </a:pPr>
            <a:br>
              <a:rPr lang="en-GB" sz="1800">
                <a:solidFill>
                  <a:srgbClr val="000000"/>
                </a:solidFill>
                <a:latin typeface="Consolas"/>
                <a:ea typeface="Consolas"/>
                <a:cs typeface="Consolas"/>
                <a:sym typeface="Consolas"/>
              </a:rPr>
            </a:b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module</a:t>
            </a:r>
            <a:r>
              <a:rPr lang="en-GB" sz="1800">
                <a:solidFill>
                  <a:srgbClr val="000000"/>
                </a:solidFill>
                <a:latin typeface="Consolas"/>
                <a:ea typeface="Consolas"/>
                <a:cs typeface="Consolas"/>
                <a:sym typeface="Consolas"/>
              </a:rPr>
              <a:t> vacuumUpdate {</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location(</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t>
            </a:r>
            <a:r>
              <a:rPr b="1" i="1" lang="en-GB" sz="1800">
                <a:solidFill>
                  <a:srgbClr val="7F0055"/>
                </a:solidFill>
                <a:latin typeface="Consolas"/>
                <a:ea typeface="Consolas"/>
                <a:cs typeface="Consolas"/>
                <a:sym typeface="Consolas"/>
              </a:rPr>
              <a:t>not</a:t>
            </a:r>
            <a:r>
              <a:rPr lang="en-GB" sz="1800">
                <a:solidFill>
                  <a:srgbClr val="000000"/>
                </a:solidFill>
                <a:latin typeface="Consolas"/>
                <a:ea typeface="Consolas"/>
                <a:cs typeface="Consolas"/>
                <a:sym typeface="Consolas"/>
              </a:rPr>
              <a:t>(visited(</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then </a:t>
            </a:r>
            <a:r>
              <a:rPr b="1" lang="en-GB" sz="1800">
                <a:solidFill>
                  <a:srgbClr val="000000"/>
                </a:solidFill>
                <a:latin typeface="Consolas"/>
                <a:ea typeface="Consolas"/>
                <a:cs typeface="Consolas"/>
                <a:sym typeface="Consolas"/>
              </a:rPr>
              <a:t>insert</a:t>
            </a:r>
            <a:r>
              <a:rPr lang="en-GB" sz="1800">
                <a:solidFill>
                  <a:srgbClr val="000000"/>
                </a:solidFill>
                <a:latin typeface="Consolas"/>
                <a:ea typeface="Consolas"/>
                <a:cs typeface="Consolas"/>
                <a:sym typeface="Consolas"/>
              </a:rPr>
              <a:t>(new).</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location(</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then </a:t>
            </a:r>
            <a:r>
              <a:rPr b="1" lang="en-GB" sz="1800">
                <a:solidFill>
                  <a:srgbClr val="000000"/>
                </a:solidFill>
                <a:latin typeface="Consolas"/>
                <a:ea typeface="Consolas"/>
                <a:cs typeface="Consolas"/>
                <a:sym typeface="Consolas"/>
              </a:rPr>
              <a:t>insert</a:t>
            </a:r>
            <a:r>
              <a:rPr lang="en-GB" sz="1800">
                <a:solidFill>
                  <a:srgbClr val="000000"/>
                </a:solidFill>
                <a:latin typeface="Consolas"/>
                <a:ea typeface="Consolas"/>
                <a:cs typeface="Consolas"/>
                <a:sym typeface="Consolas"/>
              </a:rPr>
              <a:t>(visited(</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9"/>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 Problem</a:t>
            </a:r>
            <a:endParaRPr/>
          </a:p>
        </p:txBody>
      </p:sp>
      <p:sp>
        <p:nvSpPr>
          <p:cNvPr id="306" name="Google Shape;306;p29"/>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Let’s come up with an informal set of rules with reasons for doing an action first. </a:t>
            </a:r>
            <a:endParaRPr/>
          </a:p>
          <a:p>
            <a:pPr indent="-342900" lvl="0" marL="342900" rtl="0" algn="l">
              <a:spcBef>
                <a:spcPts val="640"/>
              </a:spcBef>
              <a:spcAft>
                <a:spcPts val="0"/>
              </a:spcAft>
              <a:buClr>
                <a:schemeClr val="dk1"/>
              </a:buClr>
              <a:buSzPts val="3200"/>
              <a:buFont typeface="Arial"/>
              <a:buChar char="•"/>
            </a:pPr>
            <a:r>
              <a:rPr lang="en-GB" sz="3200"/>
              <a:t>Specify an </a:t>
            </a:r>
            <a:r>
              <a:rPr b="1" lang="en-GB" sz="3200"/>
              <a:t>informal</a:t>
            </a:r>
            <a:r>
              <a:rPr lang="en-GB" sz="3200"/>
              <a:t> reason for when the agent should do each of the following actions:</a:t>
            </a:r>
            <a:endParaRPr/>
          </a:p>
          <a:p>
            <a:pPr indent="-285750" lvl="1" marL="742950" rtl="0" algn="l">
              <a:spcBef>
                <a:spcPts val="560"/>
              </a:spcBef>
              <a:spcAft>
                <a:spcPts val="0"/>
              </a:spcAft>
              <a:buClr>
                <a:schemeClr val="dk1"/>
              </a:buClr>
              <a:buSzPts val="2800"/>
              <a:buFont typeface="Arial"/>
              <a:buChar char="–"/>
            </a:pPr>
            <a:r>
              <a:rPr b="1" lang="en-GB"/>
              <a:t>exit-module</a:t>
            </a:r>
            <a:r>
              <a:rPr lang="en-GB"/>
              <a:t>,</a:t>
            </a:r>
            <a:endParaRPr/>
          </a:p>
          <a:p>
            <a:pPr indent="-285750" lvl="1" marL="742950" rtl="0" algn="l">
              <a:spcBef>
                <a:spcPts val="560"/>
              </a:spcBef>
              <a:spcAft>
                <a:spcPts val="0"/>
              </a:spcAft>
              <a:buClr>
                <a:schemeClr val="dk1"/>
              </a:buClr>
              <a:buSzPts val="2800"/>
              <a:buFont typeface="Arial"/>
              <a:buChar char="–"/>
            </a:pPr>
            <a:r>
              <a:rPr b="1" lang="en-GB"/>
              <a:t>clean</a:t>
            </a:r>
            <a:r>
              <a:rPr lang="en-GB"/>
              <a:t>, and </a:t>
            </a:r>
            <a:endParaRPr/>
          </a:p>
          <a:p>
            <a:pPr indent="-285750" lvl="1" marL="742950" rtl="0" algn="l">
              <a:spcBef>
                <a:spcPts val="560"/>
              </a:spcBef>
              <a:spcAft>
                <a:spcPts val="0"/>
              </a:spcAft>
              <a:buClr>
                <a:schemeClr val="dk1"/>
              </a:buClr>
              <a:buSzPts val="2800"/>
              <a:buFont typeface="Arial"/>
              <a:buChar char="–"/>
            </a:pPr>
            <a:r>
              <a:rPr b="1" lang="en-GB"/>
              <a:t>move(Dir)</a:t>
            </a:r>
            <a:r>
              <a:rPr lang="en-GB"/>
              <a:t>.</a:t>
            </a:r>
            <a:endParaRPr/>
          </a:p>
        </p:txBody>
      </p:sp>
      <p:sp>
        <p:nvSpPr>
          <p:cNvPr id="307" name="Google Shape;307;p29"/>
          <p:cNvSpPr txBox="1"/>
          <p:nvPr/>
        </p:nvSpPr>
        <p:spPr>
          <a:xfrm>
            <a:off x="150813" y="1068388"/>
            <a:ext cx="8842374" cy="461665"/>
          </a:xfrm>
          <a:prstGeom prst="rect">
            <a:avLst/>
          </a:prstGeom>
          <a:solidFill>
            <a:srgbClr val="00B0F0"/>
          </a:solidFill>
          <a:ln>
            <a:noFill/>
          </a:ln>
        </p:spPr>
        <p:txBody>
          <a:bodyPr anchorCtr="0" anchor="t" bIns="45700" lIns="91425" spcFirstLastPara="1" rIns="91425" wrap="square" tIns="45700">
            <a:spAutoFit/>
          </a:bodyPr>
          <a:lstStyle/>
          <a:p>
            <a:pPr indent="0" lvl="1" marL="400050" marR="0" rtl="0" algn="l">
              <a:spcBef>
                <a:spcPts val="0"/>
              </a:spcBef>
              <a:spcAft>
                <a:spcPts val="0"/>
              </a:spcAft>
              <a:buNone/>
            </a:pPr>
            <a:r>
              <a:rPr b="0" i="0" lang="en-GB" sz="2400" u="none" cap="none" strike="noStrike">
                <a:solidFill>
                  <a:schemeClr val="dk1"/>
                </a:solidFill>
                <a:latin typeface="Arial"/>
                <a:ea typeface="Arial"/>
                <a:cs typeface="Arial"/>
                <a:sym typeface="Arial"/>
              </a:rPr>
              <a:t>Step 3: specify strategy for selecting actions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 Solution</a:t>
            </a:r>
            <a:endParaRPr/>
          </a:p>
        </p:txBody>
      </p:sp>
      <p:sp>
        <p:nvSpPr>
          <p:cNvPr id="314" name="Google Shape;314;p30"/>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The following reasons align with our design strategy on the introductory slides:</a:t>
            </a:r>
            <a:endParaRPr/>
          </a:p>
          <a:p>
            <a:pPr indent="-342900" lvl="0" marL="342900" rtl="0" algn="l">
              <a:spcBef>
                <a:spcPts val="640"/>
              </a:spcBef>
              <a:spcAft>
                <a:spcPts val="0"/>
              </a:spcAft>
              <a:buClr>
                <a:schemeClr val="dk1"/>
              </a:buClr>
              <a:buSzPts val="3200"/>
              <a:buFont typeface="Arial"/>
              <a:buChar char="•"/>
            </a:pPr>
            <a:r>
              <a:rPr lang="en-GB"/>
              <a:t>Do exit-module when 30 squares have been visited;</a:t>
            </a:r>
            <a:endParaRPr/>
          </a:p>
          <a:p>
            <a:pPr indent="-342900" lvl="0" marL="342900" rtl="0" algn="l">
              <a:spcBef>
                <a:spcPts val="640"/>
              </a:spcBef>
              <a:spcAft>
                <a:spcPts val="0"/>
              </a:spcAft>
              <a:buClr>
                <a:schemeClr val="dk1"/>
              </a:buClr>
              <a:buSzPts val="3200"/>
              <a:buFont typeface="Arial"/>
              <a:buChar char="•"/>
            </a:pPr>
            <a:r>
              <a:rPr lang="en-GB"/>
              <a:t>Do clean when a square is visited for the first time;</a:t>
            </a:r>
            <a:endParaRPr/>
          </a:p>
          <a:p>
            <a:pPr indent="-342900" lvl="0" marL="342900" rtl="0" algn="l">
              <a:spcBef>
                <a:spcPts val="640"/>
              </a:spcBef>
              <a:spcAft>
                <a:spcPts val="0"/>
              </a:spcAft>
              <a:buClr>
                <a:schemeClr val="dk1"/>
              </a:buClr>
              <a:buSzPts val="3200"/>
              <a:buFont typeface="Arial"/>
              <a:buChar char="•"/>
            </a:pPr>
            <a:r>
              <a:rPr lang="en-GB"/>
              <a:t>Do move(Dir) in a </a:t>
            </a:r>
            <a:r>
              <a:rPr i="1" lang="en-GB"/>
              <a:t>random</a:t>
            </a:r>
            <a:r>
              <a:rPr lang="en-GB"/>
              <a:t> direction when there is nothing else to do.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1"/>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 Problem</a:t>
            </a:r>
            <a:endParaRPr/>
          </a:p>
        </p:txBody>
      </p:sp>
      <p:sp>
        <p:nvSpPr>
          <p:cNvPr id="321" name="Google Shape;321;p31"/>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Create the module for decisions with the name you introduced earlier.</a:t>
            </a:r>
            <a:endParaRPr/>
          </a:p>
          <a:p>
            <a:pPr indent="-342900" lvl="0" marL="342900" rtl="0" algn="l">
              <a:spcBef>
                <a:spcPts val="640"/>
              </a:spcBef>
              <a:spcAft>
                <a:spcPts val="0"/>
              </a:spcAft>
              <a:buClr>
                <a:schemeClr val="dk1"/>
              </a:buClr>
              <a:buSzPts val="3200"/>
              <a:buFont typeface="Arial"/>
              <a:buChar char="•"/>
            </a:pPr>
            <a:r>
              <a:rPr lang="en-GB"/>
              <a:t>Add a </a:t>
            </a:r>
            <a:r>
              <a:rPr b="1" lang="en-GB"/>
              <a:t>use</a:t>
            </a:r>
            <a:r>
              <a:rPr lang="en-GB"/>
              <a:t> clause for the Prolog file.</a:t>
            </a:r>
            <a:endParaRPr/>
          </a:p>
          <a:p>
            <a:pPr indent="-342900" lvl="0" marL="342900" rtl="0" algn="l">
              <a:spcBef>
                <a:spcPts val="640"/>
              </a:spcBef>
              <a:spcAft>
                <a:spcPts val="0"/>
              </a:spcAft>
              <a:buClr>
                <a:schemeClr val="dk1"/>
              </a:buClr>
              <a:buSzPts val="3200"/>
              <a:buFont typeface="Arial"/>
              <a:buChar char="•"/>
            </a:pPr>
            <a:r>
              <a:rPr lang="en-GB" sz="3200"/>
              <a:t>Add an action rule for each of the actions: </a:t>
            </a:r>
            <a:r>
              <a:rPr b="1" lang="en-GB" sz="3200"/>
              <a:t>exit-module</a:t>
            </a:r>
            <a:r>
              <a:rPr lang="en-GB" sz="3200"/>
              <a:t>, </a:t>
            </a:r>
            <a:r>
              <a:rPr b="1" lang="en-GB" sz="3200"/>
              <a:t>clean</a:t>
            </a:r>
            <a:r>
              <a:rPr lang="en-GB" sz="3200"/>
              <a:t>, and </a:t>
            </a:r>
            <a:r>
              <a:rPr b="1" lang="en-GB" sz="3200"/>
              <a:t>move(Dir)</a:t>
            </a:r>
            <a:r>
              <a:rPr lang="en-GB" sz="3200"/>
              <a:t>.</a:t>
            </a:r>
            <a:endParaRPr/>
          </a:p>
          <a:p>
            <a:pPr indent="-285750" lvl="1" marL="742950" rtl="0" algn="l">
              <a:spcBef>
                <a:spcPts val="560"/>
              </a:spcBef>
              <a:spcAft>
                <a:spcPts val="0"/>
              </a:spcAft>
              <a:buClr>
                <a:schemeClr val="dk1"/>
              </a:buClr>
              <a:buSzPts val="2800"/>
              <a:buFont typeface="Arial"/>
              <a:buChar char="–"/>
            </a:pPr>
            <a:r>
              <a:rPr lang="en-GB"/>
              <a:t>Use SWI Prolog </a:t>
            </a:r>
            <a:r>
              <a:rPr b="1" lang="en-GB"/>
              <a:t>findall/3</a:t>
            </a:r>
            <a:r>
              <a:rPr lang="en-GB"/>
              <a:t> and </a:t>
            </a:r>
            <a:r>
              <a:rPr b="1" lang="en-GB"/>
              <a:t>length/2</a:t>
            </a:r>
            <a:r>
              <a:rPr lang="en-GB"/>
              <a:t> predicates</a:t>
            </a:r>
            <a:endParaRPr/>
          </a:p>
          <a:p>
            <a:pPr indent="-342900" lvl="0" marL="342900" rtl="0" algn="l">
              <a:spcBef>
                <a:spcPts val="640"/>
              </a:spcBef>
              <a:spcAft>
                <a:spcPts val="0"/>
              </a:spcAft>
              <a:buClr>
                <a:schemeClr val="dk1"/>
              </a:buClr>
              <a:buSzPts val="3200"/>
              <a:buFont typeface="Arial"/>
              <a:buChar char="•"/>
            </a:pPr>
            <a:r>
              <a:rPr lang="en-GB"/>
              <a:t>Think about how to make the agent explore…</a:t>
            </a:r>
            <a:endParaRPr sz="3200"/>
          </a:p>
          <a:p>
            <a:pPr indent="0" lvl="0" marL="0" rtl="0" algn="l">
              <a:spcBef>
                <a:spcPts val="480"/>
              </a:spcBef>
              <a:spcAft>
                <a:spcPts val="0"/>
              </a:spcAft>
              <a:buClr>
                <a:schemeClr val="dk1"/>
              </a:buClr>
              <a:buSzPts val="2400"/>
              <a:buFont typeface="Arial"/>
              <a:buNone/>
            </a:pPr>
            <a:r>
              <a:t/>
            </a:r>
            <a:endParaRPr sz="2400"/>
          </a:p>
          <a:p>
            <a:pPr indent="0" lvl="0" marL="0" rtl="0" algn="l">
              <a:spcBef>
                <a:spcPts val="640"/>
              </a:spcBef>
              <a:spcAft>
                <a:spcPts val="0"/>
              </a:spcAft>
              <a:buClr>
                <a:schemeClr val="dk1"/>
              </a:buClr>
              <a:buSzPts val="3200"/>
              <a:buFont typeface="Arial"/>
              <a:buNone/>
            </a:pPr>
            <a:r>
              <a:rPr i="1" lang="en-GB"/>
              <a:t>Run and test your agent system. Fix any issues.</a:t>
            </a:r>
            <a:endParaRPr/>
          </a:p>
        </p:txBody>
      </p:sp>
      <p:sp>
        <p:nvSpPr>
          <p:cNvPr id="322" name="Google Shape;322;p31"/>
          <p:cNvSpPr txBox="1"/>
          <p:nvPr/>
        </p:nvSpPr>
        <p:spPr>
          <a:xfrm>
            <a:off x="150813" y="1068388"/>
            <a:ext cx="8842374" cy="461665"/>
          </a:xfrm>
          <a:prstGeom prst="rect">
            <a:avLst/>
          </a:prstGeom>
          <a:solidFill>
            <a:srgbClr val="00B0F0"/>
          </a:solidFill>
          <a:ln>
            <a:noFill/>
          </a:ln>
        </p:spPr>
        <p:txBody>
          <a:bodyPr anchorCtr="0" anchor="t" bIns="45700" lIns="91425" spcFirstLastPara="1" rIns="91425" wrap="square" tIns="45700">
            <a:spAutoFit/>
          </a:bodyPr>
          <a:lstStyle/>
          <a:p>
            <a:pPr indent="0" lvl="1" marL="400050" marR="0" rtl="0" algn="l">
              <a:spcBef>
                <a:spcPts val="0"/>
              </a:spcBef>
              <a:spcAft>
                <a:spcPts val="0"/>
              </a:spcAft>
              <a:buNone/>
            </a:pPr>
            <a:r>
              <a:rPr b="0" i="0" lang="en-GB" sz="2400" u="none" cap="none" strike="noStrike">
                <a:solidFill>
                  <a:schemeClr val="dk1"/>
                </a:solidFill>
                <a:latin typeface="Arial"/>
                <a:ea typeface="Arial"/>
                <a:cs typeface="Arial"/>
                <a:sym typeface="Arial"/>
              </a:rPr>
              <a:t>Step 3: specify strategy for selecting actions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2"/>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 Solution</a:t>
            </a:r>
            <a:endParaRPr/>
          </a:p>
        </p:txBody>
      </p:sp>
      <p:sp>
        <p:nvSpPr>
          <p:cNvPr id="329" name="Google Shape;329;p32"/>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139700" lvl="0" marL="34290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Font typeface="Arial"/>
              <a:buChar char="•"/>
            </a:pPr>
            <a:r>
              <a:rPr lang="en-GB"/>
              <a:t>Important to </a:t>
            </a:r>
            <a:r>
              <a:rPr b="1" lang="en-GB"/>
              <a:t>delete(new) </a:t>
            </a:r>
            <a:r>
              <a:rPr lang="en-GB"/>
              <a:t>again, otherwise agent will keep cleaning the same square over and over but never move…</a:t>
            </a:r>
            <a:endParaRPr/>
          </a:p>
          <a:p>
            <a:pPr indent="-342900" lvl="0" marL="342900" rtl="0" algn="l">
              <a:spcBef>
                <a:spcPts val="640"/>
              </a:spcBef>
              <a:spcAft>
                <a:spcPts val="0"/>
              </a:spcAft>
              <a:buClr>
                <a:schemeClr val="dk1"/>
              </a:buClr>
              <a:buSzPts val="3200"/>
              <a:buFont typeface="Arial"/>
              <a:buChar char="•"/>
            </a:pPr>
            <a:r>
              <a:rPr b="1" lang="en-GB"/>
              <a:t>task(none)</a:t>
            </a:r>
            <a:r>
              <a:rPr lang="en-GB"/>
              <a:t> is needed to check agent is not doing something else</a:t>
            </a:r>
            <a:endParaRPr/>
          </a:p>
        </p:txBody>
      </p:sp>
      <p:sp>
        <p:nvSpPr>
          <p:cNvPr id="330" name="Google Shape;330;p32"/>
          <p:cNvSpPr txBox="1"/>
          <p:nvPr/>
        </p:nvSpPr>
        <p:spPr>
          <a:xfrm>
            <a:off x="150812" y="1412776"/>
            <a:ext cx="8842374" cy="2585323"/>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use</a:t>
            </a:r>
            <a:r>
              <a:rPr lang="en-GB" sz="1800">
                <a:solidFill>
                  <a:srgbClr val="000000"/>
                </a:solidFill>
                <a:latin typeface="Consolas"/>
                <a:ea typeface="Consolas"/>
                <a:cs typeface="Consolas"/>
                <a:sym typeface="Consolas"/>
              </a:rPr>
              <a:t> vacuumKnowledge.</a:t>
            </a:r>
            <a:endParaRPr/>
          </a:p>
          <a:p>
            <a:pPr indent="0" lvl="0" marL="0" marR="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order</a:t>
            </a:r>
            <a:r>
              <a:rPr lang="en-GB" sz="1800">
                <a:solidFill>
                  <a:srgbClr val="000000"/>
                </a:solidFill>
                <a:latin typeface="Consolas"/>
                <a:ea typeface="Consolas"/>
                <a:cs typeface="Consolas"/>
                <a:sym typeface="Consolas"/>
              </a:rPr>
              <a:t>=</a:t>
            </a:r>
            <a:r>
              <a:rPr b="1" i="1" lang="en-GB" sz="1800">
                <a:solidFill>
                  <a:srgbClr val="000000"/>
                </a:solidFill>
                <a:latin typeface="Consolas"/>
                <a:ea typeface="Consolas"/>
                <a:cs typeface="Consolas"/>
                <a:sym typeface="Consolas"/>
              </a:rPr>
              <a:t>linearrandom</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module</a:t>
            </a:r>
            <a:r>
              <a:rPr lang="en-GB" sz="1800">
                <a:solidFill>
                  <a:srgbClr val="000000"/>
                </a:solidFill>
                <a:latin typeface="Consolas"/>
                <a:ea typeface="Consolas"/>
                <a:cs typeface="Consolas"/>
                <a:sym typeface="Consolas"/>
              </a:rPr>
              <a:t> vacuumBot {</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b="1" i="1" lang="en-GB" sz="1800">
                <a:solidFill>
                  <a:srgbClr val="7F0055"/>
                </a:solidFill>
                <a:latin typeface="Consolas"/>
                <a:ea typeface="Consolas"/>
                <a:cs typeface="Consolas"/>
                <a:sym typeface="Consolas"/>
              </a:rPr>
              <a:t>findall</a:t>
            </a:r>
            <a:r>
              <a:rPr lang="en-GB" sz="1800">
                <a:solidFill>
                  <a:srgbClr val="000000"/>
                </a:solidFill>
                <a:latin typeface="Consolas"/>
                <a:ea typeface="Consolas"/>
                <a:cs typeface="Consolas"/>
                <a:sym typeface="Consolas"/>
              </a:rPr>
              <a:t>(1,visited(</a:t>
            </a:r>
            <a:r>
              <a:rPr lang="en-GB" sz="1800">
                <a:solidFill>
                  <a:srgbClr val="0000C0"/>
                </a:solidFill>
                <a:latin typeface="Consolas"/>
                <a:ea typeface="Consolas"/>
                <a:cs typeface="Consolas"/>
                <a:sym typeface="Consolas"/>
              </a:rPr>
              <a:t>_</a:t>
            </a:r>
            <a:r>
              <a:rPr lang="en-GB" sz="1800">
                <a:solidFill>
                  <a:srgbClr val="000000"/>
                </a:solidFill>
                <a:latin typeface="Consolas"/>
                <a:ea typeface="Consolas"/>
                <a:cs typeface="Consolas"/>
                <a:sym typeface="Consolas"/>
              </a:rPr>
              <a:t>,</a:t>
            </a:r>
            <a:r>
              <a:rPr lang="en-GB" sz="1800">
                <a:solidFill>
                  <a:srgbClr val="0000C0"/>
                </a:solidFill>
                <a:latin typeface="Consolas"/>
                <a:ea typeface="Consolas"/>
                <a:cs typeface="Consolas"/>
                <a:sym typeface="Consolas"/>
              </a:rPr>
              <a:t>_</a:t>
            </a:r>
            <a:r>
              <a:rPr lang="en-GB" sz="1800">
                <a:solidFill>
                  <a:srgbClr val="000000"/>
                </a:solidFill>
                <a:latin typeface="Consolas"/>
                <a:ea typeface="Consolas"/>
                <a:cs typeface="Consolas"/>
                <a:sym typeface="Consolas"/>
              </a:rPr>
              <a:t>),</a:t>
            </a:r>
            <a:r>
              <a:rPr lang="en-GB" sz="1800">
                <a:solidFill>
                  <a:srgbClr val="0000C0"/>
                </a:solidFill>
                <a:latin typeface="Consolas"/>
                <a:ea typeface="Consolas"/>
                <a:cs typeface="Consolas"/>
                <a:sym typeface="Consolas"/>
              </a:rPr>
              <a:t>L</a:t>
            </a:r>
            <a:r>
              <a:rPr lang="en-GB" sz="1800">
                <a:solidFill>
                  <a:srgbClr val="000000"/>
                </a:solidFill>
                <a:latin typeface="Consolas"/>
                <a:ea typeface="Consolas"/>
                <a:cs typeface="Consolas"/>
                <a:sym typeface="Consolas"/>
              </a:rPr>
              <a:t>), </a:t>
            </a:r>
            <a:r>
              <a:rPr b="1" i="1" lang="en-GB" sz="1800">
                <a:solidFill>
                  <a:srgbClr val="7F0055"/>
                </a:solidFill>
                <a:latin typeface="Consolas"/>
                <a:ea typeface="Consolas"/>
                <a:cs typeface="Consolas"/>
                <a:sym typeface="Consolas"/>
              </a:rPr>
              <a:t>length</a:t>
            </a:r>
            <a:r>
              <a:rPr lang="en-GB" sz="1800">
                <a:solidFill>
                  <a:srgbClr val="000000"/>
                </a:solidFill>
                <a:latin typeface="Consolas"/>
                <a:ea typeface="Consolas"/>
                <a:cs typeface="Consolas"/>
                <a:sym typeface="Consolas"/>
              </a:rPr>
              <a:t>(</a:t>
            </a:r>
            <a:r>
              <a:rPr lang="en-GB" sz="1800">
                <a:solidFill>
                  <a:srgbClr val="0000C0"/>
                </a:solidFill>
                <a:latin typeface="Consolas"/>
                <a:ea typeface="Consolas"/>
                <a:cs typeface="Consolas"/>
                <a:sym typeface="Consolas"/>
              </a:rPr>
              <a:t>L</a:t>
            </a:r>
            <a:r>
              <a:rPr lang="en-GB" sz="1800">
                <a:solidFill>
                  <a:srgbClr val="000000"/>
                </a:solidFill>
                <a:latin typeface="Consolas"/>
                <a:ea typeface="Consolas"/>
                <a:cs typeface="Consolas"/>
                <a:sym typeface="Consolas"/>
              </a:rPr>
              <a:t>,30) then </a:t>
            </a:r>
            <a:r>
              <a:rPr b="1" lang="en-GB" sz="1800">
                <a:solidFill>
                  <a:srgbClr val="000000"/>
                </a:solidFill>
                <a:latin typeface="Consolas"/>
                <a:ea typeface="Consolas"/>
                <a:cs typeface="Consolas"/>
                <a:sym typeface="Consolas"/>
              </a:rPr>
              <a:t>exit-module</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new then clean + </a:t>
            </a:r>
            <a:r>
              <a:rPr b="1" lang="en-GB" sz="1800">
                <a:solidFill>
                  <a:srgbClr val="000000"/>
                </a:solidFill>
                <a:latin typeface="Consolas"/>
                <a:ea typeface="Consolas"/>
                <a:cs typeface="Consolas"/>
                <a:sym typeface="Consolas"/>
              </a:rPr>
              <a:t>delete</a:t>
            </a:r>
            <a:r>
              <a:rPr lang="en-GB" sz="1800">
                <a:solidFill>
                  <a:srgbClr val="000000"/>
                </a:solidFill>
                <a:latin typeface="Consolas"/>
                <a:ea typeface="Consolas"/>
                <a:cs typeface="Consolas"/>
                <a:sym typeface="Consolas"/>
              </a:rPr>
              <a:t>(new).</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task(none), dir(</a:t>
            </a:r>
            <a:r>
              <a:rPr lang="en-GB" sz="1800">
                <a:solidFill>
                  <a:srgbClr val="0000C0"/>
                </a:solidFill>
                <a:latin typeface="Consolas"/>
                <a:ea typeface="Consolas"/>
                <a:cs typeface="Consolas"/>
                <a:sym typeface="Consolas"/>
              </a:rPr>
              <a:t>Dir</a:t>
            </a:r>
            <a:r>
              <a:rPr lang="en-GB" sz="1800">
                <a:solidFill>
                  <a:srgbClr val="000000"/>
                </a:solidFill>
                <a:latin typeface="Consolas"/>
                <a:ea typeface="Consolas"/>
                <a:cs typeface="Consolas"/>
                <a:sym typeface="Consolas"/>
              </a:rPr>
              <a:t>) then move(</a:t>
            </a:r>
            <a:r>
              <a:rPr lang="en-GB" sz="1800">
                <a:solidFill>
                  <a:srgbClr val="0000C0"/>
                </a:solidFill>
                <a:latin typeface="Consolas"/>
                <a:ea typeface="Consolas"/>
                <a:cs typeface="Consolas"/>
                <a:sym typeface="Consolas"/>
              </a:rPr>
              <a:t>Dir</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3"/>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GB"/>
              <a:t>There we are…</a:t>
            </a:r>
            <a:endParaRPr>
              <a:solidFill>
                <a:srgbClr val="00B0F0"/>
              </a:solidFill>
            </a:endParaRPr>
          </a:p>
        </p:txBody>
      </p:sp>
      <p:pic>
        <p:nvPicPr>
          <p:cNvPr id="337" name="Google Shape;337;p33"/>
          <p:cNvPicPr preferRelativeResize="0"/>
          <p:nvPr/>
        </p:nvPicPr>
        <p:blipFill rotWithShape="1">
          <a:blip r:embed="rId3">
            <a:alphaModFix/>
          </a:blip>
          <a:srcRect b="0" l="4196" r="14321" t="0"/>
          <a:stretch/>
        </p:blipFill>
        <p:spPr>
          <a:xfrm>
            <a:off x="150813" y="1068388"/>
            <a:ext cx="4344987" cy="5332412"/>
          </a:xfrm>
          <a:prstGeom prst="rect">
            <a:avLst/>
          </a:prstGeom>
          <a:noFill/>
          <a:ln>
            <a:noFill/>
          </a:ln>
        </p:spPr>
      </p:pic>
      <p:sp>
        <p:nvSpPr>
          <p:cNvPr id="338" name="Google Shape;338;p33"/>
          <p:cNvSpPr txBox="1"/>
          <p:nvPr>
            <p:ph idx="2" type="body"/>
          </p:nvPr>
        </p:nvSpPr>
        <p:spPr>
          <a:xfrm>
            <a:off x="4648200" y="1068388"/>
            <a:ext cx="4344988" cy="533241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Font typeface="Arial"/>
              <a:buNone/>
            </a:pPr>
            <a:r>
              <a:t/>
            </a:r>
            <a:endParaRPr/>
          </a:p>
          <a:p>
            <a:pPr indent="0" lvl="0" marL="0" rtl="0" algn="l">
              <a:spcBef>
                <a:spcPts val="560"/>
              </a:spcBef>
              <a:spcAft>
                <a:spcPts val="0"/>
              </a:spcAft>
              <a:buClr>
                <a:schemeClr val="dk1"/>
              </a:buClr>
              <a:buSzPts val="2800"/>
              <a:buFont typeface="Arial"/>
              <a:buNone/>
            </a:pPr>
            <a:r>
              <a:rPr b="1" lang="en-GB"/>
              <a:t>Let’s run the agent and see what happens…</a:t>
            </a:r>
            <a:endParaRPr/>
          </a:p>
          <a:p>
            <a:pPr indent="0" lvl="0" marL="0" rtl="0" algn="l">
              <a:spcBef>
                <a:spcPts val="560"/>
              </a:spcBef>
              <a:spcAft>
                <a:spcPts val="0"/>
              </a:spcAft>
              <a:buClr>
                <a:schemeClr val="dk1"/>
              </a:buClr>
              <a:buSzPts val="2800"/>
              <a:buFont typeface="Arial"/>
              <a:buNone/>
            </a:pPr>
            <a:r>
              <a:t/>
            </a:r>
            <a:endParaRPr b="1"/>
          </a:p>
          <a:p>
            <a:pPr indent="0" lvl="0" marL="0" rtl="0" algn="l">
              <a:spcBef>
                <a:spcPts val="560"/>
              </a:spcBef>
              <a:spcAft>
                <a:spcPts val="0"/>
              </a:spcAft>
              <a:buClr>
                <a:schemeClr val="dk1"/>
              </a:buClr>
              <a:buSzPts val="2800"/>
              <a:buFont typeface="Arial"/>
              <a:buNone/>
            </a:pPr>
            <a:r>
              <a:t/>
            </a:r>
            <a:endParaRPr b="1"/>
          </a:p>
          <a:p>
            <a:pPr indent="0" lvl="0" marL="0" rtl="0" algn="l">
              <a:spcBef>
                <a:spcPts val="560"/>
              </a:spcBef>
              <a:spcAft>
                <a:spcPts val="0"/>
              </a:spcAft>
              <a:buClr>
                <a:schemeClr val="dk1"/>
              </a:buClr>
              <a:buSzPts val="2800"/>
              <a:buFont typeface="Arial"/>
              <a:buNone/>
            </a:pPr>
            <a:r>
              <a:t/>
            </a:r>
            <a:endParaRPr b="1"/>
          </a:p>
          <a:p>
            <a:pPr indent="0" lvl="0" marL="0" rtl="0" algn="l">
              <a:spcBef>
                <a:spcPts val="560"/>
              </a:spcBef>
              <a:spcAft>
                <a:spcPts val="0"/>
              </a:spcAft>
              <a:buClr>
                <a:schemeClr val="dk1"/>
              </a:buClr>
              <a:buSzPts val="2800"/>
              <a:buFont typeface="Arial"/>
              <a:buNone/>
            </a:pPr>
            <a:r>
              <a:t/>
            </a:r>
            <a:endParaRPr b="1"/>
          </a:p>
          <a:p>
            <a:pPr indent="0" lvl="0" marL="0" rtl="0" algn="l">
              <a:spcBef>
                <a:spcPts val="560"/>
              </a:spcBef>
              <a:spcAft>
                <a:spcPts val="0"/>
              </a:spcAft>
              <a:buClr>
                <a:schemeClr val="dk1"/>
              </a:buClr>
              <a:buSzPts val="2800"/>
              <a:buFont typeface="Arial"/>
              <a:buNone/>
            </a:pPr>
            <a:r>
              <a:rPr lang="en-GB"/>
              <a:t>Check the consoles in Eclipse…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2015-04-12T20:04:31Z</dcterms:created>
  <dc:creator>Koen Hindriks</dc:creator>
</cp:coreProperties>
</file>