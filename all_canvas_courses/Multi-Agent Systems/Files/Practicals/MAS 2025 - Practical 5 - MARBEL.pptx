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3025">
          <p15:clr>
            <a:srgbClr val="A4A3A4"/>
          </p15:clr>
        </p15:guide>
        <p15:guide id="2" pos="2305">
          <p15:clr>
            <a:srgbClr val="A4A3A4"/>
          </p15:clr>
        </p15:guide>
      </p15:notesGuideLst>
    </p:ext>
    <p:ext uri="GoogleSlidesCustomDataVersion2">
      <go:slidesCustomData xmlns:go="http://customooxmlschemas.google.com/" r:id="rId52" roundtripDataSignature="AMtx7miOYSh9++Esi7Yri8GjFbURJlxS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5" orient="horz"/>
        <p:guide pos="2305"/>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1825" cy="481013"/>
          </a:xfrm>
          <a:prstGeom prst="rect">
            <a:avLst/>
          </a:prstGeom>
          <a:noFill/>
          <a:ln>
            <a:noFill/>
          </a:ln>
        </p:spPr>
        <p:txBody>
          <a:bodyPr anchorCtr="0" anchor="t" bIns="46200" lIns="92400" spcFirstLastPara="1" rIns="92400" wrap="square" tIns="46200">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1825" cy="481013"/>
          </a:xfrm>
          <a:prstGeom prst="rect">
            <a:avLst/>
          </a:prstGeom>
          <a:noFill/>
          <a:ln>
            <a:noFill/>
          </a:ln>
        </p:spPr>
        <p:txBody>
          <a:bodyPr anchorCtr="0" anchor="t" bIns="46200" lIns="92400" spcFirstLastPara="1" rIns="92400" wrap="square" tIns="46200">
            <a:noAutofit/>
          </a:bodyPr>
          <a:lstStyle>
            <a:lvl1pPr lvl="0" marR="0" rtl="0" algn="r">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5425"/>
            <a:ext cx="3171825" cy="485775"/>
          </a:xfrm>
          <a:prstGeom prst="rect">
            <a:avLst/>
          </a:prstGeom>
          <a:noFill/>
          <a:ln>
            <a:noFill/>
          </a:ln>
        </p:spPr>
        <p:txBody>
          <a:bodyPr anchorCtr="0" anchor="b" bIns="46200" lIns="92400" spcFirstLastPara="1" rIns="92400" wrap="square" tIns="46200">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marR="0" rtl="0" algn="r">
              <a:spcBef>
                <a:spcPts val="0"/>
              </a:spcBef>
              <a:spcAft>
                <a:spcPts val="0"/>
              </a:spcAft>
              <a:buNone/>
            </a:pPr>
            <a:fld id="{00000000-1234-1234-1234-123412341234}" type="slidenum">
              <a:rPr b="0" i="0" lang="en-GB"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marR="0" rtl="0" algn="r">
              <a:spcBef>
                <a:spcPts val="0"/>
              </a:spcBef>
              <a:spcAft>
                <a:spcPts val="0"/>
              </a:spcAft>
              <a:buNone/>
            </a:pPr>
            <a:fld id="{00000000-1234-1234-1234-123412341234}" type="slidenum">
              <a:rPr b="0" i="0" lang="en-GB"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
        <p:nvSpPr>
          <p:cNvPr id="72" name="Google Shape;72;p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1: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10: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79" name="Google Shape;79;p10: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1: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85" name="Google Shape;85;p1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2: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1" name="Google Shape;91;p12:notes"/>
          <p:cNvSpPr txBox="1"/>
          <p:nvPr>
            <p:ph idx="1" type="body"/>
          </p:nvPr>
        </p:nvSpPr>
        <p:spPr>
          <a:xfrm>
            <a:off x="731838" y="4560888"/>
            <a:ext cx="5851525" cy="4319587"/>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t/>
            </a:r>
            <a:endParaRPr/>
          </a:p>
        </p:txBody>
      </p:sp>
      <p:sp>
        <p:nvSpPr>
          <p:cNvPr id="92" name="Google Shape;92;p12:notes"/>
          <p:cNvSpPr txBox="1"/>
          <p:nvPr>
            <p:ph idx="12" type="sldNum"/>
          </p:nvPr>
        </p:nvSpPr>
        <p:spPr>
          <a:xfrm>
            <a:off x="4143375" y="9115425"/>
            <a:ext cx="3171825" cy="485775"/>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3: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99" name="Google Shape;99;p13: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4: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06" name="Google Shape;106;p14: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5: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12" name="Google Shape;112;p15: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6: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18" name="Google Shape;118;p16: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7: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24" name="Google Shape;124;p17: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8: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30" name="Google Shape;130;p18: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9: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36" name="Google Shape;136;p19: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0: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42" name="Google Shape;142;p20: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3: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48" name="Google Shape;148;p23: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1: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54" name="Google Shape;154;p21: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4: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60" name="Google Shape;160;p24: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2: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66" name="Google Shape;166;p22: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5:notes"/>
          <p:cNvSpPr txBox="1"/>
          <p:nvPr>
            <p:ph idx="1" type="body"/>
          </p:nvPr>
        </p:nvSpPr>
        <p:spPr>
          <a:xfrm>
            <a:off x="731838" y="4560888"/>
            <a:ext cx="5851525" cy="4319587"/>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73" name="Google Shape;173;p25:notes"/>
          <p:cNvSpPr/>
          <p:nvPr>
            <p:ph idx="2" type="sldImg"/>
          </p:nvPr>
        </p:nvSpPr>
        <p:spPr>
          <a:xfrm>
            <a:off x="1263650" y="720725"/>
            <a:ext cx="4802188" cy="3602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9937886b0_0_0: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179" name="Google Shape;179;g3a9937886b0_0_0: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9937886b0_0_141: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6" name="Google Shape;186;g3a9937886b0_0_141: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This is an adapted version of the Exercise 3.9.2 in the MARBEL programming guide.</a:t>
            </a:r>
            <a:endParaRPr/>
          </a:p>
        </p:txBody>
      </p:sp>
      <p:sp>
        <p:nvSpPr>
          <p:cNvPr id="187" name="Google Shape;187;g3a9937886b0_0_141: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9937886b0_0_147: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3" name="Google Shape;193;g3a9937886b0_0_147: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This is a copy of a slide used in Lecture 3 to introduce the problem we aim to address in the first Exercise.</a:t>
            </a:r>
            <a:endParaRPr/>
          </a:p>
        </p:txBody>
      </p:sp>
      <p:sp>
        <p:nvSpPr>
          <p:cNvPr id="194" name="Google Shape;194;g3a9937886b0_0_147: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9937886b0_0_156: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3" name="Google Shape;203;g3a9937886b0_0_156: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To be able to infer from the database that a block such as b4 is misplaced we must be able to infer the first part of the misplaced query: </a:t>
            </a:r>
            <a:r>
              <a:rPr b="1" lang="en-GB" sz="1200">
                <a:solidFill>
                  <a:srgbClr val="000000"/>
                </a:solidFill>
                <a:latin typeface="Consolas"/>
                <a:ea typeface="Consolas"/>
                <a:cs typeface="Consolas"/>
                <a:sym typeface="Consolas"/>
              </a:rPr>
              <a:t>tower(</a:t>
            </a:r>
            <a:r>
              <a:rPr b="1" lang="en-GB" sz="1200">
                <a:solidFill>
                  <a:srgbClr val="0000C0"/>
                </a:solidFill>
                <a:latin typeface="Consolas"/>
                <a:ea typeface="Consolas"/>
                <a:cs typeface="Consolas"/>
                <a:sym typeface="Consolas"/>
              </a:rPr>
              <a:t>Goal</a:t>
            </a:r>
            <a:r>
              <a:rPr b="1" lang="en-GB" sz="1200">
                <a:solidFill>
                  <a:srgbClr val="000000"/>
                </a:solidFill>
                <a:latin typeface="Consolas"/>
                <a:ea typeface="Consolas"/>
                <a:cs typeface="Consolas"/>
                <a:sym typeface="Consolas"/>
              </a:rPr>
              <a:t>, [</a:t>
            </a:r>
            <a:r>
              <a:rPr b="1" lang="en-GB" sz="1200">
                <a:solidFill>
                  <a:srgbClr val="0000C0"/>
                </a:solidFill>
                <a:latin typeface="Consolas"/>
                <a:ea typeface="Consolas"/>
                <a:cs typeface="Consolas"/>
                <a:sym typeface="Consolas"/>
              </a:rPr>
              <a:t>X</a:t>
            </a:r>
            <a:r>
              <a:rPr b="1" lang="en-GB" sz="1200">
                <a:solidFill>
                  <a:srgbClr val="000000"/>
                </a:solidFill>
                <a:latin typeface="Consolas"/>
                <a:ea typeface="Consolas"/>
                <a:cs typeface="Consolas"/>
                <a:sym typeface="Consolas"/>
              </a:rPr>
              <a:t>|</a:t>
            </a:r>
            <a:r>
              <a:rPr b="1" lang="en-GB" sz="1200">
                <a:solidFill>
                  <a:srgbClr val="0000C0"/>
                </a:solidFill>
                <a:latin typeface="Consolas"/>
                <a:ea typeface="Consolas"/>
                <a:cs typeface="Consolas"/>
                <a:sym typeface="Consolas"/>
              </a:rPr>
              <a:t>T</a:t>
            </a:r>
            <a:r>
              <a:rPr b="1" lang="en-GB" sz="1200">
                <a:solidFill>
                  <a:srgbClr val="000000"/>
                </a:solidFill>
                <a:latin typeface="Consolas"/>
                <a:ea typeface="Consolas"/>
                <a:cs typeface="Consolas"/>
                <a:sym typeface="Consolas"/>
              </a:rPr>
              <a:t>]). </a:t>
            </a:r>
            <a:r>
              <a:rPr b="0" lang="en-GB" sz="1200">
                <a:solidFill>
                  <a:srgbClr val="000000"/>
                </a:solidFill>
                <a:latin typeface="Consolas"/>
                <a:ea typeface="Consolas"/>
                <a:cs typeface="Consolas"/>
                <a:sym typeface="Consolas"/>
              </a:rPr>
              <a:t>But we cannot do that for b4, b5, b6 because none of these blocks are part of the goal state…</a:t>
            </a:r>
            <a:endParaRPr/>
          </a:p>
          <a:p>
            <a:pPr indent="0" lvl="0" marL="0" rtl="0" algn="l">
              <a:spcBef>
                <a:spcPts val="360"/>
              </a:spcBef>
              <a:spcAft>
                <a:spcPts val="0"/>
              </a:spcAft>
              <a:buNone/>
            </a:pPr>
            <a:r>
              <a:t/>
            </a:r>
            <a:endParaRPr b="0" sz="1200">
              <a:solidFill>
                <a:srgbClr val="000000"/>
              </a:solidFill>
              <a:latin typeface="Consolas"/>
              <a:ea typeface="Consolas"/>
              <a:cs typeface="Consolas"/>
              <a:sym typeface="Consolas"/>
            </a:endParaRPr>
          </a:p>
          <a:p>
            <a:pPr indent="0" lvl="0" marL="0" rtl="0" algn="l">
              <a:spcBef>
                <a:spcPts val="360"/>
              </a:spcBef>
              <a:spcAft>
                <a:spcPts val="0"/>
              </a:spcAft>
              <a:buNone/>
            </a:pPr>
            <a:r>
              <a:rPr b="0" lang="en-GB" sz="1200">
                <a:solidFill>
                  <a:srgbClr val="000000"/>
                </a:solidFill>
                <a:latin typeface="Consolas"/>
                <a:ea typeface="Consolas"/>
                <a:cs typeface="Consolas"/>
                <a:sym typeface="Consolas"/>
              </a:rPr>
              <a:t>If students don’t see how that works with the Prolog query, tell them to go back to the Prolog definitions for these predicates and evaluate those by hand or by creating an agent with the illustrated initial state and the goal state on this slide (and use the Interactive console to evaluate things on the database).</a:t>
            </a:r>
            <a:endParaRPr b="0"/>
          </a:p>
        </p:txBody>
      </p:sp>
      <p:sp>
        <p:nvSpPr>
          <p:cNvPr id="204" name="Google Shape;204;g3a9937886b0_0_156: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9937886b0_0_165: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3" name="Google Shape;213;g3a9937886b0_0_165: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b="0" lang="en-GB"/>
              <a:t>Let’s make a first step to fix this by solving this problem.</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GB"/>
              <a:t>Tip</a:t>
            </a:r>
            <a:r>
              <a:rPr lang="en-GB"/>
              <a:t>: comment out (old) code using % (so old action rule code in module need not be deleted).</a:t>
            </a:r>
            <a:endParaRPr/>
          </a:p>
        </p:txBody>
      </p:sp>
      <p:sp>
        <p:nvSpPr>
          <p:cNvPr id="214" name="Google Shape;214;g3a9937886b0_0_165: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9937886b0_0_172: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1" name="Google Shape;221;g3a9937886b0_0_172: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Part of the agent console’s log of what happened. Agent using our definitions achieves the goal!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In other words, we have a working agent, we’ll change it in the next few steps but should make sure at the end it works again ;-).</a:t>
            </a:r>
            <a:endParaRPr/>
          </a:p>
        </p:txBody>
      </p:sp>
      <p:sp>
        <p:nvSpPr>
          <p:cNvPr id="222" name="Google Shape;222;g3a9937886b0_0_172: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9937886b0_0_178: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28" name="Google Shape;228;g3a9937886b0_0_178: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9937886b0_0_183: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4" name="Google Shape;234;g3a9937886b0_0_183: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marR="0" rtl="0" algn="l">
              <a:lnSpc>
                <a:spcPct val="100000"/>
              </a:lnSpc>
              <a:spcBef>
                <a:spcPts val="0"/>
              </a:spcBef>
              <a:spcAft>
                <a:spcPts val="0"/>
              </a:spcAft>
              <a:buClr>
                <a:srgbClr val="000000"/>
              </a:buClr>
              <a:buSzPts val="1200"/>
              <a:buFont typeface="Consolas"/>
              <a:buNone/>
            </a:pPr>
            <a:r>
              <a:rPr lang="en-GB" sz="1200">
                <a:solidFill>
                  <a:srgbClr val="000000"/>
                </a:solidFill>
                <a:latin typeface="Consolas"/>
                <a:ea typeface="Consolas"/>
                <a:cs typeface="Consolas"/>
                <a:sym typeface="Consolas"/>
              </a:rPr>
              <a:t>Tail recursion is needed: above(</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Z</a:t>
            </a:r>
            <a:r>
              <a:rPr lang="en-GB" sz="1200">
                <a:solidFill>
                  <a:srgbClr val="000000"/>
                </a:solidFill>
                <a:latin typeface="Consolas"/>
                <a:ea typeface="Consolas"/>
                <a:cs typeface="Consolas"/>
                <a:sym typeface="Consolas"/>
              </a:rPr>
              <a:t>) </a:t>
            </a:r>
            <a:r>
              <a:rPr b="1" lang="en-GB" sz="1200">
                <a:solidFill>
                  <a:srgbClr val="969696"/>
                </a:solidFill>
                <a:latin typeface="Consolas"/>
                <a:ea typeface="Consolas"/>
                <a:cs typeface="Consolas"/>
                <a:sym typeface="Consolas"/>
              </a:rPr>
              <a:t>:-</a:t>
            </a:r>
            <a:r>
              <a:rPr lang="en-GB" sz="1200">
                <a:solidFill>
                  <a:srgbClr val="000000"/>
                </a:solidFill>
                <a:latin typeface="Consolas"/>
                <a:ea typeface="Consolas"/>
                <a:cs typeface="Consolas"/>
                <a:sym typeface="Consolas"/>
              </a:rPr>
              <a:t> on(</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above(</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Z</a:t>
            </a:r>
            <a:r>
              <a:rPr lang="en-GB" sz="1200">
                <a:solidFill>
                  <a:srgbClr val="000000"/>
                </a:solidFill>
                <a:latin typeface="Consolas"/>
                <a:ea typeface="Consolas"/>
                <a:cs typeface="Consolas"/>
                <a:sym typeface="Consolas"/>
              </a:rPr>
              <a:t>). Clearly, above(</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Z</a:t>
            </a:r>
            <a:r>
              <a:rPr lang="en-GB" sz="1200">
                <a:solidFill>
                  <a:srgbClr val="000000"/>
                </a:solidFill>
                <a:latin typeface="Consolas"/>
                <a:ea typeface="Consolas"/>
                <a:cs typeface="Consolas"/>
                <a:sym typeface="Consolas"/>
              </a:rPr>
              <a:t>) </a:t>
            </a:r>
            <a:r>
              <a:rPr b="1" lang="en-GB" sz="1200">
                <a:solidFill>
                  <a:srgbClr val="969696"/>
                </a:solidFill>
                <a:latin typeface="Consolas"/>
                <a:ea typeface="Consolas"/>
                <a:cs typeface="Consolas"/>
                <a:sym typeface="Consolas"/>
              </a:rPr>
              <a:t>:-</a:t>
            </a:r>
            <a:r>
              <a:rPr lang="en-GB" sz="1200">
                <a:solidFill>
                  <a:srgbClr val="000000"/>
                </a:solidFill>
                <a:latin typeface="Consolas"/>
                <a:ea typeface="Consolas"/>
                <a:cs typeface="Consolas"/>
                <a:sym typeface="Consolas"/>
              </a:rPr>
              <a:t> above(</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Z</a:t>
            </a:r>
            <a:r>
              <a:rPr lang="en-GB" sz="1200">
                <a:solidFill>
                  <a:srgbClr val="000000"/>
                </a:solidFill>
                <a:latin typeface="Consolas"/>
                <a:ea typeface="Consolas"/>
                <a:cs typeface="Consolas"/>
                <a:sym typeface="Consolas"/>
              </a:rPr>
              <a:t>), on(</a:t>
            </a:r>
            <a:r>
              <a:rPr lang="en-GB" sz="1200">
                <a:solidFill>
                  <a:srgbClr val="0000C0"/>
                </a:solidFill>
                <a:latin typeface="Consolas"/>
                <a:ea typeface="Consolas"/>
                <a:cs typeface="Consolas"/>
                <a:sym typeface="Consolas"/>
              </a:rPr>
              <a:t>X</a:t>
            </a:r>
            <a:r>
              <a:rPr lang="en-GB" sz="1200">
                <a:solidFill>
                  <a:srgbClr val="000000"/>
                </a:solidFill>
                <a:latin typeface="Consolas"/>
                <a:ea typeface="Consolas"/>
                <a:cs typeface="Consolas"/>
                <a:sym typeface="Consolas"/>
              </a:rPr>
              <a:t>, </a:t>
            </a:r>
            <a:r>
              <a:rPr lang="en-GB" sz="1200">
                <a:solidFill>
                  <a:srgbClr val="0000C0"/>
                </a:solidFill>
                <a:latin typeface="Consolas"/>
                <a:ea typeface="Consolas"/>
                <a:cs typeface="Consolas"/>
                <a:sym typeface="Consolas"/>
              </a:rPr>
              <a:t>Y</a:t>
            </a:r>
            <a:r>
              <a:rPr lang="en-GB" sz="1200">
                <a:solidFill>
                  <a:srgbClr val="000000"/>
                </a:solidFill>
                <a:latin typeface="Consolas"/>
                <a:ea typeface="Consolas"/>
                <a:cs typeface="Consolas"/>
                <a:sym typeface="Consolas"/>
              </a:rPr>
              <a:t>). does not work (no termination)!</a:t>
            </a:r>
            <a:endParaRPr/>
          </a:p>
          <a:p>
            <a:pPr indent="0" lvl="0" marL="0" rtl="0" algn="l">
              <a:spcBef>
                <a:spcPts val="360"/>
              </a:spcBef>
              <a:spcAft>
                <a:spcPts val="0"/>
              </a:spcAft>
              <a:buNone/>
            </a:pPr>
            <a:r>
              <a:t/>
            </a:r>
            <a:endParaRPr/>
          </a:p>
        </p:txBody>
      </p:sp>
      <p:sp>
        <p:nvSpPr>
          <p:cNvPr id="235" name="Google Shape;235;g3a9937886b0_0_183: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9937886b0_0_190: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42" name="Google Shape;242;g3a9937886b0_0_190: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9937886b0_0_195: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48" name="Google Shape;248;g3a9937886b0_0_195: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9937886b0_0_201: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55" name="Google Shape;255;g3a9937886b0_0_201: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9937886b0_0_211: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6" name="Google Shape;266;g3a9937886b0_0_211: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Yes it would. Can reuse df of above predicate. Same strategy would work for adapting the misplaced predicate.</a:t>
            </a:r>
            <a:endParaRPr/>
          </a:p>
        </p:txBody>
      </p:sp>
      <p:sp>
        <p:nvSpPr>
          <p:cNvPr id="267" name="Google Shape;267;g3a9937886b0_0_211: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9937886b0_0_217: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3" name="Google Shape;273;g3a9937886b0_0_217: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This is an adapted version of Exercise 3.9.3 in the MARBEL programming guide.</a:t>
            </a:r>
            <a:endParaRPr/>
          </a:p>
        </p:txBody>
      </p:sp>
      <p:sp>
        <p:nvSpPr>
          <p:cNvPr id="274" name="Google Shape;274;g3a9937886b0_0_217: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9937886b0_0_223: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80" name="Google Shape;280;g3a9937886b0_0_223: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9937886b0_0_228: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86" name="Google Shape;286;g3a9937886b0_0_228: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9937886b0_0_233: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292" name="Google Shape;292;g3a9937886b0_0_233: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9937886b0_0_239: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9" name="Google Shape;299;g3a9937886b0_0_239: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The Blocks World project comes with a predefined clearBlocks module that can be used.</a:t>
            </a:r>
            <a:endParaRPr/>
          </a:p>
        </p:txBody>
      </p:sp>
      <p:sp>
        <p:nvSpPr>
          <p:cNvPr id="300" name="Google Shape;300;g3a9937886b0_0_239: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9937886b0_0_245: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6" name="Google Shape;306;g3a9937886b0_0_245: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Just using not( on(_, X) ) might end up in what is called floundering… An issue that results in unexpected behaviour of the negation…</a:t>
            </a:r>
            <a:endParaRPr/>
          </a:p>
        </p:txBody>
      </p:sp>
      <p:sp>
        <p:nvSpPr>
          <p:cNvPr id="307" name="Google Shape;307;g3a9937886b0_0_245: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a9937886b0_0_251: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13" name="Google Shape;313;g3a9937886b0_0_251: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9937886b0_0_256: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19" name="Google Shape;319;g3a9937886b0_0_256: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9937886b0_0_261: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25" name="Google Shape;325;g3a9937886b0_0_261: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9937886b0_0_266: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31" name="Google Shape;331;g3a9937886b0_0_266: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9937886b0_0_271: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7" name="Google Shape;337;g3a9937886b0_0_271: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There are, of course, many other things students could have done. For example, the not(Y=table) could not have been added to the rule. Then the agent keeps making ‘constructive moves’ by also moving b7 to the table again and again (which is funny because it keeps moving on the ‘table’).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GB"/>
              <a:t>NOTA BENE: The rule added here is NOT the correct one yet and will need to be fixed later. The issue is that the rule does not yet address the Sussman anomaly (see earlier slide). The rule is introduced here as a (natural) stepping stone to make progress towards the final solution. It is only naturally that while coding issues pop up that need to be ‘discovered’ and resolved through debugging, which we will ask students to do later as a final step (Exercise 1f).</a:t>
            </a:r>
            <a:endParaRPr/>
          </a:p>
        </p:txBody>
      </p:sp>
      <p:sp>
        <p:nvSpPr>
          <p:cNvPr id="338" name="Google Shape;338;g3a9937886b0_0_271: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9937886b0_0_279: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46" name="Google Shape;346;g3a9937886b0_0_279: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9937886b0_0_284: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2" name="Google Shape;352;g3a9937886b0_0_284: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This may take students quite some time.</a:t>
            </a:r>
            <a:endParaRPr/>
          </a:p>
        </p:txBody>
      </p:sp>
      <p:sp>
        <p:nvSpPr>
          <p:cNvPr id="353" name="Google Shape;353;g3a9937886b0_0_284: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9937886b0_0_292: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1" name="Google Shape;361;g3a9937886b0_0_292:notes"/>
          <p:cNvSpPr txBox="1"/>
          <p:nvPr>
            <p:ph idx="1" type="body"/>
          </p:nvPr>
        </p:nvSpPr>
        <p:spPr>
          <a:xfrm>
            <a:off x="731838" y="4560888"/>
            <a:ext cx="5851500" cy="4319700"/>
          </a:xfrm>
          <a:prstGeom prst="rect">
            <a:avLst/>
          </a:prstGeom>
          <a:noFill/>
          <a:ln>
            <a:noFill/>
          </a:ln>
        </p:spPr>
        <p:txBody>
          <a:bodyPr anchorCtr="0" anchor="t" bIns="46200" lIns="92400" spcFirstLastPara="1" rIns="92400" wrap="square" tIns="46200">
            <a:noAutofit/>
          </a:bodyPr>
          <a:lstStyle/>
          <a:p>
            <a:pPr indent="0" lvl="0" marL="0" rtl="0" algn="l">
              <a:spcBef>
                <a:spcPts val="0"/>
              </a:spcBef>
              <a:spcAft>
                <a:spcPts val="0"/>
              </a:spcAft>
              <a:buNone/>
            </a:pPr>
            <a:r>
              <a:rPr lang="en-GB"/>
              <a:t>We are not using the tower predicate anymore to maintain a ‘global’ sense of progress and the rule we introduced only looks at subgoal progress (which block should be on another, instead of what final tower starting from the table(!) do we need to have). So, in a sense, even though the agent first moves all blocks to the table, we still face an issue related to the Sussman anomaly discussed earlier.</a:t>
            </a:r>
            <a:endParaRPr/>
          </a:p>
        </p:txBody>
      </p:sp>
      <p:sp>
        <p:nvSpPr>
          <p:cNvPr id="362" name="Google Shape;362;g3a9937886b0_0_292:notes"/>
          <p:cNvSpPr txBox="1"/>
          <p:nvPr>
            <p:ph idx="12" type="sldNum"/>
          </p:nvPr>
        </p:nvSpPr>
        <p:spPr>
          <a:xfrm>
            <a:off x="4143375" y="9115425"/>
            <a:ext cx="3171900" cy="485700"/>
          </a:xfrm>
          <a:prstGeom prst="rect">
            <a:avLst/>
          </a:prstGeom>
          <a:noFill/>
          <a:ln>
            <a:noFill/>
          </a:ln>
        </p:spPr>
        <p:txBody>
          <a:bodyPr anchorCtr="0" anchor="b" bIns="46200" lIns="92400" spcFirstLastPara="1" rIns="92400" wrap="square" tIns="462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9937886b0_0_299: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69" name="Google Shape;369;g3a9937886b0_0_299: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9937886b0_0_304: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75" name="Google Shape;375;g3a9937886b0_0_304: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9937886b0_0_310:notes"/>
          <p:cNvSpPr txBox="1"/>
          <p:nvPr>
            <p:ph idx="1" type="body"/>
          </p:nvPr>
        </p:nvSpPr>
        <p:spPr>
          <a:xfrm>
            <a:off x="731838" y="4560888"/>
            <a:ext cx="5851500" cy="4319700"/>
          </a:xfrm>
          <a:prstGeom prst="rect">
            <a:avLst/>
          </a:prstGeom>
        </p:spPr>
        <p:txBody>
          <a:bodyPr anchorCtr="0" anchor="t" bIns="46200" lIns="92400" spcFirstLastPara="1" rIns="92400" wrap="square" tIns="46200">
            <a:noAutofit/>
          </a:bodyPr>
          <a:lstStyle/>
          <a:p>
            <a:pPr indent="0" lvl="0" marL="0" rtl="0" algn="l">
              <a:spcBef>
                <a:spcPts val="360"/>
              </a:spcBef>
              <a:spcAft>
                <a:spcPts val="0"/>
              </a:spcAft>
              <a:buNone/>
            </a:pPr>
            <a:r>
              <a:t/>
            </a:r>
            <a:endParaRPr/>
          </a:p>
        </p:txBody>
      </p:sp>
      <p:sp>
        <p:nvSpPr>
          <p:cNvPr id="382" name="Google Shape;382;g3a9937886b0_0_310:notes"/>
          <p:cNvSpPr/>
          <p:nvPr>
            <p:ph idx="2" type="sldImg"/>
          </p:nvPr>
        </p:nvSpPr>
        <p:spPr>
          <a:xfrm>
            <a:off x="1263650" y="720725"/>
            <a:ext cx="4802100" cy="3602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pic>
        <p:nvPicPr>
          <p:cNvPr descr="Baby Footprints In Sand Images – Browse 1,617 Stock Photos, Vectors, and  Video | Adobe Stock" id="16" name="Google Shape;16;p27"/>
          <p:cNvPicPr preferRelativeResize="0"/>
          <p:nvPr/>
        </p:nvPicPr>
        <p:blipFill rotWithShape="1">
          <a:blip r:embed="rId2">
            <a:alphaModFix/>
          </a:blip>
          <a:srcRect b="0" l="0" r="0" t="0"/>
          <a:stretch/>
        </p:blipFill>
        <p:spPr>
          <a:xfrm>
            <a:off x="3370" y="0"/>
            <a:ext cx="9139944" cy="6597352"/>
          </a:xfrm>
          <a:prstGeom prst="rect">
            <a:avLst/>
          </a:prstGeom>
          <a:noFill/>
          <a:ln>
            <a:noFill/>
          </a:ln>
        </p:spPr>
      </p:pic>
      <p:sp>
        <p:nvSpPr>
          <p:cNvPr id="17" name="Google Shape;17;p27"/>
          <p:cNvSpPr/>
          <p:nvPr/>
        </p:nvSpPr>
        <p:spPr>
          <a:xfrm>
            <a:off x="755650" y="755650"/>
            <a:ext cx="7770813" cy="1446213"/>
          </a:xfrm>
          <a:prstGeom prst="roundRect">
            <a:avLst>
              <a:gd fmla="val 16667" name="adj"/>
            </a:avLst>
          </a:prstGeom>
          <a:solidFill>
            <a:srgbClr val="3333B3"/>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Google Shape;18;p27"/>
          <p:cNvSpPr txBox="1"/>
          <p:nvPr/>
        </p:nvSpPr>
        <p:spPr>
          <a:xfrm>
            <a:off x="0" y="6583363"/>
            <a:ext cx="4573588" cy="276983"/>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GB" sz="1200" u="none" cap="none" strike="noStrike">
                <a:solidFill>
                  <a:schemeClr val="lt1"/>
                </a:solidFill>
                <a:latin typeface="Arial"/>
                <a:ea typeface="Arial"/>
                <a:cs typeface="Arial"/>
                <a:sym typeface="Arial"/>
              </a:rPr>
              <a:t>Koen V. Hindriks</a:t>
            </a:r>
            <a:endParaRPr/>
          </a:p>
        </p:txBody>
      </p:sp>
      <p:sp>
        <p:nvSpPr>
          <p:cNvPr id="19" name="Google Shape;19;p27"/>
          <p:cNvSpPr txBox="1"/>
          <p:nvPr/>
        </p:nvSpPr>
        <p:spPr>
          <a:xfrm>
            <a:off x="4573588" y="6583363"/>
            <a:ext cx="4570412" cy="276983"/>
          </a:xfrm>
          <a:prstGeom prst="rect">
            <a:avLst/>
          </a:prstGeom>
          <a:solidFill>
            <a:srgbClr val="3333B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chemeClr val="lt1"/>
                </a:solidFill>
                <a:latin typeface="Arial"/>
                <a:ea typeface="Arial"/>
                <a:cs typeface="Arial"/>
                <a:sym typeface="Arial"/>
              </a:rPr>
              <a:t>First agent steps</a:t>
            </a:r>
            <a:endParaRPr b="1" i="0" sz="1200" u="none" cap="none" strike="noStrike">
              <a:solidFill>
                <a:schemeClr val="lt1"/>
              </a:solidFill>
              <a:latin typeface="Arial"/>
              <a:ea typeface="Arial"/>
              <a:cs typeface="Arial"/>
              <a:sym typeface="Arial"/>
            </a:endParaRPr>
          </a:p>
        </p:txBody>
      </p:sp>
      <p:sp>
        <p:nvSpPr>
          <p:cNvPr id="20" name="Google Shape;20;p27"/>
          <p:cNvSpPr txBox="1"/>
          <p:nvPr>
            <p:ph type="ctrTitle"/>
          </p:nvPr>
        </p:nvSpPr>
        <p:spPr>
          <a:xfrm>
            <a:off x="687388" y="739775"/>
            <a:ext cx="7769225" cy="14684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27"/>
          <p:cNvSpPr txBox="1"/>
          <p:nvPr>
            <p:ph idx="1" type="subTitle"/>
          </p:nvPr>
        </p:nvSpPr>
        <p:spPr>
          <a:xfrm>
            <a:off x="1370013" y="3887788"/>
            <a:ext cx="6403975" cy="1751012"/>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28"/>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24" name="Google Shape;24;p2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28"/>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29"/>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0"/>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31" name="Google Shape;31;p30"/>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30"/>
          <p:cNvSpPr txBox="1"/>
          <p:nvPr>
            <p:ph idx="1" type="body"/>
          </p:nvPr>
        </p:nvSpPr>
        <p:spPr>
          <a:xfrm>
            <a:off x="150813" y="1068388"/>
            <a:ext cx="4344987" cy="5332412"/>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3" name="Google Shape;33;p30"/>
          <p:cNvSpPr txBox="1"/>
          <p:nvPr>
            <p:ph idx="2" type="body"/>
          </p:nvPr>
        </p:nvSpPr>
        <p:spPr>
          <a:xfrm>
            <a:off x="4648200" y="1068388"/>
            <a:ext cx="4344988" cy="5332412"/>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31"/>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36" name="Google Shape;36;p31"/>
          <p:cNvSpPr txBox="1"/>
          <p:nvPr>
            <p:ph type="title"/>
          </p:nvPr>
        </p:nvSpPr>
        <p:spPr>
          <a:xfrm>
            <a:off x="457200" y="274638"/>
            <a:ext cx="8229600" cy="11430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8" name="Google Shape;38;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9" name="Google Shape;39;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0" name="Google Shape;40;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32"/>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43" name="Google Shape;43;p3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33"/>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34"/>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48" name="Google Shape;48;p34"/>
          <p:cNvSpPr txBox="1"/>
          <p:nvPr>
            <p:ph type="title"/>
          </p:nvPr>
        </p:nvSpPr>
        <p:spPr>
          <a:xfrm>
            <a:off x="457200" y="273050"/>
            <a:ext cx="3008313" cy="1162050"/>
          </a:xfrm>
          <a:prstGeom prst="rect">
            <a:avLst/>
          </a:prstGeom>
          <a:gradFill>
            <a:gsLst>
              <a:gs pos="0">
                <a:srgbClr val="3333B3"/>
              </a:gs>
              <a:gs pos="100000">
                <a:schemeClr val="dk2"/>
              </a:gs>
            </a:gsLst>
            <a:lin ang="0" scaled="0"/>
          </a:gra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0" name="Google Shape;50;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1" name="Shape 51"/>
        <p:cNvGrpSpPr/>
        <p:nvPr/>
      </p:nvGrpSpPr>
      <p:grpSpPr>
        <a:xfrm>
          <a:off x="0" y="0"/>
          <a:ext cx="0" cy="0"/>
          <a:chOff x="0" y="0"/>
          <a:chExt cx="0" cy="0"/>
        </a:xfrm>
      </p:grpSpPr>
      <p:sp>
        <p:nvSpPr>
          <p:cNvPr id="52" name="Google Shape;52;p35"/>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53" name="Google Shape;53;p35"/>
          <p:cNvSpPr txBox="1"/>
          <p:nvPr>
            <p:ph type="title"/>
          </p:nvPr>
        </p:nvSpPr>
        <p:spPr>
          <a:xfrm>
            <a:off x="1792288" y="4800600"/>
            <a:ext cx="5486400" cy="566738"/>
          </a:xfrm>
          <a:prstGeom prst="rect">
            <a:avLst/>
          </a:prstGeom>
          <a:gradFill>
            <a:gsLst>
              <a:gs pos="0">
                <a:srgbClr val="3333B3"/>
              </a:gs>
              <a:gs pos="100000">
                <a:schemeClr val="dk2"/>
              </a:gs>
            </a:gsLst>
            <a:lin ang="0" scaled="0"/>
          </a:gra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35"/>
          <p:cNvSpPr/>
          <p:nvPr>
            <p:ph idx="2" type="pic"/>
          </p:nvPr>
        </p:nvSpPr>
        <p:spPr>
          <a:xfrm>
            <a:off x="1792288" y="612775"/>
            <a:ext cx="5486400" cy="4114800"/>
          </a:xfrm>
          <a:prstGeom prst="rect">
            <a:avLst/>
          </a:prstGeom>
          <a:noFill/>
          <a:ln>
            <a:noFill/>
          </a:ln>
        </p:spPr>
      </p:sp>
      <p:sp>
        <p:nvSpPr>
          <p:cNvPr id="55" name="Google Shape;55;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 name="Shape 56"/>
        <p:cNvGrpSpPr/>
        <p:nvPr/>
      </p:nvGrpSpPr>
      <p:grpSpPr>
        <a:xfrm>
          <a:off x="0" y="0"/>
          <a:ext cx="0" cy="0"/>
          <a:chOff x="0" y="0"/>
          <a:chExt cx="0" cy="0"/>
        </a:xfrm>
      </p:grpSpPr>
      <p:sp>
        <p:nvSpPr>
          <p:cNvPr id="57" name="Google Shape;57;p36"/>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58" name="Google Shape;58;p3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36"/>
          <p:cNvSpPr txBox="1"/>
          <p:nvPr>
            <p:ph idx="1" type="body"/>
          </p:nvPr>
        </p:nvSpPr>
        <p:spPr>
          <a:xfrm rot="5400000">
            <a:off x="1905795" y="-686593"/>
            <a:ext cx="5332412" cy="88423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0" name="Shape 60"/>
        <p:cNvGrpSpPr/>
        <p:nvPr/>
      </p:nvGrpSpPr>
      <p:grpSpPr>
        <a:xfrm>
          <a:off x="0" y="0"/>
          <a:ext cx="0" cy="0"/>
          <a:chOff x="0" y="0"/>
          <a:chExt cx="0" cy="0"/>
        </a:xfrm>
      </p:grpSpPr>
      <p:sp>
        <p:nvSpPr>
          <p:cNvPr id="61" name="Google Shape;61;p37"/>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62" name="Google Shape;62;p37"/>
          <p:cNvSpPr txBox="1"/>
          <p:nvPr>
            <p:ph type="title"/>
          </p:nvPr>
        </p:nvSpPr>
        <p:spPr>
          <a:xfrm>
            <a:off x="6858000" y="0"/>
            <a:ext cx="2286000" cy="64008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spcBef>
                <a:spcPts val="0"/>
              </a:spcBef>
              <a:spcAft>
                <a:spcPts val="0"/>
              </a:spcAft>
              <a:buNone/>
              <a:defRPr/>
            </a:lvl1pPr>
          </a:lstStyle>
          <a:p/>
        </p:txBody>
      </p:sp>
      <p:sp>
        <p:nvSpPr>
          <p:cNvPr id="63" name="Google Shape;63;p37"/>
          <p:cNvSpPr txBox="1"/>
          <p:nvPr/>
        </p:nvSpPr>
        <p:spPr>
          <a:xfrm rot="5400000">
            <a:off x="4800600" y="2057400"/>
            <a:ext cx="6400800" cy="228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4400" u="none" cap="none" strike="noStrike">
                <a:solidFill>
                  <a:schemeClr val="lt1"/>
                </a:solidFill>
                <a:latin typeface="Arial"/>
                <a:ea typeface="Arial"/>
                <a:cs typeface="Arial"/>
                <a:sym typeface="Arial"/>
              </a:rPr>
              <a:t>Click to edit Master title style</a:t>
            </a:r>
            <a:endParaRPr b="1" i="0" sz="4400" u="none" cap="none" strike="noStrike">
              <a:solidFill>
                <a:schemeClr val="lt1"/>
              </a:solidFill>
              <a:latin typeface="Arial"/>
              <a:ea typeface="Arial"/>
              <a:cs typeface="Arial"/>
              <a:sym typeface="Arial"/>
            </a:endParaRPr>
          </a:p>
        </p:txBody>
      </p:sp>
      <p:sp>
        <p:nvSpPr>
          <p:cNvPr id="64" name="Google Shape;64;p37"/>
          <p:cNvSpPr txBox="1"/>
          <p:nvPr>
            <p:ph idx="1" type="body"/>
          </p:nvPr>
        </p:nvSpPr>
        <p:spPr>
          <a:xfrm rot="5400000">
            <a:off x="152400" y="-152400"/>
            <a:ext cx="6400800" cy="6705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65" name="Shape 65"/>
        <p:cNvGrpSpPr/>
        <p:nvPr/>
      </p:nvGrpSpPr>
      <p:grpSpPr>
        <a:xfrm>
          <a:off x="0" y="0"/>
          <a:ext cx="0" cy="0"/>
          <a:chOff x="0" y="0"/>
          <a:chExt cx="0" cy="0"/>
        </a:xfrm>
      </p:grpSpPr>
      <p:sp>
        <p:nvSpPr>
          <p:cNvPr id="66" name="Google Shape;66;p38"/>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67" name="Google Shape;67;p3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38"/>
          <p:cNvSpPr txBox="1"/>
          <p:nvPr>
            <p:ph idx="1" type="body"/>
          </p:nvPr>
        </p:nvSpPr>
        <p:spPr>
          <a:xfrm>
            <a:off x="150813" y="1068388"/>
            <a:ext cx="4344987" cy="53324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38"/>
          <p:cNvSpPr/>
          <p:nvPr>
            <p:ph idx="2" type="clipArt"/>
          </p:nvPr>
        </p:nvSpPr>
        <p:spPr>
          <a:xfrm>
            <a:off x="4648200" y="1068388"/>
            <a:ext cx="4344988" cy="5332412"/>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1" i="0" sz="4400" u="none" cap="none" strike="noStrike">
                <a:solidFill>
                  <a:schemeClr val="lt1"/>
                </a:solidFill>
                <a:latin typeface="Arial"/>
                <a:ea typeface="Arial"/>
                <a:cs typeface="Arial"/>
                <a:sym typeface="Arial"/>
              </a:defRPr>
            </a:lvl9pPr>
          </a:lstStyle>
          <a:p/>
        </p:txBody>
      </p:sp>
      <p:sp>
        <p:nvSpPr>
          <p:cNvPr id="11" name="Google Shape;11;p26"/>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6"/>
          <p:cNvSpPr txBox="1"/>
          <p:nvPr/>
        </p:nvSpPr>
        <p:spPr>
          <a:xfrm>
            <a:off x="8316913" y="6597650"/>
            <a:ext cx="576262"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GB" sz="1100" u="none" cap="none" strike="noStrike">
                <a:solidFill>
                  <a:schemeClr val="lt1"/>
                </a:solidFill>
                <a:latin typeface="Arial"/>
                <a:ea typeface="Arial"/>
                <a:cs typeface="Arial"/>
                <a:sym typeface="Arial"/>
              </a:rPr>
              <a:t>‹#›</a:t>
            </a:fld>
            <a:r>
              <a:rPr b="0" i="0" lang="en-GB" sz="1100" u="none" cap="none" strike="noStrike">
                <a:solidFill>
                  <a:schemeClr val="lt1"/>
                </a:solidFill>
                <a:latin typeface="Arial"/>
                <a:ea typeface="Arial"/>
                <a:cs typeface="Arial"/>
                <a:sym typeface="Arial"/>
              </a:rPr>
              <a:t> </a:t>
            </a:r>
            <a:endParaRPr/>
          </a:p>
        </p:txBody>
      </p:sp>
      <p:sp>
        <p:nvSpPr>
          <p:cNvPr id="13" name="Google Shape;13;p26"/>
          <p:cNvSpPr txBox="1"/>
          <p:nvPr/>
        </p:nvSpPr>
        <p:spPr>
          <a:xfrm>
            <a:off x="0" y="6583363"/>
            <a:ext cx="4573588" cy="276983"/>
          </a:xfrm>
          <a:prstGeom prst="rect">
            <a:avLst/>
          </a:prstGeom>
          <a:solidFill>
            <a:schemeClr val="dk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GB" sz="1200" u="none" cap="none" strike="noStrike">
                <a:solidFill>
                  <a:schemeClr val="lt1"/>
                </a:solidFill>
                <a:latin typeface="Arial"/>
                <a:ea typeface="Arial"/>
                <a:cs typeface="Arial"/>
                <a:sym typeface="Arial"/>
              </a:rPr>
              <a:t>Koen V. Hindriks</a:t>
            </a:r>
            <a:endParaRPr/>
          </a:p>
        </p:txBody>
      </p:sp>
      <p:sp>
        <p:nvSpPr>
          <p:cNvPr id="14" name="Google Shape;14;p26"/>
          <p:cNvSpPr txBox="1"/>
          <p:nvPr/>
        </p:nvSpPr>
        <p:spPr>
          <a:xfrm>
            <a:off x="4573588" y="6583363"/>
            <a:ext cx="4570412" cy="276983"/>
          </a:xfrm>
          <a:prstGeom prst="rect">
            <a:avLst/>
          </a:prstGeom>
          <a:solidFill>
            <a:srgbClr val="3333B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chemeClr val="lt1"/>
                </a:solidFill>
                <a:latin typeface="Arial"/>
                <a:ea typeface="Arial"/>
                <a:cs typeface="Arial"/>
                <a:sym typeface="Arial"/>
              </a:rPr>
              <a:t>First agent steps</a:t>
            </a:r>
            <a:endParaRPr b="1" i="0" sz="12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swi-prolog.org/pldoc/man?predicate=string_concat/3" TargetMode="Externa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lpn.swi-prolog.org/lpnpage.php?pagetype=html&amp;pageid=lpn-htmlse15"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txBox="1"/>
          <p:nvPr>
            <p:ph type="ctrTitle"/>
          </p:nvPr>
        </p:nvSpPr>
        <p:spPr>
          <a:xfrm>
            <a:off x="762000" y="868363"/>
            <a:ext cx="77724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MARBEL - Basics</a:t>
            </a:r>
            <a:endParaRPr/>
          </a:p>
        </p:txBody>
      </p:sp>
      <p:sp>
        <p:nvSpPr>
          <p:cNvPr id="76" name="Google Shape;76;p1"/>
          <p:cNvSpPr txBox="1"/>
          <p:nvPr>
            <p:ph idx="1" type="subTitle"/>
          </p:nvPr>
        </p:nvSpPr>
        <p:spPr>
          <a:xfrm>
            <a:off x="1370013" y="3887788"/>
            <a:ext cx="6403975" cy="1751012"/>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rPr b="1" lang="en-GB" sz="3200"/>
              <a:t>Multi-Agent Systems</a:t>
            </a:r>
            <a:endParaRPr/>
          </a:p>
          <a:p>
            <a:pPr indent="0" lvl="0" marL="0" rtl="0" algn="ctr">
              <a:spcBef>
                <a:spcPts val="640"/>
              </a:spcBef>
              <a:spcAft>
                <a:spcPts val="0"/>
              </a:spcAft>
              <a:buClr>
                <a:schemeClr val="dk1"/>
              </a:buClr>
              <a:buSzPts val="3200"/>
              <a:buFont typeface="Arial"/>
              <a:buNone/>
            </a:pPr>
            <a:r>
              <a:rPr b="1" lang="en-GB" sz="3200"/>
              <a:t>Practical </a:t>
            </a:r>
            <a:r>
              <a:rPr b="1" lang="en-GB"/>
              <a:t>5</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0"/>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EXERCISE 1</a:t>
            </a:r>
            <a:endParaRPr/>
          </a:p>
        </p:txBody>
      </p:sp>
      <p:sp>
        <p:nvSpPr>
          <p:cNvPr id="82" name="Google Shape;82;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lang="en-GB"/>
              <a:t>Collecting information from the agent console window in the debugging perspective.</a:t>
            </a:r>
            <a:endParaRPr/>
          </a:p>
          <a:p>
            <a:pPr indent="0" lvl="0" marL="0" rtl="0" algn="l">
              <a:spcBef>
                <a:spcPts val="400"/>
              </a:spcBef>
              <a:spcAft>
                <a:spcPts val="0"/>
              </a:spcAft>
              <a:buClr>
                <a:schemeClr val="dk1"/>
              </a:buClr>
              <a:buSzPts val="2000"/>
              <a:buFont typeface="Arial"/>
              <a:buNone/>
            </a:pPr>
            <a:r>
              <a:t/>
            </a:r>
            <a:endParaRPr/>
          </a:p>
          <a:p>
            <a:pPr indent="0" lvl="0" marL="0" rtl="0" algn="l">
              <a:spcBef>
                <a:spcPts val="400"/>
              </a:spcBef>
              <a:spcAft>
                <a:spcPts val="0"/>
              </a:spcAft>
              <a:buClr>
                <a:schemeClr val="dk1"/>
              </a:buClr>
              <a:buSzPts val="2000"/>
              <a:buFont typeface="Arial"/>
              <a:buNone/>
            </a:pPr>
            <a:r>
              <a:rPr i="1" lang="en-GB"/>
              <a:t>Objective</a:t>
            </a:r>
            <a:r>
              <a:rPr lang="en-GB"/>
              <a:t>: To learn to collect and understand basic information about an how agent is executed by inspecting the agent console.</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1"/>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1a</a:t>
            </a:r>
            <a:endParaRPr/>
          </a:p>
        </p:txBody>
      </p:sp>
      <p:sp>
        <p:nvSpPr>
          <p:cNvPr id="88" name="Google Shape;88;p11"/>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Start the HelloWorld ScriptAgent mas file in debug mode.</a:t>
            </a:r>
            <a:endParaRPr/>
          </a:p>
          <a:p>
            <a:pPr indent="-514350" lvl="0" marL="514350" rtl="0" algn="l">
              <a:spcBef>
                <a:spcPts val="640"/>
              </a:spcBef>
              <a:spcAft>
                <a:spcPts val="0"/>
              </a:spcAft>
              <a:buClr>
                <a:schemeClr val="dk1"/>
              </a:buClr>
              <a:buSzPts val="3200"/>
              <a:buFont typeface="Arial"/>
              <a:buAutoNum type="arabicPeriod"/>
            </a:pPr>
            <a:r>
              <a:rPr lang="en-GB"/>
              <a:t>At the start, what is the content of the agent’s database (mental state)?</a:t>
            </a:r>
            <a:endParaRPr/>
          </a:p>
          <a:p>
            <a:pPr indent="-514350" lvl="0" marL="514350" rtl="0" algn="l">
              <a:spcBef>
                <a:spcPts val="640"/>
              </a:spcBef>
              <a:spcAft>
                <a:spcPts val="0"/>
              </a:spcAft>
              <a:buClr>
                <a:schemeClr val="dk1"/>
              </a:buClr>
              <a:buSzPts val="3200"/>
              <a:buFont typeface="Arial"/>
              <a:buAutoNum type="arabicPeriod"/>
            </a:pPr>
            <a:r>
              <a:rPr lang="en-GB"/>
              <a:t>By stepping into the code, in the first cycle, which (variable) bindings are retrieved for the variables in the action rule?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b="1" lang="en-GB"/>
              <a:t>Tip</a:t>
            </a:r>
            <a:r>
              <a:rPr lang="en-GB"/>
              <a:t>: inspect the </a:t>
            </a:r>
            <a:r>
              <a:rPr i="1" lang="en-GB"/>
              <a:t>Evaluation console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1a</a:t>
            </a:r>
            <a:endParaRPr/>
          </a:p>
        </p:txBody>
      </p:sp>
      <p:sp>
        <p:nvSpPr>
          <p:cNvPr id="95" name="Google Shape;95;p12"/>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Content of the initial database:</a:t>
            </a:r>
            <a:endParaRPr/>
          </a:p>
          <a:p>
            <a:pPr indent="-139700" lvl="0" marL="342900" rtl="0" algn="l">
              <a:spcBef>
                <a:spcPts val="640"/>
              </a:spcBef>
              <a:spcAft>
                <a:spcPts val="0"/>
              </a:spcAft>
              <a:buClr>
                <a:schemeClr val="dk1"/>
              </a:buClr>
              <a:buSzPts val="3200"/>
              <a:buFont typeface="Arial"/>
              <a:buNone/>
            </a:pPr>
            <a:r>
              <a:t/>
            </a:r>
            <a:endParaRPr/>
          </a:p>
        </p:txBody>
      </p:sp>
      <p:pic>
        <p:nvPicPr>
          <p:cNvPr id="96" name="Google Shape;96;p12"/>
          <p:cNvPicPr preferRelativeResize="0"/>
          <p:nvPr/>
        </p:nvPicPr>
        <p:blipFill rotWithShape="1">
          <a:blip r:embed="rId3">
            <a:alphaModFix/>
          </a:blip>
          <a:srcRect b="0" l="0" r="0" t="0"/>
          <a:stretch/>
        </p:blipFill>
        <p:spPr>
          <a:xfrm>
            <a:off x="1907704" y="1772816"/>
            <a:ext cx="4878089" cy="43889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3"/>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1a</a:t>
            </a:r>
            <a:endParaRPr/>
          </a:p>
        </p:txBody>
      </p:sp>
      <p:sp>
        <p:nvSpPr>
          <p:cNvPr id="102" name="Google Shape;102;p13"/>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Variable bindings in first cycle for action rule: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To get these, </a:t>
            </a:r>
            <a:r>
              <a:rPr i="1" lang="en-GB"/>
              <a:t>step into </a:t>
            </a:r>
            <a:r>
              <a:rPr lang="en-GB"/>
              <a:t>the module</a:t>
            </a:r>
            <a:endParaRPr/>
          </a:p>
        </p:txBody>
      </p:sp>
      <p:pic>
        <p:nvPicPr>
          <p:cNvPr id="103" name="Google Shape;103;p13"/>
          <p:cNvPicPr preferRelativeResize="0"/>
          <p:nvPr/>
        </p:nvPicPr>
        <p:blipFill rotWithShape="1">
          <a:blip r:embed="rId3">
            <a:alphaModFix/>
          </a:blip>
          <a:srcRect b="0" l="0" r="0" t="0"/>
          <a:stretch/>
        </p:blipFill>
        <p:spPr>
          <a:xfrm>
            <a:off x="1975146" y="1900919"/>
            <a:ext cx="5193707" cy="305616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1b</a:t>
            </a:r>
            <a:endParaRPr/>
          </a:p>
        </p:txBody>
      </p:sp>
      <p:sp>
        <p:nvSpPr>
          <p:cNvPr id="109" name="Google Shape;109;p14"/>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Start the ScriptAgent mas file in debug mode.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By stepping through the code, collect all information from the agent console, until the agent terminates.</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b="1" lang="en-GB"/>
              <a:t>Tip</a:t>
            </a:r>
            <a:r>
              <a:rPr lang="en-GB"/>
              <a:t>: Set MARBEL logging preferences and select option </a:t>
            </a:r>
            <a:r>
              <a:rPr i="1" lang="en-GB"/>
              <a:t>Built-in actions that have been executed</a:t>
            </a:r>
            <a:r>
              <a:rPr lang="en-GB"/>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1b</a:t>
            </a:r>
            <a:endParaRPr/>
          </a:p>
        </p:txBody>
      </p:sp>
      <p:sp>
        <p:nvSpPr>
          <p:cNvPr id="115" name="Google Shape;115;p15"/>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agent console output should look like: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starting agent.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 thread_local(printedText/1), script(1,Hello World!), script(2,I am a rule-based, cognitive agent.), script(3,I have a simple purpose in life:), script(4,Print text that is part of my script.), script(5,For each sentence that is part of my script), script(6,I print text using a `printText' action.), script(7,I keep track of the number of lines), script(8,that I have printed so far by means of), script(9,a percept that is provided by the printing), script(10,environment that I am using.), script(11,Bye now, see you next time!)'.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1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 printedText(0)'.</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started agent (took 15ms).</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'printText(Hello World!)'.</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2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'lastPrintedText(Hello World!), printedText(1)'and deleted 'lastPrintedText(), printedText(0)’.</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sz="1800">
              <a:solidFill>
                <a:srgbClr val="000000"/>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1b</a:t>
            </a:r>
            <a:endParaRPr/>
          </a:p>
        </p:txBody>
      </p:sp>
      <p:sp>
        <p:nvSpPr>
          <p:cNvPr id="121" name="Google Shape;121;p16"/>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'printText(I am a rule-based, cognitive agent.)'.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3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'lastPrintedText(I am a rule-based, cognitive agent.), printedText(2)'and deleted 'lastPrintedText(Hello World!), printedText(1)'.</a:t>
            </a:r>
            <a:endParaRPr/>
          </a:p>
          <a:p>
            <a:pPr indent="0" lvl="0" marL="0" marR="0" rtl="0" algn="l">
              <a:spcBef>
                <a:spcPts val="0"/>
              </a:spcBef>
              <a:spcAft>
                <a:spcPts val="0"/>
              </a:spcAft>
              <a:buClr>
                <a:srgbClr val="000000"/>
              </a:buClr>
              <a:buSzPts val="1800"/>
              <a:buFont typeface="Consolas"/>
              <a:buNone/>
            </a:pPr>
            <a:r>
              <a:rPr b="1" lang="en-GB" sz="1800">
                <a:solidFill>
                  <a:srgbClr val="000000"/>
                </a:solidFill>
                <a:latin typeface="Consolas"/>
                <a:ea typeface="Consolas"/>
                <a:cs typeface="Consolas"/>
                <a:sym typeface="Consolas"/>
              </a:rPr>
              <a:t>User started me. (DEPENDS ON HOW THE AGENT WAS RUN!!)</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'printText(I have a simple purpose in life:)'.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4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'lastPrintedText(I have a simple purpose in life:), printedText(3)'and deleted 'lastPrintedText(I am a rule-based, cognitive agent.), printedText(2)'.</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'printText(Print text that is part of my script.)'.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5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'lastPrintedText(Print text that is part of my script.), printedText(4)'and deleted 'lastPrintedText(I have a simple purpose in life:), printedText(3)’</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sz="1800">
              <a:solidFill>
                <a:srgbClr val="000000"/>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1b</a:t>
            </a:r>
            <a:endParaRPr/>
          </a:p>
        </p:txBody>
      </p:sp>
      <p:sp>
        <p:nvSpPr>
          <p:cNvPr id="127" name="Google Shape;127;p17"/>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'printText(For each sentence that is part of my script)'.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6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'lastPrintedText(For each sentence that is part of my script), printedText(5)'and deleted 'lastPrintedText(Print text that is part of my script.), printedText(4)'.</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'printText(I print text using a `printText' action.)'.</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7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'lastPrintedText(I print text using a `printText' action.), printedText(6)'and deleted 'lastPrintedText(For each sentence that is part of my script), printedText(5)'.</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'printText(I keep track of the number of lines)'.</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8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'lastPrintedText(I keep track of the number of lines), printedText(7)'and deleted 'lastPrintedText(I print text using a `printText' action.), printedText(6)’.</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1b</a:t>
            </a:r>
            <a:endParaRPr/>
          </a:p>
        </p:txBody>
      </p:sp>
      <p:sp>
        <p:nvSpPr>
          <p:cNvPr id="133" name="Google Shape;133;p18"/>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'printText(that I have printed so far by means of)'.</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9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sz="1800">
              <a:solidFill>
                <a:srgbClr val="000000"/>
              </a:solidFill>
              <a:latin typeface="Consolas"/>
              <a:ea typeface="Consolas"/>
              <a:cs typeface="Consolas"/>
              <a:sym typeface="Consolas"/>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 Cycle 11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'lastPrintedText(environment that I am using.), printedText(10)'and deleted 'lastPrintedText(a percept that is provided by the printing), printedText(9)'.</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performed 'printText(Bye now, see you next time!)'.</a:t>
            </a:r>
            <a:endParaRPr/>
          </a:p>
          <a:p>
            <a:pPr indent="0" lvl="0" marL="0" marR="0" rtl="0" algn="l">
              <a:spcBef>
                <a:spcPts val="0"/>
              </a:spcBef>
              <a:spcAft>
                <a:spcPts val="0"/>
              </a:spcAft>
              <a:buClr>
                <a:srgbClr val="000000"/>
              </a:buClr>
              <a:buSzPts val="1800"/>
              <a:buFont typeface="Consolas"/>
              <a:buNone/>
            </a:pPr>
            <a:r>
              <a:rPr b="1" lang="en-GB" sz="1800">
                <a:solidFill>
                  <a:srgbClr val="000000"/>
                </a:solidFill>
                <a:latin typeface="Consolas"/>
                <a:ea typeface="Consolas"/>
                <a:cs typeface="Consolas"/>
                <a:sym typeface="Consolas"/>
              </a:rPr>
              <a:t>[helloWorldAgent] +++++++ Cycle 12 +++++++ (SHOULD BE 12 CYCLES)</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[helloWorldAgent] inserted 'lastPrintedText(Bye now, see you next time!), printedText(11)'and deleted 'lastPrintedText(environment that I am using.), printedText(10)'.</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722313" y="4406900"/>
            <a:ext cx="7772400" cy="1362075"/>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EXERCISE 2</a:t>
            </a:r>
            <a:endParaRPr/>
          </a:p>
        </p:txBody>
      </p:sp>
      <p:sp>
        <p:nvSpPr>
          <p:cNvPr id="139" name="Google Shape;13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lang="en-GB"/>
              <a:t>Changing the output of the script agent by adding line number prefixes.</a:t>
            </a:r>
            <a:endParaRPr/>
          </a:p>
          <a:p>
            <a:pPr indent="0" lvl="0" marL="0" rtl="0" algn="l">
              <a:spcBef>
                <a:spcPts val="400"/>
              </a:spcBef>
              <a:spcAft>
                <a:spcPts val="0"/>
              </a:spcAft>
              <a:buClr>
                <a:schemeClr val="dk1"/>
              </a:buClr>
              <a:buSzPts val="2000"/>
              <a:buFont typeface="Arial"/>
              <a:buNone/>
            </a:pPr>
            <a:r>
              <a:t/>
            </a:r>
            <a:endParaRPr/>
          </a:p>
          <a:p>
            <a:pPr indent="0" lvl="0" marL="0" rtl="0" algn="l">
              <a:spcBef>
                <a:spcPts val="400"/>
              </a:spcBef>
              <a:spcAft>
                <a:spcPts val="0"/>
              </a:spcAft>
              <a:buClr>
                <a:schemeClr val="dk1"/>
              </a:buClr>
              <a:buSzPts val="2000"/>
              <a:buFont typeface="Arial"/>
              <a:buNone/>
            </a:pPr>
            <a:r>
              <a:rPr i="1" lang="en-GB"/>
              <a:t>Objectives</a:t>
            </a:r>
            <a:r>
              <a:rPr lang="en-GB"/>
              <a:t>: </a:t>
            </a:r>
            <a:endParaRPr/>
          </a:p>
          <a:p>
            <a:pPr indent="-457200" lvl="0" marL="457200" rtl="0" algn="l">
              <a:spcBef>
                <a:spcPts val="400"/>
              </a:spcBef>
              <a:spcAft>
                <a:spcPts val="0"/>
              </a:spcAft>
              <a:buClr>
                <a:schemeClr val="dk1"/>
              </a:buClr>
              <a:buSzPts val="2000"/>
              <a:buFont typeface="Arial"/>
              <a:buAutoNum type="arabicPeriod"/>
            </a:pPr>
            <a:r>
              <a:rPr lang="en-GB"/>
              <a:t>To understand basic information that is in the code.</a:t>
            </a:r>
            <a:endParaRPr/>
          </a:p>
          <a:p>
            <a:pPr indent="-457200" lvl="0" marL="457200" rtl="0" algn="l">
              <a:spcBef>
                <a:spcPts val="400"/>
              </a:spcBef>
              <a:spcAft>
                <a:spcPts val="0"/>
              </a:spcAft>
              <a:buClr>
                <a:schemeClr val="dk1"/>
              </a:buClr>
              <a:buSzPts val="2000"/>
              <a:buFont typeface="Arial"/>
              <a:buAutoNum type="arabicPeriod"/>
            </a:pPr>
            <a:r>
              <a:rPr lang="en-GB"/>
              <a:t>To learn where different parts of the code are located, and where to change code.</a:t>
            </a:r>
            <a:endParaRPr/>
          </a:p>
          <a:p>
            <a:pPr indent="-457200" lvl="0" marL="457200" rtl="0" algn="l">
              <a:spcBef>
                <a:spcPts val="400"/>
              </a:spcBef>
              <a:spcAft>
                <a:spcPts val="0"/>
              </a:spcAft>
              <a:buClr>
                <a:schemeClr val="dk1"/>
              </a:buClr>
              <a:buSzPts val="2000"/>
              <a:buFont typeface="Arial"/>
              <a:buAutoNum type="arabicPeriod"/>
            </a:pPr>
            <a:r>
              <a:rPr lang="en-GB"/>
              <a:t>To learn how to use Prolog queries using a predefined, built-in SWI predicate and to introduce new variables to shape the input of an action parameter of a MARBEL agent.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2a</a:t>
            </a:r>
            <a:endParaRPr/>
          </a:p>
        </p:txBody>
      </p:sp>
      <p:sp>
        <p:nvSpPr>
          <p:cNvPr id="145" name="Google Shape;145;p20"/>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GB" sz="2800"/>
              <a:t>Inspect the code of the ScriptAgent mas:</a:t>
            </a:r>
            <a:endParaRPr/>
          </a:p>
          <a:p>
            <a:pPr indent="-342900" lvl="0" marL="342900" rtl="0" algn="l">
              <a:spcBef>
                <a:spcPts val="560"/>
              </a:spcBef>
              <a:spcAft>
                <a:spcPts val="0"/>
              </a:spcAft>
              <a:buClr>
                <a:schemeClr val="dk1"/>
              </a:buClr>
              <a:buSzPts val="2800"/>
              <a:buFont typeface="Arial"/>
              <a:buChar char="•"/>
            </a:pPr>
            <a:r>
              <a:rPr lang="en-GB" sz="2800"/>
              <a:t>What is the name of the agent defined in this mas?</a:t>
            </a:r>
            <a:endParaRPr/>
          </a:p>
          <a:p>
            <a:pPr indent="-342900" lvl="0" marL="342900" rtl="0" algn="l">
              <a:spcBef>
                <a:spcPts val="560"/>
              </a:spcBef>
              <a:spcAft>
                <a:spcPts val="0"/>
              </a:spcAft>
              <a:buClr>
                <a:schemeClr val="dk1"/>
              </a:buClr>
              <a:buSzPts val="2800"/>
              <a:buFont typeface="Arial"/>
              <a:buChar char="•"/>
            </a:pPr>
            <a:r>
              <a:rPr lang="en-GB" sz="2800"/>
              <a:t>Which module(s) is used by this agent?</a:t>
            </a:r>
            <a:endParaRPr/>
          </a:p>
          <a:p>
            <a:pPr indent="-342900" lvl="0" marL="342900" rtl="0" algn="l">
              <a:spcBef>
                <a:spcPts val="560"/>
              </a:spcBef>
              <a:spcAft>
                <a:spcPts val="0"/>
              </a:spcAft>
              <a:buClr>
                <a:schemeClr val="dk1"/>
              </a:buClr>
              <a:buSzPts val="2800"/>
              <a:buFont typeface="Arial"/>
              <a:buChar char="•"/>
            </a:pPr>
            <a:r>
              <a:rPr lang="en-GB" sz="2800"/>
              <a:t>Why is the module parameter set to </a:t>
            </a:r>
            <a:r>
              <a:rPr i="1" lang="en-GB" sz="2800"/>
              <a:t>11</a:t>
            </a:r>
            <a:r>
              <a:rPr lang="en-GB" sz="2800"/>
              <a:t> in the agent definition?</a:t>
            </a:r>
            <a:endParaRPr/>
          </a:p>
          <a:p>
            <a:pPr indent="-342900" lvl="0" marL="342900" rtl="0" algn="l">
              <a:spcBef>
                <a:spcPts val="560"/>
              </a:spcBef>
              <a:spcAft>
                <a:spcPts val="0"/>
              </a:spcAft>
              <a:buClr>
                <a:schemeClr val="dk1"/>
              </a:buClr>
              <a:buSzPts val="2800"/>
              <a:buFont typeface="Arial"/>
              <a:buChar char="•"/>
            </a:pPr>
            <a:r>
              <a:rPr lang="en-GB" sz="2800"/>
              <a:t>What action is being used by this agent? What type of action is this (built-in or environment action)?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2a</a:t>
            </a:r>
            <a:endParaRPr/>
          </a:p>
        </p:txBody>
      </p:sp>
      <p:sp>
        <p:nvSpPr>
          <p:cNvPr id="151" name="Google Shape;151;p23"/>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Arial"/>
              <a:buChar char="•"/>
            </a:pPr>
            <a:r>
              <a:rPr lang="en-GB" sz="3200"/>
              <a:t>The agent’s name is: </a:t>
            </a:r>
            <a:r>
              <a:rPr lang="en-GB" sz="2800">
                <a:solidFill>
                  <a:srgbClr val="000000"/>
                </a:solidFill>
                <a:latin typeface="Consolas"/>
                <a:ea typeface="Consolas"/>
                <a:cs typeface="Consolas"/>
                <a:sym typeface="Consolas"/>
              </a:rPr>
              <a:t>helloWorldAgent</a:t>
            </a:r>
            <a:endParaRPr sz="3200"/>
          </a:p>
          <a:p>
            <a:pPr indent="-342900" lvl="0" marL="342900" rtl="0" algn="l">
              <a:spcBef>
                <a:spcPts val="640"/>
              </a:spcBef>
              <a:spcAft>
                <a:spcPts val="0"/>
              </a:spcAft>
              <a:buClr>
                <a:schemeClr val="dk1"/>
              </a:buClr>
              <a:buSzPts val="3200"/>
              <a:buFont typeface="Arial"/>
              <a:buChar char="•"/>
            </a:pPr>
            <a:r>
              <a:rPr lang="en-GB" sz="3200"/>
              <a:t>One </a:t>
            </a:r>
            <a:r>
              <a:rPr i="1" lang="en-GB" sz="3200"/>
              <a:t>decision </a:t>
            </a:r>
            <a:r>
              <a:rPr lang="en-GB" sz="3200"/>
              <a:t>module is used: </a:t>
            </a:r>
            <a:r>
              <a:rPr lang="en-GB" sz="2800">
                <a:solidFill>
                  <a:srgbClr val="000000"/>
                </a:solidFill>
                <a:latin typeface="Consolas"/>
                <a:ea typeface="Consolas"/>
                <a:cs typeface="Consolas"/>
                <a:sym typeface="Consolas"/>
              </a:rPr>
              <a:t>printScript</a:t>
            </a:r>
            <a:endParaRPr sz="3200"/>
          </a:p>
          <a:p>
            <a:pPr indent="-342900" lvl="0" marL="342900" rtl="0" algn="l">
              <a:spcBef>
                <a:spcPts val="640"/>
              </a:spcBef>
              <a:spcAft>
                <a:spcPts val="0"/>
              </a:spcAft>
              <a:buClr>
                <a:schemeClr val="dk1"/>
              </a:buClr>
              <a:buSzPts val="3200"/>
              <a:buFont typeface="Arial"/>
              <a:buChar char="•"/>
            </a:pPr>
            <a:r>
              <a:rPr lang="en-GB" sz="3200"/>
              <a:t>The module parameter is set to </a:t>
            </a:r>
            <a:r>
              <a:rPr i="1" lang="en-GB" sz="3200"/>
              <a:t>11</a:t>
            </a:r>
            <a:r>
              <a:rPr lang="en-GB" sz="3200"/>
              <a:t> because there are 11 lines to be printed in the </a:t>
            </a:r>
            <a:r>
              <a:rPr lang="en-GB" sz="2800">
                <a:solidFill>
                  <a:srgbClr val="000000"/>
                </a:solidFill>
                <a:latin typeface="Consolas"/>
                <a:ea typeface="Consolas"/>
                <a:cs typeface="Consolas"/>
                <a:sym typeface="Consolas"/>
              </a:rPr>
              <a:t>script.pl </a:t>
            </a:r>
            <a:r>
              <a:rPr lang="en-GB" sz="3200"/>
              <a:t>file. </a:t>
            </a:r>
            <a:endParaRPr/>
          </a:p>
          <a:p>
            <a:pPr indent="-342900" lvl="0" marL="342900" rtl="0" algn="l">
              <a:spcBef>
                <a:spcPts val="640"/>
              </a:spcBef>
              <a:spcAft>
                <a:spcPts val="0"/>
              </a:spcAft>
              <a:buClr>
                <a:schemeClr val="dk1"/>
              </a:buClr>
              <a:buSzPts val="3200"/>
              <a:buFont typeface="Arial"/>
              <a:buChar char="•"/>
            </a:pPr>
            <a:r>
              <a:rPr lang="en-GB" sz="3200"/>
              <a:t>The agent used one action: </a:t>
            </a:r>
            <a:r>
              <a:rPr b="1" lang="en-GB" sz="2800">
                <a:solidFill>
                  <a:srgbClr val="000000"/>
                </a:solidFill>
                <a:latin typeface="Consolas"/>
                <a:ea typeface="Consolas"/>
                <a:cs typeface="Consolas"/>
                <a:sym typeface="Consolas"/>
              </a:rPr>
              <a:t>printedText(</a:t>
            </a:r>
            <a:r>
              <a:rPr b="1" lang="en-GB" sz="2800">
                <a:solidFill>
                  <a:srgbClr val="0000C0"/>
                </a:solidFill>
                <a:latin typeface="Consolas"/>
                <a:ea typeface="Consolas"/>
                <a:cs typeface="Consolas"/>
                <a:sym typeface="Consolas"/>
              </a:rPr>
              <a:t>X</a:t>
            </a:r>
            <a:r>
              <a:rPr b="1" lang="en-GB" sz="2800">
                <a:solidFill>
                  <a:srgbClr val="000000"/>
                </a:solidFill>
                <a:latin typeface="Consolas"/>
                <a:ea typeface="Consolas"/>
                <a:cs typeface="Consolas"/>
                <a:sym typeface="Consolas"/>
              </a:rPr>
              <a:t>)</a:t>
            </a:r>
            <a:r>
              <a:rPr lang="en-GB" sz="3200"/>
              <a:t>.</a:t>
            </a:r>
            <a:endParaRPr/>
          </a:p>
          <a:p>
            <a:pPr indent="0" lvl="0" marL="0" rtl="0" algn="l">
              <a:spcBef>
                <a:spcPts val="640"/>
              </a:spcBef>
              <a:spcAft>
                <a:spcPts val="0"/>
              </a:spcAft>
              <a:buClr>
                <a:schemeClr val="dk1"/>
              </a:buClr>
              <a:buSzPts val="3200"/>
              <a:buFont typeface="Arial"/>
              <a:buNone/>
            </a:pPr>
            <a:r>
              <a:rPr lang="en-GB"/>
              <a:t>	It is an </a:t>
            </a:r>
            <a:r>
              <a:rPr lang="en-GB" sz="3200"/>
              <a:t>environment action, defined by the 	</a:t>
            </a:r>
            <a:r>
              <a:rPr lang="en-GB" sz="2400">
                <a:solidFill>
                  <a:srgbClr val="2A00FF"/>
                </a:solidFill>
                <a:latin typeface="Consolas"/>
                <a:ea typeface="Consolas"/>
                <a:cs typeface="Consolas"/>
                <a:sym typeface="Consolas"/>
              </a:rPr>
              <a:t>HelloWorldEnvironment-1.3.0.jar </a:t>
            </a:r>
            <a:r>
              <a:rPr lang="en-GB" sz="3200"/>
              <a:t>environment</a:t>
            </a:r>
            <a:endParaRPr/>
          </a:p>
          <a:p>
            <a:pPr indent="-139700" lvl="0" marL="34290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2b</a:t>
            </a:r>
            <a:endParaRPr/>
          </a:p>
        </p:txBody>
      </p:sp>
      <p:sp>
        <p:nvSpPr>
          <p:cNvPr id="157" name="Google Shape;157;p21"/>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Change the ScriptAgent mas and make sure that it will print 12 lines instead of 11 by printing an additional line between the original line 10 and 11. Content of what is printed is up to you!</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2b</a:t>
            </a:r>
            <a:endParaRPr/>
          </a:p>
        </p:txBody>
      </p:sp>
      <p:sp>
        <p:nvSpPr>
          <p:cNvPr id="163" name="Google Shape;163;p24"/>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Code in the script.pl file needs to be changed. Code should like something like:</a:t>
            </a:r>
            <a:endParaRPr/>
          </a:p>
          <a:p>
            <a:pPr indent="0" lvl="0" marL="0" rtl="0" algn="l">
              <a:spcBef>
                <a:spcPts val="640"/>
              </a:spcBef>
              <a:spcAft>
                <a:spcPts val="0"/>
              </a:spcAft>
              <a:buClr>
                <a:schemeClr val="dk1"/>
              </a:buClr>
              <a:buSzPts val="3200"/>
              <a:buFont typeface="Arial"/>
              <a:buNone/>
            </a:pPr>
            <a:r>
              <a:t/>
            </a:r>
            <a:endParaRPr/>
          </a:p>
          <a:p>
            <a:pPr indent="0" lvl="0" marL="0" marR="0" rtl="0" algn="l">
              <a:spcBef>
                <a:spcPts val="0"/>
              </a:spcBef>
              <a:spcAft>
                <a:spcPts val="0"/>
              </a:spcAft>
              <a:buClr>
                <a:srgbClr val="000000"/>
              </a:buClr>
              <a:buSzPts val="2000"/>
              <a:buFont typeface="Consolas"/>
              <a:buNone/>
            </a:pPr>
            <a:r>
              <a:rPr lang="en-GB" sz="2000">
                <a:solidFill>
                  <a:srgbClr val="000000"/>
                </a:solidFill>
                <a:latin typeface="Consolas"/>
                <a:ea typeface="Consolas"/>
                <a:cs typeface="Consolas"/>
                <a:sym typeface="Consolas"/>
              </a:rPr>
              <a:t>script(10, </a:t>
            </a:r>
            <a:r>
              <a:rPr lang="en-GB" sz="2000">
                <a:solidFill>
                  <a:srgbClr val="00809B"/>
                </a:solidFill>
                <a:latin typeface="Consolas"/>
                <a:ea typeface="Consolas"/>
                <a:cs typeface="Consolas"/>
                <a:sym typeface="Consolas"/>
              </a:rPr>
              <a:t>"environment that I am using."</a:t>
            </a:r>
            <a:r>
              <a:rPr lang="en-GB" sz="2000">
                <a:solidFill>
                  <a:srgbClr val="000000"/>
                </a:solidFill>
                <a:latin typeface="Consolas"/>
                <a:ea typeface="Consolas"/>
                <a:cs typeface="Consolas"/>
                <a:sym typeface="Consolas"/>
              </a:rPr>
              <a:t>).</a:t>
            </a:r>
            <a:endParaRPr/>
          </a:p>
          <a:p>
            <a:pPr indent="0" lvl="0" marL="0" rtl="0" algn="l">
              <a:spcBef>
                <a:spcPts val="0"/>
              </a:spcBef>
              <a:spcAft>
                <a:spcPts val="0"/>
              </a:spcAft>
              <a:buClr>
                <a:srgbClr val="000000"/>
              </a:buClr>
              <a:buSzPts val="2000"/>
              <a:buFont typeface="Consolas"/>
              <a:buNone/>
            </a:pPr>
            <a:r>
              <a:rPr lang="en-GB" sz="2000">
                <a:solidFill>
                  <a:srgbClr val="000000"/>
                </a:solidFill>
                <a:latin typeface="Consolas"/>
                <a:ea typeface="Consolas"/>
                <a:cs typeface="Consolas"/>
                <a:sym typeface="Consolas"/>
              </a:rPr>
              <a:t>script(11, </a:t>
            </a:r>
            <a:r>
              <a:rPr lang="en-GB" sz="2000">
                <a:solidFill>
                  <a:srgbClr val="00809B"/>
                </a:solidFill>
                <a:latin typeface="Consolas"/>
                <a:ea typeface="Consolas"/>
                <a:cs typeface="Consolas"/>
                <a:sym typeface="Consolas"/>
              </a:rPr>
              <a:t>“THIS IS A NEW LINE THAT WAS NOT THERE BEFORE"</a:t>
            </a:r>
            <a:r>
              <a:rPr lang="en-GB" sz="20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2000"/>
              <a:buFont typeface="Consolas"/>
              <a:buNone/>
            </a:pPr>
            <a:r>
              <a:rPr lang="en-GB" sz="2000">
                <a:solidFill>
                  <a:srgbClr val="000000"/>
                </a:solidFill>
                <a:latin typeface="Consolas"/>
                <a:ea typeface="Consolas"/>
                <a:cs typeface="Consolas"/>
                <a:sym typeface="Consolas"/>
              </a:rPr>
              <a:t>script(12, </a:t>
            </a:r>
            <a:r>
              <a:rPr lang="en-GB" sz="2000">
                <a:solidFill>
                  <a:srgbClr val="00809B"/>
                </a:solidFill>
                <a:latin typeface="Consolas"/>
                <a:ea typeface="Consolas"/>
                <a:cs typeface="Consolas"/>
                <a:sym typeface="Consolas"/>
              </a:rPr>
              <a:t>"Bye now, see you next time!"</a:t>
            </a:r>
            <a:r>
              <a:rPr lang="en-GB" sz="2000">
                <a:solidFill>
                  <a:srgbClr val="000000"/>
                </a:solidFill>
                <a:latin typeface="Consolas"/>
                <a:ea typeface="Consolas"/>
                <a:cs typeface="Consolas"/>
                <a:sym typeface="Consolas"/>
              </a:rPr>
              <a:t>).</a:t>
            </a:r>
            <a:endParaRPr/>
          </a:p>
          <a:p>
            <a:pPr indent="0" lvl="0" marL="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2c</a:t>
            </a:r>
            <a:endParaRPr/>
          </a:p>
        </p:txBody>
      </p:sp>
      <p:sp>
        <p:nvSpPr>
          <p:cNvPr id="169" name="Google Shape;169;p22"/>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GB" sz="2800"/>
              <a:t>Change the code of the agent such that it prefixes each line that is printed with a corresponding number. Output should look like:</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b="1" lang="en-GB" sz="2800"/>
              <a:t>Tip</a:t>
            </a:r>
            <a:r>
              <a:rPr lang="en-GB" sz="2800"/>
              <a:t>: Use the built-in SWI predicate </a:t>
            </a:r>
            <a:r>
              <a:rPr b="1" i="1" lang="en-GB" sz="2800">
                <a:solidFill>
                  <a:srgbClr val="7F0055"/>
                </a:solidFill>
                <a:latin typeface="Consolas"/>
                <a:ea typeface="Consolas"/>
                <a:cs typeface="Consolas"/>
                <a:sym typeface="Consolas"/>
              </a:rPr>
              <a:t>string_concat/3</a:t>
            </a:r>
            <a:r>
              <a:rPr lang="en-GB" sz="2800"/>
              <a:t>.</a:t>
            </a:r>
            <a:endParaRPr/>
          </a:p>
          <a:p>
            <a:pPr indent="0" lvl="0" marL="0" rtl="0" algn="l">
              <a:spcBef>
                <a:spcPts val="400"/>
              </a:spcBef>
              <a:spcAft>
                <a:spcPts val="0"/>
              </a:spcAft>
              <a:buClr>
                <a:schemeClr val="dk1"/>
              </a:buClr>
              <a:buSzPts val="2000"/>
              <a:buFont typeface="Arial"/>
              <a:buNone/>
            </a:pPr>
            <a:r>
              <a:rPr lang="en-GB" sz="2000"/>
              <a:t>See: </a:t>
            </a:r>
            <a:r>
              <a:rPr lang="en-GB" sz="2000" u="sng">
                <a:solidFill>
                  <a:schemeClr val="hlink"/>
                </a:solidFill>
                <a:hlinkClick r:id="rId3"/>
              </a:rPr>
              <a:t>https://www.swi-prolog.org/pldoc/man?predicate=string_concat/3</a:t>
            </a:r>
            <a:r>
              <a:rPr lang="en-GB" sz="2000"/>
              <a:t>. </a:t>
            </a:r>
            <a:endParaRPr sz="2000"/>
          </a:p>
        </p:txBody>
      </p:sp>
      <p:pic>
        <p:nvPicPr>
          <p:cNvPr id="170" name="Google Shape;170;p22"/>
          <p:cNvPicPr preferRelativeResize="0"/>
          <p:nvPr/>
        </p:nvPicPr>
        <p:blipFill rotWithShape="1">
          <a:blip r:embed="rId4">
            <a:alphaModFix/>
          </a:blip>
          <a:srcRect b="0" l="0" r="0" t="0"/>
          <a:stretch/>
        </p:blipFill>
        <p:spPr>
          <a:xfrm>
            <a:off x="4572000" y="2210594"/>
            <a:ext cx="3171825" cy="304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0" y="0"/>
            <a:ext cx="9144000" cy="944563"/>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School Solution 2c</a:t>
            </a:r>
            <a:endParaRPr/>
          </a:p>
        </p:txBody>
      </p:sp>
      <p:sp>
        <p:nvSpPr>
          <p:cNvPr id="176" name="Google Shape;176;p25"/>
          <p:cNvSpPr txBox="1"/>
          <p:nvPr>
            <p:ph idx="1" type="body"/>
          </p:nvPr>
        </p:nvSpPr>
        <p:spPr>
          <a:xfrm>
            <a:off x="150813" y="1068388"/>
            <a:ext cx="8842375" cy="53324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action rule in the printScript module needs to be changed to something like this:</a:t>
            </a:r>
            <a:endParaRPr/>
          </a:p>
          <a:p>
            <a:pPr indent="0" lvl="0" marL="0" rtl="0" algn="l">
              <a:spcBef>
                <a:spcPts val="640"/>
              </a:spcBef>
              <a:spcAft>
                <a:spcPts val="0"/>
              </a:spcAft>
              <a:buClr>
                <a:schemeClr val="dk1"/>
              </a:buClr>
              <a:buSzPts val="3200"/>
              <a:buFont typeface="Arial"/>
              <a:buNone/>
            </a:pPr>
            <a:r>
              <a:t/>
            </a:r>
            <a:endParaRPr/>
          </a:p>
          <a:p>
            <a:pPr indent="0" lvl="0" marL="0" marR="0" rtl="0" algn="l">
              <a:spcBef>
                <a:spcPts val="0"/>
              </a:spcBef>
              <a:spcAft>
                <a:spcPts val="0"/>
              </a:spcAft>
              <a:buClr>
                <a:srgbClr val="000000"/>
              </a:buClr>
              <a:buSzPts val="1800"/>
              <a:buFont typeface="Consolas"/>
              <a:buNone/>
            </a:pPr>
            <a:r>
              <a:rPr b="1" lang="en-GB" sz="1800">
                <a:solidFill>
                  <a:srgbClr val="000000"/>
                </a:solidFill>
                <a:latin typeface="Consolas"/>
                <a:ea typeface="Consolas"/>
                <a:cs typeface="Consolas"/>
                <a:sym typeface="Consolas"/>
              </a:rPr>
              <a:t>if </a:t>
            </a:r>
            <a:r>
              <a:rPr lang="en-GB" sz="1800">
                <a:solidFill>
                  <a:srgbClr val="000000"/>
                </a:solidFill>
                <a:latin typeface="Consolas"/>
                <a:ea typeface="Consolas"/>
                <a:cs typeface="Consolas"/>
                <a:sym typeface="Consolas"/>
              </a:rPr>
              <a:t>printedText(</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b="1" lang="en-GB" sz="1800">
                <a:solidFill>
                  <a:srgbClr val="969696"/>
                </a:solidFill>
                <a:latin typeface="Consolas"/>
                <a:ea typeface="Consolas"/>
                <a:cs typeface="Consolas"/>
                <a:sym typeface="Consolas"/>
              </a:rPr>
              <a:t>&lt;</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NextLine</a:t>
            </a:r>
            <a:r>
              <a:rPr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is</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1, script(</a:t>
            </a:r>
            <a:r>
              <a:rPr lang="en-GB" sz="1800">
                <a:solidFill>
                  <a:srgbClr val="0000C0"/>
                </a:solidFill>
                <a:latin typeface="Consolas"/>
                <a:ea typeface="Consolas"/>
                <a:cs typeface="Consolas"/>
                <a:sym typeface="Consolas"/>
              </a:rPr>
              <a:t>NextLine</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Text</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7F0055"/>
              </a:buClr>
              <a:buSzPts val="1800"/>
              <a:buFont typeface="Consolas"/>
              <a:buNone/>
            </a:pPr>
            <a:r>
              <a:rPr b="1" i="1" lang="en-GB" sz="1800">
                <a:solidFill>
                  <a:srgbClr val="7F0055"/>
                </a:solidFill>
                <a:latin typeface="Consolas"/>
                <a:ea typeface="Consolas"/>
                <a:cs typeface="Consolas"/>
                <a:sym typeface="Consolas"/>
              </a:rPr>
              <a:t>	string_concat</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NextLine</a:t>
            </a:r>
            <a:r>
              <a:rPr lang="en-GB" sz="1800">
                <a:solidFill>
                  <a:srgbClr val="000000"/>
                </a:solidFill>
                <a:latin typeface="Consolas"/>
                <a:ea typeface="Consolas"/>
                <a:cs typeface="Consolas"/>
                <a:sym typeface="Consolas"/>
              </a:rPr>
              <a:t>, </a:t>
            </a:r>
            <a:r>
              <a:rPr lang="en-GB" sz="1800">
                <a:solidFill>
                  <a:srgbClr val="00809B"/>
                </a:solidFill>
                <a:latin typeface="Consolas"/>
                <a:ea typeface="Consolas"/>
                <a:cs typeface="Consolas"/>
                <a:sym typeface="Consolas"/>
              </a:rPr>
              <a:t>": "</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LinePrefix</a:t>
            </a:r>
            <a:r>
              <a:rPr lang="en-GB" sz="1800">
                <a:solidFill>
                  <a:srgbClr val="000000"/>
                </a:solidFill>
                <a:latin typeface="Consolas"/>
                <a:ea typeface="Consolas"/>
                <a:cs typeface="Consolas"/>
                <a:sym typeface="Consolas"/>
              </a:rPr>
              <a:t>), </a:t>
            </a:r>
            <a:endParaRPr/>
          </a:p>
          <a:p>
            <a:pPr indent="0" lvl="0" marL="0" marR="0" rtl="0" algn="l">
              <a:spcBef>
                <a:spcPts val="0"/>
              </a:spcBef>
              <a:spcAft>
                <a:spcPts val="0"/>
              </a:spcAft>
              <a:buClr>
                <a:srgbClr val="7F0055"/>
              </a:buClr>
              <a:buSzPts val="1800"/>
              <a:buFont typeface="Consolas"/>
              <a:buNone/>
            </a:pPr>
            <a:r>
              <a:rPr b="1" i="1" lang="en-GB" sz="1800">
                <a:solidFill>
                  <a:srgbClr val="7F0055"/>
                </a:solidFill>
                <a:latin typeface="Consolas"/>
                <a:ea typeface="Consolas"/>
                <a:cs typeface="Consolas"/>
                <a:sym typeface="Consolas"/>
              </a:rPr>
              <a:t>	string_concat</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LinePrefix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Text</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Output</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1800"/>
              <a:buFont typeface="Consolas"/>
              <a:buNone/>
            </a:pPr>
            <a:r>
              <a:rPr b="1" lang="en-GB" sz="1800">
                <a:solidFill>
                  <a:srgbClr val="000000"/>
                </a:solidFill>
                <a:latin typeface="Consolas"/>
                <a:ea typeface="Consolas"/>
                <a:cs typeface="Consolas"/>
                <a:sym typeface="Consolas"/>
              </a:rPr>
              <a:t>then</a:t>
            </a:r>
            <a:r>
              <a:rPr lang="en-GB" sz="1800">
                <a:solidFill>
                  <a:srgbClr val="000000"/>
                </a:solidFill>
                <a:latin typeface="Consolas"/>
                <a:ea typeface="Consolas"/>
                <a:cs typeface="Consolas"/>
                <a:sym typeface="Consolas"/>
              </a:rPr>
              <a:t> printText(</a:t>
            </a:r>
            <a:r>
              <a:rPr lang="en-GB" sz="1800">
                <a:solidFill>
                  <a:srgbClr val="0000C0"/>
                </a:solidFill>
                <a:latin typeface="Consolas"/>
                <a:ea typeface="Consolas"/>
                <a:cs typeface="Consolas"/>
                <a:sym typeface="Consolas"/>
              </a:rPr>
              <a:t>Output</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chemeClr val="dk1"/>
              </a:buClr>
              <a:buSzPts val="1800"/>
              <a:buFont typeface="Arial"/>
              <a:buNone/>
            </a:pPr>
            <a:r>
              <a:t/>
            </a:r>
            <a:endParaRPr sz="1800">
              <a:solidFill>
                <a:srgbClr val="000000"/>
              </a:solidFill>
              <a:latin typeface="Consolas"/>
              <a:ea typeface="Consolas"/>
              <a:cs typeface="Consolas"/>
              <a:sym typeface="Consolas"/>
            </a:endParaRPr>
          </a:p>
          <a:p>
            <a:pPr indent="0" lvl="0" marL="0" rtl="0" algn="l">
              <a:spcBef>
                <a:spcPts val="640"/>
              </a:spcBef>
              <a:spcAft>
                <a:spcPts val="0"/>
              </a:spcAft>
              <a:buClr>
                <a:schemeClr val="dk1"/>
              </a:buClr>
              <a:buSzPts val="3200"/>
              <a:buFont typeface="Arial"/>
              <a:buNone/>
            </a:pPr>
            <a:r>
              <a:rPr lang="en-GB"/>
              <a:t>Key is to make sure that new variables to store “in between” results are introduced.</a:t>
            </a:r>
            <a:endParaRPr/>
          </a:p>
          <a:p>
            <a:pPr indent="0" lvl="0" marL="0" rtl="0" algn="l">
              <a:spcBef>
                <a:spcPts val="640"/>
              </a:spcBef>
              <a:spcAft>
                <a:spcPts val="0"/>
              </a:spcAft>
              <a:buClr>
                <a:schemeClr val="dk1"/>
              </a:buClr>
              <a:buSzPts val="3200"/>
              <a:buFont typeface="Arial"/>
              <a:buNone/>
            </a:pPr>
            <a:r>
              <a:rPr lang="en-GB"/>
              <a:t>Also, of course, the action parameter of the </a:t>
            </a:r>
            <a:r>
              <a:rPr lang="en-GB" sz="3200">
                <a:solidFill>
                  <a:srgbClr val="000000"/>
                </a:solidFill>
                <a:latin typeface="Consolas"/>
                <a:ea typeface="Consolas"/>
                <a:cs typeface="Consolas"/>
                <a:sym typeface="Consolas"/>
              </a:rPr>
              <a:t>printText</a:t>
            </a:r>
            <a:r>
              <a:rPr lang="en-GB"/>
              <a:t> action needs to be changed.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3a9937886b0_0_0"/>
          <p:cNvPicPr preferRelativeResize="0"/>
          <p:nvPr/>
        </p:nvPicPr>
        <p:blipFill rotWithShape="1">
          <a:blip r:embed="rId3">
            <a:alphaModFix/>
          </a:blip>
          <a:srcRect b="0" l="0" r="0" t="0"/>
          <a:stretch/>
        </p:blipFill>
        <p:spPr>
          <a:xfrm>
            <a:off x="0" y="0"/>
            <a:ext cx="9144000" cy="6597353"/>
          </a:xfrm>
          <a:prstGeom prst="rect">
            <a:avLst/>
          </a:prstGeom>
          <a:noFill/>
          <a:ln>
            <a:noFill/>
          </a:ln>
        </p:spPr>
      </p:pic>
      <p:sp>
        <p:nvSpPr>
          <p:cNvPr id="182" name="Google Shape;182;g3a9937886b0_0_0"/>
          <p:cNvSpPr txBox="1"/>
          <p:nvPr>
            <p:ph type="title"/>
          </p:nvPr>
        </p:nvSpPr>
        <p:spPr>
          <a:xfrm>
            <a:off x="722313" y="4406900"/>
            <a:ext cx="7772400" cy="1362000"/>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BLOCKS WORLD AGENT</a:t>
            </a:r>
            <a:endParaRPr/>
          </a:p>
        </p:txBody>
      </p:sp>
      <p:sp>
        <p:nvSpPr>
          <p:cNvPr id="183" name="Google Shape;183;g3a9937886b0_0_0"/>
          <p:cNvSpPr txBox="1"/>
          <p:nvPr>
            <p:ph idx="1" type="body"/>
          </p:nvPr>
        </p:nvSpPr>
        <p:spPr>
          <a:xfrm>
            <a:off x="722313" y="4233069"/>
            <a:ext cx="7772400" cy="15003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000"/>
              <a:buFont typeface="Arial"/>
              <a:buNone/>
            </a:pPr>
            <a:r>
              <a:rPr lang="en-GB">
                <a:solidFill>
                  <a:schemeClr val="lt1"/>
                </a:solidFill>
              </a:rPr>
              <a:t>Recap of main ideas behind the code design of the agent.</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a9937886b0_0_141"/>
          <p:cNvSpPr txBox="1"/>
          <p:nvPr>
            <p:ph type="title"/>
          </p:nvPr>
        </p:nvSpPr>
        <p:spPr>
          <a:xfrm>
            <a:off x="722313" y="4406900"/>
            <a:ext cx="7772400" cy="1362000"/>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EXERCISE 3</a:t>
            </a:r>
            <a:endParaRPr/>
          </a:p>
        </p:txBody>
      </p:sp>
      <p:sp>
        <p:nvSpPr>
          <p:cNvPr id="190" name="Google Shape;190;g3a9937886b0_0_141"/>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lang="en-GB"/>
              <a:t>Extending the Blocks World solution to be able to also handle blocks that are not part of the goal state but are blocking access to blocks that are needed for achieving the goal state.</a:t>
            </a:r>
            <a:endParaRPr/>
          </a:p>
          <a:p>
            <a:pPr indent="0" lvl="0" marL="0" rtl="0" algn="l">
              <a:spcBef>
                <a:spcPts val="400"/>
              </a:spcBef>
              <a:spcAft>
                <a:spcPts val="0"/>
              </a:spcAft>
              <a:buClr>
                <a:schemeClr val="dk1"/>
              </a:buClr>
              <a:buSzPts val="2000"/>
              <a:buFont typeface="Arial"/>
              <a:buNone/>
            </a:pPr>
            <a:r>
              <a:t/>
            </a:r>
            <a:endParaRPr/>
          </a:p>
          <a:p>
            <a:pPr indent="0" lvl="0" marL="0" rtl="0" algn="l">
              <a:spcBef>
                <a:spcPts val="400"/>
              </a:spcBef>
              <a:spcAft>
                <a:spcPts val="0"/>
              </a:spcAft>
              <a:buClr>
                <a:schemeClr val="dk1"/>
              </a:buClr>
              <a:buSzPts val="2000"/>
              <a:buFont typeface="Arial"/>
              <a:buNone/>
            </a:pPr>
            <a:r>
              <a:rPr i="1" lang="en-GB"/>
              <a:t>Objective</a:t>
            </a:r>
            <a:r>
              <a:rPr lang="en-GB"/>
              <a:t>: To learn how to extend the reasoning powers of an agent (by extending the Prolog code) to handle situations it could not handle before.</a:t>
            </a:r>
            <a:endParaRPr i="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a9937886b0_0_147"/>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sz="4000"/>
              <a:t>Blocks that are not part of the goal</a:t>
            </a:r>
            <a:endParaRPr/>
          </a:p>
        </p:txBody>
      </p:sp>
      <p:sp>
        <p:nvSpPr>
          <p:cNvPr id="197" name="Google Shape;197;g3a9937886b0_0_147"/>
          <p:cNvSpPr txBox="1"/>
          <p:nvPr>
            <p:ph idx="1" type="body"/>
          </p:nvPr>
        </p:nvSpPr>
        <p:spPr>
          <a:xfrm>
            <a:off x="150812" y="1124744"/>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GB" sz="2800"/>
              <a:t>Does our agent solve all Blocks World configurations?</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Suppose we have </a:t>
            </a:r>
            <a:r>
              <a:rPr b="1" lang="en-GB" sz="2800">
                <a:latin typeface="Courier New"/>
                <a:ea typeface="Courier New"/>
                <a:cs typeface="Courier New"/>
                <a:sym typeface="Courier New"/>
              </a:rPr>
              <a:t>Goal=[table,b1,b2]</a:t>
            </a:r>
            <a:endParaRPr b="1" sz="2800"/>
          </a:p>
          <a:p>
            <a:pPr indent="0" lvl="0" marL="0" rtl="0" algn="l">
              <a:spcBef>
                <a:spcPts val="560"/>
              </a:spcBef>
              <a:spcAft>
                <a:spcPts val="0"/>
              </a:spcAft>
              <a:buClr>
                <a:schemeClr val="dk1"/>
              </a:buClr>
              <a:buSzPts val="2800"/>
              <a:buFont typeface="Arial"/>
              <a:buNone/>
            </a:pPr>
            <a:r>
              <a:rPr lang="en-GB" sz="2800"/>
              <a:t>Are blocks b4, b5, b6 misplaced?</a:t>
            </a:r>
            <a:endParaRPr/>
          </a:p>
          <a:p>
            <a:pPr indent="0" lvl="0" marL="0" rtl="0" algn="l">
              <a:spcBef>
                <a:spcPts val="280"/>
              </a:spcBef>
              <a:spcAft>
                <a:spcPts val="0"/>
              </a:spcAft>
              <a:buClr>
                <a:schemeClr val="dk1"/>
              </a:buClr>
              <a:buSzPts val="1400"/>
              <a:buFont typeface="Arial"/>
              <a:buNone/>
            </a:pPr>
            <a:r>
              <a:t/>
            </a:r>
            <a:endParaRPr sz="14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Think about a </a:t>
            </a:r>
            <a:r>
              <a:rPr lang="en-GB" sz="2800"/>
              <a:t>solution. </a:t>
            </a:r>
            <a:r>
              <a:rPr i="1" lang="en-GB" sz="2800"/>
              <a:t>Hint:</a:t>
            </a:r>
            <a:r>
              <a:rPr lang="en-GB" sz="2800"/>
              <a:t> define </a:t>
            </a:r>
            <a:r>
              <a:rPr b="1" lang="en-GB" sz="2800">
                <a:latin typeface="Courier New"/>
                <a:ea typeface="Courier New"/>
                <a:cs typeface="Courier New"/>
                <a:sym typeface="Courier New"/>
              </a:rPr>
              <a:t>above(X, Y)</a:t>
            </a:r>
            <a:endParaRPr/>
          </a:p>
        </p:txBody>
      </p:sp>
      <p:pic>
        <p:nvPicPr>
          <p:cNvPr id="198" name="Google Shape;198;g3a9937886b0_0_147"/>
          <p:cNvPicPr preferRelativeResize="0"/>
          <p:nvPr/>
        </p:nvPicPr>
        <p:blipFill rotWithShape="1">
          <a:blip r:embed="rId3">
            <a:alphaModFix/>
          </a:blip>
          <a:srcRect b="0" l="0" r="0" t="0"/>
          <a:stretch/>
        </p:blipFill>
        <p:spPr>
          <a:xfrm>
            <a:off x="2267744" y="1772816"/>
            <a:ext cx="4314825" cy="2181225"/>
          </a:xfrm>
          <a:prstGeom prst="rect">
            <a:avLst/>
          </a:prstGeom>
          <a:noFill/>
          <a:ln>
            <a:noFill/>
          </a:ln>
        </p:spPr>
      </p:pic>
      <p:sp>
        <p:nvSpPr>
          <p:cNvPr id="199" name="Google Shape;199;g3a9937886b0_0_147"/>
          <p:cNvSpPr txBox="1"/>
          <p:nvPr/>
        </p:nvSpPr>
        <p:spPr>
          <a:xfrm>
            <a:off x="2627784" y="2276872"/>
            <a:ext cx="1287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Initial state</a:t>
            </a:r>
            <a:endParaRPr sz="1800">
              <a:solidFill>
                <a:schemeClr val="dk1"/>
              </a:solidFill>
              <a:latin typeface="Arial"/>
              <a:ea typeface="Arial"/>
              <a:cs typeface="Arial"/>
              <a:sym typeface="Arial"/>
            </a:endParaRPr>
          </a:p>
        </p:txBody>
      </p:sp>
      <p:sp>
        <p:nvSpPr>
          <p:cNvPr id="200" name="Google Shape;200;g3a9937886b0_0_147"/>
          <p:cNvSpPr/>
          <p:nvPr/>
        </p:nvSpPr>
        <p:spPr>
          <a:xfrm>
            <a:off x="150800" y="5589250"/>
            <a:ext cx="5954400" cy="3693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200">
                <a:solidFill>
                  <a:schemeClr val="lt1"/>
                </a:solidFill>
                <a:latin typeface="Arial"/>
                <a:ea typeface="Arial"/>
                <a:cs typeface="Arial"/>
                <a:sym typeface="Arial"/>
              </a:rPr>
              <a:t>HOMEWORK ASSIGNMENT:</a:t>
            </a:r>
            <a:endParaRPr b="1" sz="22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a9937886b0_0_156"/>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Issue with our misplaced DF</a:t>
            </a:r>
            <a:endParaRPr/>
          </a:p>
        </p:txBody>
      </p:sp>
      <p:sp>
        <p:nvSpPr>
          <p:cNvPr id="207" name="Google Shape;207;g3a9937886b0_0_156"/>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GB" sz="2800"/>
              <a:t>We defined </a:t>
            </a:r>
            <a:r>
              <a:rPr b="1" lang="en-GB" sz="2800"/>
              <a:t>misplaced</a:t>
            </a:r>
            <a:r>
              <a:rPr b="1" lang="en-GB" sz="2800">
                <a:solidFill>
                  <a:srgbClr val="000000"/>
                </a:solidFill>
                <a:latin typeface="Consolas"/>
                <a:ea typeface="Consolas"/>
                <a:cs typeface="Consolas"/>
                <a:sym typeface="Consolas"/>
              </a:rPr>
              <a:t>(</a:t>
            </a:r>
            <a:r>
              <a:rPr b="1" lang="en-GB" sz="2800">
                <a:solidFill>
                  <a:srgbClr val="0000C0"/>
                </a:solidFill>
                <a:latin typeface="Consolas"/>
                <a:ea typeface="Consolas"/>
                <a:cs typeface="Consolas"/>
                <a:sym typeface="Consolas"/>
              </a:rPr>
              <a:t>X</a:t>
            </a:r>
            <a:r>
              <a:rPr b="1" lang="en-GB" sz="2800">
                <a:solidFill>
                  <a:srgbClr val="000000"/>
                </a:solidFill>
                <a:latin typeface="Consolas"/>
                <a:ea typeface="Consolas"/>
                <a:cs typeface="Consolas"/>
                <a:sym typeface="Consolas"/>
              </a:rPr>
              <a:t>)</a:t>
            </a:r>
            <a:r>
              <a:rPr lang="en-GB" sz="2800"/>
              <a:t> by the query:</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If this is our initial state:</a:t>
            </a:r>
            <a:endParaRPr/>
          </a:p>
          <a:p>
            <a:pPr indent="0" lvl="0" marL="0" rtl="0" algn="l">
              <a:spcBef>
                <a:spcPts val="400"/>
              </a:spcBef>
              <a:spcAft>
                <a:spcPts val="0"/>
              </a:spcAft>
              <a:buClr>
                <a:schemeClr val="dk1"/>
              </a:buClr>
              <a:buSzPts val="2000"/>
              <a:buFont typeface="Arial"/>
              <a:buNone/>
            </a:pPr>
            <a:r>
              <a:t/>
            </a:r>
            <a:endParaRPr sz="2000"/>
          </a:p>
          <a:p>
            <a:pPr indent="0" lvl="0" marL="0" rtl="0" algn="l">
              <a:spcBef>
                <a:spcPts val="560"/>
              </a:spcBef>
              <a:spcAft>
                <a:spcPts val="0"/>
              </a:spcAft>
              <a:buClr>
                <a:schemeClr val="dk1"/>
              </a:buClr>
              <a:buSzPts val="2800"/>
              <a:buFont typeface="Arial"/>
              <a:buNone/>
            </a:pPr>
            <a:r>
              <a:rPr lang="en-GB" sz="2800"/>
              <a:t>and the goal is:</a:t>
            </a:r>
            <a:endParaRPr/>
          </a:p>
          <a:p>
            <a:pPr indent="0" lvl="0" marL="0" rtl="0" algn="l">
              <a:spcBef>
                <a:spcPts val="560"/>
              </a:spcBef>
              <a:spcAft>
                <a:spcPts val="0"/>
              </a:spcAft>
              <a:buClr>
                <a:schemeClr val="dk1"/>
              </a:buClr>
              <a:buSzPts val="2800"/>
              <a:buFont typeface="Courier New"/>
              <a:buNone/>
            </a:pPr>
            <a:r>
              <a:rPr b="1" lang="en-GB" sz="2800">
                <a:latin typeface="Courier New"/>
                <a:ea typeface="Courier New"/>
                <a:cs typeface="Courier New"/>
                <a:sym typeface="Courier New"/>
              </a:rPr>
              <a:t>[table,b1,b2]</a:t>
            </a:r>
            <a:endParaRPr b="1"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Then: b4, b5, b6 are not misplaced because they are not part of the goal state.</a:t>
            </a:r>
            <a:endParaRPr/>
          </a:p>
          <a:p>
            <a:pPr indent="0" lvl="0" marL="0" rtl="0" algn="l">
              <a:spcBef>
                <a:spcPts val="560"/>
              </a:spcBef>
              <a:spcAft>
                <a:spcPts val="0"/>
              </a:spcAft>
              <a:buClr>
                <a:schemeClr val="dk1"/>
              </a:buClr>
              <a:buSzPts val="2800"/>
              <a:buFont typeface="Arial"/>
              <a:buNone/>
            </a:pPr>
            <a:r>
              <a:rPr lang="en-GB" sz="2800"/>
              <a:t>E.g., </a:t>
            </a:r>
            <a:r>
              <a:rPr b="1" lang="en-GB" sz="2800">
                <a:solidFill>
                  <a:srgbClr val="000000"/>
                </a:solidFill>
                <a:latin typeface="Consolas"/>
                <a:ea typeface="Consolas"/>
                <a:cs typeface="Consolas"/>
                <a:sym typeface="Consolas"/>
              </a:rPr>
              <a:t>tower(</a:t>
            </a:r>
            <a:r>
              <a:rPr b="1" lang="en-GB" sz="2800">
                <a:solidFill>
                  <a:srgbClr val="0000C0"/>
                </a:solidFill>
                <a:latin typeface="Consolas"/>
                <a:ea typeface="Consolas"/>
                <a:cs typeface="Consolas"/>
                <a:sym typeface="Consolas"/>
              </a:rPr>
              <a:t>[table,b1,b2]</a:t>
            </a:r>
            <a:r>
              <a:rPr b="1" lang="en-GB" sz="2800">
                <a:solidFill>
                  <a:srgbClr val="000000"/>
                </a:solidFill>
                <a:latin typeface="Consolas"/>
                <a:ea typeface="Consolas"/>
                <a:cs typeface="Consolas"/>
                <a:sym typeface="Consolas"/>
              </a:rPr>
              <a:t>, [</a:t>
            </a:r>
            <a:r>
              <a:rPr b="1" lang="en-GB" sz="2800">
                <a:solidFill>
                  <a:srgbClr val="0000C0"/>
                </a:solidFill>
                <a:latin typeface="Consolas"/>
                <a:ea typeface="Consolas"/>
                <a:cs typeface="Consolas"/>
                <a:sym typeface="Consolas"/>
              </a:rPr>
              <a:t>b4</a:t>
            </a:r>
            <a:r>
              <a:rPr b="1" lang="en-GB" sz="2800">
                <a:solidFill>
                  <a:srgbClr val="000000"/>
                </a:solidFill>
                <a:latin typeface="Consolas"/>
                <a:ea typeface="Consolas"/>
                <a:cs typeface="Consolas"/>
                <a:sym typeface="Consolas"/>
              </a:rPr>
              <a:t>|</a:t>
            </a:r>
            <a:r>
              <a:rPr b="1" lang="en-GB" sz="2800">
                <a:solidFill>
                  <a:srgbClr val="0000C0"/>
                </a:solidFill>
                <a:latin typeface="Consolas"/>
                <a:ea typeface="Consolas"/>
                <a:cs typeface="Consolas"/>
                <a:sym typeface="Consolas"/>
              </a:rPr>
              <a:t>T</a:t>
            </a:r>
            <a:r>
              <a:rPr b="1" lang="en-GB" sz="2800">
                <a:solidFill>
                  <a:srgbClr val="000000"/>
                </a:solidFill>
                <a:latin typeface="Consolas"/>
                <a:ea typeface="Consolas"/>
                <a:cs typeface="Consolas"/>
                <a:sym typeface="Consolas"/>
              </a:rPr>
              <a:t>]) </a:t>
            </a:r>
            <a:r>
              <a:rPr lang="en-GB" sz="2800"/>
              <a:t>does not succeed…</a:t>
            </a:r>
            <a:endParaRPr sz="2800"/>
          </a:p>
        </p:txBody>
      </p:sp>
      <p:pic>
        <p:nvPicPr>
          <p:cNvPr id="208" name="Google Shape;208;g3a9937886b0_0_156"/>
          <p:cNvPicPr preferRelativeResize="0"/>
          <p:nvPr/>
        </p:nvPicPr>
        <p:blipFill rotWithShape="1">
          <a:blip r:embed="rId3">
            <a:alphaModFix/>
          </a:blip>
          <a:srcRect b="0" l="0" r="0" t="0"/>
          <a:stretch/>
        </p:blipFill>
        <p:spPr>
          <a:xfrm>
            <a:off x="4678362" y="2204851"/>
            <a:ext cx="4314825" cy="2181225"/>
          </a:xfrm>
          <a:prstGeom prst="rect">
            <a:avLst/>
          </a:prstGeom>
          <a:noFill/>
          <a:ln>
            <a:noFill/>
          </a:ln>
        </p:spPr>
      </p:pic>
      <p:sp>
        <p:nvSpPr>
          <p:cNvPr id="209" name="Google Shape;209;g3a9937886b0_0_156"/>
          <p:cNvSpPr txBox="1"/>
          <p:nvPr/>
        </p:nvSpPr>
        <p:spPr>
          <a:xfrm>
            <a:off x="5038402" y="2708907"/>
            <a:ext cx="1287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Initial state</a:t>
            </a:r>
            <a:endParaRPr sz="1800">
              <a:solidFill>
                <a:schemeClr val="dk1"/>
              </a:solidFill>
              <a:latin typeface="Arial"/>
              <a:ea typeface="Arial"/>
              <a:cs typeface="Arial"/>
              <a:sym typeface="Arial"/>
            </a:endParaRPr>
          </a:p>
        </p:txBody>
      </p:sp>
      <p:sp>
        <p:nvSpPr>
          <p:cNvPr id="210" name="Google Shape;210;g3a9937886b0_0_156"/>
          <p:cNvSpPr txBox="1"/>
          <p:nvPr/>
        </p:nvSpPr>
        <p:spPr>
          <a:xfrm>
            <a:off x="150812" y="1628800"/>
            <a:ext cx="8842500" cy="369300"/>
          </a:xfrm>
          <a:prstGeom prst="rect">
            <a:avLst/>
          </a:prstGeom>
          <a:solidFill>
            <a:srgbClr val="6998F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000000"/>
                </a:solidFill>
                <a:latin typeface="Consolas"/>
                <a:ea typeface="Consolas"/>
                <a:cs typeface="Consolas"/>
                <a:sym typeface="Consolas"/>
              </a:rPr>
              <a:t>tower(</a:t>
            </a:r>
            <a:r>
              <a:rPr b="1" lang="en-GB" sz="1800">
                <a:solidFill>
                  <a:srgbClr val="0000C0"/>
                </a:solidFill>
                <a:latin typeface="Consolas"/>
                <a:ea typeface="Consolas"/>
                <a:cs typeface="Consolas"/>
                <a:sym typeface="Consolas"/>
              </a:rPr>
              <a:t>Goal</a:t>
            </a:r>
            <a:r>
              <a:rPr b="1" lang="en-GB" sz="1800">
                <a:solidFill>
                  <a:srgbClr val="000000"/>
                </a:solidFill>
                <a:latin typeface="Consolas"/>
                <a:ea typeface="Consolas"/>
                <a:cs typeface="Consolas"/>
                <a:sym typeface="Consolas"/>
              </a:rPr>
              <a:t>, [</a:t>
            </a:r>
            <a:r>
              <a:rPr b="1" lang="en-GB" sz="1800">
                <a:solidFill>
                  <a:srgbClr val="0000C0"/>
                </a:solidFill>
                <a:latin typeface="Consolas"/>
                <a:ea typeface="Consolas"/>
                <a:cs typeface="Consolas"/>
                <a:sym typeface="Consolas"/>
              </a:rPr>
              <a:t>X</a:t>
            </a:r>
            <a:r>
              <a:rPr b="1" lang="en-GB" sz="1800">
                <a:solidFill>
                  <a:srgbClr val="000000"/>
                </a:solidFill>
                <a:latin typeface="Consolas"/>
                <a:ea typeface="Consolas"/>
                <a:cs typeface="Consolas"/>
                <a:sym typeface="Consolas"/>
              </a:rPr>
              <a:t>|</a:t>
            </a:r>
            <a:r>
              <a:rPr b="1" lang="en-GB" sz="1800">
                <a:solidFill>
                  <a:srgbClr val="0000C0"/>
                </a:solidFill>
                <a:latin typeface="Consolas"/>
                <a:ea typeface="Consolas"/>
                <a:cs typeface="Consolas"/>
                <a:sym typeface="Consolas"/>
              </a:rPr>
              <a:t>T</a:t>
            </a:r>
            <a:r>
              <a:rPr b="1"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not</a:t>
            </a:r>
            <a:r>
              <a:rPr b="1" lang="en-GB" sz="1800">
                <a:solidFill>
                  <a:srgbClr val="000000"/>
                </a:solidFill>
                <a:latin typeface="Consolas"/>
                <a:ea typeface="Consolas"/>
                <a:cs typeface="Consolas"/>
                <a:sym typeface="Consolas"/>
              </a:rPr>
              <a:t>(tower([</a:t>
            </a:r>
            <a:r>
              <a:rPr b="1" lang="en-GB" sz="1800">
                <a:solidFill>
                  <a:srgbClr val="0000C0"/>
                </a:solidFill>
                <a:latin typeface="Consolas"/>
                <a:ea typeface="Consolas"/>
                <a:cs typeface="Consolas"/>
                <a:sym typeface="Consolas"/>
              </a:rPr>
              <a:t>X</a:t>
            </a:r>
            <a:r>
              <a:rPr b="1" lang="en-GB" sz="1800">
                <a:solidFill>
                  <a:srgbClr val="000000"/>
                </a:solidFill>
                <a:latin typeface="Consolas"/>
                <a:ea typeface="Consolas"/>
                <a:cs typeface="Consolas"/>
                <a:sym typeface="Consolas"/>
              </a:rPr>
              <a:t>|</a:t>
            </a:r>
            <a:r>
              <a:rPr b="1" lang="en-GB" sz="1800">
                <a:solidFill>
                  <a:srgbClr val="0000C0"/>
                </a:solidFill>
                <a:latin typeface="Consolas"/>
                <a:ea typeface="Consolas"/>
                <a:cs typeface="Consolas"/>
                <a:sym typeface="Consolas"/>
              </a:rPr>
              <a:t>T</a:t>
            </a:r>
            <a:r>
              <a:rPr b="1" lang="en-GB" sz="1800">
                <a:solidFill>
                  <a:srgbClr val="000000"/>
                </a:solidFill>
                <a:latin typeface="Consolas"/>
                <a:ea typeface="Consolas"/>
                <a:cs typeface="Consolas"/>
                <a:sym typeface="Consolas"/>
              </a:rPr>
              <a:t>])), clear(</a:t>
            </a:r>
            <a:r>
              <a:rPr b="1" lang="en-GB" sz="1800">
                <a:solidFill>
                  <a:srgbClr val="0000C0"/>
                </a:solidFill>
                <a:latin typeface="Consolas"/>
                <a:ea typeface="Consolas"/>
                <a:cs typeface="Consolas"/>
                <a:sym typeface="Consolas"/>
              </a:rPr>
              <a:t>X</a:t>
            </a:r>
            <a:r>
              <a:rPr b="1"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not</a:t>
            </a:r>
            <a:r>
              <a:rPr b="1" lang="en-GB" sz="1800">
                <a:solidFill>
                  <a:srgbClr val="000000"/>
                </a:solidFill>
                <a:latin typeface="Consolas"/>
                <a:ea typeface="Consolas"/>
                <a:cs typeface="Consolas"/>
                <a:sym typeface="Consolas"/>
              </a:rPr>
              <a:t>(on(</a:t>
            </a:r>
            <a:r>
              <a:rPr b="1" lang="en-GB" sz="1800">
                <a:solidFill>
                  <a:srgbClr val="0000C0"/>
                </a:solidFill>
                <a:latin typeface="Consolas"/>
                <a:ea typeface="Consolas"/>
                <a:cs typeface="Consolas"/>
                <a:sym typeface="Consolas"/>
              </a:rPr>
              <a:t>X</a:t>
            </a:r>
            <a:r>
              <a:rPr b="1" lang="en-GB" sz="1800">
                <a:solidFill>
                  <a:srgbClr val="000000"/>
                </a:solidFill>
                <a:latin typeface="Consolas"/>
                <a:ea typeface="Consolas"/>
                <a:cs typeface="Consolas"/>
                <a:sym typeface="Consolas"/>
              </a:rPr>
              <a:t>,table))</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a9937886b0_0_165"/>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sz="4000"/>
              <a:t>Exercise 3a: Problem (first step)</a:t>
            </a:r>
            <a:endParaRPr sz="4000"/>
          </a:p>
        </p:txBody>
      </p:sp>
      <p:sp>
        <p:nvSpPr>
          <p:cNvPr id="217" name="Google Shape;217;g3a9937886b0_0_165"/>
          <p:cNvSpPr txBox="1"/>
          <p:nvPr>
            <p:ph idx="1" type="body"/>
          </p:nvPr>
        </p:nvSpPr>
        <p:spPr>
          <a:xfrm>
            <a:off x="150813" y="1068388"/>
            <a:ext cx="8842500" cy="5332500"/>
          </a:xfrm>
          <a:prstGeom prst="rect">
            <a:avLst/>
          </a:prstGeom>
          <a:noFill/>
          <a:ln>
            <a:noFill/>
          </a:ln>
        </p:spPr>
        <p:txBody>
          <a:bodyPr anchorCtr="0" anchor="t" bIns="45700" lIns="36000" spcFirstLastPara="1" rIns="36000" wrap="square" tIns="45700">
            <a:noAutofit/>
          </a:bodyPr>
          <a:lstStyle/>
          <a:p>
            <a:pPr indent="0" lvl="0" marL="0" rtl="0" algn="l">
              <a:spcBef>
                <a:spcPts val="0"/>
              </a:spcBef>
              <a:spcAft>
                <a:spcPts val="0"/>
              </a:spcAft>
              <a:buClr>
                <a:schemeClr val="dk1"/>
              </a:buClr>
              <a:buSzPts val="3200"/>
              <a:buFont typeface="Arial"/>
              <a:buNone/>
            </a:pPr>
            <a:r>
              <a:rPr lang="en-GB" sz="3200"/>
              <a:t>Define </a:t>
            </a:r>
            <a:r>
              <a:rPr lang="en-GB" sz="3200">
                <a:solidFill>
                  <a:srgbClr val="00B0F0"/>
                </a:solidFill>
              </a:rPr>
              <a:t>constructive</a:t>
            </a:r>
            <a:r>
              <a:rPr lang="en-GB" sz="3200"/>
              <a:t> and </a:t>
            </a:r>
            <a:r>
              <a:rPr lang="en-GB" sz="3200">
                <a:solidFill>
                  <a:srgbClr val="00B0F0"/>
                </a:solidFill>
              </a:rPr>
              <a:t>misplaced</a:t>
            </a:r>
            <a:r>
              <a:rPr lang="en-GB" sz="3200"/>
              <a:t>. </a:t>
            </a:r>
            <a:r>
              <a:rPr lang="en-GB"/>
              <a:t>In </a:t>
            </a:r>
            <a:r>
              <a:rPr b="1" lang="en-GB"/>
              <a:t>blocksworld.pl</a:t>
            </a:r>
            <a:r>
              <a:rPr lang="en-GB"/>
              <a:t>, add the following definitions:</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Use these definitions in the stackBuilder module.</a:t>
            </a:r>
            <a:endParaRPr/>
          </a:p>
          <a:p>
            <a:pPr indent="0" lvl="0" marL="0" rtl="0" algn="l">
              <a:spcBef>
                <a:spcPts val="400"/>
              </a:spcBef>
              <a:spcAft>
                <a:spcPts val="0"/>
              </a:spcAft>
              <a:buClr>
                <a:schemeClr val="dk1"/>
              </a:buClr>
              <a:buSzPts val="2000"/>
              <a:buFont typeface="Arial"/>
              <a:buNone/>
            </a:pPr>
            <a:r>
              <a:t/>
            </a:r>
            <a:endParaRPr sz="2000"/>
          </a:p>
          <a:p>
            <a:pPr indent="0" lvl="0" marL="0" rtl="0" algn="l">
              <a:spcBef>
                <a:spcPts val="640"/>
              </a:spcBef>
              <a:spcAft>
                <a:spcPts val="0"/>
              </a:spcAft>
              <a:buClr>
                <a:schemeClr val="dk1"/>
              </a:buClr>
              <a:buSzPts val="3200"/>
              <a:buFont typeface="Arial"/>
              <a:buNone/>
            </a:pPr>
            <a:r>
              <a:rPr lang="en-GB"/>
              <a:t>Run code in debugging mode, select module, and step through it F5 to see what happens.</a:t>
            </a:r>
            <a:endParaRPr/>
          </a:p>
          <a:p>
            <a:pPr indent="0" lvl="0" marL="0" rtl="0" algn="l">
              <a:spcBef>
                <a:spcPts val="640"/>
              </a:spcBef>
              <a:spcAft>
                <a:spcPts val="0"/>
              </a:spcAft>
              <a:buClr>
                <a:schemeClr val="dk1"/>
              </a:buClr>
              <a:buSzPts val="3200"/>
              <a:buFont typeface="Arial"/>
              <a:buNone/>
            </a:pPr>
            <a:r>
              <a:t/>
            </a:r>
            <a:endParaRPr/>
          </a:p>
        </p:txBody>
      </p:sp>
      <p:sp>
        <p:nvSpPr>
          <p:cNvPr id="218" name="Google Shape;218;g3a9937886b0_0_165"/>
          <p:cNvSpPr/>
          <p:nvPr/>
        </p:nvSpPr>
        <p:spPr>
          <a:xfrm>
            <a:off x="150812" y="2132856"/>
            <a:ext cx="8842500" cy="2016300"/>
          </a:xfrm>
          <a:prstGeom prst="rect">
            <a:avLst/>
          </a:prstGeom>
          <a:solidFill>
            <a:srgbClr val="6998FF"/>
          </a:solidFill>
          <a:ln cap="flat" cmpd="sng" w="25400">
            <a:solidFill>
              <a:srgbClr val="4E5E5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1" sz="2000">
              <a:solidFill>
                <a:srgbClr val="000000"/>
              </a:solidFill>
              <a:latin typeface="Consolas"/>
              <a:ea typeface="Consolas"/>
              <a:cs typeface="Consolas"/>
              <a:sym typeface="Consolas"/>
            </a:endParaRPr>
          </a:p>
          <a:p>
            <a:pPr indent="0" lvl="0" marL="0" marR="0" rtl="0" algn="l">
              <a:spcBef>
                <a:spcPts val="0"/>
              </a:spcBef>
              <a:spcAft>
                <a:spcPts val="0"/>
              </a:spcAft>
              <a:buClr>
                <a:srgbClr val="000000"/>
              </a:buClr>
              <a:buSzPts val="2000"/>
              <a:buFont typeface="Consolas"/>
              <a:buNone/>
            </a:pPr>
            <a:r>
              <a:rPr b="1" lang="en-GB" sz="2000">
                <a:solidFill>
                  <a:srgbClr val="000000"/>
                </a:solidFill>
                <a:latin typeface="Consolas"/>
                <a:ea typeface="Consolas"/>
                <a:cs typeface="Consolas"/>
                <a:sym typeface="Consolas"/>
              </a:rPr>
              <a:t>constructiveMove(</a:t>
            </a:r>
            <a:r>
              <a:rPr b="1" lang="en-GB" sz="2000">
                <a:solidFill>
                  <a:srgbClr val="0000C0"/>
                </a:solidFill>
                <a:latin typeface="Consolas"/>
                <a:ea typeface="Consolas"/>
                <a:cs typeface="Consolas"/>
                <a:sym typeface="Consolas"/>
              </a:rPr>
              <a:t>Goal</a:t>
            </a:r>
            <a:r>
              <a:rPr b="1" lang="en-GB" sz="2000">
                <a:solidFill>
                  <a:srgbClr val="000000"/>
                </a:solidFill>
                <a:latin typeface="Consolas"/>
                <a:ea typeface="Consolas"/>
                <a:cs typeface="Consolas"/>
                <a:sym typeface="Consolas"/>
              </a:rPr>
              <a:t>, </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a:t>
            </a:r>
            <a:r>
              <a:rPr b="1" lang="en-GB" sz="2000">
                <a:solidFill>
                  <a:srgbClr val="0000C0"/>
                </a:solidFill>
                <a:latin typeface="Consolas"/>
                <a:ea typeface="Consolas"/>
                <a:cs typeface="Consolas"/>
                <a:sym typeface="Consolas"/>
              </a:rPr>
              <a:t>Y</a:t>
            </a:r>
            <a:r>
              <a:rPr b="1" lang="en-GB" sz="2000">
                <a:solidFill>
                  <a:srgbClr val="000000"/>
                </a:solidFill>
                <a:latin typeface="Consolas"/>
                <a:ea typeface="Consolas"/>
                <a:cs typeface="Consolas"/>
                <a:sym typeface="Consolas"/>
              </a:rPr>
              <a:t>) :-</a:t>
            </a:r>
            <a:endParaRPr/>
          </a:p>
          <a:p>
            <a:pPr indent="0" lvl="0" marL="0" marR="0" rtl="0" algn="l">
              <a:spcBef>
                <a:spcPts val="0"/>
              </a:spcBef>
              <a:spcAft>
                <a:spcPts val="0"/>
              </a:spcAft>
              <a:buClr>
                <a:srgbClr val="000000"/>
              </a:buClr>
              <a:buSzPts val="2000"/>
              <a:buFont typeface="Consolas"/>
              <a:buNone/>
            </a:pPr>
            <a:r>
              <a:rPr b="1" lang="en-GB" sz="2000">
                <a:solidFill>
                  <a:srgbClr val="000000"/>
                </a:solidFill>
                <a:latin typeface="Consolas"/>
                <a:ea typeface="Consolas"/>
                <a:cs typeface="Consolas"/>
                <a:sym typeface="Consolas"/>
              </a:rPr>
              <a:t>  tower(</a:t>
            </a:r>
            <a:r>
              <a:rPr b="1" lang="en-GB" sz="2000">
                <a:solidFill>
                  <a:srgbClr val="0000C0"/>
                </a:solidFill>
                <a:latin typeface="Consolas"/>
                <a:ea typeface="Consolas"/>
                <a:cs typeface="Consolas"/>
                <a:sym typeface="Consolas"/>
              </a:rPr>
              <a:t>Goal</a:t>
            </a:r>
            <a:r>
              <a:rPr b="1" lang="en-GB" sz="2000">
                <a:solidFill>
                  <a:srgbClr val="000000"/>
                </a:solidFill>
                <a:latin typeface="Consolas"/>
                <a:ea typeface="Consolas"/>
                <a:cs typeface="Consolas"/>
                <a:sym typeface="Consolas"/>
              </a:rPr>
              <a:t>, [</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a:t>
            </a:r>
            <a:r>
              <a:rPr b="1" lang="en-GB" sz="2000">
                <a:solidFill>
                  <a:srgbClr val="0000C0"/>
                </a:solidFill>
                <a:latin typeface="Consolas"/>
                <a:ea typeface="Consolas"/>
                <a:cs typeface="Consolas"/>
                <a:sym typeface="Consolas"/>
              </a:rPr>
              <a:t>Y</a:t>
            </a:r>
            <a:r>
              <a:rPr b="1" lang="en-GB" sz="2000">
                <a:solidFill>
                  <a:srgbClr val="000000"/>
                </a:solidFill>
                <a:latin typeface="Consolas"/>
                <a:ea typeface="Consolas"/>
                <a:cs typeface="Consolas"/>
                <a:sym typeface="Consolas"/>
              </a:rPr>
              <a:t> | </a:t>
            </a:r>
            <a:r>
              <a:rPr b="1" lang="en-GB" sz="2000">
                <a:solidFill>
                  <a:srgbClr val="0000C0"/>
                </a:solidFill>
                <a:latin typeface="Consolas"/>
                <a:ea typeface="Consolas"/>
                <a:cs typeface="Consolas"/>
                <a:sym typeface="Consolas"/>
              </a:rPr>
              <a:t>T</a:t>
            </a:r>
            <a:r>
              <a:rPr b="1" lang="en-GB" sz="2000">
                <a:solidFill>
                  <a:srgbClr val="000000"/>
                </a:solidFill>
                <a:latin typeface="Consolas"/>
                <a:ea typeface="Consolas"/>
                <a:cs typeface="Consolas"/>
                <a:sym typeface="Consolas"/>
              </a:rPr>
              <a:t>]), tower([</a:t>
            </a:r>
            <a:r>
              <a:rPr b="1" lang="en-GB" sz="2000">
                <a:solidFill>
                  <a:srgbClr val="0000C0"/>
                </a:solidFill>
                <a:latin typeface="Consolas"/>
                <a:ea typeface="Consolas"/>
                <a:cs typeface="Consolas"/>
                <a:sym typeface="Consolas"/>
              </a:rPr>
              <a:t>Y</a:t>
            </a:r>
            <a:r>
              <a:rPr b="1" lang="en-GB" sz="2000">
                <a:solidFill>
                  <a:srgbClr val="000000"/>
                </a:solidFill>
                <a:latin typeface="Consolas"/>
                <a:ea typeface="Consolas"/>
                <a:cs typeface="Consolas"/>
                <a:sym typeface="Consolas"/>
              </a:rPr>
              <a:t>| </a:t>
            </a:r>
            <a:r>
              <a:rPr b="1" lang="en-GB" sz="2000">
                <a:solidFill>
                  <a:srgbClr val="0000C0"/>
                </a:solidFill>
                <a:latin typeface="Consolas"/>
                <a:ea typeface="Consolas"/>
                <a:cs typeface="Consolas"/>
                <a:sym typeface="Consolas"/>
              </a:rPr>
              <a:t>T</a:t>
            </a:r>
            <a:r>
              <a:rPr b="1" lang="en-GB" sz="2000">
                <a:solidFill>
                  <a:srgbClr val="000000"/>
                </a:solidFill>
                <a:latin typeface="Consolas"/>
                <a:ea typeface="Consolas"/>
                <a:cs typeface="Consolas"/>
                <a:sym typeface="Consolas"/>
              </a:rPr>
              <a:t>]), clear(</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clear(</a:t>
            </a:r>
            <a:r>
              <a:rPr b="1" lang="en-GB" sz="2000">
                <a:solidFill>
                  <a:srgbClr val="0000C0"/>
                </a:solidFill>
                <a:latin typeface="Consolas"/>
                <a:ea typeface="Consolas"/>
                <a:cs typeface="Consolas"/>
                <a:sym typeface="Consolas"/>
              </a:rPr>
              <a:t>Y</a:t>
            </a:r>
            <a:r>
              <a:rPr b="1" lang="en-GB" sz="2000">
                <a:solidFill>
                  <a:srgbClr val="000000"/>
                </a:solidFill>
                <a:latin typeface="Consolas"/>
                <a:ea typeface="Consolas"/>
                <a:cs typeface="Consolas"/>
                <a:sym typeface="Consolas"/>
              </a:rPr>
              <a:t>).</a:t>
            </a:r>
            <a:endParaRPr/>
          </a:p>
          <a:p>
            <a:pPr indent="0" lvl="0" marL="0" marR="0" rtl="0" algn="l">
              <a:spcBef>
                <a:spcPts val="0"/>
              </a:spcBef>
              <a:spcAft>
                <a:spcPts val="0"/>
              </a:spcAft>
              <a:buClr>
                <a:schemeClr val="dk1"/>
              </a:buClr>
              <a:buSzPts val="2000"/>
              <a:buFont typeface="Arial"/>
              <a:buNone/>
            </a:pPr>
            <a:r>
              <a:t/>
            </a:r>
            <a:endParaRPr b="1" sz="2000">
              <a:solidFill>
                <a:srgbClr val="000000"/>
              </a:solidFill>
              <a:latin typeface="Consolas"/>
              <a:ea typeface="Consolas"/>
              <a:cs typeface="Consolas"/>
              <a:sym typeface="Consolas"/>
            </a:endParaRPr>
          </a:p>
          <a:p>
            <a:pPr indent="0" lvl="0" marL="0" marR="0" rtl="0" algn="l">
              <a:spcBef>
                <a:spcPts val="0"/>
              </a:spcBef>
              <a:spcAft>
                <a:spcPts val="0"/>
              </a:spcAft>
              <a:buClr>
                <a:srgbClr val="000000"/>
              </a:buClr>
              <a:buSzPts val="2000"/>
              <a:buFont typeface="Consolas"/>
              <a:buNone/>
            </a:pPr>
            <a:r>
              <a:rPr b="1" lang="en-GB" sz="2000">
                <a:solidFill>
                  <a:srgbClr val="000000"/>
                </a:solidFill>
                <a:latin typeface="Consolas"/>
                <a:ea typeface="Consolas"/>
                <a:cs typeface="Consolas"/>
                <a:sym typeface="Consolas"/>
              </a:rPr>
              <a:t>misplaced(</a:t>
            </a:r>
            <a:r>
              <a:rPr b="1" lang="en-GB" sz="2000">
                <a:solidFill>
                  <a:srgbClr val="0000C0"/>
                </a:solidFill>
                <a:latin typeface="Consolas"/>
                <a:ea typeface="Consolas"/>
                <a:cs typeface="Consolas"/>
                <a:sym typeface="Consolas"/>
              </a:rPr>
              <a:t>Goal</a:t>
            </a:r>
            <a:r>
              <a:rPr b="1" lang="en-GB" sz="2000">
                <a:solidFill>
                  <a:srgbClr val="000000"/>
                </a:solidFill>
                <a:latin typeface="Consolas"/>
                <a:ea typeface="Consolas"/>
                <a:cs typeface="Consolas"/>
                <a:sym typeface="Consolas"/>
              </a:rPr>
              <a:t>, </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a:t>
            </a:r>
            <a:endParaRPr/>
          </a:p>
          <a:p>
            <a:pPr indent="0" lvl="0" marL="0" marR="0" rtl="0" algn="l">
              <a:spcBef>
                <a:spcPts val="0"/>
              </a:spcBef>
              <a:spcAft>
                <a:spcPts val="0"/>
              </a:spcAft>
              <a:buClr>
                <a:srgbClr val="000000"/>
              </a:buClr>
              <a:buSzPts val="2000"/>
              <a:buFont typeface="Consolas"/>
              <a:buNone/>
            </a:pPr>
            <a:r>
              <a:rPr b="1" lang="en-GB" sz="2000">
                <a:solidFill>
                  <a:srgbClr val="000000"/>
                </a:solidFill>
                <a:latin typeface="Consolas"/>
                <a:ea typeface="Consolas"/>
                <a:cs typeface="Consolas"/>
                <a:sym typeface="Consolas"/>
              </a:rPr>
              <a:t>	tower(</a:t>
            </a:r>
            <a:r>
              <a:rPr b="1" lang="en-GB" sz="2000">
                <a:solidFill>
                  <a:srgbClr val="0000C0"/>
                </a:solidFill>
                <a:latin typeface="Consolas"/>
                <a:ea typeface="Consolas"/>
                <a:cs typeface="Consolas"/>
                <a:sym typeface="Consolas"/>
              </a:rPr>
              <a:t>Goal</a:t>
            </a:r>
            <a:r>
              <a:rPr b="1" lang="en-GB" sz="2000">
                <a:solidFill>
                  <a:srgbClr val="000000"/>
                </a:solidFill>
                <a:latin typeface="Consolas"/>
                <a:ea typeface="Consolas"/>
                <a:cs typeface="Consolas"/>
                <a:sym typeface="Consolas"/>
              </a:rPr>
              <a:t>, [</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 </a:t>
            </a:r>
            <a:r>
              <a:rPr b="1" lang="en-GB" sz="2000">
                <a:solidFill>
                  <a:srgbClr val="0000C0"/>
                </a:solidFill>
                <a:latin typeface="Consolas"/>
                <a:ea typeface="Consolas"/>
                <a:cs typeface="Consolas"/>
                <a:sym typeface="Consolas"/>
              </a:rPr>
              <a:t>T</a:t>
            </a:r>
            <a:r>
              <a:rPr b="1" lang="en-GB" sz="2000">
                <a:solidFill>
                  <a:srgbClr val="000000"/>
                </a:solidFill>
                <a:latin typeface="Consolas"/>
                <a:ea typeface="Consolas"/>
                <a:cs typeface="Consolas"/>
                <a:sym typeface="Consolas"/>
              </a:rPr>
              <a:t>]), </a:t>
            </a:r>
            <a:r>
              <a:rPr b="1" i="1" lang="en-GB" sz="2000">
                <a:solidFill>
                  <a:srgbClr val="7F0055"/>
                </a:solidFill>
                <a:latin typeface="Consolas"/>
                <a:ea typeface="Consolas"/>
                <a:cs typeface="Consolas"/>
                <a:sym typeface="Consolas"/>
              </a:rPr>
              <a:t>not</a:t>
            </a:r>
            <a:r>
              <a:rPr b="1" lang="en-GB" sz="2000">
                <a:solidFill>
                  <a:srgbClr val="000000"/>
                </a:solidFill>
                <a:latin typeface="Consolas"/>
                <a:ea typeface="Consolas"/>
                <a:cs typeface="Consolas"/>
                <a:sym typeface="Consolas"/>
              </a:rPr>
              <a:t>( tower([</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 </a:t>
            </a:r>
            <a:r>
              <a:rPr b="1" lang="en-GB" sz="2000">
                <a:solidFill>
                  <a:srgbClr val="0000C0"/>
                </a:solidFill>
                <a:latin typeface="Consolas"/>
                <a:ea typeface="Consolas"/>
                <a:cs typeface="Consolas"/>
                <a:sym typeface="Consolas"/>
              </a:rPr>
              <a:t>T</a:t>
            </a:r>
            <a:r>
              <a:rPr b="1" lang="en-GB" sz="2000">
                <a:solidFill>
                  <a:srgbClr val="000000"/>
                </a:solidFill>
                <a:latin typeface="Consolas"/>
                <a:ea typeface="Consolas"/>
                <a:cs typeface="Consolas"/>
                <a:sym typeface="Consolas"/>
              </a:rPr>
              <a:t>]) ),</a:t>
            </a:r>
            <a:endParaRPr/>
          </a:p>
          <a:p>
            <a:pPr indent="0" lvl="0" marL="0" marR="0" rtl="0" algn="l">
              <a:spcBef>
                <a:spcPts val="0"/>
              </a:spcBef>
              <a:spcAft>
                <a:spcPts val="0"/>
              </a:spcAft>
              <a:buClr>
                <a:srgbClr val="000000"/>
              </a:buClr>
              <a:buSzPts val="2000"/>
              <a:buFont typeface="Consolas"/>
              <a:buNone/>
            </a:pPr>
            <a:r>
              <a:rPr b="1" lang="en-GB" sz="2000">
                <a:solidFill>
                  <a:srgbClr val="000000"/>
                </a:solidFill>
                <a:latin typeface="Consolas"/>
                <a:ea typeface="Consolas"/>
                <a:cs typeface="Consolas"/>
                <a:sym typeface="Consolas"/>
              </a:rPr>
              <a:t>	clear(</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a:t>
            </a:r>
            <a:r>
              <a:rPr b="1" i="1" lang="en-GB" sz="2000">
                <a:solidFill>
                  <a:srgbClr val="7F0055"/>
                </a:solidFill>
                <a:latin typeface="Consolas"/>
                <a:ea typeface="Consolas"/>
                <a:cs typeface="Consolas"/>
                <a:sym typeface="Consolas"/>
              </a:rPr>
              <a:t>not</a:t>
            </a:r>
            <a:r>
              <a:rPr b="1" lang="en-GB" sz="2000">
                <a:solidFill>
                  <a:srgbClr val="000000"/>
                </a:solidFill>
                <a:latin typeface="Consolas"/>
                <a:ea typeface="Consolas"/>
                <a:cs typeface="Consolas"/>
                <a:sym typeface="Consolas"/>
              </a:rPr>
              <a:t>( on(</a:t>
            </a:r>
            <a:r>
              <a:rPr b="1" lang="en-GB" sz="2000">
                <a:solidFill>
                  <a:srgbClr val="0000C0"/>
                </a:solidFill>
                <a:latin typeface="Consolas"/>
                <a:ea typeface="Consolas"/>
                <a:cs typeface="Consolas"/>
                <a:sym typeface="Consolas"/>
              </a:rPr>
              <a:t>X</a:t>
            </a:r>
            <a:r>
              <a:rPr b="1" lang="en-GB" sz="2000">
                <a:solidFill>
                  <a:srgbClr val="000000"/>
                </a:solidFill>
                <a:latin typeface="Consolas"/>
                <a:ea typeface="Consolas"/>
                <a:cs typeface="Consolas"/>
                <a:sym typeface="Consolas"/>
              </a:rPr>
              <a:t>, table) ).</a:t>
            </a:r>
            <a:endParaRPr sz="3600">
              <a:solidFill>
                <a:schemeClr val="lt1"/>
              </a:solidFill>
              <a:latin typeface="Arial"/>
              <a:ea typeface="Arial"/>
              <a:cs typeface="Arial"/>
              <a:sym typeface="Arial"/>
            </a:endParaRPr>
          </a:p>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a9937886b0_0_172"/>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3a: Solution</a:t>
            </a:r>
            <a:endParaRPr/>
          </a:p>
        </p:txBody>
      </p:sp>
      <p:sp>
        <p:nvSpPr>
          <p:cNvPr id="225" name="Google Shape;225;g3a9937886b0_0_172"/>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 Cycle 1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inserted 'on(b1,b2), on(b2,b3), on(b3,table), on(b4,b5), on(b5,table), on(b6,b7), on(b7,table)'.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started agent (took 31ms).</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performed 'move(b1, table)'.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 Cycle 2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inserted 'on(b1,table)'and deleted 'on(b1,b2)'.</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performed 'move(b2, table)’.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 Cycle 6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inserted 'on(b1,b5)'and deleted 'on(b1,table)'.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performed 'move(b6, b4)'.</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 Cycle 7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inserted 'on(b6,b4)'and deleted 'on(b6,b7)'.</a:t>
            </a:r>
            <a:endParaRPr/>
          </a:p>
          <a:p>
            <a:pPr indent="0" lvl="0" marL="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a9937886b0_0_178"/>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3b: Problem</a:t>
            </a:r>
            <a:endParaRPr/>
          </a:p>
        </p:txBody>
      </p:sp>
      <p:sp>
        <p:nvSpPr>
          <p:cNvPr id="231" name="Google Shape;231;g3a9937886b0_0_178"/>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Define a recursive Prolog predicate above in the Prolog file </a:t>
            </a:r>
            <a:r>
              <a:rPr b="1" lang="en-GB"/>
              <a:t>blocksworld.pl</a:t>
            </a:r>
            <a:r>
              <a:rPr lang="en-GB"/>
              <a:t>.</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rgbClr val="000000"/>
              </a:buClr>
              <a:buSzPts val="2800"/>
              <a:buFont typeface="Consolas"/>
              <a:buNone/>
            </a:pPr>
            <a:r>
              <a:rPr b="0" i="0" lang="en-GB" sz="2800" u="none" cap="none" strike="noStrike">
                <a:solidFill>
                  <a:srgbClr val="000000"/>
                </a:solidFill>
                <a:latin typeface="Consolas"/>
                <a:ea typeface="Consolas"/>
                <a:cs typeface="Consolas"/>
                <a:sym typeface="Consolas"/>
              </a:rPr>
              <a:t>above(</a:t>
            </a:r>
            <a:r>
              <a:rPr b="0" i="0" lang="en-GB" sz="2800" u="none" cap="none" strike="noStrike">
                <a:solidFill>
                  <a:srgbClr val="0000C0"/>
                </a:solidFill>
                <a:latin typeface="Consolas"/>
                <a:ea typeface="Consolas"/>
                <a:cs typeface="Consolas"/>
                <a:sym typeface="Consolas"/>
              </a:rPr>
              <a:t>X</a:t>
            </a:r>
            <a:r>
              <a:rPr b="0" i="0" lang="en-GB" sz="2800" u="none" cap="none" strike="noStrike">
                <a:solidFill>
                  <a:srgbClr val="000000"/>
                </a:solidFill>
                <a:latin typeface="Consolas"/>
                <a:ea typeface="Consolas"/>
                <a:cs typeface="Consolas"/>
                <a:sym typeface="Consolas"/>
              </a:rPr>
              <a:t>, </a:t>
            </a:r>
            <a:r>
              <a:rPr b="0" i="0" lang="en-GB" sz="2800" u="none" cap="none" strike="noStrike">
                <a:solidFill>
                  <a:srgbClr val="0000C0"/>
                </a:solidFill>
                <a:latin typeface="Consolas"/>
                <a:ea typeface="Consolas"/>
                <a:cs typeface="Consolas"/>
                <a:sym typeface="Consolas"/>
              </a:rPr>
              <a:t>Y</a:t>
            </a:r>
            <a:r>
              <a:rPr b="0" i="0" lang="en-GB" sz="2800" u="none" cap="none" strike="noStrike">
                <a:solidFill>
                  <a:srgbClr val="000000"/>
                </a:solidFill>
                <a:latin typeface="Consolas"/>
                <a:ea typeface="Consolas"/>
                <a:cs typeface="Consolas"/>
                <a:sym typeface="Consolas"/>
              </a:rPr>
              <a:t>) </a:t>
            </a:r>
            <a:r>
              <a:rPr lang="en-GB"/>
              <a:t>should succeed when </a:t>
            </a:r>
            <a:r>
              <a:rPr b="0" i="0" lang="en-GB" sz="2800" u="none" cap="none" strike="noStrike">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b="0" i="0" lang="en-GB" sz="3200" u="none" cap="none" strike="noStrike">
                <a:solidFill>
                  <a:srgbClr val="000000"/>
                </a:solidFill>
                <a:latin typeface="Arial"/>
                <a:ea typeface="Arial"/>
                <a:cs typeface="Arial"/>
                <a:sym typeface="Arial"/>
              </a:rPr>
              <a:t>sits above another </a:t>
            </a:r>
            <a:r>
              <a:rPr b="1" i="0" lang="en-GB" sz="3200" u="none" cap="none" strike="noStrike">
                <a:solidFill>
                  <a:srgbClr val="000000"/>
                </a:solidFill>
                <a:latin typeface="Arial"/>
                <a:ea typeface="Arial"/>
                <a:cs typeface="Arial"/>
                <a:sym typeface="Arial"/>
              </a:rPr>
              <a:t>block</a:t>
            </a:r>
            <a:r>
              <a:rPr b="0" i="0" lang="en-GB" sz="1800" u="none" cap="none" strike="noStrike">
                <a:solidFill>
                  <a:srgbClr val="000000"/>
                </a:solidFill>
                <a:latin typeface="Consolas"/>
                <a:ea typeface="Consolas"/>
                <a:cs typeface="Consolas"/>
                <a:sym typeface="Consolas"/>
              </a:rPr>
              <a:t> </a:t>
            </a:r>
            <a:r>
              <a:rPr b="0" i="0" lang="en-GB" sz="2800" u="none" cap="none" strike="noStrike">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lang="en-GB"/>
              <a:t>So, if </a:t>
            </a:r>
            <a:r>
              <a:rPr b="0" i="0" lang="en-GB" sz="2800" u="none" cap="none" strike="noStrike">
                <a:solidFill>
                  <a:srgbClr val="0000C0"/>
                </a:solidFill>
                <a:latin typeface="Consolas"/>
                <a:ea typeface="Consolas"/>
                <a:cs typeface="Consolas"/>
                <a:sym typeface="Consolas"/>
              </a:rPr>
              <a:t>X</a:t>
            </a:r>
            <a:r>
              <a:rPr lang="en-GB"/>
              <a:t> sits directly on </a:t>
            </a:r>
            <a:r>
              <a:rPr lang="en-GB" sz="2800">
                <a:solidFill>
                  <a:srgbClr val="0000C0"/>
                </a:solidFill>
                <a:latin typeface="Consolas"/>
                <a:ea typeface="Consolas"/>
                <a:cs typeface="Consolas"/>
                <a:sym typeface="Consolas"/>
              </a:rPr>
              <a:t>Y</a:t>
            </a:r>
            <a:r>
              <a:rPr lang="en-GB"/>
              <a:t> it </a:t>
            </a:r>
            <a:r>
              <a:rPr b="0" i="0" lang="en-GB" sz="2800" u="none" cap="none" strike="noStrike">
                <a:solidFill>
                  <a:srgbClr val="000000"/>
                </a:solidFill>
                <a:latin typeface="Consolas"/>
                <a:ea typeface="Consolas"/>
                <a:cs typeface="Consolas"/>
                <a:sym typeface="Consolas"/>
              </a:rPr>
              <a:t>above(</a:t>
            </a:r>
            <a:r>
              <a:rPr b="0" i="0" lang="en-GB" sz="2800" u="none" cap="none" strike="noStrike">
                <a:solidFill>
                  <a:srgbClr val="0000C0"/>
                </a:solidFill>
                <a:latin typeface="Consolas"/>
                <a:ea typeface="Consolas"/>
                <a:cs typeface="Consolas"/>
                <a:sym typeface="Consolas"/>
              </a:rPr>
              <a:t>X</a:t>
            </a:r>
            <a:r>
              <a:rPr b="0" i="0" lang="en-GB" sz="2800" u="none" cap="none" strike="noStrike">
                <a:solidFill>
                  <a:srgbClr val="000000"/>
                </a:solidFill>
                <a:latin typeface="Consolas"/>
                <a:ea typeface="Consolas"/>
                <a:cs typeface="Consolas"/>
                <a:sym typeface="Consolas"/>
              </a:rPr>
              <a:t>, </a:t>
            </a:r>
            <a:r>
              <a:rPr b="0" i="0" lang="en-GB" sz="2800" u="none" cap="none" strike="noStrike">
                <a:solidFill>
                  <a:srgbClr val="0000C0"/>
                </a:solidFill>
                <a:latin typeface="Consolas"/>
                <a:ea typeface="Consolas"/>
                <a:cs typeface="Consolas"/>
                <a:sym typeface="Consolas"/>
              </a:rPr>
              <a:t>Y</a:t>
            </a:r>
            <a:r>
              <a:rPr b="0" i="0" lang="en-GB" sz="2800" u="none" cap="none" strike="noStrike">
                <a:solidFill>
                  <a:srgbClr val="000000"/>
                </a:solidFill>
                <a:latin typeface="Consolas"/>
                <a:ea typeface="Consolas"/>
                <a:cs typeface="Consolas"/>
                <a:sym typeface="Consolas"/>
              </a:rPr>
              <a:t>) </a:t>
            </a:r>
            <a:r>
              <a:rPr lang="en-GB"/>
              <a:t>should succeed. </a:t>
            </a:r>
            <a:r>
              <a:rPr b="0" i="0" lang="en-GB" sz="2800" u="none" cap="none" strike="noStrike">
                <a:solidFill>
                  <a:srgbClr val="000000"/>
                </a:solidFill>
                <a:latin typeface="Consolas"/>
                <a:ea typeface="Consolas"/>
                <a:cs typeface="Consolas"/>
                <a:sym typeface="Consolas"/>
              </a:rPr>
              <a:t>above(</a:t>
            </a:r>
            <a:r>
              <a:rPr b="0" i="0" lang="en-GB" sz="2800" u="none" cap="none" strike="noStrike">
                <a:solidFill>
                  <a:srgbClr val="0000C0"/>
                </a:solidFill>
                <a:latin typeface="Consolas"/>
                <a:ea typeface="Consolas"/>
                <a:cs typeface="Consolas"/>
                <a:sym typeface="Consolas"/>
              </a:rPr>
              <a:t>X</a:t>
            </a:r>
            <a:r>
              <a:rPr b="0" i="0" lang="en-GB" sz="2800" u="none" cap="none" strike="noStrike">
                <a:solidFill>
                  <a:srgbClr val="000000"/>
                </a:solidFill>
                <a:latin typeface="Consolas"/>
                <a:ea typeface="Consolas"/>
                <a:cs typeface="Consolas"/>
                <a:sym typeface="Consolas"/>
              </a:rPr>
              <a:t>, </a:t>
            </a:r>
            <a:r>
              <a:rPr b="0" i="0" lang="en-GB" sz="2800" u="none" cap="none" strike="noStrike">
                <a:solidFill>
                  <a:srgbClr val="0000C0"/>
                </a:solidFill>
                <a:latin typeface="Consolas"/>
                <a:ea typeface="Consolas"/>
                <a:cs typeface="Consolas"/>
                <a:sym typeface="Consolas"/>
              </a:rPr>
              <a:t>Y</a:t>
            </a:r>
            <a:r>
              <a:rPr b="0" i="0" lang="en-GB" sz="2800" u="none" cap="none" strike="noStrike">
                <a:solidFill>
                  <a:srgbClr val="000000"/>
                </a:solidFill>
                <a:latin typeface="Consolas"/>
                <a:ea typeface="Consolas"/>
                <a:cs typeface="Consolas"/>
                <a:sym typeface="Consolas"/>
              </a:rPr>
              <a:t>)</a:t>
            </a:r>
            <a:r>
              <a:rPr lang="en-GB"/>
              <a:t> should also succeed when </a:t>
            </a:r>
            <a:r>
              <a:rPr b="0" i="0" lang="en-GB" sz="2800" u="none" cap="none" strike="noStrike">
                <a:solidFill>
                  <a:srgbClr val="0000C0"/>
                </a:solidFill>
                <a:latin typeface="Consolas"/>
                <a:ea typeface="Consolas"/>
                <a:cs typeface="Consolas"/>
                <a:sym typeface="Consolas"/>
              </a:rPr>
              <a:t>X</a:t>
            </a:r>
            <a:r>
              <a:rPr lang="en-GB"/>
              <a:t> sits on top of another block that sits above </a:t>
            </a:r>
            <a:r>
              <a:rPr b="0" i="0" lang="en-GB" sz="2800" u="none" cap="none" strike="noStrike">
                <a:solidFill>
                  <a:srgbClr val="0000C0"/>
                </a:solidFill>
                <a:latin typeface="Consolas"/>
                <a:ea typeface="Consolas"/>
                <a:cs typeface="Consolas"/>
                <a:sym typeface="Consolas"/>
              </a:rPr>
              <a:t>Y</a:t>
            </a:r>
            <a:r>
              <a:rPr lang="en-GB"/>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a9937886b0_0_183"/>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3b: Solution</a:t>
            </a:r>
            <a:endParaRPr/>
          </a:p>
        </p:txBody>
      </p:sp>
      <p:sp>
        <p:nvSpPr>
          <p:cNvPr id="238" name="Google Shape;238;g3a9937886b0_0_183"/>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GB" sz="2800"/>
              <a:t>Introduce the following Prolog clauses:</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Clearly, a block sits above another block if it directly sits on top of it (</a:t>
            </a:r>
            <a:r>
              <a:rPr i="1" lang="en-GB" sz="2800"/>
              <a:t>clause 1</a:t>
            </a:r>
            <a:r>
              <a:rPr lang="en-GB" sz="2800"/>
              <a:t>).</a:t>
            </a:r>
            <a:endParaRPr/>
          </a:p>
          <a:p>
            <a:pPr indent="0" lvl="0" marL="0" rtl="0" algn="l">
              <a:spcBef>
                <a:spcPts val="560"/>
              </a:spcBef>
              <a:spcAft>
                <a:spcPts val="0"/>
              </a:spcAft>
              <a:buClr>
                <a:schemeClr val="dk1"/>
              </a:buClr>
              <a:buSzPts val="2800"/>
              <a:buFont typeface="Arial"/>
              <a:buNone/>
            </a:pPr>
            <a:r>
              <a:rPr lang="en-GB" sz="2800"/>
              <a:t>A block X also sits above another one Z if it sits directly on top of Y which sits above Z (</a:t>
            </a:r>
            <a:r>
              <a:rPr i="1" lang="en-GB" sz="2800"/>
              <a:t>clause 2</a:t>
            </a:r>
            <a:r>
              <a:rPr lang="en-GB" sz="2800"/>
              <a:t>).</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NB: use </a:t>
            </a:r>
            <a:r>
              <a:rPr i="1" lang="en-GB" sz="2800"/>
              <a:t>tail</a:t>
            </a:r>
            <a:r>
              <a:rPr lang="en-GB" sz="2800"/>
              <a:t> recursion.</a:t>
            </a:r>
            <a:endParaRPr/>
          </a:p>
          <a:p>
            <a:pPr indent="0" lvl="0" marL="0" rtl="0" algn="l">
              <a:spcBef>
                <a:spcPts val="560"/>
              </a:spcBef>
              <a:spcAft>
                <a:spcPts val="0"/>
              </a:spcAft>
              <a:buClr>
                <a:schemeClr val="dk1"/>
              </a:buClr>
              <a:buSzPts val="2800"/>
              <a:buFont typeface="Arial"/>
              <a:buNone/>
            </a:pPr>
            <a:r>
              <a:rPr lang="en-GB" sz="2800"/>
              <a:t>See also: </a:t>
            </a:r>
            <a:r>
              <a:rPr lang="en-GB" sz="2800" u="sng">
                <a:solidFill>
                  <a:schemeClr val="hlink"/>
                </a:solidFill>
                <a:hlinkClick r:id="rId3"/>
              </a:rPr>
              <a:t>Learn Prolog Now</a:t>
            </a:r>
            <a:endParaRPr sz="2800"/>
          </a:p>
        </p:txBody>
      </p:sp>
      <p:sp>
        <p:nvSpPr>
          <p:cNvPr id="239" name="Google Shape;239;g3a9937886b0_0_183"/>
          <p:cNvSpPr txBox="1"/>
          <p:nvPr/>
        </p:nvSpPr>
        <p:spPr>
          <a:xfrm>
            <a:off x="150762" y="1844824"/>
            <a:ext cx="8842500" cy="646500"/>
          </a:xfrm>
          <a:prstGeom prst="rect">
            <a:avLst/>
          </a:prstGeom>
          <a:solidFill>
            <a:srgbClr val="6998F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000000"/>
                </a:solidFill>
                <a:latin typeface="Consolas"/>
                <a:ea typeface="Consolas"/>
                <a:cs typeface="Consolas"/>
                <a:sym typeface="Consolas"/>
              </a:rPr>
              <a:t>above(</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 on(</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block(Y).</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above(</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 </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 on(</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above(</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a9937886b0_0_190"/>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3c: Problem</a:t>
            </a:r>
            <a:endParaRPr/>
          </a:p>
        </p:txBody>
      </p:sp>
      <p:sp>
        <p:nvSpPr>
          <p:cNvPr id="245" name="Google Shape;245;g3a9937886b0_0_190"/>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Create a new, second Prolog rule that defines when a block </a:t>
            </a:r>
            <a:r>
              <a:rPr i="1" lang="en-GB"/>
              <a:t>that is </a:t>
            </a:r>
            <a:r>
              <a:rPr b="1" i="1" lang="en-GB" u="sng"/>
              <a:t>not</a:t>
            </a:r>
            <a:r>
              <a:rPr lang="en-GB"/>
              <a:t> </a:t>
            </a:r>
            <a:r>
              <a:rPr i="1" lang="en-GB"/>
              <a:t>part of the goal </a:t>
            </a:r>
            <a:r>
              <a:rPr lang="en-GB"/>
              <a:t>is misplaced.</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Run your agent with following changes in mas:</a:t>
            </a:r>
            <a:endParaRPr/>
          </a:p>
          <a:p>
            <a:pPr indent="0" lvl="0" marL="0" rtl="0" algn="l">
              <a:spcBef>
                <a:spcPts val="36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	start = [2, 3, 0, 5, 0, 4, 1]</a:t>
            </a:r>
            <a:endParaRPr/>
          </a:p>
          <a:p>
            <a:pPr indent="0" lvl="0" marL="0" rtl="0" algn="l">
              <a:spcBef>
                <a:spcPts val="36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	stackBuilder([b4, table, b2, b3])</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What does it do? Can it handle blocks that are not part of the goal correctly?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a9937886b0_0_195"/>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3c: Solution</a:t>
            </a:r>
            <a:endParaRPr/>
          </a:p>
        </p:txBody>
      </p:sp>
      <p:sp>
        <p:nvSpPr>
          <p:cNvPr id="251" name="Google Shape;251;g3a9937886b0_0_195"/>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second rule: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This rule is almost an exact copy of the first rule for misplaced but the above predicate has been added as the first subquery at the start; also note the variable name has been changed for convenience; and we do not check any more that Z is not already on the table because we already know because of above/2.</a:t>
            </a:r>
            <a:endParaRPr/>
          </a:p>
        </p:txBody>
      </p:sp>
      <p:sp>
        <p:nvSpPr>
          <p:cNvPr id="252" name="Google Shape;252;g3a9937886b0_0_195"/>
          <p:cNvSpPr txBox="1"/>
          <p:nvPr/>
        </p:nvSpPr>
        <p:spPr>
          <a:xfrm>
            <a:off x="150812" y="1700808"/>
            <a:ext cx="8842500" cy="9234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000000"/>
                </a:solidFill>
                <a:latin typeface="Consolas"/>
                <a:ea typeface="Consolas"/>
                <a:cs typeface="Consolas"/>
                <a:sym typeface="Consolas"/>
              </a:rPr>
              <a:t>misplaced(</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 </a:t>
            </a:r>
            <a:r>
              <a:rPr b="1" lang="en-GB" sz="1800">
                <a:solidFill>
                  <a:srgbClr val="969696"/>
                </a:solidFill>
                <a:latin typeface="Consolas"/>
                <a:ea typeface="Consolas"/>
                <a:cs typeface="Consolas"/>
                <a:sym typeface="Consolas"/>
              </a:rPr>
              <a:t>:-</a:t>
            </a:r>
            <a:endParaRPr b="1"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a:t>
            </a:r>
            <a:r>
              <a:rPr lang="en-GB" sz="1800">
                <a:solidFill>
                  <a:srgbClr val="000000"/>
                </a:solidFill>
                <a:latin typeface="Consolas"/>
                <a:ea typeface="Consolas"/>
                <a:cs typeface="Consolas"/>
                <a:sym typeface="Consolas"/>
              </a:rPr>
              <a:t>above(</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	tower(</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 </a:t>
            </a:r>
            <a:r>
              <a:rPr lang="en-GB" sz="1800">
                <a:solidFill>
                  <a:srgbClr val="0000C0"/>
                </a:solidFill>
                <a:latin typeface="Consolas"/>
                <a:ea typeface="Consolas"/>
                <a:cs typeface="Consolas"/>
                <a:sym typeface="Consolas"/>
              </a:rPr>
              <a:t>T</a:t>
            </a:r>
            <a:r>
              <a:rPr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not</a:t>
            </a:r>
            <a:r>
              <a:rPr lang="en-GB" sz="1800">
                <a:solidFill>
                  <a:srgbClr val="000000"/>
                </a:solidFill>
                <a:latin typeface="Consolas"/>
                <a:ea typeface="Consolas"/>
                <a:cs typeface="Consolas"/>
                <a:sym typeface="Consolas"/>
              </a:rPr>
              <a:t>( tower([</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 </a:t>
            </a:r>
            <a:r>
              <a:rPr lang="en-GB" sz="1800">
                <a:solidFill>
                  <a:srgbClr val="0000C0"/>
                </a:solidFill>
                <a:latin typeface="Consolas"/>
                <a:ea typeface="Consolas"/>
                <a:cs typeface="Consolas"/>
                <a:sym typeface="Consolas"/>
              </a:rPr>
              <a:t>T</a:t>
            </a:r>
            <a:r>
              <a:rPr lang="en-GB" sz="1800">
                <a:solidFill>
                  <a:srgbClr val="000000"/>
                </a:solidFill>
                <a:latin typeface="Consolas"/>
                <a:ea typeface="Consolas"/>
                <a:cs typeface="Consolas"/>
                <a:sym typeface="Consolas"/>
              </a:rPr>
              <a:t>]) ), clear(</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a:t>
            </a:r>
            <a:endParaRPr sz="18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a9937886b0_0_201"/>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3c: Solution</a:t>
            </a:r>
            <a:endParaRPr/>
          </a:p>
        </p:txBody>
      </p:sp>
      <p:sp>
        <p:nvSpPr>
          <p:cNvPr id="258" name="Google Shape;258;g3a9937886b0_0_201"/>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What does the agent do?</a:t>
            </a:r>
            <a:endParaRPr/>
          </a:p>
        </p:txBody>
      </p:sp>
      <p:pic>
        <p:nvPicPr>
          <p:cNvPr id="259" name="Google Shape;259;g3a9937886b0_0_201"/>
          <p:cNvPicPr preferRelativeResize="0"/>
          <p:nvPr/>
        </p:nvPicPr>
        <p:blipFill rotWithShape="1">
          <a:blip r:embed="rId3">
            <a:alphaModFix/>
          </a:blip>
          <a:srcRect b="0" l="0" r="0" t="0"/>
          <a:stretch/>
        </p:blipFill>
        <p:spPr>
          <a:xfrm>
            <a:off x="323528" y="2420888"/>
            <a:ext cx="3844357" cy="3225510"/>
          </a:xfrm>
          <a:prstGeom prst="rect">
            <a:avLst/>
          </a:prstGeom>
          <a:noFill/>
          <a:ln>
            <a:noFill/>
          </a:ln>
        </p:spPr>
      </p:pic>
      <p:pic>
        <p:nvPicPr>
          <p:cNvPr id="260" name="Google Shape;260;g3a9937886b0_0_201"/>
          <p:cNvPicPr preferRelativeResize="0"/>
          <p:nvPr/>
        </p:nvPicPr>
        <p:blipFill rotWithShape="1">
          <a:blip r:embed="rId4">
            <a:alphaModFix/>
          </a:blip>
          <a:srcRect b="0" l="0" r="0" t="0"/>
          <a:stretch/>
        </p:blipFill>
        <p:spPr>
          <a:xfrm>
            <a:off x="4961780" y="2420888"/>
            <a:ext cx="3844357" cy="3225510"/>
          </a:xfrm>
          <a:prstGeom prst="rect">
            <a:avLst/>
          </a:prstGeom>
          <a:noFill/>
          <a:ln>
            <a:noFill/>
          </a:ln>
        </p:spPr>
      </p:pic>
      <p:sp>
        <p:nvSpPr>
          <p:cNvPr id="261" name="Google Shape;261;g3a9937886b0_0_201"/>
          <p:cNvSpPr/>
          <p:nvPr/>
        </p:nvSpPr>
        <p:spPr>
          <a:xfrm>
            <a:off x="4167886" y="3791327"/>
            <a:ext cx="978300" cy="484500"/>
          </a:xfrm>
          <a:prstGeom prst="rightArrow">
            <a:avLst>
              <a:gd fmla="val 50000" name="adj1"/>
              <a:gd fmla="val 50000" name="adj2"/>
            </a:avLst>
          </a:prstGeom>
          <a:solidFill>
            <a:schemeClr val="accent1"/>
          </a:solidFill>
          <a:ln cap="flat" cmpd="sng" w="25400">
            <a:solidFill>
              <a:srgbClr val="4E5E5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 name="Google Shape;262;g3a9937886b0_0_201"/>
          <p:cNvSpPr txBox="1"/>
          <p:nvPr/>
        </p:nvSpPr>
        <p:spPr>
          <a:xfrm>
            <a:off x="1601941" y="3059668"/>
            <a:ext cx="1287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Initial state</a:t>
            </a:r>
            <a:endParaRPr sz="1800">
              <a:solidFill>
                <a:schemeClr val="dk1"/>
              </a:solidFill>
              <a:latin typeface="Arial"/>
              <a:ea typeface="Arial"/>
              <a:cs typeface="Arial"/>
              <a:sym typeface="Arial"/>
            </a:endParaRPr>
          </a:p>
        </p:txBody>
      </p:sp>
      <p:sp>
        <p:nvSpPr>
          <p:cNvPr id="263" name="Google Shape;263;g3a9937886b0_0_201"/>
          <p:cNvSpPr txBox="1"/>
          <p:nvPr/>
        </p:nvSpPr>
        <p:spPr>
          <a:xfrm>
            <a:off x="6265841" y="3071336"/>
            <a:ext cx="1236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Goal state</a:t>
            </a:r>
            <a:endParaRPr sz="18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a9937886b0_0_211"/>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3d: Problem</a:t>
            </a:r>
            <a:endParaRPr/>
          </a:p>
        </p:txBody>
      </p:sp>
      <p:sp>
        <p:nvSpPr>
          <p:cNvPr id="270" name="Google Shape;270;g3a9937886b0_0_211"/>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Would a similar solution also work for the Tower World we developed in the lecture?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Try this at home!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a9937886b0_0_217"/>
          <p:cNvSpPr txBox="1"/>
          <p:nvPr>
            <p:ph type="title"/>
          </p:nvPr>
        </p:nvSpPr>
        <p:spPr>
          <a:xfrm>
            <a:off x="722313" y="4406900"/>
            <a:ext cx="7772400" cy="1362000"/>
          </a:xfrm>
          <a:prstGeom prst="rect">
            <a:avLst/>
          </a:prstGeom>
          <a:gradFill>
            <a:gsLst>
              <a:gs pos="0">
                <a:srgbClr val="3333B3"/>
              </a:gs>
              <a:gs pos="100000">
                <a:schemeClr val="dk2"/>
              </a:gs>
            </a:gsLst>
            <a:lin ang="0" scaled="0"/>
          </a:gra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EXERCISE 4</a:t>
            </a:r>
            <a:endParaRPr/>
          </a:p>
        </p:txBody>
      </p:sp>
      <p:sp>
        <p:nvSpPr>
          <p:cNvPr id="277" name="Google Shape;277;g3a9937886b0_0_2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lang="en-GB"/>
              <a:t>Implementing a straightforward strategy for solving Blocks World problems: first moving all blocks to the table, and only after that has been done building the goal tower stacks of blocks. We call this the </a:t>
            </a:r>
            <a:r>
              <a:rPr b="1" lang="en-GB"/>
              <a:t>“basic strategy”</a:t>
            </a:r>
            <a:r>
              <a:rPr lang="en-GB"/>
              <a:t>.</a:t>
            </a:r>
            <a:endParaRPr/>
          </a:p>
          <a:p>
            <a:pPr indent="0" lvl="0" marL="0" rtl="0" algn="l">
              <a:spcBef>
                <a:spcPts val="400"/>
              </a:spcBef>
              <a:spcAft>
                <a:spcPts val="0"/>
              </a:spcAft>
              <a:buClr>
                <a:schemeClr val="dk1"/>
              </a:buClr>
              <a:buSzPts val="2000"/>
              <a:buFont typeface="Arial"/>
              <a:buNone/>
            </a:pPr>
            <a:r>
              <a:t/>
            </a:r>
            <a:endParaRPr/>
          </a:p>
          <a:p>
            <a:pPr indent="0" lvl="0" marL="0" rtl="0" algn="l">
              <a:spcBef>
                <a:spcPts val="400"/>
              </a:spcBef>
              <a:spcAft>
                <a:spcPts val="0"/>
              </a:spcAft>
              <a:buClr>
                <a:schemeClr val="dk1"/>
              </a:buClr>
              <a:buSzPts val="2000"/>
              <a:buFont typeface="Arial"/>
              <a:buNone/>
            </a:pPr>
            <a:r>
              <a:rPr i="1" lang="en-GB"/>
              <a:t>Objective</a:t>
            </a:r>
            <a:r>
              <a:rPr lang="en-GB"/>
              <a:t>: To learn how to control rule evaluation using multiple modules (instead of one) and the exit option of a module.</a:t>
            </a:r>
            <a:endParaRPr i="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a9937886b0_0_223"/>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4a: Intro</a:t>
            </a:r>
            <a:endParaRPr/>
          </a:p>
        </p:txBody>
      </p:sp>
      <p:sp>
        <p:nvSpPr>
          <p:cNvPr id="283" name="Google Shape;283;g3a9937886b0_0_223"/>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200"/>
              <a:buFont typeface="Arial"/>
              <a:buNone/>
            </a:pPr>
            <a:r>
              <a:t/>
            </a:r>
            <a:endParaRPr/>
          </a:p>
          <a:p>
            <a:pPr indent="0" lvl="0" marL="0" rtl="0" algn="ctr">
              <a:spcBef>
                <a:spcPts val="640"/>
              </a:spcBef>
              <a:spcAft>
                <a:spcPts val="0"/>
              </a:spcAft>
              <a:buClr>
                <a:schemeClr val="dk1"/>
              </a:buClr>
              <a:buSzPts val="3200"/>
              <a:buFont typeface="Arial"/>
              <a:buNone/>
            </a:pPr>
            <a:r>
              <a:t/>
            </a:r>
            <a:endParaRPr/>
          </a:p>
          <a:p>
            <a:pPr indent="0" lvl="0" marL="0" rtl="0" algn="ctr">
              <a:spcBef>
                <a:spcPts val="640"/>
              </a:spcBef>
              <a:spcAft>
                <a:spcPts val="0"/>
              </a:spcAft>
              <a:buClr>
                <a:schemeClr val="dk1"/>
              </a:buClr>
              <a:buSzPts val="3200"/>
              <a:buFont typeface="Arial"/>
              <a:buNone/>
            </a:pPr>
            <a:r>
              <a:rPr lang="en-GB"/>
              <a:t>The current code for the Blocks World agent heavily relies on the tower/2 and tower/3 predicates. If we first move all blocks to the table, and then start building the stacks of blocks we want, these definitions are not needed (think about it!).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a9937886b0_0_228"/>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4a: Problem</a:t>
            </a:r>
            <a:endParaRPr/>
          </a:p>
        </p:txBody>
      </p:sp>
      <p:sp>
        <p:nvSpPr>
          <p:cNvPr id="289" name="Google Shape;289;g3a9937886b0_0_228"/>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Let’s try and see what happens if we implement the “basic strategy” literally…</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Start by simplifying the Prolog code: remove all tower-related predicates from the Prolog file.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Make sure that the Prolog file does not give any compile errors anymore; don’t change any other files yet. </a:t>
            </a:r>
            <a:r>
              <a:rPr i="1" lang="en-GB"/>
              <a:t>Which compile errors do you get?</a:t>
            </a:r>
            <a:endParaRPr i="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9937886b0_0_233"/>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4a: Solution</a:t>
            </a:r>
            <a:endParaRPr/>
          </a:p>
        </p:txBody>
      </p:sp>
      <p:sp>
        <p:nvSpPr>
          <p:cNvPr id="295" name="Google Shape;295;g3a9937886b0_0_233"/>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Check out the Problems console in Eclipse:</a:t>
            </a:r>
            <a:endParaRPr/>
          </a:p>
        </p:txBody>
      </p:sp>
      <p:sp>
        <p:nvSpPr>
          <p:cNvPr id="296" name="Google Shape;296;g3a9937886b0_0_233"/>
          <p:cNvSpPr txBox="1"/>
          <p:nvPr/>
        </p:nvSpPr>
        <p:spPr>
          <a:xfrm>
            <a:off x="827584" y="2132856"/>
            <a:ext cx="87129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Arial"/>
                <a:ea typeface="Arial"/>
                <a:cs typeface="Arial"/>
                <a:sym typeface="Arial"/>
              </a:rPr>
              <a:t>Description	Resource	Path	Location	Type</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'constructiveMove(Goal,X,Y)' is not defined	stackBuilder.mod2g line 10	</a:t>
            </a:r>
            <a:endParaRPr/>
          </a:p>
          <a:p>
            <a:pPr indent="0" lvl="0" marL="0" marR="0" rtl="0" algn="l">
              <a:spcBef>
                <a:spcPts val="0"/>
              </a:spcBef>
              <a:spcAft>
                <a:spcPts val="0"/>
              </a:spcAft>
              <a:buNone/>
            </a:pPr>
            <a:r>
              <a:rPr lang="en-GB" sz="1800">
                <a:solidFill>
                  <a:schemeClr val="dk1"/>
                </a:solidFill>
                <a:latin typeface="Arial"/>
                <a:ea typeface="Arial"/>
                <a:cs typeface="Arial"/>
                <a:sym typeface="Arial"/>
              </a:rPr>
              <a:t>'misplaced(Goal,X)' is not defined	…	stackBuilder.mod2g line 14</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a9937886b0_0_239"/>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4b: Problem</a:t>
            </a:r>
            <a:endParaRPr/>
          </a:p>
        </p:txBody>
      </p:sp>
      <p:sp>
        <p:nvSpPr>
          <p:cNvPr id="303" name="Google Shape;303;g3a9937886b0_0_239"/>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Fix the issues in the stackBuilder module by:</a:t>
            </a:r>
            <a:endParaRPr/>
          </a:p>
          <a:p>
            <a:pPr indent="-514350" lvl="0" marL="514350" rtl="0" algn="l">
              <a:spcBef>
                <a:spcPts val="640"/>
              </a:spcBef>
              <a:spcAft>
                <a:spcPts val="0"/>
              </a:spcAft>
              <a:buClr>
                <a:schemeClr val="dk1"/>
              </a:buClr>
              <a:buSzPts val="3200"/>
              <a:buFont typeface="Arial"/>
              <a:buAutoNum type="arabicPeriod"/>
            </a:pPr>
            <a:r>
              <a:rPr lang="en-GB"/>
              <a:t>removing the action rules;</a:t>
            </a:r>
            <a:endParaRPr/>
          </a:p>
          <a:p>
            <a:pPr indent="-514350" lvl="0" marL="514350" rtl="0" algn="l">
              <a:spcBef>
                <a:spcPts val="640"/>
              </a:spcBef>
              <a:spcAft>
                <a:spcPts val="0"/>
              </a:spcAft>
              <a:buClr>
                <a:schemeClr val="dk1"/>
              </a:buClr>
              <a:buSzPts val="3200"/>
              <a:buFont typeface="Arial"/>
              <a:buAutoNum type="arabicPeriod"/>
            </a:pPr>
            <a:r>
              <a:rPr lang="en-GB"/>
              <a:t>inspecting the clearBlocks module;</a:t>
            </a:r>
            <a:endParaRPr/>
          </a:p>
          <a:p>
            <a:pPr indent="-514350" lvl="0" marL="514350" rtl="0" algn="l">
              <a:spcBef>
                <a:spcPts val="640"/>
              </a:spcBef>
              <a:spcAft>
                <a:spcPts val="0"/>
              </a:spcAft>
              <a:buClr>
                <a:schemeClr val="dk1"/>
              </a:buClr>
              <a:buSzPts val="3200"/>
              <a:buFont typeface="Arial"/>
              <a:buAutoNum type="arabicPeriod"/>
            </a:pPr>
            <a:r>
              <a:rPr lang="en-GB"/>
              <a:t>adding a use clause for that module:</a:t>
            </a:r>
            <a:endParaRPr/>
          </a:p>
          <a:p>
            <a:pPr indent="0" lvl="0" marL="0" rtl="0" algn="l">
              <a:spcBef>
                <a:spcPts val="640"/>
              </a:spcBef>
              <a:spcAft>
                <a:spcPts val="0"/>
              </a:spcAft>
              <a:buClr>
                <a:schemeClr val="dk1"/>
              </a:buClr>
              <a:buSzPts val="3200"/>
              <a:buFont typeface="Arial"/>
              <a:buNone/>
            </a:pPr>
            <a:r>
              <a:rPr lang="en-GB"/>
              <a:t>	</a:t>
            </a:r>
            <a:r>
              <a:rPr b="1" lang="en-GB" sz="2800">
                <a:solidFill>
                  <a:srgbClr val="000000"/>
                </a:solidFill>
                <a:latin typeface="Consolas"/>
                <a:ea typeface="Consolas"/>
                <a:cs typeface="Consolas"/>
                <a:sym typeface="Consolas"/>
              </a:rPr>
              <a:t>use</a:t>
            </a:r>
            <a:r>
              <a:rPr lang="en-GB" sz="2800">
                <a:solidFill>
                  <a:srgbClr val="000000"/>
                </a:solidFill>
                <a:latin typeface="Consolas"/>
                <a:ea typeface="Consolas"/>
                <a:cs typeface="Consolas"/>
                <a:sym typeface="Consolas"/>
              </a:rPr>
              <a:t> clearBlocks.</a:t>
            </a:r>
            <a:endParaRPr/>
          </a:p>
          <a:p>
            <a:pPr indent="-514350" lvl="0" marL="514350" rtl="0" algn="l">
              <a:spcBef>
                <a:spcPts val="640"/>
              </a:spcBef>
              <a:spcAft>
                <a:spcPts val="0"/>
              </a:spcAft>
              <a:buClr>
                <a:schemeClr val="dk1"/>
              </a:buClr>
              <a:buSzPts val="3200"/>
              <a:buFont typeface="Arial"/>
              <a:buAutoNum type="arabicPeriod" startAt="4"/>
            </a:pPr>
            <a:r>
              <a:rPr lang="en-GB"/>
              <a:t>adding an action rule that uses this module:</a:t>
            </a:r>
            <a:endParaRPr/>
          </a:p>
          <a:p>
            <a:pPr indent="0" lvl="0" marL="0" rtl="0" algn="l">
              <a:spcBef>
                <a:spcPts val="880"/>
              </a:spcBef>
              <a:spcAft>
                <a:spcPts val="0"/>
              </a:spcAft>
              <a:buClr>
                <a:schemeClr val="dk1"/>
              </a:buClr>
              <a:buSzPts val="4400"/>
              <a:buFont typeface="Arial"/>
              <a:buNone/>
            </a:pPr>
            <a:r>
              <a:rPr lang="en-GB" sz="4400"/>
              <a:t>	</a:t>
            </a:r>
            <a:r>
              <a:rPr b="1" lang="en-GB" sz="2800">
                <a:solidFill>
                  <a:srgbClr val="000000"/>
                </a:solidFill>
                <a:latin typeface="Consolas"/>
                <a:ea typeface="Consolas"/>
                <a:cs typeface="Consolas"/>
                <a:sym typeface="Consolas"/>
              </a:rPr>
              <a:t>if </a:t>
            </a:r>
            <a:r>
              <a:rPr b="1" i="1" lang="en-GB" sz="2800">
                <a:solidFill>
                  <a:srgbClr val="7F0055"/>
                </a:solidFill>
                <a:latin typeface="Consolas"/>
                <a:ea typeface="Consolas"/>
                <a:cs typeface="Consolas"/>
                <a:sym typeface="Consolas"/>
              </a:rPr>
              <a:t>&lt;QUERY&gt;</a:t>
            </a:r>
            <a:r>
              <a:rPr lang="en-GB" sz="2800">
                <a:solidFill>
                  <a:srgbClr val="000000"/>
                </a:solidFill>
                <a:latin typeface="Consolas"/>
                <a:ea typeface="Consolas"/>
                <a:cs typeface="Consolas"/>
                <a:sym typeface="Consolas"/>
              </a:rPr>
              <a:t> then clearBlocks.</a:t>
            </a:r>
            <a:endParaRPr sz="4400"/>
          </a:p>
          <a:p>
            <a:pPr indent="0" lvl="0" marL="0" rtl="0" algn="l">
              <a:spcBef>
                <a:spcPts val="640"/>
              </a:spcBef>
              <a:spcAft>
                <a:spcPts val="0"/>
              </a:spcAft>
              <a:buClr>
                <a:schemeClr val="dk1"/>
              </a:buClr>
              <a:buSzPts val="3200"/>
              <a:buFont typeface="Arial"/>
              <a:buNone/>
            </a:pPr>
            <a:r>
              <a:rPr lang="en-GB"/>
              <a:t>    </a:t>
            </a:r>
            <a:r>
              <a:rPr lang="en-GB" sz="2400"/>
              <a:t>QUERY should check there (still) is a block on another one.</a:t>
            </a:r>
            <a:endParaRPr/>
          </a:p>
          <a:p>
            <a:pPr indent="-514350" lvl="0" marL="514350" rtl="0" algn="l">
              <a:spcBef>
                <a:spcPts val="640"/>
              </a:spcBef>
              <a:spcAft>
                <a:spcPts val="0"/>
              </a:spcAft>
              <a:buClr>
                <a:schemeClr val="dk1"/>
              </a:buClr>
              <a:buSzPts val="3200"/>
              <a:buFont typeface="Arial"/>
              <a:buAutoNum type="arabicPeriod" startAt="5"/>
            </a:pPr>
            <a:r>
              <a:rPr lang="en-GB"/>
              <a:t>Step through the code &amp; check what it does.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a9937886b0_0_245"/>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4b: Solution</a:t>
            </a:r>
            <a:endParaRPr/>
          </a:p>
        </p:txBody>
      </p:sp>
      <p:sp>
        <p:nvSpPr>
          <p:cNvPr id="310" name="Google Shape;310;g3a9937886b0_0_245"/>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action rule query should look like:</a:t>
            </a:r>
            <a:endParaRPr/>
          </a:p>
          <a:p>
            <a:pPr indent="0" lvl="0" marL="0" rtl="0" algn="ctr">
              <a:spcBef>
                <a:spcPts val="480"/>
              </a:spcBef>
              <a:spcAft>
                <a:spcPts val="0"/>
              </a:spcAft>
              <a:buClr>
                <a:srgbClr val="000000"/>
              </a:buClr>
              <a:buSzPts val="2400"/>
              <a:buFont typeface="Consolas"/>
              <a:buNone/>
            </a:pPr>
            <a:r>
              <a:rPr b="1" lang="en-GB" sz="2400">
                <a:solidFill>
                  <a:srgbClr val="000000"/>
                </a:solidFill>
                <a:latin typeface="Consolas"/>
                <a:ea typeface="Consolas"/>
                <a:cs typeface="Consolas"/>
                <a:sym typeface="Consolas"/>
              </a:rPr>
              <a:t>if </a:t>
            </a:r>
            <a:r>
              <a:rPr lang="en-GB" sz="2400">
                <a:solidFill>
                  <a:srgbClr val="000000"/>
                </a:solidFill>
                <a:latin typeface="Consolas"/>
                <a:ea typeface="Consolas"/>
                <a:cs typeface="Consolas"/>
                <a:sym typeface="Consolas"/>
              </a:rPr>
              <a:t>on(</a:t>
            </a:r>
            <a:r>
              <a:rPr lang="en-GB" sz="2400">
                <a:solidFill>
                  <a:srgbClr val="0000C0"/>
                </a:solidFill>
                <a:latin typeface="Consolas"/>
                <a:ea typeface="Consolas"/>
                <a:cs typeface="Consolas"/>
                <a:sym typeface="Consolas"/>
              </a:rPr>
              <a:t>_</a:t>
            </a:r>
            <a:r>
              <a:rPr lang="en-GB" sz="2400">
                <a:solidFill>
                  <a:srgbClr val="000000"/>
                </a:solidFill>
                <a:latin typeface="Consolas"/>
                <a:ea typeface="Consolas"/>
                <a:cs typeface="Consolas"/>
                <a:sym typeface="Consolas"/>
              </a:rPr>
              <a:t>, </a:t>
            </a:r>
            <a:r>
              <a:rPr lang="en-GB" sz="2400">
                <a:solidFill>
                  <a:srgbClr val="0000C0"/>
                </a:solidFill>
                <a:latin typeface="Consolas"/>
                <a:ea typeface="Consolas"/>
                <a:cs typeface="Consolas"/>
                <a:sym typeface="Consolas"/>
              </a:rPr>
              <a:t>Y</a:t>
            </a:r>
            <a:r>
              <a:rPr lang="en-GB" sz="2400">
                <a:solidFill>
                  <a:srgbClr val="000000"/>
                </a:solidFill>
                <a:latin typeface="Consolas"/>
                <a:ea typeface="Consolas"/>
                <a:cs typeface="Consolas"/>
                <a:sym typeface="Consolas"/>
              </a:rPr>
              <a:t>), block(</a:t>
            </a:r>
            <a:r>
              <a:rPr lang="en-GB" sz="2400">
                <a:solidFill>
                  <a:srgbClr val="0000C0"/>
                </a:solidFill>
                <a:latin typeface="Consolas"/>
                <a:ea typeface="Consolas"/>
                <a:cs typeface="Consolas"/>
                <a:sym typeface="Consolas"/>
              </a:rPr>
              <a:t>Y</a:t>
            </a:r>
            <a:r>
              <a:rPr lang="en-GB" sz="2400">
                <a:solidFill>
                  <a:srgbClr val="000000"/>
                </a:solidFill>
                <a:latin typeface="Consolas"/>
                <a:ea typeface="Consolas"/>
                <a:cs typeface="Consolas"/>
                <a:sym typeface="Consolas"/>
              </a:rPr>
              <a:t>) then clearBlocks.</a:t>
            </a:r>
            <a:endParaRPr sz="4000"/>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Or, alternatively:</a:t>
            </a:r>
            <a:endParaRPr/>
          </a:p>
          <a:p>
            <a:pPr indent="0" lvl="0" marL="0" rtl="0" algn="ctr">
              <a:spcBef>
                <a:spcPts val="480"/>
              </a:spcBef>
              <a:spcAft>
                <a:spcPts val="0"/>
              </a:spcAft>
              <a:buClr>
                <a:srgbClr val="000000"/>
              </a:buClr>
              <a:buSzPts val="2400"/>
              <a:buFont typeface="Consolas"/>
              <a:buNone/>
            </a:pPr>
            <a:r>
              <a:rPr b="1" lang="en-GB" sz="2400">
                <a:solidFill>
                  <a:srgbClr val="000000"/>
                </a:solidFill>
                <a:latin typeface="Consolas"/>
                <a:ea typeface="Consolas"/>
                <a:cs typeface="Consolas"/>
                <a:sym typeface="Consolas"/>
              </a:rPr>
              <a:t>if </a:t>
            </a:r>
            <a:r>
              <a:rPr lang="en-GB" sz="2400">
                <a:solidFill>
                  <a:srgbClr val="000000"/>
                </a:solidFill>
                <a:latin typeface="Consolas"/>
                <a:ea typeface="Consolas"/>
                <a:cs typeface="Consolas"/>
                <a:sym typeface="Consolas"/>
              </a:rPr>
              <a:t>block(</a:t>
            </a:r>
            <a:r>
              <a:rPr lang="en-GB" sz="2400">
                <a:solidFill>
                  <a:srgbClr val="0000C0"/>
                </a:solidFill>
                <a:latin typeface="Consolas"/>
                <a:ea typeface="Consolas"/>
                <a:cs typeface="Consolas"/>
                <a:sym typeface="Consolas"/>
              </a:rPr>
              <a:t>X</a:t>
            </a:r>
            <a:r>
              <a:rPr lang="en-GB" sz="2400">
                <a:solidFill>
                  <a:srgbClr val="000000"/>
                </a:solidFill>
                <a:latin typeface="Consolas"/>
                <a:ea typeface="Consolas"/>
                <a:cs typeface="Consolas"/>
                <a:sym typeface="Consolas"/>
              </a:rPr>
              <a:t>), </a:t>
            </a:r>
            <a:r>
              <a:rPr b="1" i="1" lang="en-GB" sz="2400">
                <a:solidFill>
                  <a:srgbClr val="7F0055"/>
                </a:solidFill>
                <a:latin typeface="Consolas"/>
                <a:ea typeface="Consolas"/>
                <a:cs typeface="Consolas"/>
                <a:sym typeface="Consolas"/>
              </a:rPr>
              <a:t>not</a:t>
            </a:r>
            <a:r>
              <a:rPr lang="en-GB" sz="2400">
                <a:solidFill>
                  <a:srgbClr val="000000"/>
                </a:solidFill>
                <a:latin typeface="Consolas"/>
                <a:ea typeface="Consolas"/>
                <a:cs typeface="Consolas"/>
                <a:sym typeface="Consolas"/>
              </a:rPr>
              <a:t>( on(</a:t>
            </a:r>
            <a:r>
              <a:rPr lang="en-GB" sz="2400">
                <a:solidFill>
                  <a:srgbClr val="0000C0"/>
                </a:solidFill>
                <a:latin typeface="Consolas"/>
                <a:ea typeface="Consolas"/>
                <a:cs typeface="Consolas"/>
                <a:sym typeface="Consolas"/>
              </a:rPr>
              <a:t>_</a:t>
            </a:r>
            <a:r>
              <a:rPr lang="en-GB" sz="2400">
                <a:solidFill>
                  <a:srgbClr val="000000"/>
                </a:solidFill>
                <a:latin typeface="Consolas"/>
                <a:ea typeface="Consolas"/>
                <a:cs typeface="Consolas"/>
                <a:sym typeface="Consolas"/>
              </a:rPr>
              <a:t>, </a:t>
            </a:r>
            <a:r>
              <a:rPr lang="en-GB" sz="2400">
                <a:solidFill>
                  <a:srgbClr val="0000C0"/>
                </a:solidFill>
                <a:latin typeface="Consolas"/>
                <a:ea typeface="Consolas"/>
                <a:cs typeface="Consolas"/>
                <a:sym typeface="Consolas"/>
              </a:rPr>
              <a:t>X</a:t>
            </a:r>
            <a:r>
              <a:rPr lang="en-GB" sz="2400">
                <a:solidFill>
                  <a:srgbClr val="000000"/>
                </a:solidFill>
                <a:latin typeface="Consolas"/>
                <a:ea typeface="Consolas"/>
                <a:cs typeface="Consolas"/>
                <a:sym typeface="Consolas"/>
              </a:rPr>
              <a:t>) ) then clearBlocks.</a:t>
            </a:r>
            <a:endParaRPr sz="4000"/>
          </a:p>
          <a:p>
            <a:pPr indent="0" lvl="0" marL="0" rtl="0" algn="l">
              <a:spcBef>
                <a:spcPts val="640"/>
              </a:spcBef>
              <a:spcAft>
                <a:spcPts val="0"/>
              </a:spcAft>
              <a:buClr>
                <a:schemeClr val="dk1"/>
              </a:buClr>
              <a:buSzPts val="3200"/>
              <a:buFont typeface="Arial"/>
              <a:buNone/>
            </a:pPr>
            <a:r>
              <a:rPr lang="en-GB"/>
              <a:t>would, for example, also work.</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NB:</a:t>
            </a:r>
            <a:endParaRPr/>
          </a:p>
          <a:p>
            <a:pPr indent="-342900" lvl="0" marL="342900" rtl="0" algn="l">
              <a:spcBef>
                <a:spcPts val="640"/>
              </a:spcBef>
              <a:spcAft>
                <a:spcPts val="0"/>
              </a:spcAft>
              <a:buClr>
                <a:schemeClr val="dk1"/>
              </a:buClr>
              <a:buSzPts val="3200"/>
              <a:buFont typeface="Arial"/>
              <a:buChar char="•"/>
            </a:pPr>
            <a:r>
              <a:rPr lang="en-GB"/>
              <a:t>use don’t care to avoid warnings in Eclipse.</a:t>
            </a:r>
            <a:endParaRPr/>
          </a:p>
          <a:p>
            <a:pPr indent="-342900" lvl="0" marL="342900" rtl="0" algn="l">
              <a:spcBef>
                <a:spcPts val="640"/>
              </a:spcBef>
              <a:spcAft>
                <a:spcPts val="0"/>
              </a:spcAft>
              <a:buClr>
                <a:schemeClr val="dk1"/>
              </a:buClr>
              <a:buSzPts val="3200"/>
              <a:buFont typeface="Arial"/>
              <a:buChar char="•"/>
            </a:pPr>
            <a:r>
              <a:rPr lang="en-GB"/>
              <a:t>instantiate vars before using them in negation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a9937886b0_0_251"/>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4b: Solution</a:t>
            </a:r>
            <a:endParaRPr/>
          </a:p>
        </p:txBody>
      </p:sp>
      <p:sp>
        <p:nvSpPr>
          <p:cNvPr id="316" name="Google Shape;316;g3a9937886b0_0_251"/>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starting agent.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 Cycle 1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inserted 'on(b1,b2), on(b2,b3), on(b3,table), on(b4,b5), on(b5,table), on(b6,b7), on(b7,table)'.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started agent (took 15ms).</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User started me.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empty update.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performed 'move(b1, table)’.</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 Cycle 5 +++++++</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inserted 'on(b6,table)'and deleted 'on(b6,b7)'.</a:t>
            </a:r>
            <a:endParaRPr/>
          </a:p>
          <a:p>
            <a:pPr indent="0" lvl="0" marL="0" marR="0" rtl="0" algn="l">
              <a:spcBef>
                <a:spcPts val="0"/>
              </a:spcBef>
              <a:spcAft>
                <a:spcPts val="0"/>
              </a:spcAft>
              <a:buClr>
                <a:srgbClr val="000000"/>
              </a:buClr>
              <a:buSzPts val="1800"/>
              <a:buFont typeface="Consolas"/>
              <a:buNone/>
            </a:pPr>
            <a:r>
              <a:rPr lang="en-GB" sz="1800">
                <a:solidFill>
                  <a:srgbClr val="000000"/>
                </a:solidFill>
                <a:latin typeface="Consolas"/>
                <a:ea typeface="Consolas"/>
                <a:cs typeface="Consolas"/>
                <a:sym typeface="Consolas"/>
              </a:rPr>
              <a:t>[stackBuilderAgent] empty update.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Agent moved b1, b2, b4, and b6 to table. See also agent’s database, all blocks on table!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a9937886b0_0_256"/>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4c: Problem</a:t>
            </a:r>
            <a:endParaRPr/>
          </a:p>
        </p:txBody>
      </p:sp>
      <p:sp>
        <p:nvSpPr>
          <p:cNvPr id="322" name="Google Shape;322;g3a9937886b0_0_256"/>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The agent, however, does not “stay” in the module clearBlocks. We can change that by adding an exit option:</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Add:  </a:t>
            </a:r>
            <a:r>
              <a:rPr b="1" lang="en-GB" sz="3200">
                <a:solidFill>
                  <a:srgbClr val="000000"/>
                </a:solidFill>
                <a:latin typeface="Consolas"/>
                <a:ea typeface="Consolas"/>
                <a:cs typeface="Consolas"/>
                <a:sym typeface="Consolas"/>
              </a:rPr>
              <a:t>exit</a:t>
            </a:r>
            <a:r>
              <a:rPr lang="en-GB" sz="3200">
                <a:solidFill>
                  <a:srgbClr val="000000"/>
                </a:solidFill>
                <a:latin typeface="Consolas"/>
                <a:ea typeface="Consolas"/>
                <a:cs typeface="Consolas"/>
                <a:sym typeface="Consolas"/>
              </a:rPr>
              <a:t>=</a:t>
            </a:r>
            <a:r>
              <a:rPr b="1" i="1" lang="en-GB" sz="3200">
                <a:solidFill>
                  <a:srgbClr val="000000"/>
                </a:solidFill>
                <a:latin typeface="Consolas"/>
                <a:ea typeface="Consolas"/>
                <a:cs typeface="Consolas"/>
                <a:sym typeface="Consolas"/>
              </a:rPr>
              <a:t>noaction</a:t>
            </a:r>
            <a:r>
              <a:rPr lang="en-GB" sz="3200">
                <a:solidFill>
                  <a:srgbClr val="000000"/>
                </a:solidFill>
                <a:latin typeface="Consolas"/>
                <a:ea typeface="Consolas"/>
                <a:cs typeface="Consolas"/>
                <a:sym typeface="Consolas"/>
              </a:rPr>
              <a:t>. </a:t>
            </a:r>
            <a:r>
              <a:rPr lang="en-GB"/>
              <a:t>to the module.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Step through the code &amp; check what it does.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a9937886b0_0_261"/>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4c: Solution</a:t>
            </a:r>
            <a:endParaRPr/>
          </a:p>
        </p:txBody>
      </p:sp>
      <p:sp>
        <p:nvSpPr>
          <p:cNvPr id="328" name="Google Shape;328;g3a9937886b0_0_261"/>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Agent moved b1, b2, b4, and b6 to table. See also agent’s database, all blocks on table!</a:t>
            </a:r>
            <a:endParaRPr/>
          </a:p>
          <a:p>
            <a:pPr indent="0" lvl="0" marL="0" rtl="0" algn="l">
              <a:spcBef>
                <a:spcPts val="640"/>
              </a:spcBef>
              <a:spcAft>
                <a:spcPts val="0"/>
              </a:spcAft>
              <a:buClr>
                <a:schemeClr val="dk1"/>
              </a:buClr>
              <a:buSzPts val="3200"/>
              <a:buFont typeface="Arial"/>
              <a:buNone/>
            </a:pPr>
            <a:r>
              <a:rPr lang="en-GB"/>
              <a:t>The agent, however, never exits the clearBlocks module while there are still blocks that can be moved to the table.</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NB: You can make this visible in the agent’s log by changing the log preferences (check entry and exit module items).</a:t>
            </a:r>
            <a:endParaRPr/>
          </a:p>
          <a:p>
            <a:pPr indent="0" lvl="0" marL="0" rtl="0" algn="l">
              <a:spcBef>
                <a:spcPts val="640"/>
              </a:spcBef>
              <a:spcAft>
                <a:spcPts val="0"/>
              </a:spcAft>
              <a:buClr>
                <a:schemeClr val="dk1"/>
              </a:buClr>
              <a:buSzPts val="3200"/>
              <a:buFont typeface="Arial"/>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a9937886b0_0_266"/>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4d: Problem</a:t>
            </a:r>
            <a:endParaRPr/>
          </a:p>
        </p:txBody>
      </p:sp>
      <p:sp>
        <p:nvSpPr>
          <p:cNvPr id="334" name="Google Shape;334;g3a9937886b0_0_266"/>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Add an action rule to the stackBuilder module that will </a:t>
            </a:r>
            <a:r>
              <a:rPr b="1" lang="en-GB"/>
              <a:t>constructively</a:t>
            </a:r>
            <a:r>
              <a:rPr lang="en-GB"/>
              <a:t> move blocks onto other blocks again.</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Run your agent: what is the problem?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a9937886b0_0_271"/>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4d: Solution</a:t>
            </a:r>
            <a:endParaRPr/>
          </a:p>
        </p:txBody>
      </p:sp>
      <p:sp>
        <p:nvSpPr>
          <p:cNvPr id="341" name="Google Shape;341;g3a9937886b0_0_271"/>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lang="en-GB" sz="2400"/>
              <a:t>The new rule should </a:t>
            </a:r>
            <a:r>
              <a:rPr b="1" lang="en-GB" sz="2400"/>
              <a:t>include action preconditions</a:t>
            </a:r>
            <a:r>
              <a:rPr lang="en-GB" sz="2400"/>
              <a:t>.</a:t>
            </a:r>
            <a:endParaRPr/>
          </a:p>
          <a:p>
            <a:pPr indent="0" lvl="0" marL="0" rtl="0" algn="l">
              <a:spcBef>
                <a:spcPts val="480"/>
              </a:spcBef>
              <a:spcAft>
                <a:spcPts val="0"/>
              </a:spcAft>
              <a:buClr>
                <a:schemeClr val="dk1"/>
              </a:buClr>
              <a:buSzPts val="2400"/>
              <a:buFont typeface="Arial"/>
              <a:buNone/>
            </a:pPr>
            <a:r>
              <a:rPr lang="en-GB" sz="2400"/>
              <a:t>When the rule is added after the other rule, all blocks are moved to the table and then b1 is moved onto b5 and then moved back to the table again. Etc.</a:t>
            </a:r>
            <a:endParaRPr/>
          </a:p>
          <a:p>
            <a:pPr indent="0" lvl="0" marL="0" rtl="0" algn="l">
              <a:spcBef>
                <a:spcPts val="480"/>
              </a:spcBef>
              <a:spcAft>
                <a:spcPts val="0"/>
              </a:spcAft>
              <a:buClr>
                <a:schemeClr val="dk1"/>
              </a:buClr>
              <a:buSzPts val="2400"/>
              <a:buFont typeface="Arial"/>
              <a:buNone/>
            </a:pPr>
            <a:r>
              <a:t/>
            </a:r>
            <a:endParaRPr sz="2400"/>
          </a:p>
          <a:p>
            <a:pPr indent="0" lvl="0" marL="0" rtl="0" algn="l">
              <a:spcBef>
                <a:spcPts val="480"/>
              </a:spcBef>
              <a:spcAft>
                <a:spcPts val="0"/>
              </a:spcAft>
              <a:buClr>
                <a:schemeClr val="dk1"/>
              </a:buClr>
              <a:buSzPts val="2400"/>
              <a:buFont typeface="Arial"/>
              <a:buNone/>
            </a:pPr>
            <a:r>
              <a:t/>
            </a:r>
            <a:endParaRPr sz="2400"/>
          </a:p>
          <a:p>
            <a:pPr indent="0" lvl="0" marL="0" rtl="0" algn="l">
              <a:spcBef>
                <a:spcPts val="480"/>
              </a:spcBef>
              <a:spcAft>
                <a:spcPts val="0"/>
              </a:spcAft>
              <a:buClr>
                <a:schemeClr val="dk1"/>
              </a:buClr>
              <a:buSzPts val="2400"/>
              <a:buFont typeface="Arial"/>
              <a:buNone/>
            </a:pPr>
            <a:r>
              <a:t/>
            </a:r>
            <a:endParaRPr sz="2400"/>
          </a:p>
          <a:p>
            <a:pPr indent="0" lvl="0" marL="0" rtl="0" algn="l">
              <a:spcBef>
                <a:spcPts val="480"/>
              </a:spcBef>
              <a:spcAft>
                <a:spcPts val="0"/>
              </a:spcAft>
              <a:buClr>
                <a:schemeClr val="dk1"/>
              </a:buClr>
              <a:buSzPts val="2400"/>
              <a:buFont typeface="Arial"/>
              <a:buNone/>
            </a:pPr>
            <a:r>
              <a:rPr lang="en-GB" sz="2400"/>
              <a:t>When the rule is added before the other rule, first b6 is moved onto b4, then all blocks are moved to the table, and then the agent is killed.</a:t>
            </a:r>
            <a:endParaRPr sz="2400"/>
          </a:p>
        </p:txBody>
      </p:sp>
      <p:sp>
        <p:nvSpPr>
          <p:cNvPr id="342" name="Google Shape;342;g3a9937886b0_0_271"/>
          <p:cNvSpPr txBox="1"/>
          <p:nvPr/>
        </p:nvSpPr>
        <p:spPr>
          <a:xfrm>
            <a:off x="467544" y="2644485"/>
            <a:ext cx="8208900" cy="12006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module</a:t>
            </a:r>
            <a:r>
              <a:rPr lang="en-GB" sz="1800">
                <a:solidFill>
                  <a:srgbClr val="000000"/>
                </a:solidFill>
                <a:latin typeface="Consolas"/>
                <a:ea typeface="Consolas"/>
                <a:cs typeface="Consolas"/>
                <a:sym typeface="Consolas"/>
              </a:rPr>
              <a:t> stackBuilder(</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on(</a:t>
            </a:r>
            <a:r>
              <a:rPr lang="en-GB" sz="1800">
                <a:solidFill>
                  <a:srgbClr val="0000C0"/>
                </a:solidFill>
                <a:latin typeface="Consolas"/>
                <a:ea typeface="Consolas"/>
                <a:cs typeface="Consolas"/>
                <a:sym typeface="Consolas"/>
              </a:rPr>
              <a:t>_</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block(</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then clearBlocks.</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on(</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then move(</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a:p>
        </p:txBody>
      </p:sp>
      <p:sp>
        <p:nvSpPr>
          <p:cNvPr id="343" name="Google Shape;343;g3a9937886b0_0_271"/>
          <p:cNvSpPr txBox="1"/>
          <p:nvPr/>
        </p:nvSpPr>
        <p:spPr>
          <a:xfrm>
            <a:off x="467544" y="5157192"/>
            <a:ext cx="8208900" cy="14775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module</a:t>
            </a:r>
            <a:r>
              <a:rPr lang="en-GB" sz="1800">
                <a:solidFill>
                  <a:srgbClr val="000000"/>
                </a:solidFill>
                <a:latin typeface="Consolas"/>
                <a:ea typeface="Consolas"/>
                <a:cs typeface="Consolas"/>
                <a:sym typeface="Consolas"/>
              </a:rPr>
              <a:t> stackBuilder(</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on(</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not</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Y</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table)</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	then move(</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on(</a:t>
            </a:r>
            <a:r>
              <a:rPr lang="en-GB" sz="1800">
                <a:solidFill>
                  <a:srgbClr val="0000C0"/>
                </a:solidFill>
                <a:latin typeface="Consolas"/>
                <a:ea typeface="Consolas"/>
                <a:cs typeface="Consolas"/>
                <a:sym typeface="Consolas"/>
              </a:rPr>
              <a:t>_</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block(</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then clearBlocks.</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sz="1800">
              <a:solidFill>
                <a:srgbClr val="000000"/>
              </a:solidFill>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a9937886b0_0_279"/>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4e: Problem</a:t>
            </a:r>
            <a:endParaRPr/>
          </a:p>
        </p:txBody>
      </p:sp>
      <p:sp>
        <p:nvSpPr>
          <p:cNvPr id="349" name="Google Shape;349;g3a9937886b0_0_279"/>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Fix the problem by:</a:t>
            </a:r>
            <a:endParaRPr/>
          </a:p>
          <a:p>
            <a:pPr indent="-514350" lvl="0" marL="514350" rtl="0" algn="l">
              <a:spcBef>
                <a:spcPts val="640"/>
              </a:spcBef>
              <a:spcAft>
                <a:spcPts val="0"/>
              </a:spcAft>
              <a:buClr>
                <a:schemeClr val="dk1"/>
              </a:buClr>
              <a:buSzPts val="3200"/>
              <a:buFont typeface="Arial"/>
              <a:buAutoNum type="arabicPeriod"/>
            </a:pPr>
            <a:r>
              <a:rPr lang="en-GB"/>
              <a:t>introducing another new module that you call buildStacks;</a:t>
            </a:r>
            <a:endParaRPr/>
          </a:p>
          <a:p>
            <a:pPr indent="-514350" lvl="0" marL="514350" rtl="0" algn="l">
              <a:spcBef>
                <a:spcPts val="640"/>
              </a:spcBef>
              <a:spcAft>
                <a:spcPts val="0"/>
              </a:spcAft>
              <a:buClr>
                <a:schemeClr val="dk1"/>
              </a:buClr>
              <a:buSzPts val="3200"/>
              <a:buFont typeface="Arial"/>
              <a:buAutoNum type="arabicPeriod"/>
            </a:pPr>
            <a:r>
              <a:rPr lang="en-GB"/>
              <a:t>moving the action rule for making constructive moves into that module;</a:t>
            </a:r>
            <a:endParaRPr/>
          </a:p>
          <a:p>
            <a:pPr indent="-514350" lvl="0" marL="514350" rtl="0" algn="l">
              <a:spcBef>
                <a:spcPts val="640"/>
              </a:spcBef>
              <a:spcAft>
                <a:spcPts val="0"/>
              </a:spcAft>
              <a:buClr>
                <a:schemeClr val="dk1"/>
              </a:buClr>
              <a:buSzPts val="3200"/>
              <a:buFont typeface="Arial"/>
              <a:buAutoNum type="arabicPeriod"/>
            </a:pPr>
            <a:r>
              <a:rPr lang="en-GB"/>
              <a:t>adding a rule that selects this module in the stackBuilder module (after the first rule).</a:t>
            </a:r>
            <a:endParaRPr/>
          </a:p>
          <a:p>
            <a:pPr indent="0" lvl="0" marL="0" rtl="0" algn="l">
              <a:spcBef>
                <a:spcPts val="640"/>
              </a:spcBef>
              <a:spcAft>
                <a:spcPts val="0"/>
              </a:spcAft>
              <a:buClr>
                <a:schemeClr val="dk1"/>
              </a:buClr>
              <a:buSzPts val="3200"/>
              <a:buFont typeface="Arial"/>
              <a:buNone/>
            </a:pPr>
            <a:r>
              <a:rPr lang="en-GB"/>
              <a:t>Make sure it also only exits when there are no more constructive moves to make.</a:t>
            </a:r>
            <a:endParaRPr/>
          </a:p>
          <a:p>
            <a:pPr indent="0" lvl="0" marL="0" rtl="0" algn="l">
              <a:spcBef>
                <a:spcPts val="640"/>
              </a:spcBef>
              <a:spcAft>
                <a:spcPts val="0"/>
              </a:spcAft>
              <a:buClr>
                <a:schemeClr val="dk1"/>
              </a:buClr>
              <a:buSzPts val="3200"/>
              <a:buFont typeface="Arial"/>
              <a:buNone/>
            </a:pPr>
            <a:r>
              <a:rPr lang="en-GB"/>
              <a:t>Run your agent again. What does it do?</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a9937886b0_0_284"/>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4e: Solution</a:t>
            </a:r>
            <a:endParaRPr/>
          </a:p>
        </p:txBody>
      </p:sp>
      <p:sp>
        <p:nvSpPr>
          <p:cNvPr id="356" name="Google Shape;356;g3a9937886b0_0_284"/>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GB" sz="2800"/>
              <a:t>The module to be added:</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NB: the Goal parameter; the exit=noaction ; the use clause for a Prolog file is needed here too.</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The rule to be added (last) to the stackBuilder module:</a:t>
            </a:r>
            <a:endParaRPr sz="2800"/>
          </a:p>
        </p:txBody>
      </p:sp>
      <p:sp>
        <p:nvSpPr>
          <p:cNvPr id="357" name="Google Shape;357;g3a9937886b0_0_284"/>
          <p:cNvSpPr txBox="1"/>
          <p:nvPr/>
        </p:nvSpPr>
        <p:spPr>
          <a:xfrm>
            <a:off x="150813" y="1613699"/>
            <a:ext cx="8842500" cy="20319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use</a:t>
            </a:r>
            <a:r>
              <a:rPr lang="en-GB" sz="1800">
                <a:solidFill>
                  <a:srgbClr val="000000"/>
                </a:solidFill>
                <a:latin typeface="Consolas"/>
                <a:ea typeface="Consolas"/>
                <a:cs typeface="Consolas"/>
                <a:sym typeface="Consolas"/>
              </a:rPr>
              <a:t> blocksworld.</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exit</a:t>
            </a:r>
            <a:r>
              <a:rPr lang="en-GB" sz="1800">
                <a:solidFill>
                  <a:srgbClr val="000000"/>
                </a:solidFill>
                <a:latin typeface="Consolas"/>
                <a:ea typeface="Consolas"/>
                <a:cs typeface="Consolas"/>
                <a:sym typeface="Consolas"/>
              </a:rPr>
              <a:t>=</a:t>
            </a:r>
            <a:r>
              <a:rPr b="1" i="1" lang="en-GB" sz="1800">
                <a:solidFill>
                  <a:srgbClr val="000000"/>
                </a:solidFill>
                <a:latin typeface="Consolas"/>
                <a:ea typeface="Consolas"/>
                <a:cs typeface="Consolas"/>
                <a:sym typeface="Consolas"/>
              </a:rPr>
              <a:t>noaction</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module</a:t>
            </a:r>
            <a:r>
              <a:rPr lang="en-GB" sz="1800">
                <a:solidFill>
                  <a:srgbClr val="000000"/>
                </a:solidFill>
                <a:latin typeface="Consolas"/>
                <a:ea typeface="Consolas"/>
                <a:cs typeface="Consolas"/>
                <a:sym typeface="Consolas"/>
              </a:rPr>
              <a:t> buildStacks(</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endParaRPr/>
          </a:p>
          <a:p>
            <a:pPr indent="0" lvl="0" marL="0" marR="0" rtl="0" algn="l">
              <a:spcBef>
                <a:spcPts val="0"/>
              </a:spcBef>
              <a:spcAft>
                <a:spcPts val="0"/>
              </a:spcAft>
              <a:buNone/>
            </a:pPr>
            <a:r>
              <a:rPr b="1" lang="en-GB" sz="1800">
                <a:solidFill>
                  <a:srgbClr val="000000"/>
                </a:solidFill>
                <a:latin typeface="Consolas"/>
                <a:ea typeface="Consolas"/>
                <a:cs typeface="Consolas"/>
                <a:sym typeface="Consolas"/>
              </a:rPr>
              <a:t>  if </a:t>
            </a:r>
            <a:r>
              <a:rPr lang="en-GB" sz="1800">
                <a:solidFill>
                  <a:srgbClr val="000000"/>
                </a:solidFill>
                <a:latin typeface="Consolas"/>
                <a:ea typeface="Consolas"/>
                <a:cs typeface="Consolas"/>
                <a:sym typeface="Consolas"/>
              </a:rPr>
              <a:t>on(</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b="1" i="1" lang="en-GB" sz="1800">
                <a:solidFill>
                  <a:srgbClr val="7F0055"/>
                </a:solidFill>
                <a:latin typeface="Consolas"/>
                <a:ea typeface="Consolas"/>
                <a:cs typeface="Consolas"/>
                <a:sym typeface="Consolas"/>
              </a:rPr>
              <a:t>not</a:t>
            </a:r>
            <a:r>
              <a:rPr lang="en-GB" sz="1800">
                <a:solidFill>
                  <a:srgbClr val="000000"/>
                </a:solidFill>
                <a:latin typeface="Consolas"/>
                <a:ea typeface="Consolas"/>
                <a:cs typeface="Consolas"/>
                <a:sym typeface="Consolas"/>
              </a:rPr>
              <a:t>(</a:t>
            </a:r>
            <a:r>
              <a:rPr lang="en-GB" sz="1800">
                <a:solidFill>
                  <a:srgbClr val="0000C0"/>
                </a:solidFill>
                <a:latin typeface="Consolas"/>
                <a:ea typeface="Consolas"/>
                <a:cs typeface="Consolas"/>
                <a:sym typeface="Consolas"/>
              </a:rPr>
              <a:t>Y</a:t>
            </a:r>
            <a:r>
              <a:rPr b="1" lang="en-GB" sz="1800">
                <a:solidFill>
                  <a:srgbClr val="969696"/>
                </a:solidFill>
                <a:latin typeface="Consolas"/>
                <a:ea typeface="Consolas"/>
                <a:cs typeface="Consolas"/>
                <a:sym typeface="Consolas"/>
              </a:rPr>
              <a:t>=</a:t>
            </a:r>
            <a:r>
              <a:rPr lang="en-GB" sz="1800">
                <a:solidFill>
                  <a:srgbClr val="000000"/>
                </a:solidFill>
                <a:latin typeface="Consolas"/>
                <a:ea typeface="Consolas"/>
                <a:cs typeface="Consolas"/>
                <a:sym typeface="Consolas"/>
              </a:rPr>
              <a:t>table)</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	</a:t>
            </a:r>
            <a:r>
              <a:rPr b="1" lang="en-GB" sz="1800">
                <a:solidFill>
                  <a:srgbClr val="000000"/>
                </a:solidFill>
                <a:latin typeface="Consolas"/>
                <a:ea typeface="Consolas"/>
                <a:cs typeface="Consolas"/>
                <a:sym typeface="Consolas"/>
              </a:rPr>
              <a:t>then</a:t>
            </a:r>
            <a:r>
              <a:rPr lang="en-GB" sz="1800">
                <a:solidFill>
                  <a:srgbClr val="000000"/>
                </a:solidFill>
                <a:latin typeface="Consolas"/>
                <a:ea typeface="Consolas"/>
                <a:cs typeface="Consolas"/>
                <a:sym typeface="Consolas"/>
              </a:rPr>
              <a:t> move(</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a:t>
            </a:r>
            <a:endParaRPr/>
          </a:p>
        </p:txBody>
      </p:sp>
      <p:sp>
        <p:nvSpPr>
          <p:cNvPr id="358" name="Google Shape;358;g3a9937886b0_0_284"/>
          <p:cNvSpPr txBox="1"/>
          <p:nvPr/>
        </p:nvSpPr>
        <p:spPr>
          <a:xfrm>
            <a:off x="150812" y="5604946"/>
            <a:ext cx="8842500" cy="3693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if </a:t>
            </a:r>
            <a:r>
              <a:rPr b="1" i="1" lang="en-GB" sz="1800">
                <a:solidFill>
                  <a:srgbClr val="7F0055"/>
                </a:solidFill>
                <a:latin typeface="Consolas"/>
                <a:ea typeface="Consolas"/>
                <a:cs typeface="Consolas"/>
                <a:sym typeface="Consolas"/>
              </a:rPr>
              <a:t>true</a:t>
            </a:r>
            <a:r>
              <a:rPr lang="en-GB" sz="1800">
                <a:solidFill>
                  <a:srgbClr val="000000"/>
                </a:solidFill>
                <a:latin typeface="Consolas"/>
                <a:ea typeface="Consolas"/>
                <a:cs typeface="Consolas"/>
                <a:sym typeface="Consolas"/>
              </a:rPr>
              <a:t> then buildStacks(</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a:t>
            </a:r>
            <a:endParaRPr sz="18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a9937886b0_0_292"/>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4e: Solution</a:t>
            </a:r>
            <a:endParaRPr/>
          </a:p>
        </p:txBody>
      </p:sp>
      <p:sp>
        <p:nvSpPr>
          <p:cNvPr id="365" name="Google Shape;365;g3a9937886b0_0_292"/>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i="1" lang="en-GB" sz="2800"/>
              <a:t>What does it do?</a:t>
            </a:r>
            <a:endParaRPr/>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t/>
            </a:r>
            <a:endParaRPr sz="2800"/>
          </a:p>
          <a:p>
            <a:pPr indent="0" lvl="0" marL="0" rtl="0" algn="l">
              <a:spcBef>
                <a:spcPts val="560"/>
              </a:spcBef>
              <a:spcAft>
                <a:spcPts val="0"/>
              </a:spcAft>
              <a:buClr>
                <a:schemeClr val="dk1"/>
              </a:buClr>
              <a:buSzPts val="2800"/>
              <a:buFont typeface="Arial"/>
              <a:buNone/>
            </a:pPr>
            <a:r>
              <a:rPr lang="en-GB" sz="2800"/>
              <a:t>The agent first moves all blocks to the table. Then starts stacking by first moving b1 on b5, b4 on b3, b6 on b4, and then is killed.</a:t>
            </a:r>
            <a:endParaRPr/>
          </a:p>
          <a:p>
            <a:pPr indent="0" lvl="0" marL="0" rtl="0" algn="l">
              <a:spcBef>
                <a:spcPts val="560"/>
              </a:spcBef>
              <a:spcAft>
                <a:spcPts val="0"/>
              </a:spcAft>
              <a:buClr>
                <a:schemeClr val="dk1"/>
              </a:buClr>
              <a:buSzPts val="2800"/>
              <a:buFont typeface="Arial"/>
              <a:buNone/>
            </a:pPr>
            <a:r>
              <a:rPr b="1" lang="en-GB" sz="2800"/>
              <a:t>Issue</a:t>
            </a:r>
            <a:r>
              <a:rPr lang="en-GB" sz="2800"/>
              <a:t>: b5 should be on b2 but cannot be moved any more. We still need to address the Sussman anomaly!!</a:t>
            </a:r>
            <a:endParaRPr sz="2800"/>
          </a:p>
        </p:txBody>
      </p:sp>
      <p:pic>
        <p:nvPicPr>
          <p:cNvPr id="366" name="Google Shape;366;g3a9937886b0_0_292"/>
          <p:cNvPicPr preferRelativeResize="0"/>
          <p:nvPr/>
        </p:nvPicPr>
        <p:blipFill rotWithShape="1">
          <a:blip r:embed="rId3">
            <a:alphaModFix/>
          </a:blip>
          <a:srcRect b="0" l="0" r="0" t="0"/>
          <a:stretch/>
        </p:blipFill>
        <p:spPr>
          <a:xfrm>
            <a:off x="4716016" y="836712"/>
            <a:ext cx="3937096" cy="33033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a9937886b0_0_299"/>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4f: Problem</a:t>
            </a:r>
            <a:endParaRPr/>
          </a:p>
        </p:txBody>
      </p:sp>
      <p:sp>
        <p:nvSpPr>
          <p:cNvPr id="372" name="Google Shape;372;g3a9937886b0_0_299"/>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Font typeface="Arial"/>
              <a:buNone/>
            </a:pPr>
            <a:r>
              <a:rPr lang="en-GB"/>
              <a:t>Fix the issue with the action rule in the buildStacks module to make constructive moves. </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i="1" lang="en-GB"/>
              <a:t>Hint</a:t>
            </a:r>
            <a:r>
              <a:rPr lang="en-GB"/>
              <a:t>: You need to add a condition that checks that Y is already where it needs to be (a job the tower predicate we removed did in the original agent).</a:t>
            </a:r>
            <a:endParaRPr/>
          </a:p>
          <a:p>
            <a:pPr indent="0" lvl="0" marL="0" rtl="0" algn="l">
              <a:spcBef>
                <a:spcPts val="640"/>
              </a:spcBef>
              <a:spcAft>
                <a:spcPts val="0"/>
              </a:spcAft>
              <a:buClr>
                <a:schemeClr val="dk1"/>
              </a:buClr>
              <a:buSzPts val="3200"/>
              <a:buFont typeface="Arial"/>
              <a:buNone/>
            </a:pPr>
            <a:r>
              <a:t/>
            </a:r>
            <a:endParaRPr/>
          </a:p>
          <a:p>
            <a:pPr indent="0" lvl="0" marL="0" rtl="0" algn="l">
              <a:spcBef>
                <a:spcPts val="640"/>
              </a:spcBef>
              <a:spcAft>
                <a:spcPts val="0"/>
              </a:spcAft>
              <a:buClr>
                <a:schemeClr val="dk1"/>
              </a:buClr>
              <a:buSzPts val="3200"/>
              <a:buFont typeface="Arial"/>
              <a:buNone/>
            </a:pPr>
            <a:r>
              <a:rPr lang="en-GB"/>
              <a:t>Run the agent and check whether it now works.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a9937886b0_0_304"/>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4f: Solution</a:t>
            </a:r>
            <a:endParaRPr/>
          </a:p>
        </p:txBody>
      </p:sp>
      <p:sp>
        <p:nvSpPr>
          <p:cNvPr id="378" name="Google Shape;378;g3a9937886b0_0_304"/>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3200"/>
              <a:buFont typeface="Arial"/>
              <a:buNone/>
            </a:pPr>
            <a:r>
              <a:rPr lang="en-GB">
                <a:solidFill>
                  <a:srgbClr val="000000"/>
                </a:solidFill>
                <a:latin typeface="Arial"/>
                <a:ea typeface="Arial"/>
                <a:cs typeface="Arial"/>
                <a:sym typeface="Arial"/>
              </a:rPr>
              <a:t>We add the (sub)query </a:t>
            </a:r>
            <a:r>
              <a:rPr lang="en-GB" sz="2800">
                <a:solidFill>
                  <a:srgbClr val="000000"/>
                </a:solidFill>
                <a:latin typeface="Consolas"/>
                <a:ea typeface="Consolas"/>
                <a:cs typeface="Consolas"/>
                <a:sym typeface="Consolas"/>
              </a:rPr>
              <a:t>on(</a:t>
            </a:r>
            <a:r>
              <a:rPr lang="en-GB" sz="2800">
                <a:solidFill>
                  <a:srgbClr val="0000C0"/>
                </a:solidFill>
                <a:latin typeface="Consolas"/>
                <a:ea typeface="Consolas"/>
                <a:cs typeface="Consolas"/>
                <a:sym typeface="Consolas"/>
              </a:rPr>
              <a:t>Goal</a:t>
            </a:r>
            <a:r>
              <a:rPr lang="en-GB" sz="2800">
                <a:solidFill>
                  <a:srgbClr val="000000"/>
                </a:solidFill>
                <a:latin typeface="Consolas"/>
                <a:ea typeface="Consolas"/>
                <a:cs typeface="Consolas"/>
                <a:sym typeface="Consolas"/>
              </a:rPr>
              <a:t>,</a:t>
            </a:r>
            <a:r>
              <a:rPr lang="en-GB" sz="2800">
                <a:solidFill>
                  <a:srgbClr val="0000C0"/>
                </a:solidFill>
                <a:latin typeface="Consolas"/>
                <a:ea typeface="Consolas"/>
                <a:cs typeface="Consolas"/>
                <a:sym typeface="Consolas"/>
              </a:rPr>
              <a:t>Y</a:t>
            </a:r>
            <a:r>
              <a:rPr lang="en-GB" sz="2800">
                <a:solidFill>
                  <a:srgbClr val="000000"/>
                </a:solidFill>
                <a:latin typeface="Consolas"/>
                <a:ea typeface="Consolas"/>
                <a:cs typeface="Consolas"/>
                <a:sym typeface="Consolas"/>
              </a:rPr>
              <a:t>,</a:t>
            </a:r>
            <a:r>
              <a:rPr lang="en-GB" sz="2800">
                <a:solidFill>
                  <a:srgbClr val="0000C0"/>
                </a:solidFill>
                <a:latin typeface="Consolas"/>
                <a:ea typeface="Consolas"/>
                <a:cs typeface="Consolas"/>
                <a:sym typeface="Consolas"/>
              </a:rPr>
              <a:t>Z</a:t>
            </a:r>
            <a:r>
              <a:rPr lang="en-GB" sz="2800">
                <a:solidFill>
                  <a:srgbClr val="000000"/>
                </a:solidFill>
                <a:latin typeface="Consolas"/>
                <a:ea typeface="Consolas"/>
                <a:cs typeface="Consolas"/>
                <a:sym typeface="Consolas"/>
              </a:rPr>
              <a:t>), on(</a:t>
            </a:r>
            <a:r>
              <a:rPr lang="en-GB" sz="2800">
                <a:solidFill>
                  <a:srgbClr val="0000C0"/>
                </a:solidFill>
                <a:latin typeface="Consolas"/>
                <a:ea typeface="Consolas"/>
                <a:cs typeface="Consolas"/>
                <a:sym typeface="Consolas"/>
              </a:rPr>
              <a:t>Y</a:t>
            </a:r>
            <a:r>
              <a:rPr lang="en-GB" sz="2800">
                <a:solidFill>
                  <a:srgbClr val="000000"/>
                </a:solidFill>
                <a:latin typeface="Consolas"/>
                <a:ea typeface="Consolas"/>
                <a:cs typeface="Consolas"/>
                <a:sym typeface="Consolas"/>
              </a:rPr>
              <a:t>,</a:t>
            </a:r>
            <a:r>
              <a:rPr lang="en-GB" sz="2800">
                <a:solidFill>
                  <a:srgbClr val="0000C0"/>
                </a:solidFill>
                <a:latin typeface="Consolas"/>
                <a:ea typeface="Consolas"/>
                <a:cs typeface="Consolas"/>
                <a:sym typeface="Consolas"/>
              </a:rPr>
              <a:t>Z</a:t>
            </a:r>
            <a:r>
              <a:rPr lang="en-GB" sz="2800">
                <a:solidFill>
                  <a:srgbClr val="000000"/>
                </a:solidFill>
                <a:latin typeface="Consolas"/>
                <a:ea typeface="Consolas"/>
                <a:cs typeface="Consolas"/>
                <a:sym typeface="Consolas"/>
              </a:rPr>
              <a:t>) </a:t>
            </a:r>
            <a:r>
              <a:rPr lang="en-GB">
                <a:solidFill>
                  <a:srgbClr val="000000"/>
                </a:solidFill>
                <a:latin typeface="Arial"/>
                <a:ea typeface="Arial"/>
                <a:cs typeface="Arial"/>
                <a:sym typeface="Arial"/>
              </a:rPr>
              <a:t>which checks that (block) Y is already where it needs to be (it is where we want it to be):</a:t>
            </a:r>
            <a:endParaRPr/>
          </a:p>
          <a:p>
            <a:pPr indent="0" lvl="0" marL="0" rtl="0" algn="l">
              <a:spcBef>
                <a:spcPts val="640"/>
              </a:spcBef>
              <a:spcAft>
                <a:spcPts val="0"/>
              </a:spcAft>
              <a:buClr>
                <a:schemeClr val="dk1"/>
              </a:buClr>
              <a:buSzPts val="3200"/>
              <a:buFont typeface="Arial"/>
              <a:buNone/>
            </a:pPr>
            <a:r>
              <a:t/>
            </a:r>
            <a:endParaRPr>
              <a:solidFill>
                <a:srgbClr val="000000"/>
              </a:solidFill>
              <a:latin typeface="Arial"/>
              <a:ea typeface="Arial"/>
              <a:cs typeface="Arial"/>
              <a:sym typeface="Arial"/>
            </a:endParaRPr>
          </a:p>
          <a:p>
            <a:pPr indent="0" lvl="0" marL="0" rtl="0" algn="l">
              <a:spcBef>
                <a:spcPts val="320"/>
              </a:spcBef>
              <a:spcAft>
                <a:spcPts val="0"/>
              </a:spcAft>
              <a:buClr>
                <a:schemeClr val="dk1"/>
              </a:buClr>
              <a:buSzPts val="1600"/>
              <a:buFont typeface="Arial"/>
              <a:buNone/>
            </a:pPr>
            <a:r>
              <a:t/>
            </a:r>
            <a:endParaRPr sz="1600">
              <a:solidFill>
                <a:srgbClr val="000000"/>
              </a:solidFill>
              <a:latin typeface="Arial"/>
              <a:ea typeface="Arial"/>
              <a:cs typeface="Arial"/>
              <a:sym typeface="Arial"/>
            </a:endParaRPr>
          </a:p>
          <a:p>
            <a:pPr indent="0" lvl="0" marL="0" rtl="0" algn="l">
              <a:spcBef>
                <a:spcPts val="640"/>
              </a:spcBef>
              <a:spcAft>
                <a:spcPts val="0"/>
              </a:spcAft>
              <a:buClr>
                <a:srgbClr val="000000"/>
              </a:buClr>
              <a:buSzPts val="3200"/>
              <a:buFont typeface="Arial"/>
              <a:buNone/>
            </a:pPr>
            <a:r>
              <a:rPr lang="en-GB">
                <a:solidFill>
                  <a:srgbClr val="000000"/>
                </a:solidFill>
                <a:latin typeface="Arial"/>
                <a:ea typeface="Arial"/>
                <a:cs typeface="Arial"/>
                <a:sym typeface="Arial"/>
              </a:rPr>
              <a:t>We also removed </a:t>
            </a:r>
            <a:r>
              <a:rPr lang="en-GB" sz="3200">
                <a:solidFill>
                  <a:srgbClr val="000000"/>
                </a:solidFill>
                <a:latin typeface="Consolas"/>
                <a:ea typeface="Consolas"/>
                <a:cs typeface="Consolas"/>
                <a:sym typeface="Consolas"/>
              </a:rPr>
              <a:t>not(on(</a:t>
            </a:r>
            <a:r>
              <a:rPr lang="en-GB" sz="3200">
                <a:solidFill>
                  <a:srgbClr val="0000C0"/>
                </a:solidFill>
                <a:latin typeface="Consolas"/>
                <a:ea typeface="Consolas"/>
                <a:cs typeface="Consolas"/>
                <a:sym typeface="Consolas"/>
              </a:rPr>
              <a:t>Y</a:t>
            </a:r>
            <a:r>
              <a:rPr lang="en-GB" sz="3200">
                <a:latin typeface="Consolas"/>
                <a:ea typeface="Consolas"/>
                <a:cs typeface="Consolas"/>
                <a:sym typeface="Consolas"/>
              </a:rPr>
              <a:t>, table)). </a:t>
            </a:r>
            <a:r>
              <a:rPr lang="en-GB">
                <a:solidFill>
                  <a:srgbClr val="000000"/>
                </a:solidFill>
                <a:latin typeface="Arial"/>
                <a:ea typeface="Arial"/>
                <a:cs typeface="Arial"/>
                <a:sym typeface="Arial"/>
              </a:rPr>
              <a:t>Why is no longer needed?</a:t>
            </a:r>
            <a:endParaRPr/>
          </a:p>
        </p:txBody>
      </p:sp>
      <p:sp>
        <p:nvSpPr>
          <p:cNvPr id="379" name="Google Shape;379;g3a9937886b0_0_304"/>
          <p:cNvSpPr txBox="1"/>
          <p:nvPr/>
        </p:nvSpPr>
        <p:spPr>
          <a:xfrm>
            <a:off x="150812" y="2710661"/>
            <a:ext cx="8842500" cy="646500"/>
          </a:xfrm>
          <a:prstGeom prst="rect">
            <a:avLst/>
          </a:prstGeom>
          <a:solidFill>
            <a:srgbClr val="6998F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0000"/>
                </a:solidFill>
                <a:latin typeface="Consolas"/>
                <a:ea typeface="Consolas"/>
                <a:cs typeface="Consolas"/>
                <a:sym typeface="Consolas"/>
              </a:rPr>
              <a:t>if </a:t>
            </a:r>
            <a:r>
              <a:rPr lang="en-GB" sz="1800">
                <a:solidFill>
                  <a:srgbClr val="000000"/>
                </a:solidFill>
                <a:latin typeface="Consolas"/>
                <a:ea typeface="Consolas"/>
                <a:cs typeface="Consolas"/>
                <a:sym typeface="Consolas"/>
              </a:rPr>
              <a:t>on(</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on(</a:t>
            </a:r>
            <a:r>
              <a:rPr lang="en-GB" sz="1800">
                <a:solidFill>
                  <a:srgbClr val="0000C0"/>
                </a:solidFill>
                <a:latin typeface="Consolas"/>
                <a:ea typeface="Consolas"/>
                <a:cs typeface="Consolas"/>
                <a:sym typeface="Consolas"/>
              </a:rPr>
              <a:t>Goal</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 on(</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Z</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clear(</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GB" sz="1800">
                <a:solidFill>
                  <a:srgbClr val="000000"/>
                </a:solidFill>
                <a:latin typeface="Consolas"/>
                <a:ea typeface="Consolas"/>
                <a:cs typeface="Consolas"/>
                <a:sym typeface="Consolas"/>
              </a:rPr>
              <a:t>	</a:t>
            </a:r>
            <a:r>
              <a:rPr b="1" lang="en-GB" sz="1800">
                <a:solidFill>
                  <a:srgbClr val="000000"/>
                </a:solidFill>
                <a:latin typeface="Consolas"/>
                <a:ea typeface="Consolas"/>
                <a:cs typeface="Consolas"/>
                <a:sym typeface="Consolas"/>
              </a:rPr>
              <a:t>then</a:t>
            </a:r>
            <a:r>
              <a:rPr lang="en-GB" sz="1800">
                <a:solidFill>
                  <a:srgbClr val="000000"/>
                </a:solidFill>
                <a:latin typeface="Consolas"/>
                <a:ea typeface="Consolas"/>
                <a:cs typeface="Consolas"/>
                <a:sym typeface="Consolas"/>
              </a:rPr>
              <a:t> move(</a:t>
            </a:r>
            <a:r>
              <a:rPr lang="en-GB" sz="1800">
                <a:solidFill>
                  <a:srgbClr val="0000C0"/>
                </a:solidFill>
                <a:latin typeface="Consolas"/>
                <a:ea typeface="Consolas"/>
                <a:cs typeface="Consolas"/>
                <a:sym typeface="Consolas"/>
              </a:rPr>
              <a:t>X</a:t>
            </a:r>
            <a:r>
              <a:rPr lang="en-GB" sz="1800">
                <a:solidFill>
                  <a:srgbClr val="000000"/>
                </a:solidFill>
                <a:latin typeface="Consolas"/>
                <a:ea typeface="Consolas"/>
                <a:cs typeface="Consolas"/>
                <a:sym typeface="Consolas"/>
              </a:rPr>
              <a:t>, </a:t>
            </a:r>
            <a:r>
              <a:rPr lang="en-GB" sz="1800">
                <a:solidFill>
                  <a:srgbClr val="0000C0"/>
                </a:solidFill>
                <a:latin typeface="Consolas"/>
                <a:ea typeface="Consolas"/>
                <a:cs typeface="Consolas"/>
                <a:sym typeface="Consolas"/>
              </a:rPr>
              <a:t>Y</a:t>
            </a:r>
            <a:r>
              <a:rPr lang="en-GB" sz="1800">
                <a:solidFill>
                  <a:srgbClr val="000000"/>
                </a:solidFill>
                <a:latin typeface="Consolas"/>
                <a:ea typeface="Consolas"/>
                <a:cs typeface="Consolas"/>
                <a:sym typeface="Consolas"/>
              </a:rPr>
              <a:t>).</a:t>
            </a:r>
            <a:endParaRPr sz="1800">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a9937886b0_0_310"/>
          <p:cNvSpPr txBox="1"/>
          <p:nvPr>
            <p:ph type="title"/>
          </p:nvPr>
        </p:nvSpPr>
        <p:spPr>
          <a:xfrm>
            <a:off x="0" y="0"/>
            <a:ext cx="9144000" cy="944700"/>
          </a:xfrm>
          <a:prstGeom prst="rect">
            <a:avLst/>
          </a:prstGeom>
          <a:gradFill>
            <a:gsLst>
              <a:gs pos="0">
                <a:srgbClr val="3333B3"/>
              </a:gs>
              <a:gs pos="100000">
                <a:schemeClr val="dk2"/>
              </a:gs>
            </a:gsLst>
            <a:lin ang="0" scaled="0"/>
          </a:grad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Exercise 4f: Solution</a:t>
            </a:r>
            <a:endParaRPr/>
          </a:p>
        </p:txBody>
      </p:sp>
      <p:sp>
        <p:nvSpPr>
          <p:cNvPr id="385" name="Google Shape;385;g3a9937886b0_0_310"/>
          <p:cNvSpPr txBox="1"/>
          <p:nvPr>
            <p:ph idx="1" type="body"/>
          </p:nvPr>
        </p:nvSpPr>
        <p:spPr>
          <a:xfrm>
            <a:off x="150813" y="1068388"/>
            <a:ext cx="8842500" cy="5332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3200"/>
              <a:buFont typeface="Arial"/>
              <a:buNone/>
            </a:pPr>
            <a:r>
              <a:rPr lang="en-GB">
                <a:solidFill>
                  <a:srgbClr val="000000"/>
                </a:solidFill>
                <a:latin typeface="Arial"/>
                <a:ea typeface="Arial"/>
                <a:cs typeface="Arial"/>
                <a:sym typeface="Arial"/>
              </a:rPr>
              <a:t>What does the agent do? It achieves its goal:</a:t>
            </a:r>
            <a:r>
              <a:rPr lang="en-GB" sz="1800">
                <a:solidFill>
                  <a:srgbClr val="000000"/>
                </a:solidFill>
                <a:latin typeface="Consolas"/>
                <a:ea typeface="Consolas"/>
                <a:cs typeface="Consolas"/>
                <a:sym typeface="Consolas"/>
              </a:rPr>
              <a:t> </a:t>
            </a:r>
            <a:r>
              <a:rPr lang="en-GB" sz="2800">
                <a:solidFill>
                  <a:srgbClr val="000000"/>
                </a:solidFill>
                <a:latin typeface="Consolas"/>
                <a:ea typeface="Consolas"/>
                <a:cs typeface="Consolas"/>
                <a:sym typeface="Consolas"/>
              </a:rPr>
              <a:t>[b5, table, table, b3, b2, b4, table].</a:t>
            </a:r>
            <a:endParaRPr/>
          </a:p>
        </p:txBody>
      </p:sp>
      <p:pic>
        <p:nvPicPr>
          <p:cNvPr id="386" name="Google Shape;386;g3a9937886b0_0_310"/>
          <p:cNvPicPr preferRelativeResize="0"/>
          <p:nvPr/>
        </p:nvPicPr>
        <p:blipFill rotWithShape="1">
          <a:blip r:embed="rId3">
            <a:alphaModFix/>
          </a:blip>
          <a:srcRect b="0" l="0" r="0" t="0"/>
          <a:stretch/>
        </p:blipFill>
        <p:spPr>
          <a:xfrm>
            <a:off x="2195736" y="2420888"/>
            <a:ext cx="4513113" cy="37866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2015-04-12T20:04:31Z</dcterms:created>
  <dc:creator>Koen Hindriks</dc:creator>
</cp:coreProperties>
</file>